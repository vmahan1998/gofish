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72" r:id="rId3"/>
    <p:sldId id="259" r:id="rId4"/>
    <p:sldId id="293" r:id="rId5"/>
    <p:sldId id="285" r:id="rId6"/>
    <p:sldId id="286" r:id="rId7"/>
    <p:sldId id="301" r:id="rId8"/>
    <p:sldId id="305" r:id="rId9"/>
    <p:sldId id="298" r:id="rId10"/>
    <p:sldId id="302" r:id="rId11"/>
    <p:sldId id="306" r:id="rId12"/>
    <p:sldId id="303" r:id="rId13"/>
    <p:sldId id="304" r:id="rId14"/>
    <p:sldId id="307" r:id="rId15"/>
    <p:sldId id="291" r:id="rId16"/>
    <p:sldId id="292" r:id="rId17"/>
    <p:sldId id="278" r:id="rId18"/>
    <p:sldId id="279" r:id="rId19"/>
    <p:sldId id="284" r:id="rId20"/>
    <p:sldId id="297" r:id="rId21"/>
    <p:sldId id="296" r:id="rId22"/>
    <p:sldId id="258" r:id="rId23"/>
    <p:sldId id="260" r:id="rId24"/>
    <p:sldId id="308" r:id="rId25"/>
    <p:sldId id="309" r:id="rId26"/>
    <p:sldId id="310" r:id="rId27"/>
    <p:sldId id="31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1616"/>
    <a:srgbClr val="6C3C3C"/>
    <a:srgbClr val="57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8" autoAdjust="0"/>
    <p:restoredTop sz="82061" autoAdjust="0"/>
  </p:normalViewPr>
  <p:slideViewPr>
    <p:cSldViewPr snapToGrid="0">
      <p:cViewPr varScale="1">
        <p:scale>
          <a:sx n="69" d="100"/>
          <a:sy n="69" d="100"/>
        </p:scale>
        <p:origin x="10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Reduce energy cost during high-flow events</a:t>
            </a:r>
            <a:br>
              <a:rPr lang="en-US" dirty="0"/>
            </a:br>
            <a:r>
              <a:rPr lang="en-US" dirty="0"/>
              <a:t>Enable fish to passively drift with the current when swimming is inefficient, conserving energy for critical behaviors like spawning.</a:t>
            </a:r>
          </a:p>
          <a:p>
            <a:r>
              <a:rPr lang="en-US" b="1" dirty="0"/>
              <a:t>Allow recovery during periods of physiological stress</a:t>
            </a:r>
            <a:br>
              <a:rPr lang="en-US" dirty="0"/>
            </a:br>
            <a:r>
              <a:rPr lang="en-US" dirty="0"/>
              <a:t>Let fish temporarily stop migrating to restore energy and acclimate to environmental changes such as salinity shifts or elevated flow resistance.</a:t>
            </a:r>
          </a:p>
          <a:p>
            <a:r>
              <a:rPr lang="en-US" b="1" dirty="0"/>
              <a:t>Track when and where resting occurs</a:t>
            </a:r>
            <a:br>
              <a:rPr lang="en-US" dirty="0"/>
            </a:br>
            <a:r>
              <a:rPr lang="en-US" dirty="0"/>
              <a:t>Identify the spatial and temporal patterns of resting behaviors, including staging hotspots and zones of selective tidal stream transport, to inform habitat quality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along-channel flow velocity in a patch, influencing whether fish swim or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48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90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60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01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89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49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57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6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along-channel flow velocity in a patch, influencing whether fish swim or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8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along-channel flow velocity in a patch, influencing whether fish swim or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Bioaccumulation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225806"/>
              </p:ext>
            </p:extLst>
          </p:nvPr>
        </p:nvGraphicFramePr>
        <p:xfrm>
          <a:off x="628253" y="1854753"/>
          <a:ext cx="10935494" cy="291075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461461">
                <a:tc>
                  <a:txBody>
                    <a:bodyPr/>
                    <a:lstStyle/>
                    <a:p>
                      <a:r>
                        <a:rPr lang="en-US" sz="2000" b="1" dirty="0"/>
                        <a:t>Term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Definition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Selective Tidal Stream Transport (STST)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Harmful substances (like mercury and methylmercury) that can be found in the environment and affect fish health.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Staging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Tiny floating particles in the water that can carry pollution and be absorbed through skin and gills exposure.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Stress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strain a fish feels when something in the environment changes (like temperature, or salinity) that makes it harder for them to stay healthy.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62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410" y="1632271"/>
            <a:ext cx="10781370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 energy-conserving strategies fish use during migration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Reduce energy cost during high-flow events</a:t>
            </a:r>
            <a:br>
              <a:rPr lang="en-US" sz="2000" dirty="0"/>
            </a:br>
            <a:r>
              <a:rPr lang="en-US" sz="2000" dirty="0"/>
              <a:t>Enable fish to passively rest when swimming is inefficient, conserving energy for critical behaviors like migration and spawning.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Allow recovery during periods of physiological stress</a:t>
            </a:r>
            <a:br>
              <a:rPr lang="en-US" sz="2000" dirty="0"/>
            </a:br>
            <a:r>
              <a:rPr lang="en-US" sz="2000" dirty="0"/>
              <a:t>Let fish temporarily stop migrating to restore energy and acclimate to environmental changes such as salinity shifts or elevated flow resistance.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Track when and where resting occurs</a:t>
            </a:r>
            <a:br>
              <a:rPr lang="en-US" sz="2000" dirty="0"/>
            </a:br>
            <a:r>
              <a:rPr lang="en-US" sz="2000" dirty="0"/>
              <a:t>Identify the spatial and temporal patterns of resting behaviors, including staging hotspots and zones of selective tidal stream transport, to inform habitat quality assessments.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017593" y="1893716"/>
                <a:ext cx="5881670" cy="3774513"/>
              </a:xfrm>
            </p:spPr>
            <p:txBody>
              <a:bodyPr>
                <a:noAutofit/>
              </a:bodyPr>
              <a:lstStyle/>
              <a:p>
                <a:r>
                  <a:rPr lang="en-US" sz="1400" dirty="0"/>
                  <a:t>🧠 </a:t>
                </a:r>
                <a:r>
                  <a:rPr lang="en-US" sz="1400" b="1" dirty="0"/>
                  <a:t>Stress</a:t>
                </a:r>
                <a:br>
                  <a:rPr lang="en-US" sz="1400" dirty="0"/>
                </a:br>
                <a:r>
                  <a:rPr lang="en-US" sz="1400" dirty="0"/>
                  <a:t>The level of stress experienced by the fish due to salinity or temperature mismatch.</a:t>
                </a:r>
              </a:p>
              <a:p>
                <a:r>
                  <a:rPr lang="en-US" sz="1600" dirty="0"/>
                  <a:t>🔋</a:t>
                </a:r>
                <a:r>
                  <a:rPr lang="en-US" sz="1400" dirty="0"/>
                  <a:t> </a:t>
                </a:r>
                <a:r>
                  <a:rPr lang="en-US" sz="1400" b="1" dirty="0"/>
                  <a:t>Energy</a:t>
                </a:r>
                <a:br>
                  <a:rPr lang="en-US" sz="1400" dirty="0"/>
                </a:br>
                <a:r>
                  <a:rPr lang="en-US" sz="1400" dirty="0"/>
                  <a:t>The amount energy the fish uses to swim, recover, and regulate bodily functions. </a:t>
                </a:r>
              </a:p>
              <a:p>
                <a:r>
                  <a:rPr lang="en-US" sz="1600" dirty="0"/>
                  <a:t>🏊</a:t>
                </a:r>
                <a:r>
                  <a:rPr lang="en-US" sz="1400" dirty="0"/>
                  <a:t> </a:t>
                </a:r>
                <a:r>
                  <a:rPr lang="en-US" sz="1400" b="1" dirty="0"/>
                  <a:t>Swimming Speed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r>
                  <a:rPr lang="en-US" sz="1400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The swimming speed of a fish, which determines whether it can resist the current or must drift.</a:t>
                </a:r>
              </a:p>
              <a:p>
                <a:r>
                  <a:rPr lang="en-US" sz="1600" dirty="0"/>
                  <a:t>💤</a:t>
                </a:r>
                <a:r>
                  <a:rPr lang="en-US" sz="1400" dirty="0"/>
                  <a:t> </a:t>
                </a:r>
                <a:r>
                  <a:rPr lang="en-US" sz="1400" b="1" dirty="0"/>
                  <a:t>Staging?</a:t>
                </a:r>
                <a:br>
                  <a:rPr lang="en-US" sz="1400" dirty="0"/>
                </a:br>
                <a:r>
                  <a:rPr lang="en-US" sz="1400" dirty="0"/>
                  <a:t>Boolean value indicating whether the fish is currently in a recovery (staging) state.</a:t>
                </a:r>
              </a:p>
              <a:p>
                <a:r>
                  <a:rPr lang="en-US" sz="1600" dirty="0"/>
                  <a:t>⏳</a:t>
                </a:r>
                <a:r>
                  <a:rPr lang="en-US" sz="1400" b="1" dirty="0"/>
                  <a:t>Time in Staging (</a:t>
                </a:r>
                <a:r>
                  <a:rPr lang="en-US" sz="1400" b="1" i="1" dirty="0"/>
                  <a:t>Time-in-Staging</a:t>
                </a:r>
                <a:r>
                  <a:rPr lang="en-US" sz="1400" b="1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The cumulative time a fish spends staging throughout migration.</a:t>
                </a:r>
              </a:p>
              <a:p>
                <a:r>
                  <a:rPr lang="en-US" sz="1600" dirty="0"/>
                  <a:t>🔄</a:t>
                </a:r>
                <a:r>
                  <a:rPr lang="en-US" sz="1400" dirty="0"/>
                  <a:t> </a:t>
                </a:r>
                <a:r>
                  <a:rPr lang="en-US" sz="1400" b="1" dirty="0"/>
                  <a:t>STST?</a:t>
                </a:r>
                <a:br>
                  <a:rPr lang="en-US" sz="1400" dirty="0"/>
                </a:br>
                <a:r>
                  <a:rPr lang="en-US" sz="1400" dirty="0"/>
                  <a:t>Boolean value indicating whether the fish is currently passively resting with the flow.</a:t>
                </a:r>
              </a:p>
              <a:p>
                <a:r>
                  <a:rPr lang="en-US" sz="1600" dirty="0"/>
                  <a:t>⏳</a:t>
                </a:r>
                <a:r>
                  <a:rPr lang="en-US" sz="1400" b="1" dirty="0"/>
                  <a:t>Time in Selective Tidal Stream Transport (</a:t>
                </a:r>
                <a:r>
                  <a:rPr lang="en-US" sz="1400" b="1" i="1" dirty="0"/>
                  <a:t>Time-in-STST</a:t>
                </a:r>
                <a:r>
                  <a:rPr lang="en-US" sz="1400" b="1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The cumulative time a fish spends passively resting throughout migration.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017593" y="1893716"/>
                <a:ext cx="5881670" cy="3774513"/>
              </a:xfrm>
              <a:blipFill>
                <a:blip r:embed="rId3"/>
                <a:stretch>
                  <a:fillRect l="-415" t="-1131" r="-725" b="-25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80" y="7805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Key Variables for the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B2B7-15C1-49A6-A7ED-4E49B977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706" y="991666"/>
            <a:ext cx="5157787" cy="823912"/>
          </a:xfrm>
        </p:spPr>
        <p:txBody>
          <a:bodyPr>
            <a:normAutofit fontScale="92500"/>
          </a:bodyPr>
          <a:lstStyle/>
          <a:p>
            <a:r>
              <a:rPr lang="en-US" sz="3600" b="1" dirty="0"/>
              <a:t>🌍 Environmental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9CC2B-FAA2-48DC-9330-CC91B6EC7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3706" y="1858469"/>
            <a:ext cx="5703887" cy="3684588"/>
          </a:xfrm>
        </p:spPr>
        <p:txBody>
          <a:bodyPr>
            <a:noAutofit/>
          </a:bodyPr>
          <a:lstStyle/>
          <a:p>
            <a:r>
              <a:rPr lang="en-US" sz="1600" dirty="0"/>
              <a:t>🌀</a:t>
            </a:r>
            <a:r>
              <a:rPr lang="en-US" sz="1400" dirty="0"/>
              <a:t> </a:t>
            </a:r>
            <a:r>
              <a:rPr lang="en-US" sz="1400" b="1" dirty="0"/>
              <a:t>Velocity (</a:t>
            </a:r>
            <a:r>
              <a:rPr lang="en-US" sz="1400" b="1" i="1" dirty="0"/>
              <a:t>u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along-channel flow velocity in a patch, influencing whether fish swim or drift.</a:t>
            </a:r>
          </a:p>
          <a:p>
            <a:r>
              <a:rPr lang="en-US" sz="1600" dirty="0"/>
              <a:t>🛑</a:t>
            </a:r>
            <a:r>
              <a:rPr lang="en-US" sz="1400" dirty="0"/>
              <a:t> </a:t>
            </a:r>
            <a:r>
              <a:rPr lang="en-US" sz="1400" b="1" dirty="0"/>
              <a:t>Staging Location (</a:t>
            </a:r>
            <a:r>
              <a:rPr lang="en-US" sz="1400" b="1" i="1" dirty="0"/>
              <a:t>Staging-in-Patch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number of agents currently resting (staging) in a patch, useful for identifying recovery zones.</a:t>
            </a:r>
          </a:p>
          <a:p>
            <a:r>
              <a:rPr lang="en-US" sz="1600" dirty="0"/>
              <a:t>🌊</a:t>
            </a:r>
            <a:r>
              <a:rPr lang="en-US" sz="1400" dirty="0"/>
              <a:t> </a:t>
            </a:r>
            <a:r>
              <a:rPr lang="en-US" sz="1400" b="1" dirty="0"/>
              <a:t>Selective Tidal Stream Transport Location (</a:t>
            </a:r>
            <a:r>
              <a:rPr lang="en-US" sz="1400" b="1" i="1" dirty="0"/>
              <a:t>STST-in-Patch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number of agents currently drifting via STST in a patch, highlighting passive transport zones</a:t>
            </a:r>
          </a:p>
          <a:p>
            <a:r>
              <a:rPr lang="en-US" sz="1600" dirty="0"/>
              <a:t>⏳</a:t>
            </a:r>
            <a:r>
              <a:rPr lang="en-US" sz="1400" dirty="0"/>
              <a:t> </a:t>
            </a:r>
            <a:r>
              <a:rPr lang="en-US" sz="1400" b="1" dirty="0"/>
              <a:t>Time Spent Selective Tidal Stream Transport (</a:t>
            </a:r>
            <a:r>
              <a:rPr lang="en-US" sz="1400" b="1" i="1" dirty="0"/>
              <a:t>STST-time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cumulative time fish spend resting in one location.</a:t>
            </a:r>
          </a:p>
          <a:p>
            <a:r>
              <a:rPr lang="en-US" sz="1600" dirty="0"/>
              <a:t>💤</a:t>
            </a:r>
            <a:r>
              <a:rPr lang="en-US" sz="1400" dirty="0"/>
              <a:t> </a:t>
            </a:r>
            <a:r>
              <a:rPr lang="en-US" sz="1400" b="1" dirty="0"/>
              <a:t>Time Spent Staging (</a:t>
            </a:r>
            <a:r>
              <a:rPr lang="en-US" sz="1400" b="1" i="1" dirty="0"/>
              <a:t>Staging-time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cumulative time fish spend staging in one location.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62DAC-2722-455D-BB2B-1F05A3E62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17580" y="991666"/>
            <a:ext cx="5703887" cy="8239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🐟 Individual (Fish) Variables</a:t>
            </a:r>
          </a:p>
        </p:txBody>
      </p:sp>
    </p:spTree>
    <p:extLst>
      <p:ext uri="{BB962C8B-B14F-4D97-AF65-F5344CB8AC3E}">
        <p14:creationId xmlns:p14="http://schemas.microsoft.com/office/powerpoint/2010/main" val="334162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096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Conditions that Trigger Resting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8664BBF-F40A-485E-9913-72D623BF4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946026"/>
              </p:ext>
            </p:extLst>
          </p:nvPr>
        </p:nvGraphicFramePr>
        <p:xfrm>
          <a:off x="775165" y="1946300"/>
          <a:ext cx="10641669" cy="274558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547223">
                  <a:extLst>
                    <a:ext uri="{9D8B030D-6E8A-4147-A177-3AD203B41FA5}">
                      <a16:colId xmlns:a16="http://schemas.microsoft.com/office/drawing/2014/main" val="1186926444"/>
                    </a:ext>
                  </a:extLst>
                </a:gridCol>
                <a:gridCol w="3547223">
                  <a:extLst>
                    <a:ext uri="{9D8B030D-6E8A-4147-A177-3AD203B41FA5}">
                      <a16:colId xmlns:a16="http://schemas.microsoft.com/office/drawing/2014/main" val="2511054185"/>
                    </a:ext>
                  </a:extLst>
                </a:gridCol>
                <a:gridCol w="3547223">
                  <a:extLst>
                    <a:ext uri="{9D8B030D-6E8A-4147-A177-3AD203B41FA5}">
                      <a16:colId xmlns:a16="http://schemas.microsoft.com/office/drawing/2014/main" val="1566382799"/>
                    </a:ext>
                  </a:extLst>
                </a:gridCol>
              </a:tblGrid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4075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Current velocity &gt; swimming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Passive resting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Selective Tidal Stream Transport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825415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Energy ≤ 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Stop &amp; actively recover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130966"/>
                  </a:ext>
                </a:extLst>
              </a:tr>
              <a:tr h="68151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Stress &gt;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Stop &amp; actively recover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58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86E184-65EF-4E7B-BF05-5F6676CDF53C}"/>
              </a:ext>
            </a:extLst>
          </p:cNvPr>
          <p:cNvGrpSpPr/>
          <p:nvPr/>
        </p:nvGrpSpPr>
        <p:grpSpPr>
          <a:xfrm>
            <a:off x="1402236" y="1579624"/>
            <a:ext cx="8841366" cy="4682727"/>
            <a:chOff x="1708778" y="1798997"/>
            <a:chExt cx="8841366" cy="468272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DCC76E-82E4-489B-B111-88676FC99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9369" y="1952123"/>
              <a:ext cx="8235639" cy="4529601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perspectiveRelaxed"/>
              <a:lightRig rig="threePt" dir="t"/>
            </a:scene3d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1708778" y="2405915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78" y="2405915"/>
                  <a:ext cx="2419815" cy="429220"/>
                </a:xfrm>
                <a:prstGeom prst="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6F67821-0371-4DFE-A091-17B83DA69D25}"/>
                </a:ext>
              </a:extLst>
            </p:cNvPr>
            <p:cNvGrpSpPr/>
            <p:nvPr/>
          </p:nvGrpSpPr>
          <p:grpSpPr>
            <a:xfrm>
              <a:off x="1891845" y="3231495"/>
              <a:ext cx="8658299" cy="2225347"/>
              <a:chOff x="1891845" y="3231495"/>
              <a:chExt cx="8658299" cy="2225347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276A888-2ECE-4AB8-B3F1-7FAA0C246190}"/>
                  </a:ext>
                </a:extLst>
              </p:cNvPr>
              <p:cNvGrpSpPr/>
              <p:nvPr/>
            </p:nvGrpSpPr>
            <p:grpSpPr>
              <a:xfrm>
                <a:off x="6130892" y="3260052"/>
                <a:ext cx="4419252" cy="2196790"/>
                <a:chOff x="6130892" y="3260052"/>
                <a:chExt cx="4419252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236376D9-59D6-43C3-A016-4189B80E1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2775" y="3260052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AA6A18C-73F4-401D-82EE-666BB3B07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ACBF7041-5B86-4EE7-B4DD-8FCDC3337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1E9D3B5-52CB-4EF8-90FC-755ABBC51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188FB62C-34AF-4D50-A582-835C2B68A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172C09B0-38AE-4298-87F2-CEBDE777AC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86F7CDD-CE4B-4F06-B4D3-ED79669E61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42A4542D-33A8-48CB-96B9-A3CB23BA9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55B17BF-6755-4D69-B4A3-66188C691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4EF482C0-DD48-49B4-B9AC-0DF016227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D0C8BAC-6E08-490F-A4E1-2171D3E41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F6AEC572-70B1-4668-82BD-C5CEE72BB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FB921A53-B0CB-45B0-8E81-8C3204D12F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89CFF4B-C07B-49FF-833D-BEE781EC0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0892" y="3876078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1F5CF2D4-DE71-4EBD-B571-001BA2714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8278" y="4626276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D2362C5E-F9F0-4F7E-B59D-F1674DE0A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4512" y="5417361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A28C2BD-3438-4DD0-9510-71B97A3AA584}"/>
                  </a:ext>
                </a:extLst>
              </p:cNvPr>
              <p:cNvGrpSpPr/>
              <p:nvPr/>
            </p:nvGrpSpPr>
            <p:grpSpPr>
              <a:xfrm flipH="1">
                <a:off x="1891845" y="3231495"/>
                <a:ext cx="3371386" cy="2196790"/>
                <a:chOff x="7178758" y="3260052"/>
                <a:chExt cx="3371386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6A4429FD-2F8B-4756-BC73-88AC77BB5A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5BDA1ABD-5F75-4F9D-A705-8225B8ECA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84612499-76E3-4012-B764-2EABB6490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563BBC51-E788-421A-9D78-C0AF97458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1C8B67D9-5F75-4548-AF92-72DA0E5D9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6FBFC15B-92B7-4397-AC9C-D5A1E4A59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8C2C415F-32F1-4E09-A2F8-D62A5EC58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C9D4B07B-BE0D-4D53-8815-B8A7F05FD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1FF8A1B-4116-45F8-8D80-0626EE9CD0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49D47ED2-974A-4EA7-A8F6-33ABA327FC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B14A5F04-FF65-4F4A-8FE6-2BDC7479A1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8CDCDBFF-DDED-4721-8523-4FFB745BA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93D1E53-69A2-4A21-954D-B8C9542A3B97}"/>
                </a:ext>
              </a:extLst>
            </p:cNvPr>
            <p:cNvGrpSpPr/>
            <p:nvPr/>
          </p:nvGrpSpPr>
          <p:grpSpPr>
            <a:xfrm>
              <a:off x="2186948" y="1798997"/>
              <a:ext cx="1438648" cy="830997"/>
              <a:chOff x="2220402" y="1955114"/>
              <a:chExt cx="1438648" cy="83099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2220402" y="195511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D2C57-24A4-49D5-9CD4-89FB2A8FDE51}"/>
                  </a:ext>
                </a:extLst>
              </p:cNvPr>
              <p:cNvCxnSpPr/>
              <p:nvPr/>
            </p:nvCxnSpPr>
            <p:spPr>
              <a:xfrm>
                <a:off x="2437921" y="2602786"/>
                <a:ext cx="10972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3C9ADDD-6F2E-43C5-8890-9D49AEA5ABCB}"/>
              </a:ext>
            </a:extLst>
          </p:cNvPr>
          <p:cNvSpPr txBox="1"/>
          <p:nvPr/>
        </p:nvSpPr>
        <p:spPr>
          <a:xfrm>
            <a:off x="1775247" y="1393430"/>
            <a:ext cx="1822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Swimming Speed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302208-5464-4BA1-8659-FBA193762BE3}"/>
              </a:ext>
            </a:extLst>
          </p:cNvPr>
          <p:cNvSpPr txBox="1"/>
          <p:nvPr/>
        </p:nvSpPr>
        <p:spPr>
          <a:xfrm>
            <a:off x="4706106" y="263205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54FBCD-E6F9-4A31-9F9D-1828A0F1A04A}"/>
              </a:ext>
            </a:extLst>
          </p:cNvPr>
          <p:cNvSpPr txBox="1"/>
          <p:nvPr/>
        </p:nvSpPr>
        <p:spPr>
          <a:xfrm>
            <a:off x="4669255" y="325202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871C1B-F3A2-42D0-A152-F3BB435F33A6}"/>
              </a:ext>
            </a:extLst>
          </p:cNvPr>
          <p:cNvSpPr txBox="1"/>
          <p:nvPr/>
        </p:nvSpPr>
        <p:spPr>
          <a:xfrm>
            <a:off x="4622606" y="3997040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E0B33D-E3D7-4D8B-A2F2-6A5C915B2565}"/>
              </a:ext>
            </a:extLst>
          </p:cNvPr>
          <p:cNvSpPr txBox="1"/>
          <p:nvPr/>
        </p:nvSpPr>
        <p:spPr>
          <a:xfrm>
            <a:off x="5826741" y="266177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776EC7-676B-4141-BE40-867A277188D5}"/>
              </a:ext>
            </a:extLst>
          </p:cNvPr>
          <p:cNvSpPr txBox="1"/>
          <p:nvPr/>
        </p:nvSpPr>
        <p:spPr>
          <a:xfrm>
            <a:off x="5835738" y="328422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EC1B6A-ABD6-4F9A-9F46-7F6002A3E3C5}"/>
              </a:ext>
            </a:extLst>
          </p:cNvPr>
          <p:cNvSpPr txBox="1"/>
          <p:nvPr/>
        </p:nvSpPr>
        <p:spPr>
          <a:xfrm>
            <a:off x="5822520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6CF3FA-50AC-40F6-B2DB-1178D21DF0B8}"/>
              </a:ext>
            </a:extLst>
          </p:cNvPr>
          <p:cNvSpPr txBox="1"/>
          <p:nvPr/>
        </p:nvSpPr>
        <p:spPr>
          <a:xfrm>
            <a:off x="6944527" y="269283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810913E-2DAC-4AE8-9F08-2C1479E88C48}"/>
              </a:ext>
            </a:extLst>
          </p:cNvPr>
          <p:cNvSpPr txBox="1"/>
          <p:nvPr/>
        </p:nvSpPr>
        <p:spPr>
          <a:xfrm>
            <a:off x="6981674" y="329587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35C44C4-5629-49CD-A6DE-5F4E7CC1A119}"/>
              </a:ext>
            </a:extLst>
          </p:cNvPr>
          <p:cNvSpPr txBox="1"/>
          <p:nvPr/>
        </p:nvSpPr>
        <p:spPr>
          <a:xfrm>
            <a:off x="7027248" y="402263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60201" y="5668558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1. Fish react to their environment with energy use and stress.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2456264" y="2585816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FE4E65-E31A-46B6-B80F-1DCBFCCFB56C}"/>
              </a:ext>
            </a:extLst>
          </p:cNvPr>
          <p:cNvGrpSpPr/>
          <p:nvPr/>
        </p:nvGrpSpPr>
        <p:grpSpPr>
          <a:xfrm>
            <a:off x="9486977" y="861094"/>
            <a:ext cx="3396953" cy="1608790"/>
            <a:chOff x="9267697" y="5389514"/>
            <a:chExt cx="3396953" cy="160879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E758A5-5C83-48A3-98BB-FC1CDBCE7313}"/>
                </a:ext>
              </a:extLst>
            </p:cNvPr>
            <p:cNvSpPr/>
            <p:nvPr/>
          </p:nvSpPr>
          <p:spPr>
            <a:xfrm>
              <a:off x="9267697" y="5787731"/>
              <a:ext cx="2497656" cy="121057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C1F4471-1D11-4FF1-81D4-00981F97DED0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3616B5B-141C-4419-809F-DE9CAA918066}"/>
                </a:ext>
              </a:extLst>
            </p:cNvPr>
            <p:cNvSpPr/>
            <p:nvPr/>
          </p:nvSpPr>
          <p:spPr>
            <a:xfrm>
              <a:off x="9414592" y="6703367"/>
              <a:ext cx="365760" cy="23342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E59005B-333B-4D70-B945-C5B3A252F4B5}"/>
                </a:ext>
              </a:extLst>
            </p:cNvPr>
            <p:cNvSpPr txBox="1"/>
            <p:nvPr/>
          </p:nvSpPr>
          <p:spPr>
            <a:xfrm>
              <a:off x="9743225" y="5891916"/>
              <a:ext cx="2203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Salinity (</a:t>
              </a:r>
              <a:r>
                <a:rPr lang="en-US" b="1" i="1" dirty="0" err="1"/>
                <a:t>psu</a:t>
              </a:r>
              <a:r>
                <a:rPr lang="en-US" dirty="0"/>
                <a:t>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7CF2A430-65F3-4D81-A76E-7D0E8757CDA1}"/>
                    </a:ext>
                  </a:extLst>
                </p:cNvPr>
                <p:cNvSpPr txBox="1"/>
                <p:nvPr/>
              </p:nvSpPr>
              <p:spPr>
                <a:xfrm>
                  <a:off x="9770694" y="6624633"/>
                  <a:ext cx="28939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Current Velocity (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7CF2A430-65F3-4D81-A76E-7D0E8757C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0694" y="6624633"/>
                  <a:ext cx="289395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895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9C8B95-12C8-4562-A7CA-5DD9E13F4EAE}"/>
                </a:ext>
              </a:extLst>
            </p:cNvPr>
            <p:cNvSpPr txBox="1"/>
            <p:nvPr/>
          </p:nvSpPr>
          <p:spPr>
            <a:xfrm>
              <a:off x="9726219" y="5389514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6D05BD26-1DB7-47F2-B94F-B676E34E3399}"/>
              </a:ext>
            </a:extLst>
          </p:cNvPr>
          <p:cNvSpPr/>
          <p:nvPr/>
        </p:nvSpPr>
        <p:spPr>
          <a:xfrm>
            <a:off x="9622721" y="1802884"/>
            <a:ext cx="365760" cy="233429"/>
          </a:xfrm>
          <a:prstGeom prst="rect">
            <a:avLst/>
          </a:prstGeom>
          <a:solidFill>
            <a:srgbClr val="C016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99940DA-EA48-40A1-A471-24013DD62DBC}"/>
                  </a:ext>
                </a:extLst>
              </p:cNvPr>
              <p:cNvSpPr txBox="1"/>
              <p:nvPr/>
            </p:nvSpPr>
            <p:spPr>
              <a:xfrm>
                <a:off x="9978823" y="1724150"/>
                <a:ext cx="28939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Temperature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99940DA-EA48-40A1-A471-24013DD62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8823" y="1724150"/>
                <a:ext cx="2893956" cy="369332"/>
              </a:xfrm>
              <a:prstGeom prst="rect">
                <a:avLst/>
              </a:prstGeom>
              <a:blipFill>
                <a:blip r:embed="rId7"/>
                <a:stretch>
                  <a:fillRect l="-189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2D0C901-A468-4750-87F3-35BC33386288}"/>
              </a:ext>
            </a:extLst>
          </p:cNvPr>
          <p:cNvGrpSpPr/>
          <p:nvPr/>
        </p:nvGrpSpPr>
        <p:grpSpPr>
          <a:xfrm>
            <a:off x="1604737" y="215901"/>
            <a:ext cx="1979663" cy="1184983"/>
            <a:chOff x="3905495" y="245296"/>
            <a:chExt cx="1979663" cy="1184983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B49F855-B56E-4EB3-A77A-1A110943E6D1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F34F68A-055C-4C0E-8DB7-4298426A1BCD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0658F4A7-9B9B-498C-948D-98B300E9CC76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47" name="Picture 146">
                  <a:extLst>
                    <a:ext uri="{FF2B5EF4-FFF2-40B4-BE49-F238E27FC236}">
                      <a16:creationId xmlns:a16="http://schemas.microsoft.com/office/drawing/2014/main" id="{37967FA0-B277-4A7C-87BB-1B02E89170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7897" t="28734" r="84140" b="51169"/>
                <a:stretch/>
              </p:blipFill>
              <p:spPr>
                <a:xfrm>
                  <a:off x="2313323" y="235279"/>
                  <a:ext cx="626224" cy="110148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106BC4D3-90E6-420D-B24D-E5DC5BFB900C}"/>
                    </a:ext>
                  </a:extLst>
                </p:cNvPr>
                <p:cNvSpPr/>
                <p:nvPr/>
              </p:nvSpPr>
              <p:spPr>
                <a:xfrm>
                  <a:off x="2432195" y="458301"/>
                  <a:ext cx="329184" cy="615479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385DDD41-13A6-466F-844C-06C02BD6D085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8676A14-F935-4D32-8B59-7CC9CE769160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6B9A23B0-DF4C-429B-87B8-51723F56E9F8}"/>
                </a:ext>
              </a:extLst>
            </p:cNvPr>
            <p:cNvPicPr>
              <a:picLocks/>
            </p:cNvPicPr>
            <p:nvPr/>
          </p:nvPicPr>
          <p:blipFill rotWithShape="1">
            <a:blip r:embed="rId9"/>
            <a:srcRect l="36883" t="9252" r="55401" b="73628"/>
            <a:stretch/>
          </p:blipFill>
          <p:spPr>
            <a:xfrm>
              <a:off x="4239182" y="304626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0CB8F2-7A30-4555-88B7-7AF8A8DAA31B}"/>
                </a:ext>
              </a:extLst>
            </p:cNvPr>
            <p:cNvSpPr/>
            <p:nvPr/>
          </p:nvSpPr>
          <p:spPr>
            <a:xfrm>
              <a:off x="4448383" y="1022863"/>
              <a:ext cx="274320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23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591478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86E184-65EF-4E7B-BF05-5F6676CDF53C}"/>
              </a:ext>
            </a:extLst>
          </p:cNvPr>
          <p:cNvGrpSpPr/>
          <p:nvPr/>
        </p:nvGrpSpPr>
        <p:grpSpPr>
          <a:xfrm>
            <a:off x="1402236" y="1469896"/>
            <a:ext cx="8841366" cy="4682727"/>
            <a:chOff x="1708778" y="1798997"/>
            <a:chExt cx="8841366" cy="468272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DCC76E-82E4-489B-B111-88676FC99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9369" y="1952123"/>
              <a:ext cx="8235639" cy="4529601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perspectiveRelaxed"/>
              <a:lightRig rig="threePt" dir="t"/>
            </a:scene3d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1708778" y="2405915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8778" y="2405915"/>
                  <a:ext cx="2419815" cy="429220"/>
                </a:xfrm>
                <a:prstGeom prst="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6F67821-0371-4DFE-A091-17B83DA69D25}"/>
                </a:ext>
              </a:extLst>
            </p:cNvPr>
            <p:cNvGrpSpPr/>
            <p:nvPr/>
          </p:nvGrpSpPr>
          <p:grpSpPr>
            <a:xfrm>
              <a:off x="1891845" y="3231495"/>
              <a:ext cx="8658299" cy="2225347"/>
              <a:chOff x="1891845" y="3231495"/>
              <a:chExt cx="8658299" cy="2225347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276A888-2ECE-4AB8-B3F1-7FAA0C246190}"/>
                  </a:ext>
                </a:extLst>
              </p:cNvPr>
              <p:cNvGrpSpPr/>
              <p:nvPr/>
            </p:nvGrpSpPr>
            <p:grpSpPr>
              <a:xfrm>
                <a:off x="6130892" y="3260052"/>
                <a:ext cx="4419252" cy="2196790"/>
                <a:chOff x="6130892" y="3260052"/>
                <a:chExt cx="4419252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236376D9-59D6-43C3-A016-4189B80E1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2775" y="3260052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AA6A18C-73F4-401D-82EE-666BB3B07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ACBF7041-5B86-4EE7-B4DD-8FCDC3337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1E9D3B5-52CB-4EF8-90FC-755ABBC51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188FB62C-34AF-4D50-A582-835C2B68A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172C09B0-38AE-4298-87F2-CEBDE777AC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86F7CDD-CE4B-4F06-B4D3-ED79669E61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42A4542D-33A8-48CB-96B9-A3CB23BA9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55B17BF-6755-4D69-B4A3-66188C691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4EF482C0-DD48-49B4-B9AC-0DF016227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D0C8BAC-6E08-490F-A4E1-2171D3E41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F6AEC572-70B1-4668-82BD-C5CEE72BB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FB921A53-B0CB-45B0-8E81-8C3204D12F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89CFF4B-C07B-49FF-833D-BEE781EC0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0892" y="3876078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1F5CF2D4-DE71-4EBD-B571-001BA2714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8278" y="4626276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D2362C5E-F9F0-4F7E-B59D-F1674DE0A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4512" y="5417361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A28C2BD-3438-4DD0-9510-71B97A3AA584}"/>
                  </a:ext>
                </a:extLst>
              </p:cNvPr>
              <p:cNvGrpSpPr/>
              <p:nvPr/>
            </p:nvGrpSpPr>
            <p:grpSpPr>
              <a:xfrm flipH="1">
                <a:off x="1891845" y="3231495"/>
                <a:ext cx="3371386" cy="2196790"/>
                <a:chOff x="7178758" y="3260052"/>
                <a:chExt cx="3371386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6A4429FD-2F8B-4756-BC73-88AC77BB5A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5BDA1ABD-5F75-4F9D-A705-8225B8ECA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84612499-76E3-4012-B764-2EABB6490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563BBC51-E788-421A-9D78-C0AF97458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1C8B67D9-5F75-4548-AF92-72DA0E5D9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6FBFC15B-92B7-4397-AC9C-D5A1E4A59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8C2C415F-32F1-4E09-A2F8-D62A5EC58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C9D4B07B-BE0D-4D53-8815-B8A7F05FD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1FF8A1B-4116-45F8-8D80-0626EE9CD0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49D47ED2-974A-4EA7-A8F6-33ABA327FC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B14A5F04-FF65-4F4A-8FE6-2BDC7479A1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8CDCDBFF-DDED-4721-8523-4FFB745BA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93D1E53-69A2-4A21-954D-B8C9542A3B97}"/>
                </a:ext>
              </a:extLst>
            </p:cNvPr>
            <p:cNvGrpSpPr/>
            <p:nvPr/>
          </p:nvGrpSpPr>
          <p:grpSpPr>
            <a:xfrm>
              <a:off x="2186948" y="1798997"/>
              <a:ext cx="1438648" cy="830997"/>
              <a:chOff x="2220402" y="1955114"/>
              <a:chExt cx="1438648" cy="83099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2220402" y="195511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D2C57-24A4-49D5-9CD4-89FB2A8FDE51}"/>
                  </a:ext>
                </a:extLst>
              </p:cNvPr>
              <p:cNvCxnSpPr/>
              <p:nvPr/>
            </p:nvCxnSpPr>
            <p:spPr>
              <a:xfrm>
                <a:off x="2437921" y="2602786"/>
                <a:ext cx="10972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53C9ADDD-6F2E-43C5-8890-9D49AEA5ABCB}"/>
              </a:ext>
            </a:extLst>
          </p:cNvPr>
          <p:cNvSpPr txBox="1"/>
          <p:nvPr/>
        </p:nvSpPr>
        <p:spPr>
          <a:xfrm>
            <a:off x="1775247" y="1283702"/>
            <a:ext cx="1822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Swimming Speed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302208-5464-4BA1-8659-FBA193762BE3}"/>
              </a:ext>
            </a:extLst>
          </p:cNvPr>
          <p:cNvSpPr txBox="1"/>
          <p:nvPr/>
        </p:nvSpPr>
        <p:spPr>
          <a:xfrm>
            <a:off x="4706106" y="252232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54FBCD-E6F9-4A31-9F9D-1828A0F1A04A}"/>
              </a:ext>
            </a:extLst>
          </p:cNvPr>
          <p:cNvSpPr txBox="1"/>
          <p:nvPr/>
        </p:nvSpPr>
        <p:spPr>
          <a:xfrm>
            <a:off x="4669255" y="3142300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871C1B-F3A2-42D0-A152-F3BB435F33A6}"/>
              </a:ext>
            </a:extLst>
          </p:cNvPr>
          <p:cNvSpPr txBox="1"/>
          <p:nvPr/>
        </p:nvSpPr>
        <p:spPr>
          <a:xfrm>
            <a:off x="4622606" y="388731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68503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55204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715834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555255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16384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390122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73367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E0B33D-E3D7-4D8B-A2F2-6A5C915B2565}"/>
              </a:ext>
            </a:extLst>
          </p:cNvPr>
          <p:cNvSpPr txBox="1"/>
          <p:nvPr/>
        </p:nvSpPr>
        <p:spPr>
          <a:xfrm>
            <a:off x="5826741" y="255204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776EC7-676B-4141-BE40-867A277188D5}"/>
              </a:ext>
            </a:extLst>
          </p:cNvPr>
          <p:cNvSpPr txBox="1"/>
          <p:nvPr/>
        </p:nvSpPr>
        <p:spPr>
          <a:xfrm>
            <a:off x="5835738" y="317449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EC1B6A-ABD6-4F9A-9F46-7F6002A3E3C5}"/>
              </a:ext>
            </a:extLst>
          </p:cNvPr>
          <p:cNvSpPr txBox="1"/>
          <p:nvPr/>
        </p:nvSpPr>
        <p:spPr>
          <a:xfrm>
            <a:off x="5822520" y="391238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71451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6CF3FA-50AC-40F6-B2DB-1178D21DF0B8}"/>
              </a:ext>
            </a:extLst>
          </p:cNvPr>
          <p:cNvSpPr txBox="1"/>
          <p:nvPr/>
        </p:nvSpPr>
        <p:spPr>
          <a:xfrm>
            <a:off x="6944527" y="258311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810913E-2DAC-4AE8-9F08-2C1479E88C48}"/>
              </a:ext>
            </a:extLst>
          </p:cNvPr>
          <p:cNvSpPr txBox="1"/>
          <p:nvPr/>
        </p:nvSpPr>
        <p:spPr>
          <a:xfrm>
            <a:off x="6981674" y="318615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35C44C4-5629-49CD-A6DE-5F4E7CC1A119}"/>
              </a:ext>
            </a:extLst>
          </p:cNvPr>
          <p:cNvSpPr txBox="1"/>
          <p:nvPr/>
        </p:nvSpPr>
        <p:spPr>
          <a:xfrm>
            <a:off x="7027248" y="3912904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74602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58636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18479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391238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78092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56848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178554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393356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73367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18090" y="5863363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2. Fish Determine if Resting is Needed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2456264" y="2476088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3912380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1713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2D0C901-A468-4750-87F3-35BC33386288}"/>
              </a:ext>
            </a:extLst>
          </p:cNvPr>
          <p:cNvGrpSpPr/>
          <p:nvPr/>
        </p:nvGrpSpPr>
        <p:grpSpPr>
          <a:xfrm>
            <a:off x="1604737" y="106173"/>
            <a:ext cx="1979663" cy="1184983"/>
            <a:chOff x="3905495" y="245296"/>
            <a:chExt cx="1979663" cy="1184983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B49F855-B56E-4EB3-A77A-1A110943E6D1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F34F68A-055C-4C0E-8DB7-4298426A1BCD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0658F4A7-9B9B-498C-948D-98B300E9CC76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47" name="Picture 146">
                  <a:extLst>
                    <a:ext uri="{FF2B5EF4-FFF2-40B4-BE49-F238E27FC236}">
                      <a16:creationId xmlns:a16="http://schemas.microsoft.com/office/drawing/2014/main" id="{37967FA0-B277-4A7C-87BB-1B02E89170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7897" t="28734" r="84140" b="51169"/>
                <a:stretch/>
              </p:blipFill>
              <p:spPr>
                <a:xfrm>
                  <a:off x="2313323" y="235279"/>
                  <a:ext cx="626224" cy="110148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106BC4D3-90E6-420D-B24D-E5DC5BFB900C}"/>
                    </a:ext>
                  </a:extLst>
                </p:cNvPr>
                <p:cNvSpPr/>
                <p:nvPr/>
              </p:nvSpPr>
              <p:spPr>
                <a:xfrm>
                  <a:off x="2432195" y="458301"/>
                  <a:ext cx="329184" cy="615479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385DDD41-13A6-466F-844C-06C02BD6D085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8676A14-F935-4D32-8B59-7CC9CE769160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6B9A23B0-DF4C-429B-87B8-51723F56E9F8}"/>
                </a:ext>
              </a:extLst>
            </p:cNvPr>
            <p:cNvPicPr>
              <a:picLocks/>
            </p:cNvPicPr>
            <p:nvPr/>
          </p:nvPicPr>
          <p:blipFill rotWithShape="1">
            <a:blip r:embed="rId7"/>
            <a:srcRect l="36883" t="9252" r="55401" b="73628"/>
            <a:stretch/>
          </p:blipFill>
          <p:spPr>
            <a:xfrm>
              <a:off x="4239182" y="304626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0CB8F2-7A30-4555-88B7-7AF8A8DAA31B}"/>
                </a:ext>
              </a:extLst>
            </p:cNvPr>
            <p:cNvSpPr/>
            <p:nvPr/>
          </p:nvSpPr>
          <p:spPr>
            <a:xfrm>
              <a:off x="4448383" y="1022863"/>
              <a:ext cx="274320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BA82323-4D4B-46FC-AEE4-F9CC82164D8A}"/>
              </a:ext>
            </a:extLst>
          </p:cNvPr>
          <p:cNvGrpSpPr/>
          <p:nvPr/>
        </p:nvGrpSpPr>
        <p:grpSpPr>
          <a:xfrm>
            <a:off x="5968208" y="3438504"/>
            <a:ext cx="4910953" cy="1674102"/>
            <a:chOff x="7910757" y="1120367"/>
            <a:chExt cx="4910953" cy="1674102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BCA2C9B-E9EC-489F-AA87-2F66F8FA1C4E}"/>
                </a:ext>
              </a:extLst>
            </p:cNvPr>
            <p:cNvSpPr/>
            <p:nvPr/>
          </p:nvSpPr>
          <p:spPr>
            <a:xfrm>
              <a:off x="7910757" y="1122992"/>
              <a:ext cx="4476682" cy="1671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22666B2A-B726-4B13-969D-B358DE5A887C}"/>
                    </a:ext>
                  </a:extLst>
                </p:cNvPr>
                <p:cNvSpPr txBox="1"/>
                <p:nvPr/>
              </p:nvSpPr>
              <p:spPr>
                <a:xfrm>
                  <a:off x="7980707" y="1459681"/>
                  <a:ext cx="4841003" cy="1226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:r>
                    <a:rPr lang="en-US" b="1" dirty="0"/>
                    <a:t>energy</a:t>
                  </a:r>
                  <a:r>
                    <a:rPr lang="en-US" dirty="0"/>
                    <a:t> </a:t>
                  </a:r>
                  <a:r>
                    <a:rPr lang="en-US" b="1" dirty="0"/>
                    <a:t>is ≥ 25%  </a:t>
                  </a:r>
                  <a:r>
                    <a:rPr lang="en-US" dirty="0"/>
                    <a:t>and </a:t>
                  </a:r>
                  <a:r>
                    <a:rPr lang="en-US" b="1" dirty="0"/>
                    <a:t>|</a:t>
                  </a:r>
                  <a:r>
                    <a:rPr lang="en-US" b="1" i="1" dirty="0"/>
                    <a:t>u</a:t>
                  </a:r>
                  <a:r>
                    <a:rPr lang="en-US" b="1" dirty="0"/>
                    <a:t>| </a:t>
                  </a:r>
                  <a:r>
                    <a:rPr lang="en-US" dirty="0"/>
                    <a:t>in the opposite direction is </a:t>
                  </a:r>
                  <a:r>
                    <a:rPr lang="en-US" b="1" dirty="0"/>
                    <a:t>&gt;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𝒂𝒈𝒆𝒏𝒕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:</a:t>
                  </a:r>
                </a:p>
                <a:p>
                  <a:r>
                    <a:rPr lang="en-US" dirty="0"/>
                    <a:t>	</a:t>
                  </a:r>
                  <a:r>
                    <a:rPr lang="en-US" b="1" dirty="0"/>
                    <a:t>In-STST?</a:t>
                  </a:r>
                  <a:r>
                    <a:rPr lang="en-US" dirty="0"/>
                    <a:t> = </a:t>
                  </a:r>
                  <a:r>
                    <a:rPr lang="en-US" b="1" dirty="0"/>
                    <a:t>True</a:t>
                  </a:r>
                </a:p>
                <a:p>
                  <a:r>
                    <a:rPr lang="en-US" dirty="0"/>
                    <a:t>	</a:t>
                  </a:r>
                  <a:r>
                    <a:rPr lang="en-US" b="1" dirty="0"/>
                    <a:t>Time-in-STST </a:t>
                  </a:r>
                  <a:r>
                    <a:rPr lang="en-US" dirty="0"/>
                    <a:t>= </a:t>
                  </a:r>
                  <a:r>
                    <a:rPr lang="en-US" b="1" dirty="0"/>
                    <a:t>Time-in-Staging</a:t>
                  </a:r>
                  <a:r>
                    <a:rPr lang="en-US" dirty="0"/>
                    <a:t> + 1</a:t>
                  </a:r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22666B2A-B726-4B13-969D-B358DE5A8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0707" y="1459681"/>
                  <a:ext cx="4841003" cy="1226618"/>
                </a:xfrm>
                <a:prstGeom prst="rect">
                  <a:avLst/>
                </a:prstGeom>
                <a:blipFill>
                  <a:blip r:embed="rId8"/>
                  <a:stretch>
                    <a:fillRect l="-1134" t="-2985" b="-69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Text Placeholder 4">
              <a:extLst>
                <a:ext uri="{FF2B5EF4-FFF2-40B4-BE49-F238E27FC236}">
                  <a16:creationId xmlns:a16="http://schemas.microsoft.com/office/drawing/2014/main" id="{4D99E439-67C1-4C4A-8886-335E54D4C364}"/>
                </a:ext>
              </a:extLst>
            </p:cNvPr>
            <p:cNvSpPr txBox="1">
              <a:spLocks/>
            </p:cNvSpPr>
            <p:nvPr/>
          </p:nvSpPr>
          <p:spPr>
            <a:xfrm>
              <a:off x="7997450" y="1120367"/>
              <a:ext cx="4365605" cy="82391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/>
                <a:t>Selective Tidal Stream Transport (STST)</a:t>
              </a: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CAE91B6-40CA-4278-A3BD-4BFA323863C4}"/>
                </a:ext>
              </a:extLst>
            </p:cNvPr>
            <p:cNvCxnSpPr>
              <a:cxnSpLocks/>
            </p:cNvCxnSpPr>
            <p:nvPr/>
          </p:nvCxnSpPr>
          <p:spPr>
            <a:xfrm>
              <a:off x="8070330" y="1462031"/>
              <a:ext cx="42062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D07AE63-E9EB-40D1-ADF2-C1832E34A2C2}"/>
              </a:ext>
            </a:extLst>
          </p:cNvPr>
          <p:cNvGrpSpPr/>
          <p:nvPr/>
        </p:nvGrpSpPr>
        <p:grpSpPr>
          <a:xfrm>
            <a:off x="1048637" y="3422430"/>
            <a:ext cx="4498018" cy="1671477"/>
            <a:chOff x="7881775" y="1122992"/>
            <a:chExt cx="4498018" cy="1671477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C750DB8-CFA4-4A38-872D-C50401B5AF42}"/>
                </a:ext>
              </a:extLst>
            </p:cNvPr>
            <p:cNvSpPr/>
            <p:nvPr/>
          </p:nvSpPr>
          <p:spPr>
            <a:xfrm>
              <a:off x="7910756" y="1122992"/>
              <a:ext cx="4469037" cy="1671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63F6F33-42B3-40FC-816D-EC729E0D3BBD}"/>
                </a:ext>
              </a:extLst>
            </p:cNvPr>
            <p:cNvSpPr txBox="1"/>
            <p:nvPr/>
          </p:nvSpPr>
          <p:spPr>
            <a:xfrm>
              <a:off x="7919856" y="1544942"/>
              <a:ext cx="443555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</a:t>
              </a:r>
              <a:r>
                <a:rPr lang="en-US" b="1" dirty="0"/>
                <a:t>energy</a:t>
              </a:r>
              <a:r>
                <a:rPr lang="en-US" dirty="0"/>
                <a:t> is </a:t>
              </a:r>
              <a:r>
                <a:rPr lang="en-US" b="1" dirty="0"/>
                <a:t>≤ 25% </a:t>
              </a:r>
              <a:r>
                <a:rPr lang="en-US" dirty="0"/>
                <a:t>or </a:t>
              </a:r>
              <a:r>
                <a:rPr lang="en-US" b="1" dirty="0"/>
                <a:t>stress</a:t>
              </a:r>
              <a:r>
                <a:rPr lang="en-US" dirty="0"/>
                <a:t> </a:t>
              </a:r>
              <a:r>
                <a:rPr lang="en-US" b="1" dirty="0"/>
                <a:t>&gt; 50%</a:t>
              </a:r>
              <a:r>
                <a:rPr lang="en-US" dirty="0"/>
                <a:t>:</a:t>
              </a:r>
            </a:p>
            <a:p>
              <a:r>
                <a:rPr lang="en-US" dirty="0"/>
                <a:t>	</a:t>
              </a:r>
              <a:r>
                <a:rPr lang="en-US" b="1" dirty="0"/>
                <a:t>Staging? </a:t>
              </a:r>
              <a:r>
                <a:rPr lang="en-US" dirty="0"/>
                <a:t>= </a:t>
              </a:r>
              <a:r>
                <a:rPr lang="en-US" b="1" dirty="0"/>
                <a:t>True</a:t>
              </a:r>
            </a:p>
            <a:p>
              <a:r>
                <a:rPr lang="en-US" i="1" dirty="0"/>
                <a:t>	</a:t>
              </a:r>
              <a:r>
                <a:rPr lang="en-US" b="1" dirty="0"/>
                <a:t>Time-in-Stage</a:t>
              </a:r>
              <a:r>
                <a:rPr lang="en-US" dirty="0"/>
                <a:t> = </a:t>
              </a:r>
              <a:r>
                <a:rPr lang="en-US" b="1" dirty="0"/>
                <a:t>Time-in-Stage</a:t>
              </a:r>
              <a:r>
                <a:rPr lang="en-US" dirty="0"/>
                <a:t> + 1</a:t>
              </a:r>
            </a:p>
            <a:p>
              <a:r>
                <a:rPr lang="en-US" dirty="0"/>
                <a:t>	</a:t>
              </a:r>
              <a:r>
                <a:rPr lang="en-US" b="1" dirty="0"/>
                <a:t>Energy</a:t>
              </a:r>
              <a:r>
                <a:rPr lang="en-US" dirty="0"/>
                <a:t> = </a:t>
              </a:r>
              <a:r>
                <a:rPr lang="en-US" b="1" dirty="0"/>
                <a:t>Energy</a:t>
              </a:r>
              <a:r>
                <a:rPr lang="en-US" dirty="0"/>
                <a:t> + 1</a:t>
              </a:r>
            </a:p>
          </p:txBody>
        </p:sp>
        <p:sp>
          <p:nvSpPr>
            <p:cNvPr id="130" name="Text Placeholder 4">
              <a:extLst>
                <a:ext uri="{FF2B5EF4-FFF2-40B4-BE49-F238E27FC236}">
                  <a16:creationId xmlns:a16="http://schemas.microsoft.com/office/drawing/2014/main" id="{DF4245D9-FFAD-48B7-AF8F-82AF165E6863}"/>
                </a:ext>
              </a:extLst>
            </p:cNvPr>
            <p:cNvSpPr txBox="1">
              <a:spLocks/>
            </p:cNvSpPr>
            <p:nvPr/>
          </p:nvSpPr>
          <p:spPr>
            <a:xfrm>
              <a:off x="7881775" y="1146123"/>
              <a:ext cx="4484786" cy="82391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/>
                <a:t>Staging</a:t>
              </a: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2ED67DF-2B02-409D-A667-1BC4EE177D0C}"/>
                </a:ext>
              </a:extLst>
            </p:cNvPr>
            <p:cNvCxnSpPr>
              <a:cxnSpLocks/>
            </p:cNvCxnSpPr>
            <p:nvPr/>
          </p:nvCxnSpPr>
          <p:spPr>
            <a:xfrm>
              <a:off x="9650071" y="1513058"/>
              <a:ext cx="93936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9A9D950-D857-48F0-86BE-38BD9FBED788}"/>
              </a:ext>
            </a:extLst>
          </p:cNvPr>
          <p:cNvSpPr/>
          <p:nvPr/>
        </p:nvSpPr>
        <p:spPr>
          <a:xfrm>
            <a:off x="4628297" y="5396943"/>
            <a:ext cx="2288523" cy="4629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 Rest Needed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DA2D29-4864-4F39-B0C7-C2E290D6990E}"/>
              </a:ext>
            </a:extLst>
          </p:cNvPr>
          <p:cNvGrpSpPr/>
          <p:nvPr/>
        </p:nvGrpSpPr>
        <p:grpSpPr>
          <a:xfrm>
            <a:off x="3286614" y="751832"/>
            <a:ext cx="4937352" cy="2689816"/>
            <a:chOff x="3286614" y="751832"/>
            <a:chExt cx="4937352" cy="26898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988C165-7819-4D98-8753-9D764E0A2708}"/>
                </a:ext>
              </a:extLst>
            </p:cNvPr>
            <p:cNvGrpSpPr/>
            <p:nvPr/>
          </p:nvGrpSpPr>
          <p:grpSpPr>
            <a:xfrm>
              <a:off x="3298151" y="751832"/>
              <a:ext cx="4925815" cy="2286000"/>
              <a:chOff x="3154739" y="741265"/>
              <a:chExt cx="4925815" cy="228600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49EB4A5-815F-4E78-8B3B-5D69B3F30528}"/>
                  </a:ext>
                </a:extLst>
              </p:cNvPr>
              <p:cNvCxnSpPr/>
              <p:nvPr/>
            </p:nvCxnSpPr>
            <p:spPr>
              <a:xfrm>
                <a:off x="3221081" y="751366"/>
                <a:ext cx="24688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1835651-395F-4308-ABAC-A4B95D7ECB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526136" y="1884265"/>
                <a:ext cx="22860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24FF5207-510A-44FA-B6C9-7B653A042B4B}"/>
                  </a:ext>
                </a:extLst>
              </p:cNvPr>
              <p:cNvCxnSpPr/>
              <p:nvPr/>
            </p:nvCxnSpPr>
            <p:spPr>
              <a:xfrm>
                <a:off x="3154739" y="2995849"/>
                <a:ext cx="29260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33419CB1-97B0-4F92-A783-7B73BAFDC4A7}"/>
                  </a:ext>
                </a:extLst>
              </p:cNvPr>
              <p:cNvCxnSpPr/>
              <p:nvPr/>
            </p:nvCxnSpPr>
            <p:spPr>
              <a:xfrm>
                <a:off x="5751645" y="2995849"/>
                <a:ext cx="2328909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45DFB75-1950-4262-BEE6-30669C88AB2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84001" y="3213048"/>
              <a:ext cx="4572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3457FB1-6F76-4D27-B25A-C086AE7A497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58014" y="3203878"/>
              <a:ext cx="4572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046E4B-9F04-4B0F-BCE9-CEA1036D915C}"/>
              </a:ext>
            </a:extLst>
          </p:cNvPr>
          <p:cNvGrpSpPr/>
          <p:nvPr/>
        </p:nvGrpSpPr>
        <p:grpSpPr>
          <a:xfrm>
            <a:off x="3266165" y="5086909"/>
            <a:ext cx="4949993" cy="566928"/>
            <a:chOff x="3266165" y="5086909"/>
            <a:chExt cx="4949993" cy="566928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EEF5F36-2E50-4B2A-85C7-B09F2E8480B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266165" y="5626327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B6E425D-AD1D-4384-8479-4703B53470A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12294" y="5361229"/>
              <a:ext cx="5486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301B03C-C2CD-448B-B557-F5A42342B9E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38281" y="5379517"/>
              <a:ext cx="5486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514D82F-45A3-4570-A7FE-77353CCFAC3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899422" y="5635549"/>
              <a:ext cx="13167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2647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3EA09A-2BF2-442A-A7CE-1F49802B0E9E}"/>
                  </a:ext>
                </a:extLst>
              </p:cNvPr>
              <p:cNvSpPr txBox="1"/>
              <p:nvPr/>
            </p:nvSpPr>
            <p:spPr>
              <a:xfrm>
                <a:off x="1402236" y="2186542"/>
                <a:ext cx="2419815" cy="429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𝒂𝒈𝒆𝒏𝒕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3EA09A-2BF2-442A-A7CE-1F49802B0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236" y="2186542"/>
                <a:ext cx="2419815" cy="42922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F93D1E53-69A2-4A21-954D-B8C9542A3B97}"/>
              </a:ext>
            </a:extLst>
          </p:cNvPr>
          <p:cNvGrpSpPr/>
          <p:nvPr/>
        </p:nvGrpSpPr>
        <p:grpSpPr>
          <a:xfrm>
            <a:off x="1880406" y="1579624"/>
            <a:ext cx="1438648" cy="830997"/>
            <a:chOff x="2220402" y="1955114"/>
            <a:chExt cx="1438648" cy="8309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CD7E2-905A-405C-9594-ACACE159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220402" y="1955114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BFD2C57-24A4-49D5-9CD4-89FB2A8FDE51}"/>
                </a:ext>
              </a:extLst>
            </p:cNvPr>
            <p:cNvCxnSpPr/>
            <p:nvPr/>
          </p:nvCxnSpPr>
          <p:spPr>
            <a:xfrm>
              <a:off x="2437921" y="2602786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3C9ADDD-6F2E-43C5-8890-9D49AEA5ABCB}"/>
              </a:ext>
            </a:extLst>
          </p:cNvPr>
          <p:cNvSpPr txBox="1"/>
          <p:nvPr/>
        </p:nvSpPr>
        <p:spPr>
          <a:xfrm>
            <a:off x="1775247" y="1393430"/>
            <a:ext cx="1822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Swimming Speed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260201" y="5668558"/>
            <a:ext cx="116715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3. Patches Track Fish Resting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2D0C901-A468-4750-87F3-35BC33386288}"/>
              </a:ext>
            </a:extLst>
          </p:cNvPr>
          <p:cNvGrpSpPr/>
          <p:nvPr/>
        </p:nvGrpSpPr>
        <p:grpSpPr>
          <a:xfrm>
            <a:off x="1604737" y="215901"/>
            <a:ext cx="1979663" cy="1184983"/>
            <a:chOff x="3905495" y="245296"/>
            <a:chExt cx="1979663" cy="1184983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B49F855-B56E-4EB3-A77A-1A110943E6D1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F34F68A-055C-4C0E-8DB7-4298426A1BCD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0658F4A7-9B9B-498C-948D-98B300E9CC76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147" name="Picture 146">
                  <a:extLst>
                    <a:ext uri="{FF2B5EF4-FFF2-40B4-BE49-F238E27FC236}">
                      <a16:creationId xmlns:a16="http://schemas.microsoft.com/office/drawing/2014/main" id="{37967FA0-B277-4A7C-87BB-1B02E89170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7897" t="28734" r="84140" b="51169"/>
                <a:stretch/>
              </p:blipFill>
              <p:spPr>
                <a:xfrm>
                  <a:off x="2313323" y="235279"/>
                  <a:ext cx="626224" cy="110148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106BC4D3-90E6-420D-B24D-E5DC5BFB900C}"/>
                    </a:ext>
                  </a:extLst>
                </p:cNvPr>
                <p:cNvSpPr/>
                <p:nvPr/>
              </p:nvSpPr>
              <p:spPr>
                <a:xfrm>
                  <a:off x="2432195" y="458301"/>
                  <a:ext cx="329184" cy="615479"/>
                </a:xfrm>
                <a:prstGeom prst="rect">
                  <a:avLst/>
                </a:prstGeom>
                <a:solidFill>
                  <a:srgbClr val="00B05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385DDD41-13A6-466F-844C-06C02BD6D085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8676A14-F935-4D32-8B59-7CC9CE769160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6B9A23B0-DF4C-429B-87B8-51723F56E9F8}"/>
                </a:ext>
              </a:extLst>
            </p:cNvPr>
            <p:cNvPicPr>
              <a:picLocks/>
            </p:cNvPicPr>
            <p:nvPr/>
          </p:nvPicPr>
          <p:blipFill rotWithShape="1">
            <a:blip r:embed="rId7"/>
            <a:srcRect l="36883" t="9252" r="55401" b="73628"/>
            <a:stretch/>
          </p:blipFill>
          <p:spPr>
            <a:xfrm>
              <a:off x="4239182" y="304626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0CB8F2-7A30-4555-88B7-7AF8A8DAA31B}"/>
                </a:ext>
              </a:extLst>
            </p:cNvPr>
            <p:cNvSpPr/>
            <p:nvPr/>
          </p:nvSpPr>
          <p:spPr>
            <a:xfrm>
              <a:off x="4448383" y="1022863"/>
              <a:ext cx="274320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FAA4D51-F17E-4755-9880-24E2BDFDA25F}"/>
              </a:ext>
            </a:extLst>
          </p:cNvPr>
          <p:cNvSpPr/>
          <p:nvPr/>
        </p:nvSpPr>
        <p:spPr>
          <a:xfrm>
            <a:off x="2056512" y="3387652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STST: 0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A9E0EB79-6559-46E5-A07F-39E09812E3B4}"/>
              </a:ext>
            </a:extLst>
          </p:cNvPr>
          <p:cNvSpPr/>
          <p:nvPr/>
        </p:nvSpPr>
        <p:spPr>
          <a:xfrm>
            <a:off x="2056512" y="3666638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Staged: 0 </a:t>
            </a:r>
          </a:p>
        </p:txBody>
      </p:sp>
      <p:sp>
        <p:nvSpPr>
          <p:cNvPr id="82" name="Arrow: Up-Down 81">
            <a:extLst>
              <a:ext uri="{FF2B5EF4-FFF2-40B4-BE49-F238E27FC236}">
                <a16:creationId xmlns:a16="http://schemas.microsoft.com/office/drawing/2014/main" id="{84270C7A-CC37-4BF3-8772-A8A0C6C58035}"/>
              </a:ext>
            </a:extLst>
          </p:cNvPr>
          <p:cNvSpPr/>
          <p:nvPr/>
        </p:nvSpPr>
        <p:spPr>
          <a:xfrm>
            <a:off x="2456264" y="2585816"/>
            <a:ext cx="208670" cy="82715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57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36376D9-59D6-43C3-A016-4189B80E1B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CBF7041-5B86-4EE7-B4DD-8FCDC3337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D0C8BAC-6E08-490F-A4E1-2171D3E41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6AEC572-70B1-4668-82BD-C5CEE72BBB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89CFF4B-C07B-49FF-833D-BEE781EC0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F5CF2D4-DE71-4EBD-B571-001BA27144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BDA1ABD-5F75-4F9D-A705-8225B8ECAA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9D47ED2-974A-4EA7-A8F6-33ABA327FC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14A5F04-FF65-4F4A-8FE6-2BDC7479A1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302208-5464-4BA1-8659-FBA193762BE3}"/>
              </a:ext>
            </a:extLst>
          </p:cNvPr>
          <p:cNvSpPr txBox="1"/>
          <p:nvPr/>
        </p:nvSpPr>
        <p:spPr>
          <a:xfrm>
            <a:off x="4706106" y="263205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54FBCD-E6F9-4A31-9F9D-1828A0F1A04A}"/>
              </a:ext>
            </a:extLst>
          </p:cNvPr>
          <p:cNvSpPr txBox="1"/>
          <p:nvPr/>
        </p:nvSpPr>
        <p:spPr>
          <a:xfrm>
            <a:off x="4669255" y="325202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871C1B-F3A2-42D0-A152-F3BB435F33A6}"/>
              </a:ext>
            </a:extLst>
          </p:cNvPr>
          <p:cNvSpPr txBox="1"/>
          <p:nvPr/>
        </p:nvSpPr>
        <p:spPr>
          <a:xfrm>
            <a:off x="4622606" y="3997040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E0B33D-E3D7-4D8B-A2F2-6A5C915B2565}"/>
              </a:ext>
            </a:extLst>
          </p:cNvPr>
          <p:cNvSpPr txBox="1"/>
          <p:nvPr/>
        </p:nvSpPr>
        <p:spPr>
          <a:xfrm>
            <a:off x="5826741" y="266177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776EC7-676B-4141-BE40-867A277188D5}"/>
              </a:ext>
            </a:extLst>
          </p:cNvPr>
          <p:cNvSpPr txBox="1"/>
          <p:nvPr/>
        </p:nvSpPr>
        <p:spPr>
          <a:xfrm>
            <a:off x="5835738" y="328422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EC1B6A-ABD6-4F9A-9F46-7F6002A3E3C5}"/>
              </a:ext>
            </a:extLst>
          </p:cNvPr>
          <p:cNvSpPr txBox="1"/>
          <p:nvPr/>
        </p:nvSpPr>
        <p:spPr>
          <a:xfrm>
            <a:off x="5822520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6CF3FA-50AC-40F6-B2DB-1178D21DF0B8}"/>
              </a:ext>
            </a:extLst>
          </p:cNvPr>
          <p:cNvSpPr txBox="1"/>
          <p:nvPr/>
        </p:nvSpPr>
        <p:spPr>
          <a:xfrm>
            <a:off x="6944527" y="269283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810913E-2DAC-4AE8-9F08-2C1479E88C48}"/>
              </a:ext>
            </a:extLst>
          </p:cNvPr>
          <p:cNvSpPr txBox="1"/>
          <p:nvPr/>
        </p:nvSpPr>
        <p:spPr>
          <a:xfrm>
            <a:off x="6981674" y="329587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35C44C4-5629-49CD-A6DE-5F4E7CC1A119}"/>
              </a:ext>
            </a:extLst>
          </p:cNvPr>
          <p:cNvSpPr txBox="1"/>
          <p:nvPr/>
        </p:nvSpPr>
        <p:spPr>
          <a:xfrm>
            <a:off x="7027248" y="402263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34371" y="5668558"/>
            <a:ext cx="11674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1. Fish react to their environment with energy use and stress.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3500-886E-4D9A-A767-F88EEB5787BC}"/>
              </a:ext>
            </a:extLst>
          </p:cNvPr>
          <p:cNvGrpSpPr/>
          <p:nvPr/>
        </p:nvGrpSpPr>
        <p:grpSpPr>
          <a:xfrm>
            <a:off x="5899807" y="1406407"/>
            <a:ext cx="2419815" cy="2019536"/>
            <a:chOff x="1402236" y="1393430"/>
            <a:chExt cx="2419815" cy="20195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4971A0-2BFE-4A39-A5B8-99A2FC5D04AB}"/>
                </a:ext>
              </a:extLst>
            </p:cNvPr>
            <p:cNvGrpSpPr/>
            <p:nvPr/>
          </p:nvGrpSpPr>
          <p:grpSpPr>
            <a:xfrm>
              <a:off x="1402236" y="1393430"/>
              <a:ext cx="2419815" cy="1222332"/>
              <a:chOff x="1402236" y="1393430"/>
              <a:chExt cx="2419815" cy="1222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𝒂𝒈𝒆𝒏𝒕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0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93D1E53-69A2-4A21-954D-B8C9542A3B97}"/>
                  </a:ext>
                </a:extLst>
              </p:cNvPr>
              <p:cNvGrpSpPr/>
              <p:nvPr/>
            </p:nvGrpSpPr>
            <p:grpSpPr>
              <a:xfrm>
                <a:off x="1880406" y="1579624"/>
                <a:ext cx="1438648" cy="830997"/>
                <a:chOff x="2220402" y="1955114"/>
                <a:chExt cx="1438648" cy="83099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94CD7E2-905A-405C-9594-ACACE159E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flipH="1">
                  <a:off x="2220402" y="1955114"/>
                  <a:ext cx="1438648" cy="830997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FBFD2C57-24A4-49D5-9CD4-89FB2A8FDE51}"/>
                    </a:ext>
                  </a:extLst>
                </p:cNvPr>
                <p:cNvCxnSpPr/>
                <p:nvPr/>
              </p:nvCxnSpPr>
              <p:spPr>
                <a:xfrm>
                  <a:off x="2437921" y="2602786"/>
                  <a:ext cx="109728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C9ADDD-6F2E-43C5-8890-9D49AEA5ABCB}"/>
                  </a:ext>
                </a:extLst>
              </p:cNvPr>
              <p:cNvSpPr txBox="1"/>
              <p:nvPr/>
            </p:nvSpPr>
            <p:spPr>
              <a:xfrm>
                <a:off x="1775247" y="1393430"/>
                <a:ext cx="1822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Swimming Speed</a:t>
                </a:r>
              </a:p>
            </p:txBody>
          </p:sp>
        </p:grpSp>
        <p:sp>
          <p:nvSpPr>
            <p:cNvPr id="82" name="Arrow: Up-Down 81">
              <a:extLst>
                <a:ext uri="{FF2B5EF4-FFF2-40B4-BE49-F238E27FC236}">
                  <a16:creationId xmlns:a16="http://schemas.microsoft.com/office/drawing/2014/main" id="{84270C7A-CC37-4BF3-8772-A8A0C6C58035}"/>
                </a:ext>
              </a:extLst>
            </p:cNvPr>
            <p:cNvSpPr/>
            <p:nvPr/>
          </p:nvSpPr>
          <p:spPr>
            <a:xfrm>
              <a:off x="2456264" y="2585816"/>
              <a:ext cx="208670" cy="82715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1E01E0-ACF3-435F-A339-0DB14B44558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751" y="1347852"/>
            <a:ext cx="2420322" cy="2145978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5672A02-D00C-4526-BB28-0288A5530E1F}"/>
              </a:ext>
            </a:extLst>
          </p:cNvPr>
          <p:cNvCxnSpPr>
            <a:cxnSpLocks/>
          </p:cNvCxnSpPr>
          <p:nvPr/>
        </p:nvCxnSpPr>
        <p:spPr>
          <a:xfrm>
            <a:off x="3352400" y="1932041"/>
            <a:ext cx="3017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39D253-48F0-4C65-964C-5AFB9DE24648}"/>
              </a:ext>
            </a:extLst>
          </p:cNvPr>
          <p:cNvGrpSpPr/>
          <p:nvPr/>
        </p:nvGrpSpPr>
        <p:grpSpPr>
          <a:xfrm>
            <a:off x="6122683" y="210664"/>
            <a:ext cx="1979663" cy="1184983"/>
            <a:chOff x="3905495" y="245296"/>
            <a:chExt cx="1979663" cy="118498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340C4A2-5E2E-4BA9-B8EF-6E3E3F11E76B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DD94268-9FE3-4778-BC34-E392A41A379E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A491751-E5BC-435C-AB64-E513D7A468C1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DA622D3-4105-47C3-AC68-57FAE353E679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D476333-A2BB-4C44-9CF4-87AA56085256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383ECB65-8439-4B82-B721-FBC358B381E9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926785" y="301288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CC5C073-273E-4CBC-90D0-80D05EDAD89A}"/>
                </a:ext>
              </a:extLst>
            </p:cNvPr>
            <p:cNvSpPr/>
            <p:nvPr/>
          </p:nvSpPr>
          <p:spPr>
            <a:xfrm>
              <a:off x="5135986" y="1019525"/>
              <a:ext cx="274320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4DF5AAB-A47B-4442-BB0A-4A2FA941A273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258282" y="294307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8FD24B1-B274-4883-88F5-0604C16BE746}"/>
                </a:ext>
              </a:extLst>
            </p:cNvPr>
            <p:cNvSpPr/>
            <p:nvPr/>
          </p:nvSpPr>
          <p:spPr>
            <a:xfrm>
              <a:off x="4435804" y="770709"/>
              <a:ext cx="338328" cy="300977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5333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36376D9-59D6-43C3-A016-4189B80E1B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CBF7041-5B86-4EE7-B4DD-8FCDC3337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D0C8BAC-6E08-490F-A4E1-2171D3E41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6AEC572-70B1-4668-82BD-C5CEE72BBB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89CFF4B-C07B-49FF-833D-BEE781EC0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F5CF2D4-DE71-4EBD-B571-001BA27144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BDA1ABD-5F75-4F9D-A705-8225B8ECAA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9D47ED2-974A-4EA7-A8F6-33ABA327FC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14A5F04-FF65-4F4A-8FE6-2BDC7479A1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302208-5464-4BA1-8659-FBA193762BE3}"/>
              </a:ext>
            </a:extLst>
          </p:cNvPr>
          <p:cNvSpPr txBox="1"/>
          <p:nvPr/>
        </p:nvSpPr>
        <p:spPr>
          <a:xfrm>
            <a:off x="4706106" y="263205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54FBCD-E6F9-4A31-9F9D-1828A0F1A04A}"/>
              </a:ext>
            </a:extLst>
          </p:cNvPr>
          <p:cNvSpPr txBox="1"/>
          <p:nvPr/>
        </p:nvSpPr>
        <p:spPr>
          <a:xfrm>
            <a:off x="4669255" y="325202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871C1B-F3A2-42D0-A152-F3BB435F33A6}"/>
              </a:ext>
            </a:extLst>
          </p:cNvPr>
          <p:cNvSpPr txBox="1"/>
          <p:nvPr/>
        </p:nvSpPr>
        <p:spPr>
          <a:xfrm>
            <a:off x="4622606" y="3997040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E0B33D-E3D7-4D8B-A2F2-6A5C915B2565}"/>
              </a:ext>
            </a:extLst>
          </p:cNvPr>
          <p:cNvSpPr txBox="1"/>
          <p:nvPr/>
        </p:nvSpPr>
        <p:spPr>
          <a:xfrm>
            <a:off x="5826741" y="266177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776EC7-676B-4141-BE40-867A277188D5}"/>
              </a:ext>
            </a:extLst>
          </p:cNvPr>
          <p:cNvSpPr txBox="1"/>
          <p:nvPr/>
        </p:nvSpPr>
        <p:spPr>
          <a:xfrm>
            <a:off x="5835738" y="328422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EC1B6A-ABD6-4F9A-9F46-7F6002A3E3C5}"/>
              </a:ext>
            </a:extLst>
          </p:cNvPr>
          <p:cNvSpPr txBox="1"/>
          <p:nvPr/>
        </p:nvSpPr>
        <p:spPr>
          <a:xfrm>
            <a:off x="5822520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6CF3FA-50AC-40F6-B2DB-1178D21DF0B8}"/>
              </a:ext>
            </a:extLst>
          </p:cNvPr>
          <p:cNvSpPr txBox="1"/>
          <p:nvPr/>
        </p:nvSpPr>
        <p:spPr>
          <a:xfrm>
            <a:off x="6944527" y="269283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810913E-2DAC-4AE8-9F08-2C1479E88C48}"/>
              </a:ext>
            </a:extLst>
          </p:cNvPr>
          <p:cNvSpPr txBox="1"/>
          <p:nvPr/>
        </p:nvSpPr>
        <p:spPr>
          <a:xfrm>
            <a:off x="6981674" y="329587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35C44C4-5629-49CD-A6DE-5F4E7CC1A119}"/>
              </a:ext>
            </a:extLst>
          </p:cNvPr>
          <p:cNvSpPr txBox="1"/>
          <p:nvPr/>
        </p:nvSpPr>
        <p:spPr>
          <a:xfrm>
            <a:off x="7027248" y="402263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749002" y="56681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2. Fish Determine if Resting is Needed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3500-886E-4D9A-A767-F88EEB5787BC}"/>
              </a:ext>
            </a:extLst>
          </p:cNvPr>
          <p:cNvGrpSpPr/>
          <p:nvPr/>
        </p:nvGrpSpPr>
        <p:grpSpPr>
          <a:xfrm>
            <a:off x="5899807" y="1406407"/>
            <a:ext cx="2419815" cy="2019536"/>
            <a:chOff x="1402236" y="1393430"/>
            <a:chExt cx="2419815" cy="20195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4971A0-2BFE-4A39-A5B8-99A2FC5D04AB}"/>
                </a:ext>
              </a:extLst>
            </p:cNvPr>
            <p:cNvGrpSpPr/>
            <p:nvPr/>
          </p:nvGrpSpPr>
          <p:grpSpPr>
            <a:xfrm>
              <a:off x="1402236" y="1393430"/>
              <a:ext cx="2419815" cy="1222332"/>
              <a:chOff x="1402236" y="1393430"/>
              <a:chExt cx="2419815" cy="1222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𝒂𝒈𝒆𝒏𝒕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0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93D1E53-69A2-4A21-954D-B8C9542A3B97}"/>
                  </a:ext>
                </a:extLst>
              </p:cNvPr>
              <p:cNvGrpSpPr/>
              <p:nvPr/>
            </p:nvGrpSpPr>
            <p:grpSpPr>
              <a:xfrm>
                <a:off x="1880406" y="1579624"/>
                <a:ext cx="1438648" cy="830997"/>
                <a:chOff x="2220402" y="1955114"/>
                <a:chExt cx="1438648" cy="83099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94CD7E2-905A-405C-9594-ACACE159E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flipH="1">
                  <a:off x="2220402" y="1955114"/>
                  <a:ext cx="1438648" cy="830997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FBFD2C57-24A4-49D5-9CD4-89FB2A8FDE51}"/>
                    </a:ext>
                  </a:extLst>
                </p:cNvPr>
                <p:cNvCxnSpPr/>
                <p:nvPr/>
              </p:nvCxnSpPr>
              <p:spPr>
                <a:xfrm>
                  <a:off x="2437921" y="2602786"/>
                  <a:ext cx="109728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C9ADDD-6F2E-43C5-8890-9D49AEA5ABCB}"/>
                  </a:ext>
                </a:extLst>
              </p:cNvPr>
              <p:cNvSpPr txBox="1"/>
              <p:nvPr/>
            </p:nvSpPr>
            <p:spPr>
              <a:xfrm>
                <a:off x="1775247" y="1393430"/>
                <a:ext cx="1822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Swimming Speed</a:t>
                </a:r>
              </a:p>
            </p:txBody>
          </p:sp>
        </p:grpSp>
        <p:sp>
          <p:nvSpPr>
            <p:cNvPr id="82" name="Arrow: Up-Down 81">
              <a:extLst>
                <a:ext uri="{FF2B5EF4-FFF2-40B4-BE49-F238E27FC236}">
                  <a16:creationId xmlns:a16="http://schemas.microsoft.com/office/drawing/2014/main" id="{84270C7A-CC37-4BF3-8772-A8A0C6C58035}"/>
                </a:ext>
              </a:extLst>
            </p:cNvPr>
            <p:cNvSpPr/>
            <p:nvPr/>
          </p:nvSpPr>
          <p:spPr>
            <a:xfrm>
              <a:off x="2456264" y="2585816"/>
              <a:ext cx="208670" cy="82715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1E01E0-ACF3-435F-A339-0DB14B44558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751" y="1347852"/>
            <a:ext cx="2420322" cy="2145978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5672A02-D00C-4526-BB28-0288A5530E1F}"/>
              </a:ext>
            </a:extLst>
          </p:cNvPr>
          <p:cNvCxnSpPr>
            <a:cxnSpLocks/>
          </p:cNvCxnSpPr>
          <p:nvPr/>
        </p:nvCxnSpPr>
        <p:spPr>
          <a:xfrm>
            <a:off x="3352400" y="1932041"/>
            <a:ext cx="3017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39D253-48F0-4C65-964C-5AFB9DE24648}"/>
              </a:ext>
            </a:extLst>
          </p:cNvPr>
          <p:cNvGrpSpPr/>
          <p:nvPr/>
        </p:nvGrpSpPr>
        <p:grpSpPr>
          <a:xfrm>
            <a:off x="6122683" y="210664"/>
            <a:ext cx="1979663" cy="1184983"/>
            <a:chOff x="3905495" y="245296"/>
            <a:chExt cx="1979663" cy="118498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340C4A2-5E2E-4BA9-B8EF-6E3E3F11E76B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DD94268-9FE3-4778-BC34-E392A41A379E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A491751-E5BC-435C-AB64-E513D7A468C1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DA622D3-4105-47C3-AC68-57FAE353E679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D476333-A2BB-4C44-9CF4-87AA56085256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383ECB65-8439-4B82-B721-FBC358B381E9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926785" y="301288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CC5C073-273E-4CBC-90D0-80D05EDAD89A}"/>
                </a:ext>
              </a:extLst>
            </p:cNvPr>
            <p:cNvSpPr/>
            <p:nvPr/>
          </p:nvSpPr>
          <p:spPr>
            <a:xfrm>
              <a:off x="5135986" y="1019525"/>
              <a:ext cx="274320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4DF5AAB-A47B-4442-BB0A-4A2FA941A273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258282" y="294307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8FD24B1-B274-4883-88F5-0604C16BE746}"/>
                </a:ext>
              </a:extLst>
            </p:cNvPr>
            <p:cNvSpPr/>
            <p:nvPr/>
          </p:nvSpPr>
          <p:spPr>
            <a:xfrm>
              <a:off x="4435804" y="770709"/>
              <a:ext cx="338328" cy="300977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DD6E759-1CDF-4E13-8031-E2BC431D22AE}"/>
              </a:ext>
            </a:extLst>
          </p:cNvPr>
          <p:cNvGrpSpPr/>
          <p:nvPr/>
        </p:nvGrpSpPr>
        <p:grpSpPr>
          <a:xfrm>
            <a:off x="5968208" y="3438504"/>
            <a:ext cx="4910953" cy="1674102"/>
            <a:chOff x="7910757" y="1120367"/>
            <a:chExt cx="4910953" cy="1674102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FB2F5FC-620E-4FB8-8CE7-573E058F0EAE}"/>
                </a:ext>
              </a:extLst>
            </p:cNvPr>
            <p:cNvSpPr/>
            <p:nvPr/>
          </p:nvSpPr>
          <p:spPr>
            <a:xfrm>
              <a:off x="7910757" y="1122992"/>
              <a:ext cx="4476682" cy="1671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A1B4E655-A645-46E5-A28E-FE5AF6A82FC2}"/>
                    </a:ext>
                  </a:extLst>
                </p:cNvPr>
                <p:cNvSpPr txBox="1"/>
                <p:nvPr/>
              </p:nvSpPr>
              <p:spPr>
                <a:xfrm>
                  <a:off x="7980707" y="1459681"/>
                  <a:ext cx="4841003" cy="1226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:r>
                    <a:rPr lang="en-US" b="1" dirty="0"/>
                    <a:t>energy</a:t>
                  </a:r>
                  <a:r>
                    <a:rPr lang="en-US" dirty="0"/>
                    <a:t> </a:t>
                  </a:r>
                  <a:r>
                    <a:rPr lang="en-US" b="1" dirty="0"/>
                    <a:t>is ≥ 25%  </a:t>
                  </a:r>
                  <a:r>
                    <a:rPr lang="en-US" dirty="0"/>
                    <a:t>and </a:t>
                  </a:r>
                  <a:r>
                    <a:rPr lang="en-US" b="1" dirty="0"/>
                    <a:t>|</a:t>
                  </a:r>
                  <a:r>
                    <a:rPr lang="en-US" b="1" i="1" dirty="0"/>
                    <a:t>u</a:t>
                  </a:r>
                  <a:r>
                    <a:rPr lang="en-US" b="1" dirty="0"/>
                    <a:t>| </a:t>
                  </a:r>
                  <a:r>
                    <a:rPr lang="en-US" dirty="0"/>
                    <a:t>in the opposite direction is </a:t>
                  </a:r>
                  <a:r>
                    <a:rPr lang="en-US" b="1" dirty="0"/>
                    <a:t>&gt;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𝒂𝒈𝒆𝒏𝒕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:</a:t>
                  </a:r>
                </a:p>
                <a:p>
                  <a:r>
                    <a:rPr lang="en-US" dirty="0"/>
                    <a:t>	</a:t>
                  </a:r>
                  <a:r>
                    <a:rPr lang="en-US" b="1" dirty="0"/>
                    <a:t>In-STST?</a:t>
                  </a:r>
                  <a:r>
                    <a:rPr lang="en-US" dirty="0"/>
                    <a:t> = </a:t>
                  </a:r>
                  <a:r>
                    <a:rPr lang="en-US" b="1" dirty="0"/>
                    <a:t>True</a:t>
                  </a:r>
                </a:p>
                <a:p>
                  <a:r>
                    <a:rPr lang="en-US" dirty="0"/>
                    <a:t>	</a:t>
                  </a:r>
                  <a:r>
                    <a:rPr lang="en-US" b="1" dirty="0"/>
                    <a:t>Time-in-STST </a:t>
                  </a:r>
                  <a:r>
                    <a:rPr lang="en-US" dirty="0"/>
                    <a:t>= </a:t>
                  </a:r>
                  <a:r>
                    <a:rPr lang="en-US" b="1" dirty="0"/>
                    <a:t>Time-in-Staging</a:t>
                  </a:r>
                  <a:r>
                    <a:rPr lang="en-US" dirty="0"/>
                    <a:t> + 1</a:t>
                  </a:r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A1B4E655-A645-46E5-A28E-FE5AF6A82F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0707" y="1459681"/>
                  <a:ext cx="4841003" cy="1226618"/>
                </a:xfrm>
                <a:prstGeom prst="rect">
                  <a:avLst/>
                </a:prstGeom>
                <a:blipFill>
                  <a:blip r:embed="rId9"/>
                  <a:stretch>
                    <a:fillRect l="-1134" t="-2985" b="-69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" name="Text Placeholder 4">
              <a:extLst>
                <a:ext uri="{FF2B5EF4-FFF2-40B4-BE49-F238E27FC236}">
                  <a16:creationId xmlns:a16="http://schemas.microsoft.com/office/drawing/2014/main" id="{224CC66E-850F-439F-B5A0-B53FE5656940}"/>
                </a:ext>
              </a:extLst>
            </p:cNvPr>
            <p:cNvSpPr txBox="1">
              <a:spLocks/>
            </p:cNvSpPr>
            <p:nvPr/>
          </p:nvSpPr>
          <p:spPr>
            <a:xfrm>
              <a:off x="7997450" y="1120367"/>
              <a:ext cx="4365605" cy="82391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/>
                <a:t>Selective Tidal Stream Transport (STST)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C00AE91-B489-4420-9481-024BE615B5F3}"/>
                </a:ext>
              </a:extLst>
            </p:cNvPr>
            <p:cNvCxnSpPr>
              <a:cxnSpLocks/>
            </p:cNvCxnSpPr>
            <p:nvPr/>
          </p:nvCxnSpPr>
          <p:spPr>
            <a:xfrm>
              <a:off x="8070330" y="1462031"/>
              <a:ext cx="42062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1FA83E9-2BBF-4803-BF3C-E56715C0612B}"/>
              </a:ext>
            </a:extLst>
          </p:cNvPr>
          <p:cNvGrpSpPr/>
          <p:nvPr/>
        </p:nvGrpSpPr>
        <p:grpSpPr>
          <a:xfrm>
            <a:off x="1048637" y="3422430"/>
            <a:ext cx="4498018" cy="1671477"/>
            <a:chOff x="7881775" y="1122992"/>
            <a:chExt cx="4498018" cy="1671477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2FDC669-8ABB-49C5-845D-29BFEB0B47E1}"/>
                </a:ext>
              </a:extLst>
            </p:cNvPr>
            <p:cNvSpPr/>
            <p:nvPr/>
          </p:nvSpPr>
          <p:spPr>
            <a:xfrm>
              <a:off x="7910756" y="1122992"/>
              <a:ext cx="4469037" cy="1671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18BC5D3-3D91-4A2A-B00E-60C34D99BA79}"/>
                </a:ext>
              </a:extLst>
            </p:cNvPr>
            <p:cNvSpPr txBox="1"/>
            <p:nvPr/>
          </p:nvSpPr>
          <p:spPr>
            <a:xfrm>
              <a:off x="7919856" y="1544942"/>
              <a:ext cx="443555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</a:t>
              </a:r>
              <a:r>
                <a:rPr lang="en-US" b="1" dirty="0"/>
                <a:t>energy</a:t>
              </a:r>
              <a:r>
                <a:rPr lang="en-US" dirty="0"/>
                <a:t> is </a:t>
              </a:r>
              <a:r>
                <a:rPr lang="en-US" b="1" dirty="0"/>
                <a:t>≤ 25% </a:t>
              </a:r>
              <a:r>
                <a:rPr lang="en-US" dirty="0"/>
                <a:t>or </a:t>
              </a:r>
              <a:r>
                <a:rPr lang="en-US" b="1" dirty="0"/>
                <a:t>stress</a:t>
              </a:r>
              <a:r>
                <a:rPr lang="en-US" dirty="0"/>
                <a:t> </a:t>
              </a:r>
              <a:r>
                <a:rPr lang="en-US" b="1" dirty="0"/>
                <a:t>&gt; 50%</a:t>
              </a:r>
              <a:r>
                <a:rPr lang="en-US" dirty="0"/>
                <a:t>:</a:t>
              </a:r>
            </a:p>
            <a:p>
              <a:r>
                <a:rPr lang="en-US" dirty="0"/>
                <a:t>	</a:t>
              </a:r>
              <a:r>
                <a:rPr lang="en-US" b="1" dirty="0"/>
                <a:t>Staging? </a:t>
              </a:r>
              <a:r>
                <a:rPr lang="en-US" dirty="0"/>
                <a:t>= </a:t>
              </a:r>
              <a:r>
                <a:rPr lang="en-US" b="1" dirty="0"/>
                <a:t>True</a:t>
              </a:r>
            </a:p>
            <a:p>
              <a:r>
                <a:rPr lang="en-US" i="1" dirty="0"/>
                <a:t>	</a:t>
              </a:r>
              <a:r>
                <a:rPr lang="en-US" b="1" dirty="0"/>
                <a:t>Time-in-Stage</a:t>
              </a:r>
              <a:r>
                <a:rPr lang="en-US" dirty="0"/>
                <a:t> = </a:t>
              </a:r>
              <a:r>
                <a:rPr lang="en-US" b="1" dirty="0"/>
                <a:t>Time-in-Stage</a:t>
              </a:r>
              <a:r>
                <a:rPr lang="en-US" dirty="0"/>
                <a:t> + 1</a:t>
              </a:r>
            </a:p>
            <a:p>
              <a:r>
                <a:rPr lang="en-US" dirty="0"/>
                <a:t>	</a:t>
              </a:r>
              <a:r>
                <a:rPr lang="en-US" b="1" dirty="0"/>
                <a:t>Energy</a:t>
              </a:r>
              <a:r>
                <a:rPr lang="en-US" dirty="0"/>
                <a:t> = </a:t>
              </a:r>
              <a:r>
                <a:rPr lang="en-US" b="1" dirty="0"/>
                <a:t>Energy</a:t>
              </a:r>
              <a:r>
                <a:rPr lang="en-US" dirty="0"/>
                <a:t> + 1</a:t>
              </a:r>
            </a:p>
          </p:txBody>
        </p:sp>
        <p:sp>
          <p:nvSpPr>
            <p:cNvPr id="144" name="Text Placeholder 4">
              <a:extLst>
                <a:ext uri="{FF2B5EF4-FFF2-40B4-BE49-F238E27FC236}">
                  <a16:creationId xmlns:a16="http://schemas.microsoft.com/office/drawing/2014/main" id="{299A0024-21E0-45F0-B142-F6683042A3C1}"/>
                </a:ext>
              </a:extLst>
            </p:cNvPr>
            <p:cNvSpPr txBox="1">
              <a:spLocks/>
            </p:cNvSpPr>
            <p:nvPr/>
          </p:nvSpPr>
          <p:spPr>
            <a:xfrm>
              <a:off x="7881775" y="1146123"/>
              <a:ext cx="4484786" cy="82391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/>
                <a:t>Staging</a:t>
              </a: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E712C7-841C-493E-BA6E-1146870B1780}"/>
                </a:ext>
              </a:extLst>
            </p:cNvPr>
            <p:cNvCxnSpPr>
              <a:cxnSpLocks/>
            </p:cNvCxnSpPr>
            <p:nvPr/>
          </p:nvCxnSpPr>
          <p:spPr>
            <a:xfrm>
              <a:off x="9650071" y="1513058"/>
              <a:ext cx="93936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9282365-E4BE-4B7C-91EB-A0593A4CBD64}"/>
              </a:ext>
            </a:extLst>
          </p:cNvPr>
          <p:cNvSpPr/>
          <p:nvPr/>
        </p:nvSpPr>
        <p:spPr>
          <a:xfrm>
            <a:off x="4628297" y="5396943"/>
            <a:ext cx="2288523" cy="4629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Staging Needed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5C95AA5-9D3B-4CB1-A0BE-42CAA8CBE840}"/>
              </a:ext>
            </a:extLst>
          </p:cNvPr>
          <p:cNvGrpSpPr/>
          <p:nvPr/>
        </p:nvGrpSpPr>
        <p:grpSpPr>
          <a:xfrm>
            <a:off x="3286614" y="751832"/>
            <a:ext cx="4937352" cy="2689816"/>
            <a:chOff x="3286614" y="751832"/>
            <a:chExt cx="4937352" cy="26898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2650A4C5-8BE0-47B9-969C-57B86C8B55A6}"/>
                </a:ext>
              </a:extLst>
            </p:cNvPr>
            <p:cNvGrpSpPr/>
            <p:nvPr/>
          </p:nvGrpSpPr>
          <p:grpSpPr>
            <a:xfrm>
              <a:off x="3298151" y="751832"/>
              <a:ext cx="4925815" cy="2286000"/>
              <a:chOff x="3154739" y="741265"/>
              <a:chExt cx="4925815" cy="2286000"/>
            </a:xfrm>
          </p:grpSpPr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6E8F3619-6A35-4594-85C5-B883F016378F}"/>
                  </a:ext>
                </a:extLst>
              </p:cNvPr>
              <p:cNvCxnSpPr/>
              <p:nvPr/>
            </p:nvCxnSpPr>
            <p:spPr>
              <a:xfrm>
                <a:off x="5646781" y="751366"/>
                <a:ext cx="59436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418E62FC-F0E6-4802-9B80-27D7D396156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526136" y="1884265"/>
                <a:ext cx="22860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D59EB427-2C47-40C4-B6B9-1A2E401A56CA}"/>
                  </a:ext>
                </a:extLst>
              </p:cNvPr>
              <p:cNvCxnSpPr/>
              <p:nvPr/>
            </p:nvCxnSpPr>
            <p:spPr>
              <a:xfrm>
                <a:off x="3154739" y="2995849"/>
                <a:ext cx="29260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7578279D-1A9A-45B2-8C43-F980F609C74F}"/>
                  </a:ext>
                </a:extLst>
              </p:cNvPr>
              <p:cNvCxnSpPr/>
              <p:nvPr/>
            </p:nvCxnSpPr>
            <p:spPr>
              <a:xfrm>
                <a:off x="5751645" y="2995849"/>
                <a:ext cx="2328909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42E4DF3-0323-4AF3-A97C-0655BC563BB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84001" y="3213048"/>
              <a:ext cx="4572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C015325-4389-406B-85F9-092F12B6DC0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58014" y="3203878"/>
              <a:ext cx="4572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4E7F813-D640-4EF3-919B-54784FAF5431}"/>
              </a:ext>
            </a:extLst>
          </p:cNvPr>
          <p:cNvGrpSpPr/>
          <p:nvPr/>
        </p:nvGrpSpPr>
        <p:grpSpPr>
          <a:xfrm>
            <a:off x="3266165" y="5086909"/>
            <a:ext cx="4949993" cy="566928"/>
            <a:chOff x="3266165" y="5086909"/>
            <a:chExt cx="4949993" cy="566928"/>
          </a:xfrm>
        </p:grpSpPr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48E1FA7-F9D4-4330-A3B2-0726BABD181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266165" y="5626327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5B5EE22-3B1D-4A5D-93BC-0D2CD75B47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12294" y="5361229"/>
              <a:ext cx="5486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08974FC4-AC6D-4B16-80F5-9F1B55DF35F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38281" y="5379517"/>
              <a:ext cx="5486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FC0DB0F4-4612-477C-9A1F-39B4366DFD8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899422" y="5635549"/>
              <a:ext cx="13167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272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34371" y="5668558"/>
            <a:ext cx="11674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3. Patches Track Fish Resting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5672A02-D00C-4526-BB28-0288A5530E1F}"/>
              </a:ext>
            </a:extLst>
          </p:cNvPr>
          <p:cNvCxnSpPr>
            <a:cxnSpLocks/>
          </p:cNvCxnSpPr>
          <p:nvPr/>
        </p:nvCxnSpPr>
        <p:spPr>
          <a:xfrm>
            <a:off x="3352400" y="1932041"/>
            <a:ext cx="3017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39D253-48F0-4C65-964C-5AFB9DE24648}"/>
              </a:ext>
            </a:extLst>
          </p:cNvPr>
          <p:cNvGrpSpPr/>
          <p:nvPr/>
        </p:nvGrpSpPr>
        <p:grpSpPr>
          <a:xfrm>
            <a:off x="6122683" y="210664"/>
            <a:ext cx="1979663" cy="1184983"/>
            <a:chOff x="3905495" y="245296"/>
            <a:chExt cx="1979663" cy="118498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340C4A2-5E2E-4BA9-B8EF-6E3E3F11E76B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DD94268-9FE3-4778-BC34-E392A41A379E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A491751-E5BC-435C-AB64-E513D7A468C1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DA622D3-4105-47C3-AC68-57FAE353E679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D476333-A2BB-4C44-9CF4-87AA56085256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383ECB65-8439-4B82-B721-FBC358B381E9}"/>
                </a:ext>
              </a:extLst>
            </p:cNvPr>
            <p:cNvPicPr>
              <a:picLocks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4926785" y="301288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CC5C073-273E-4CBC-90D0-80D05EDAD89A}"/>
                </a:ext>
              </a:extLst>
            </p:cNvPr>
            <p:cNvSpPr/>
            <p:nvPr/>
          </p:nvSpPr>
          <p:spPr>
            <a:xfrm>
              <a:off x="5135986" y="1019525"/>
              <a:ext cx="274320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4DF5AAB-A47B-4442-BB0A-4A2FA941A273}"/>
                </a:ext>
              </a:extLst>
            </p:cNvPr>
            <p:cNvPicPr>
              <a:picLocks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4258282" y="294307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8FD24B1-B274-4883-88F5-0604C16BE746}"/>
                </a:ext>
              </a:extLst>
            </p:cNvPr>
            <p:cNvSpPr/>
            <p:nvPr/>
          </p:nvSpPr>
          <p:spPr>
            <a:xfrm>
              <a:off x="4435804" y="770709"/>
              <a:ext cx="338328" cy="300977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72506642-FF58-47BF-894C-FA1C36111BE8}"/>
              </a:ext>
            </a:extLst>
          </p:cNvPr>
          <p:cNvSpPr/>
          <p:nvPr/>
        </p:nvSpPr>
        <p:spPr>
          <a:xfrm>
            <a:off x="6552312" y="3371501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STST: 0 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666F8BA-0551-48EC-950C-BEA627885030}"/>
              </a:ext>
            </a:extLst>
          </p:cNvPr>
          <p:cNvSpPr/>
          <p:nvPr/>
        </p:nvSpPr>
        <p:spPr>
          <a:xfrm>
            <a:off x="6552312" y="3650487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Staged: 1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3500-886E-4D9A-A767-F88EEB5787BC}"/>
              </a:ext>
            </a:extLst>
          </p:cNvPr>
          <p:cNvGrpSpPr/>
          <p:nvPr/>
        </p:nvGrpSpPr>
        <p:grpSpPr>
          <a:xfrm>
            <a:off x="5899807" y="1406407"/>
            <a:ext cx="2419815" cy="2019536"/>
            <a:chOff x="1402236" y="1393430"/>
            <a:chExt cx="2419815" cy="20195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4971A0-2BFE-4A39-A5B8-99A2FC5D04AB}"/>
                </a:ext>
              </a:extLst>
            </p:cNvPr>
            <p:cNvGrpSpPr/>
            <p:nvPr/>
          </p:nvGrpSpPr>
          <p:grpSpPr>
            <a:xfrm>
              <a:off x="1402236" y="1393430"/>
              <a:ext cx="2419815" cy="1222332"/>
              <a:chOff x="1402236" y="1393430"/>
              <a:chExt cx="2419815" cy="1222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𝒂𝒈𝒆𝒏𝒕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93D1E53-69A2-4A21-954D-B8C9542A3B97}"/>
                  </a:ext>
                </a:extLst>
              </p:cNvPr>
              <p:cNvGrpSpPr/>
              <p:nvPr/>
            </p:nvGrpSpPr>
            <p:grpSpPr>
              <a:xfrm>
                <a:off x="1880406" y="1579624"/>
                <a:ext cx="1438648" cy="830997"/>
                <a:chOff x="2220402" y="1955114"/>
                <a:chExt cx="1438648" cy="83099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94CD7E2-905A-405C-9594-ACACE159E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flipH="1">
                  <a:off x="2220402" y="1955114"/>
                  <a:ext cx="1438648" cy="830997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FBFD2C57-24A4-49D5-9CD4-89FB2A8FDE51}"/>
                    </a:ext>
                  </a:extLst>
                </p:cNvPr>
                <p:cNvCxnSpPr/>
                <p:nvPr/>
              </p:nvCxnSpPr>
              <p:spPr>
                <a:xfrm>
                  <a:off x="2437921" y="2602786"/>
                  <a:ext cx="109728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C9ADDD-6F2E-43C5-8890-9D49AEA5ABCB}"/>
                  </a:ext>
                </a:extLst>
              </p:cNvPr>
              <p:cNvSpPr txBox="1"/>
              <p:nvPr/>
            </p:nvSpPr>
            <p:spPr>
              <a:xfrm>
                <a:off x="1775247" y="1393430"/>
                <a:ext cx="1822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Swimming Speed</a:t>
                </a:r>
              </a:p>
            </p:txBody>
          </p:sp>
        </p:grpSp>
        <p:sp>
          <p:nvSpPr>
            <p:cNvPr id="82" name="Arrow: Up-Down 81">
              <a:extLst>
                <a:ext uri="{FF2B5EF4-FFF2-40B4-BE49-F238E27FC236}">
                  <a16:creationId xmlns:a16="http://schemas.microsoft.com/office/drawing/2014/main" id="{84270C7A-CC37-4BF3-8772-A8A0C6C58035}"/>
                </a:ext>
              </a:extLst>
            </p:cNvPr>
            <p:cNvSpPr/>
            <p:nvPr/>
          </p:nvSpPr>
          <p:spPr>
            <a:xfrm>
              <a:off x="2456264" y="2585816"/>
              <a:ext cx="208670" cy="82715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38A690C-508C-4E36-BAAA-EA9CCCA0E251}"/>
              </a:ext>
            </a:extLst>
          </p:cNvPr>
          <p:cNvSpPr/>
          <p:nvPr/>
        </p:nvSpPr>
        <p:spPr>
          <a:xfrm>
            <a:off x="2056512" y="3387652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STST: 0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39F7D9B-B4C5-452C-B3A6-02CCACA34573}"/>
              </a:ext>
            </a:extLst>
          </p:cNvPr>
          <p:cNvSpPr/>
          <p:nvPr/>
        </p:nvSpPr>
        <p:spPr>
          <a:xfrm>
            <a:off x="2056512" y="3666638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Staged: 0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1E01E0-ACF3-435F-A339-0DB14B44558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751" y="1347852"/>
            <a:ext cx="2420322" cy="21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1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36376D9-59D6-43C3-A016-4189B80E1B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CBF7041-5B86-4EE7-B4DD-8FCDC3337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D0C8BAC-6E08-490F-A4E1-2171D3E41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6AEC572-70B1-4668-82BD-C5CEE72BBB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89CFF4B-C07B-49FF-833D-BEE781EC0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F5CF2D4-DE71-4EBD-B571-001BA27144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BDA1ABD-5F75-4F9D-A705-8225B8ECAA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9D47ED2-974A-4EA7-A8F6-33ABA327FC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14A5F04-FF65-4F4A-8FE6-2BDC7479A1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302208-5464-4BA1-8659-FBA193762BE3}"/>
              </a:ext>
            </a:extLst>
          </p:cNvPr>
          <p:cNvSpPr txBox="1"/>
          <p:nvPr/>
        </p:nvSpPr>
        <p:spPr>
          <a:xfrm>
            <a:off x="4706106" y="263205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54FBCD-E6F9-4A31-9F9D-1828A0F1A04A}"/>
              </a:ext>
            </a:extLst>
          </p:cNvPr>
          <p:cNvSpPr txBox="1"/>
          <p:nvPr/>
        </p:nvSpPr>
        <p:spPr>
          <a:xfrm>
            <a:off x="4669255" y="325202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871C1B-F3A2-42D0-A152-F3BB435F33A6}"/>
              </a:ext>
            </a:extLst>
          </p:cNvPr>
          <p:cNvSpPr txBox="1"/>
          <p:nvPr/>
        </p:nvSpPr>
        <p:spPr>
          <a:xfrm>
            <a:off x="4622606" y="3997040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E0B33D-E3D7-4D8B-A2F2-6A5C915B2565}"/>
              </a:ext>
            </a:extLst>
          </p:cNvPr>
          <p:cNvSpPr txBox="1"/>
          <p:nvPr/>
        </p:nvSpPr>
        <p:spPr>
          <a:xfrm>
            <a:off x="5826741" y="266177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776EC7-676B-4141-BE40-867A277188D5}"/>
              </a:ext>
            </a:extLst>
          </p:cNvPr>
          <p:cNvSpPr txBox="1"/>
          <p:nvPr/>
        </p:nvSpPr>
        <p:spPr>
          <a:xfrm>
            <a:off x="5835738" y="328422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EC1B6A-ABD6-4F9A-9F46-7F6002A3E3C5}"/>
              </a:ext>
            </a:extLst>
          </p:cNvPr>
          <p:cNvSpPr txBox="1"/>
          <p:nvPr/>
        </p:nvSpPr>
        <p:spPr>
          <a:xfrm>
            <a:off x="5822520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6CF3FA-50AC-40F6-B2DB-1178D21DF0B8}"/>
              </a:ext>
            </a:extLst>
          </p:cNvPr>
          <p:cNvSpPr txBox="1"/>
          <p:nvPr/>
        </p:nvSpPr>
        <p:spPr>
          <a:xfrm>
            <a:off x="6944527" y="269283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810913E-2DAC-4AE8-9F08-2C1479E88C48}"/>
              </a:ext>
            </a:extLst>
          </p:cNvPr>
          <p:cNvSpPr txBox="1"/>
          <p:nvPr/>
        </p:nvSpPr>
        <p:spPr>
          <a:xfrm>
            <a:off x="6981674" y="329587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35C44C4-5629-49CD-A6DE-5F4E7CC1A119}"/>
              </a:ext>
            </a:extLst>
          </p:cNvPr>
          <p:cNvSpPr txBox="1"/>
          <p:nvPr/>
        </p:nvSpPr>
        <p:spPr>
          <a:xfrm>
            <a:off x="7027248" y="402263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34371" y="5668558"/>
            <a:ext cx="11674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1. Fish react to their environment with energy use and stress.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3500-886E-4D9A-A767-F88EEB5787BC}"/>
              </a:ext>
            </a:extLst>
          </p:cNvPr>
          <p:cNvGrpSpPr/>
          <p:nvPr/>
        </p:nvGrpSpPr>
        <p:grpSpPr>
          <a:xfrm>
            <a:off x="8172010" y="1402973"/>
            <a:ext cx="2419815" cy="2019536"/>
            <a:chOff x="1402236" y="1393430"/>
            <a:chExt cx="2419815" cy="20195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4971A0-2BFE-4A39-A5B8-99A2FC5D04AB}"/>
                </a:ext>
              </a:extLst>
            </p:cNvPr>
            <p:cNvGrpSpPr/>
            <p:nvPr/>
          </p:nvGrpSpPr>
          <p:grpSpPr>
            <a:xfrm>
              <a:off x="1402236" y="1393430"/>
              <a:ext cx="2419815" cy="1222332"/>
              <a:chOff x="1402236" y="1393430"/>
              <a:chExt cx="2419815" cy="1222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𝒂𝒈𝒆𝒏𝒕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45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93D1E53-69A2-4A21-954D-B8C9542A3B97}"/>
                  </a:ext>
                </a:extLst>
              </p:cNvPr>
              <p:cNvGrpSpPr/>
              <p:nvPr/>
            </p:nvGrpSpPr>
            <p:grpSpPr>
              <a:xfrm>
                <a:off x="1880406" y="1579624"/>
                <a:ext cx="1438648" cy="830997"/>
                <a:chOff x="2220402" y="1955114"/>
                <a:chExt cx="1438648" cy="83099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94CD7E2-905A-405C-9594-ACACE159E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flipH="1">
                  <a:off x="2220402" y="1955114"/>
                  <a:ext cx="1438648" cy="830997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FBFD2C57-24A4-49D5-9CD4-89FB2A8FDE51}"/>
                    </a:ext>
                  </a:extLst>
                </p:cNvPr>
                <p:cNvCxnSpPr/>
                <p:nvPr/>
              </p:nvCxnSpPr>
              <p:spPr>
                <a:xfrm>
                  <a:off x="2437921" y="2602786"/>
                  <a:ext cx="109728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C9ADDD-6F2E-43C5-8890-9D49AEA5ABCB}"/>
                  </a:ext>
                </a:extLst>
              </p:cNvPr>
              <p:cNvSpPr txBox="1"/>
              <p:nvPr/>
            </p:nvSpPr>
            <p:spPr>
              <a:xfrm>
                <a:off x="1775247" y="1393430"/>
                <a:ext cx="1822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Swimming Speed</a:t>
                </a:r>
              </a:p>
            </p:txBody>
          </p:sp>
        </p:grpSp>
        <p:sp>
          <p:nvSpPr>
            <p:cNvPr id="82" name="Arrow: Up-Down 81">
              <a:extLst>
                <a:ext uri="{FF2B5EF4-FFF2-40B4-BE49-F238E27FC236}">
                  <a16:creationId xmlns:a16="http://schemas.microsoft.com/office/drawing/2014/main" id="{84270C7A-CC37-4BF3-8772-A8A0C6C58035}"/>
                </a:ext>
              </a:extLst>
            </p:cNvPr>
            <p:cNvSpPr/>
            <p:nvPr/>
          </p:nvSpPr>
          <p:spPr>
            <a:xfrm>
              <a:off x="2456264" y="2585816"/>
              <a:ext cx="208670" cy="82715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1E01E0-ACF3-435F-A339-0DB14B44558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751" y="1347852"/>
            <a:ext cx="2420322" cy="2145978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5672A02-D00C-4526-BB28-0288A5530E1F}"/>
              </a:ext>
            </a:extLst>
          </p:cNvPr>
          <p:cNvCxnSpPr>
            <a:cxnSpLocks/>
          </p:cNvCxnSpPr>
          <p:nvPr/>
        </p:nvCxnSpPr>
        <p:spPr>
          <a:xfrm>
            <a:off x="3352400" y="1932041"/>
            <a:ext cx="3017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39D253-48F0-4C65-964C-5AFB9DE24648}"/>
              </a:ext>
            </a:extLst>
          </p:cNvPr>
          <p:cNvGrpSpPr/>
          <p:nvPr/>
        </p:nvGrpSpPr>
        <p:grpSpPr>
          <a:xfrm>
            <a:off x="8373622" y="211072"/>
            <a:ext cx="1979663" cy="1184983"/>
            <a:chOff x="3905495" y="245296"/>
            <a:chExt cx="1979663" cy="118498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340C4A2-5E2E-4BA9-B8EF-6E3E3F11E76B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DD94268-9FE3-4778-BC34-E392A41A379E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A491751-E5BC-435C-AB64-E513D7A468C1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DA622D3-4105-47C3-AC68-57FAE353E679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D476333-A2BB-4C44-9CF4-87AA56085256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383ECB65-8439-4B82-B721-FBC358B381E9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237167" y="300889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CC5C073-273E-4CBC-90D0-80D05EDAD89A}"/>
                </a:ext>
              </a:extLst>
            </p:cNvPr>
            <p:cNvSpPr/>
            <p:nvPr/>
          </p:nvSpPr>
          <p:spPr>
            <a:xfrm>
              <a:off x="4446368" y="1019126"/>
              <a:ext cx="274320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16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4DF5AAB-A47B-4442-BB0A-4A2FA941A273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926005" y="295442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8FD24B1-B274-4883-88F5-0604C16BE746}"/>
                </a:ext>
              </a:extLst>
            </p:cNvPr>
            <p:cNvSpPr/>
            <p:nvPr/>
          </p:nvSpPr>
          <p:spPr>
            <a:xfrm>
              <a:off x="5103527" y="771844"/>
              <a:ext cx="338328" cy="300977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5621AD15-F1D5-4359-99D3-3BCD2635BFD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74646" y="1386182"/>
            <a:ext cx="2420322" cy="2145978"/>
          </a:xfrm>
          <a:prstGeom prst="rect">
            <a:avLst/>
          </a:prstGeom>
        </p:spPr>
      </p:pic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6FE098F-4093-44AD-93A4-C62C63466558}"/>
              </a:ext>
            </a:extLst>
          </p:cNvPr>
          <p:cNvCxnSpPr>
            <a:cxnSpLocks/>
          </p:cNvCxnSpPr>
          <p:nvPr/>
        </p:nvCxnSpPr>
        <p:spPr>
          <a:xfrm>
            <a:off x="7650939" y="1932041"/>
            <a:ext cx="100584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937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585303" y="3012122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36376D9-59D6-43C3-A016-4189B80E1B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CBF7041-5B86-4EE7-B4DD-8FCDC3337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D0C8BAC-6E08-490F-A4E1-2171D3E41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6AEC572-70B1-4668-82BD-C5CEE72BBB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89CFF4B-C07B-49FF-833D-BEE781EC0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F5CF2D4-DE71-4EBD-B571-001BA27144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BDA1ABD-5F75-4F9D-A705-8225B8ECAA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9D47ED2-974A-4EA7-A8F6-33ABA327FC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14A5F04-FF65-4F4A-8FE6-2BDC7479A1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302208-5464-4BA1-8659-FBA193762BE3}"/>
              </a:ext>
            </a:extLst>
          </p:cNvPr>
          <p:cNvSpPr txBox="1"/>
          <p:nvPr/>
        </p:nvSpPr>
        <p:spPr>
          <a:xfrm>
            <a:off x="4706106" y="263205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54FBCD-E6F9-4A31-9F9D-1828A0F1A04A}"/>
              </a:ext>
            </a:extLst>
          </p:cNvPr>
          <p:cNvSpPr txBox="1"/>
          <p:nvPr/>
        </p:nvSpPr>
        <p:spPr>
          <a:xfrm>
            <a:off x="4669255" y="325202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871C1B-F3A2-42D0-A152-F3BB435F33A6}"/>
              </a:ext>
            </a:extLst>
          </p:cNvPr>
          <p:cNvSpPr txBox="1"/>
          <p:nvPr/>
        </p:nvSpPr>
        <p:spPr>
          <a:xfrm>
            <a:off x="4622606" y="3997040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7A98A89-D7B7-4239-BDD4-466CE19FB404}"/>
              </a:ext>
            </a:extLst>
          </p:cNvPr>
          <p:cNvSpPr txBox="1"/>
          <p:nvPr/>
        </p:nvSpPr>
        <p:spPr>
          <a:xfrm>
            <a:off x="4532095" y="4794759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5943CF-7D2D-449E-A836-6D1B13CF1339}"/>
              </a:ext>
            </a:extLst>
          </p:cNvPr>
          <p:cNvSpPr txBox="1"/>
          <p:nvPr/>
        </p:nvSpPr>
        <p:spPr>
          <a:xfrm>
            <a:off x="2633267" y="266177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7995D19-5C76-48E3-88EF-BEDB705B7642}"/>
              </a:ext>
            </a:extLst>
          </p:cNvPr>
          <p:cNvSpPr txBox="1"/>
          <p:nvPr/>
        </p:nvSpPr>
        <p:spPr>
          <a:xfrm>
            <a:off x="1982927" y="4825562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7DA028B-90B7-4E43-B91A-D6F20C5CA9BD}"/>
              </a:ext>
            </a:extLst>
          </p:cNvPr>
          <p:cNvSpPr txBox="1"/>
          <p:nvPr/>
        </p:nvSpPr>
        <p:spPr>
          <a:xfrm>
            <a:off x="3645640" y="2664983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BB45CFA-21D2-4863-A70F-5CF1B83C7394}"/>
              </a:ext>
            </a:extLst>
          </p:cNvPr>
          <p:cNvSpPr txBox="1"/>
          <p:nvPr/>
        </p:nvSpPr>
        <p:spPr>
          <a:xfrm>
            <a:off x="3542237" y="3273576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900940-F8EC-4A9B-AD4A-8CFE503F3A6E}"/>
              </a:ext>
            </a:extLst>
          </p:cNvPr>
          <p:cNvSpPr txBox="1"/>
          <p:nvPr/>
        </p:nvSpPr>
        <p:spPr>
          <a:xfrm>
            <a:off x="3416884" y="401095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02A333-1E99-41B8-BE58-5ECCDC7BD555}"/>
              </a:ext>
            </a:extLst>
          </p:cNvPr>
          <p:cNvSpPr txBox="1"/>
          <p:nvPr/>
        </p:nvSpPr>
        <p:spPr>
          <a:xfrm>
            <a:off x="3268441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4E0B33D-E3D7-4D8B-A2F2-6A5C915B2565}"/>
              </a:ext>
            </a:extLst>
          </p:cNvPr>
          <p:cNvSpPr txBox="1"/>
          <p:nvPr/>
        </p:nvSpPr>
        <p:spPr>
          <a:xfrm>
            <a:off x="5826741" y="266177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9776EC7-676B-4141-BE40-867A277188D5}"/>
              </a:ext>
            </a:extLst>
          </p:cNvPr>
          <p:cNvSpPr txBox="1"/>
          <p:nvPr/>
        </p:nvSpPr>
        <p:spPr>
          <a:xfrm>
            <a:off x="5835738" y="328422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EC1B6A-ABD6-4F9A-9F46-7F6002A3E3C5}"/>
              </a:ext>
            </a:extLst>
          </p:cNvPr>
          <p:cNvSpPr txBox="1"/>
          <p:nvPr/>
        </p:nvSpPr>
        <p:spPr>
          <a:xfrm>
            <a:off x="5822520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25BC97-BA80-45C4-A828-95A96668CCE6}"/>
              </a:ext>
            </a:extLst>
          </p:cNvPr>
          <p:cNvSpPr txBox="1"/>
          <p:nvPr/>
        </p:nvSpPr>
        <p:spPr>
          <a:xfrm>
            <a:off x="5834087" y="4824239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6CF3FA-50AC-40F6-B2DB-1178D21DF0B8}"/>
              </a:ext>
            </a:extLst>
          </p:cNvPr>
          <p:cNvSpPr txBox="1"/>
          <p:nvPr/>
        </p:nvSpPr>
        <p:spPr>
          <a:xfrm>
            <a:off x="6944527" y="269283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810913E-2DAC-4AE8-9F08-2C1479E88C48}"/>
              </a:ext>
            </a:extLst>
          </p:cNvPr>
          <p:cNvSpPr txBox="1"/>
          <p:nvPr/>
        </p:nvSpPr>
        <p:spPr>
          <a:xfrm>
            <a:off x="6981674" y="329587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35C44C4-5629-49CD-A6DE-5F4E7CC1A119}"/>
              </a:ext>
            </a:extLst>
          </p:cNvPr>
          <p:cNvSpPr txBox="1"/>
          <p:nvPr/>
        </p:nvSpPr>
        <p:spPr>
          <a:xfrm>
            <a:off x="7027248" y="402263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AA271A-8298-4EBE-B2FE-A5284285502F}"/>
              </a:ext>
            </a:extLst>
          </p:cNvPr>
          <p:cNvSpPr txBox="1"/>
          <p:nvPr/>
        </p:nvSpPr>
        <p:spPr>
          <a:xfrm>
            <a:off x="7100261" y="48557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FADD980-3F05-4877-9F07-6D2908783F97}"/>
              </a:ext>
            </a:extLst>
          </p:cNvPr>
          <p:cNvSpPr txBox="1"/>
          <p:nvPr/>
        </p:nvSpPr>
        <p:spPr>
          <a:xfrm>
            <a:off x="7986957" y="2696090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523829-5F1B-467B-86F7-F823E43A485F}"/>
              </a:ext>
            </a:extLst>
          </p:cNvPr>
          <p:cNvSpPr txBox="1"/>
          <p:nvPr/>
        </p:nvSpPr>
        <p:spPr>
          <a:xfrm>
            <a:off x="8103883" y="3294523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26DA491-E4BB-4DA9-81D4-FAA03DA95165}"/>
              </a:ext>
            </a:extLst>
          </p:cNvPr>
          <p:cNvSpPr txBox="1"/>
          <p:nvPr/>
        </p:nvSpPr>
        <p:spPr>
          <a:xfrm>
            <a:off x="8228143" y="40221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989ADC-976E-4925-81C5-56BA77C6B425}"/>
              </a:ext>
            </a:extLst>
          </p:cNvPr>
          <p:cNvSpPr txBox="1"/>
          <p:nvPr/>
        </p:nvSpPr>
        <p:spPr>
          <a:xfrm>
            <a:off x="8393145" y="4890655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30D1D59-471F-4E79-A09B-AA371826C293}"/>
              </a:ext>
            </a:extLst>
          </p:cNvPr>
          <p:cNvSpPr txBox="1"/>
          <p:nvPr/>
        </p:nvSpPr>
        <p:spPr>
          <a:xfrm>
            <a:off x="9062116" y="2678208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9403F1-0E5F-4280-B357-F290A704FFD4}"/>
              </a:ext>
            </a:extLst>
          </p:cNvPr>
          <p:cNvSpPr txBox="1"/>
          <p:nvPr/>
        </p:nvSpPr>
        <p:spPr>
          <a:xfrm>
            <a:off x="9203553" y="3288282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41C7E3-D045-4B72-8BD8-CD604A13A397}"/>
              </a:ext>
            </a:extLst>
          </p:cNvPr>
          <p:cNvSpPr txBox="1"/>
          <p:nvPr/>
        </p:nvSpPr>
        <p:spPr>
          <a:xfrm>
            <a:off x="9479944" y="4043297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1989A41-9219-40A3-8330-F761AE0DE8A5}"/>
              </a:ext>
            </a:extLst>
          </p:cNvPr>
          <p:cNvSpPr txBox="1"/>
          <p:nvPr/>
        </p:nvSpPr>
        <p:spPr>
          <a:xfrm>
            <a:off x="9676949" y="4843401"/>
            <a:ext cx="319802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34371" y="5668558"/>
            <a:ext cx="11674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2. Fish Determine if Resting is Needed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3500-886E-4D9A-A767-F88EEB5787BC}"/>
              </a:ext>
            </a:extLst>
          </p:cNvPr>
          <p:cNvGrpSpPr/>
          <p:nvPr/>
        </p:nvGrpSpPr>
        <p:grpSpPr>
          <a:xfrm>
            <a:off x="8172010" y="1402973"/>
            <a:ext cx="2419815" cy="2019536"/>
            <a:chOff x="1402236" y="1393430"/>
            <a:chExt cx="2419815" cy="20195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4971A0-2BFE-4A39-A5B8-99A2FC5D04AB}"/>
                </a:ext>
              </a:extLst>
            </p:cNvPr>
            <p:cNvGrpSpPr/>
            <p:nvPr/>
          </p:nvGrpSpPr>
          <p:grpSpPr>
            <a:xfrm>
              <a:off x="1402236" y="1393430"/>
              <a:ext cx="2419815" cy="1222332"/>
              <a:chOff x="1402236" y="1393430"/>
              <a:chExt cx="2419815" cy="1222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𝒂𝒈𝒆𝒏𝒕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45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93D1E53-69A2-4A21-954D-B8C9542A3B97}"/>
                  </a:ext>
                </a:extLst>
              </p:cNvPr>
              <p:cNvGrpSpPr/>
              <p:nvPr/>
            </p:nvGrpSpPr>
            <p:grpSpPr>
              <a:xfrm>
                <a:off x="1880406" y="1579624"/>
                <a:ext cx="1438648" cy="830997"/>
                <a:chOff x="2220402" y="1955114"/>
                <a:chExt cx="1438648" cy="83099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94CD7E2-905A-405C-9594-ACACE159E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flipH="1">
                  <a:off x="2220402" y="1955114"/>
                  <a:ext cx="1438648" cy="830997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FBFD2C57-24A4-49D5-9CD4-89FB2A8FDE51}"/>
                    </a:ext>
                  </a:extLst>
                </p:cNvPr>
                <p:cNvCxnSpPr/>
                <p:nvPr/>
              </p:nvCxnSpPr>
              <p:spPr>
                <a:xfrm>
                  <a:off x="2437921" y="2602786"/>
                  <a:ext cx="109728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C9ADDD-6F2E-43C5-8890-9D49AEA5ABCB}"/>
                  </a:ext>
                </a:extLst>
              </p:cNvPr>
              <p:cNvSpPr txBox="1"/>
              <p:nvPr/>
            </p:nvSpPr>
            <p:spPr>
              <a:xfrm>
                <a:off x="1775247" y="1393430"/>
                <a:ext cx="1822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Swimming Speed</a:t>
                </a:r>
              </a:p>
            </p:txBody>
          </p:sp>
        </p:grpSp>
        <p:sp>
          <p:nvSpPr>
            <p:cNvPr id="82" name="Arrow: Up-Down 81">
              <a:extLst>
                <a:ext uri="{FF2B5EF4-FFF2-40B4-BE49-F238E27FC236}">
                  <a16:creationId xmlns:a16="http://schemas.microsoft.com/office/drawing/2014/main" id="{84270C7A-CC37-4BF3-8772-A8A0C6C58035}"/>
                </a:ext>
              </a:extLst>
            </p:cNvPr>
            <p:cNvSpPr/>
            <p:nvPr/>
          </p:nvSpPr>
          <p:spPr>
            <a:xfrm>
              <a:off x="2456264" y="2585816"/>
              <a:ext cx="208670" cy="82715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4129E048-1567-49BD-ACE0-2AAAC078BA08}"/>
              </a:ext>
            </a:extLst>
          </p:cNvPr>
          <p:cNvSpPr txBox="1"/>
          <p:nvPr/>
        </p:nvSpPr>
        <p:spPr>
          <a:xfrm>
            <a:off x="2134347" y="4022108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74823B-4ADA-42E6-BF4D-58899B5CE3D8}"/>
              </a:ext>
            </a:extLst>
          </p:cNvPr>
          <p:cNvSpPr txBox="1"/>
          <p:nvPr/>
        </p:nvSpPr>
        <p:spPr>
          <a:xfrm>
            <a:off x="2393847" y="3281111"/>
            <a:ext cx="401444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i="1" dirty="0"/>
              <a:t>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1E01E0-ACF3-435F-A339-0DB14B44558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751" y="1347852"/>
            <a:ext cx="2420322" cy="2145978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5672A02-D00C-4526-BB28-0288A5530E1F}"/>
              </a:ext>
            </a:extLst>
          </p:cNvPr>
          <p:cNvCxnSpPr>
            <a:cxnSpLocks/>
          </p:cNvCxnSpPr>
          <p:nvPr/>
        </p:nvCxnSpPr>
        <p:spPr>
          <a:xfrm>
            <a:off x="3352400" y="1932041"/>
            <a:ext cx="3017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39D253-48F0-4C65-964C-5AFB9DE24648}"/>
              </a:ext>
            </a:extLst>
          </p:cNvPr>
          <p:cNvGrpSpPr/>
          <p:nvPr/>
        </p:nvGrpSpPr>
        <p:grpSpPr>
          <a:xfrm>
            <a:off x="8373622" y="211072"/>
            <a:ext cx="1979663" cy="1184983"/>
            <a:chOff x="3905495" y="245296"/>
            <a:chExt cx="1979663" cy="118498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340C4A2-5E2E-4BA9-B8EF-6E3E3F11E76B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DD94268-9FE3-4778-BC34-E392A41A379E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A491751-E5BC-435C-AB64-E513D7A468C1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DA622D3-4105-47C3-AC68-57FAE353E679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D476333-A2BB-4C44-9CF4-87AA56085256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383ECB65-8439-4B82-B721-FBC358B381E9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237167" y="300889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CC5C073-273E-4CBC-90D0-80D05EDAD89A}"/>
                </a:ext>
              </a:extLst>
            </p:cNvPr>
            <p:cNvSpPr/>
            <p:nvPr/>
          </p:nvSpPr>
          <p:spPr>
            <a:xfrm>
              <a:off x="4446368" y="1019126"/>
              <a:ext cx="274320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16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4DF5AAB-A47B-4442-BB0A-4A2FA941A273}"/>
                </a:ext>
              </a:extLst>
            </p:cNvPr>
            <p:cNvPicPr>
              <a:picLocks/>
            </p:cNvPicPr>
            <p:nvPr/>
          </p:nvPicPr>
          <p:blipFill rotWithShape="1">
            <a:blip r:embed="rId8"/>
            <a:srcRect l="36883" t="9252" r="55401" b="73628"/>
            <a:stretch/>
          </p:blipFill>
          <p:spPr>
            <a:xfrm>
              <a:off x="4926005" y="295442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8FD24B1-B274-4883-88F5-0604C16BE746}"/>
                </a:ext>
              </a:extLst>
            </p:cNvPr>
            <p:cNvSpPr/>
            <p:nvPr/>
          </p:nvSpPr>
          <p:spPr>
            <a:xfrm>
              <a:off x="5103527" y="771844"/>
              <a:ext cx="338328" cy="300977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5621AD15-F1D5-4359-99D3-3BCD2635BFD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74646" y="1386182"/>
            <a:ext cx="2420322" cy="2145978"/>
          </a:xfrm>
          <a:prstGeom prst="rect">
            <a:avLst/>
          </a:prstGeom>
        </p:spPr>
      </p:pic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6FE098F-4093-44AD-93A4-C62C63466558}"/>
              </a:ext>
            </a:extLst>
          </p:cNvPr>
          <p:cNvCxnSpPr>
            <a:cxnSpLocks/>
          </p:cNvCxnSpPr>
          <p:nvPr/>
        </p:nvCxnSpPr>
        <p:spPr>
          <a:xfrm>
            <a:off x="7650939" y="1932041"/>
            <a:ext cx="100584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069E6FB-A73A-488A-92E8-7CF8B16E55F5}"/>
              </a:ext>
            </a:extLst>
          </p:cNvPr>
          <p:cNvGrpSpPr/>
          <p:nvPr/>
        </p:nvGrpSpPr>
        <p:grpSpPr>
          <a:xfrm>
            <a:off x="5968208" y="3438504"/>
            <a:ext cx="4910953" cy="1674102"/>
            <a:chOff x="7910757" y="1120367"/>
            <a:chExt cx="4910953" cy="1674102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310F067-541F-4F9A-B819-51E81B812F51}"/>
                </a:ext>
              </a:extLst>
            </p:cNvPr>
            <p:cNvSpPr/>
            <p:nvPr/>
          </p:nvSpPr>
          <p:spPr>
            <a:xfrm>
              <a:off x="7910757" y="1122992"/>
              <a:ext cx="4476682" cy="1671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C785808-1198-45E1-AD3D-0CFC3AC48581}"/>
                    </a:ext>
                  </a:extLst>
                </p:cNvPr>
                <p:cNvSpPr txBox="1"/>
                <p:nvPr/>
              </p:nvSpPr>
              <p:spPr>
                <a:xfrm>
                  <a:off x="7980707" y="1459681"/>
                  <a:ext cx="4841003" cy="12266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If </a:t>
                  </a:r>
                  <a:r>
                    <a:rPr lang="en-US" b="1" dirty="0"/>
                    <a:t>energy</a:t>
                  </a:r>
                  <a:r>
                    <a:rPr lang="en-US" dirty="0"/>
                    <a:t> </a:t>
                  </a:r>
                  <a:r>
                    <a:rPr lang="en-US" b="1" dirty="0"/>
                    <a:t>is ≥ 25%  </a:t>
                  </a:r>
                  <a:r>
                    <a:rPr lang="en-US" dirty="0"/>
                    <a:t>and </a:t>
                  </a:r>
                  <a:r>
                    <a:rPr lang="en-US" b="1" dirty="0"/>
                    <a:t>|</a:t>
                  </a:r>
                  <a:r>
                    <a:rPr lang="en-US" b="1" i="1" dirty="0"/>
                    <a:t>u</a:t>
                  </a:r>
                  <a:r>
                    <a:rPr lang="en-US" b="1" dirty="0"/>
                    <a:t>| </a:t>
                  </a:r>
                  <a:r>
                    <a:rPr lang="en-US" dirty="0"/>
                    <a:t>in the opposite direction is </a:t>
                  </a:r>
                  <a:r>
                    <a:rPr lang="en-US" b="1" dirty="0"/>
                    <a:t>&gt;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𝒂𝒈𝒆𝒏𝒕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:</a:t>
                  </a:r>
                </a:p>
                <a:p>
                  <a:r>
                    <a:rPr lang="en-US" dirty="0"/>
                    <a:t>	</a:t>
                  </a:r>
                  <a:r>
                    <a:rPr lang="en-US" b="1" dirty="0"/>
                    <a:t>In-STST?</a:t>
                  </a:r>
                  <a:r>
                    <a:rPr lang="en-US" dirty="0"/>
                    <a:t> = </a:t>
                  </a:r>
                  <a:r>
                    <a:rPr lang="en-US" b="1" dirty="0"/>
                    <a:t>True</a:t>
                  </a:r>
                </a:p>
                <a:p>
                  <a:r>
                    <a:rPr lang="en-US" dirty="0"/>
                    <a:t>	</a:t>
                  </a:r>
                  <a:r>
                    <a:rPr lang="en-US" b="1" dirty="0"/>
                    <a:t>Time-in-STST </a:t>
                  </a:r>
                  <a:r>
                    <a:rPr lang="en-US" dirty="0"/>
                    <a:t>= </a:t>
                  </a:r>
                  <a:r>
                    <a:rPr lang="en-US" b="1" dirty="0"/>
                    <a:t>Time-in-Staging</a:t>
                  </a:r>
                  <a:r>
                    <a:rPr lang="en-US" dirty="0"/>
                    <a:t> + 1</a:t>
                  </a: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C785808-1198-45E1-AD3D-0CFC3AC48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0707" y="1459681"/>
                  <a:ext cx="4841003" cy="1226618"/>
                </a:xfrm>
                <a:prstGeom prst="rect">
                  <a:avLst/>
                </a:prstGeom>
                <a:blipFill>
                  <a:blip r:embed="rId9"/>
                  <a:stretch>
                    <a:fillRect l="-1134" t="-2985" b="-69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Text Placeholder 4">
              <a:extLst>
                <a:ext uri="{FF2B5EF4-FFF2-40B4-BE49-F238E27FC236}">
                  <a16:creationId xmlns:a16="http://schemas.microsoft.com/office/drawing/2014/main" id="{1E0E0ACA-F46E-49FE-8AB3-B12952794E89}"/>
                </a:ext>
              </a:extLst>
            </p:cNvPr>
            <p:cNvSpPr txBox="1">
              <a:spLocks/>
            </p:cNvSpPr>
            <p:nvPr/>
          </p:nvSpPr>
          <p:spPr>
            <a:xfrm>
              <a:off x="7997450" y="1120367"/>
              <a:ext cx="4365605" cy="82391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/>
                <a:t>Selective Tidal Stream Transport (STST)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B3055E4-B999-4C6A-9B09-E661409A5AD6}"/>
                </a:ext>
              </a:extLst>
            </p:cNvPr>
            <p:cNvCxnSpPr>
              <a:cxnSpLocks/>
            </p:cNvCxnSpPr>
            <p:nvPr/>
          </p:nvCxnSpPr>
          <p:spPr>
            <a:xfrm>
              <a:off x="8070330" y="1462031"/>
              <a:ext cx="42062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A38A320-F4B7-4FF2-9F48-264216C562C6}"/>
              </a:ext>
            </a:extLst>
          </p:cNvPr>
          <p:cNvGrpSpPr/>
          <p:nvPr/>
        </p:nvGrpSpPr>
        <p:grpSpPr>
          <a:xfrm>
            <a:off x="1048637" y="3422430"/>
            <a:ext cx="4498018" cy="1671477"/>
            <a:chOff x="7881775" y="1122992"/>
            <a:chExt cx="4498018" cy="167147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FE866F4-DAC5-471C-B7E6-995F529B9E48}"/>
                </a:ext>
              </a:extLst>
            </p:cNvPr>
            <p:cNvSpPr/>
            <p:nvPr/>
          </p:nvSpPr>
          <p:spPr>
            <a:xfrm>
              <a:off x="7910756" y="1122992"/>
              <a:ext cx="4469037" cy="167147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F815C01-4FEF-48B6-A3F6-06801D2B0828}"/>
                </a:ext>
              </a:extLst>
            </p:cNvPr>
            <p:cNvSpPr txBox="1"/>
            <p:nvPr/>
          </p:nvSpPr>
          <p:spPr>
            <a:xfrm>
              <a:off x="7919856" y="1544942"/>
              <a:ext cx="443555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</a:t>
              </a:r>
              <a:r>
                <a:rPr lang="en-US" b="1" dirty="0"/>
                <a:t>energy</a:t>
              </a:r>
              <a:r>
                <a:rPr lang="en-US" dirty="0"/>
                <a:t> is </a:t>
              </a:r>
              <a:r>
                <a:rPr lang="en-US" b="1" dirty="0"/>
                <a:t>≤ 25% </a:t>
              </a:r>
              <a:r>
                <a:rPr lang="en-US" dirty="0"/>
                <a:t>or </a:t>
              </a:r>
              <a:r>
                <a:rPr lang="en-US" b="1" dirty="0"/>
                <a:t>stress</a:t>
              </a:r>
              <a:r>
                <a:rPr lang="en-US" dirty="0"/>
                <a:t> </a:t>
              </a:r>
              <a:r>
                <a:rPr lang="en-US" b="1" dirty="0"/>
                <a:t>&gt; 50%</a:t>
              </a:r>
              <a:r>
                <a:rPr lang="en-US" dirty="0"/>
                <a:t>:</a:t>
              </a:r>
            </a:p>
            <a:p>
              <a:r>
                <a:rPr lang="en-US" dirty="0"/>
                <a:t>	</a:t>
              </a:r>
              <a:r>
                <a:rPr lang="en-US" b="1" dirty="0"/>
                <a:t>Staging? </a:t>
              </a:r>
              <a:r>
                <a:rPr lang="en-US" dirty="0"/>
                <a:t>= </a:t>
              </a:r>
              <a:r>
                <a:rPr lang="en-US" b="1" dirty="0"/>
                <a:t>True</a:t>
              </a:r>
            </a:p>
            <a:p>
              <a:r>
                <a:rPr lang="en-US" i="1" dirty="0"/>
                <a:t>	</a:t>
              </a:r>
              <a:r>
                <a:rPr lang="en-US" b="1" dirty="0"/>
                <a:t>Time-in-Stage</a:t>
              </a:r>
              <a:r>
                <a:rPr lang="en-US" dirty="0"/>
                <a:t> = </a:t>
              </a:r>
              <a:r>
                <a:rPr lang="en-US" b="1" dirty="0"/>
                <a:t>Time-in-Stage</a:t>
              </a:r>
              <a:r>
                <a:rPr lang="en-US" dirty="0"/>
                <a:t> + 1</a:t>
              </a:r>
            </a:p>
            <a:p>
              <a:r>
                <a:rPr lang="en-US" dirty="0"/>
                <a:t>	</a:t>
              </a:r>
              <a:r>
                <a:rPr lang="en-US" b="1" dirty="0"/>
                <a:t>Energy</a:t>
              </a:r>
              <a:r>
                <a:rPr lang="en-US" dirty="0"/>
                <a:t> = </a:t>
              </a:r>
              <a:r>
                <a:rPr lang="en-US" b="1" dirty="0"/>
                <a:t>Energy</a:t>
              </a:r>
              <a:r>
                <a:rPr lang="en-US" dirty="0"/>
                <a:t> + 1</a:t>
              </a:r>
            </a:p>
          </p:txBody>
        </p:sp>
        <p:sp>
          <p:nvSpPr>
            <p:cNvPr id="100" name="Text Placeholder 4">
              <a:extLst>
                <a:ext uri="{FF2B5EF4-FFF2-40B4-BE49-F238E27FC236}">
                  <a16:creationId xmlns:a16="http://schemas.microsoft.com/office/drawing/2014/main" id="{B1C143F1-D729-4D71-94DA-ED4591CD59C2}"/>
                </a:ext>
              </a:extLst>
            </p:cNvPr>
            <p:cNvSpPr txBox="1">
              <a:spLocks/>
            </p:cNvSpPr>
            <p:nvPr/>
          </p:nvSpPr>
          <p:spPr>
            <a:xfrm>
              <a:off x="7881775" y="1146123"/>
              <a:ext cx="4484786" cy="82391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 dirty="0"/>
                <a:t>Staging</a:t>
              </a: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6075A40-D348-48EF-94C0-30B767D57044}"/>
                </a:ext>
              </a:extLst>
            </p:cNvPr>
            <p:cNvCxnSpPr>
              <a:cxnSpLocks/>
            </p:cNvCxnSpPr>
            <p:nvPr/>
          </p:nvCxnSpPr>
          <p:spPr>
            <a:xfrm>
              <a:off x="9650071" y="1513058"/>
              <a:ext cx="93936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7E6F27C-A348-431C-9ADA-EBD0EE13D50C}"/>
              </a:ext>
            </a:extLst>
          </p:cNvPr>
          <p:cNvSpPr/>
          <p:nvPr/>
        </p:nvSpPr>
        <p:spPr>
          <a:xfrm>
            <a:off x="4628297" y="5396943"/>
            <a:ext cx="2288523" cy="4629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STST Needed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5AFEB12-B10C-4523-9A1D-2630011CBFC3}"/>
              </a:ext>
            </a:extLst>
          </p:cNvPr>
          <p:cNvGrpSpPr/>
          <p:nvPr/>
        </p:nvGrpSpPr>
        <p:grpSpPr>
          <a:xfrm>
            <a:off x="3286614" y="751832"/>
            <a:ext cx="5338219" cy="2689816"/>
            <a:chOff x="3286614" y="751832"/>
            <a:chExt cx="5338219" cy="26898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589F081F-09E7-4D56-A844-5BDA4E1ABDC7}"/>
                </a:ext>
              </a:extLst>
            </p:cNvPr>
            <p:cNvGrpSpPr/>
            <p:nvPr/>
          </p:nvGrpSpPr>
          <p:grpSpPr>
            <a:xfrm>
              <a:off x="3298151" y="751832"/>
              <a:ext cx="5326682" cy="2286000"/>
              <a:chOff x="3154739" y="741265"/>
              <a:chExt cx="5326682" cy="2286000"/>
            </a:xfrm>
          </p:grpSpPr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05110F96-FA05-4F7A-B7FF-C7B6E2D5995E}"/>
                  </a:ext>
                </a:extLst>
              </p:cNvPr>
              <p:cNvCxnSpPr/>
              <p:nvPr/>
            </p:nvCxnSpPr>
            <p:spPr>
              <a:xfrm>
                <a:off x="5646781" y="751366"/>
                <a:ext cx="283464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1D66568B-8044-4E80-A97C-006048A5D4F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4526136" y="1884265"/>
                <a:ext cx="228600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2BBEBC7C-15CD-4274-B770-ADE57C53E227}"/>
                  </a:ext>
                </a:extLst>
              </p:cNvPr>
              <p:cNvCxnSpPr/>
              <p:nvPr/>
            </p:nvCxnSpPr>
            <p:spPr>
              <a:xfrm>
                <a:off x="3154739" y="2995849"/>
                <a:ext cx="2926080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8D0ED52A-56E8-40B2-831A-8AEBC1EC67E9}"/>
                  </a:ext>
                </a:extLst>
              </p:cNvPr>
              <p:cNvCxnSpPr/>
              <p:nvPr/>
            </p:nvCxnSpPr>
            <p:spPr>
              <a:xfrm>
                <a:off x="5751645" y="2995849"/>
                <a:ext cx="2328909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C50D45D-78D2-4D54-AC5F-071E2D6FD78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84001" y="3213048"/>
              <a:ext cx="4572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E0EB65E-51E1-41A6-8490-DA45130408D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58014" y="3203878"/>
              <a:ext cx="4572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AA4A3CC-A040-4915-84EE-F1295BB9F39F}"/>
              </a:ext>
            </a:extLst>
          </p:cNvPr>
          <p:cNvGrpSpPr/>
          <p:nvPr/>
        </p:nvGrpSpPr>
        <p:grpSpPr>
          <a:xfrm>
            <a:off x="3266165" y="5086909"/>
            <a:ext cx="4949993" cy="566928"/>
            <a:chOff x="3266165" y="5086909"/>
            <a:chExt cx="4949993" cy="566928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38BC5A2E-D506-4427-A049-111BDD4EB45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266165" y="5626327"/>
              <a:ext cx="1371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784924B-8BB6-4E70-9023-8FFF0923A18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012294" y="5361229"/>
              <a:ext cx="5486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2FEFE76C-3238-4448-B608-E962243144C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38281" y="5379517"/>
              <a:ext cx="5486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243F2D1-72AE-4FE7-B848-ED8CFB4E567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899422" y="5635549"/>
              <a:ext cx="131673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1887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6707E0A5-E7E3-4E1F-BDAF-BB0EE7672778}"/>
              </a:ext>
            </a:extLst>
          </p:cNvPr>
          <p:cNvSpPr/>
          <p:nvPr/>
        </p:nvSpPr>
        <p:spPr>
          <a:xfrm>
            <a:off x="1776145" y="1701206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827" y="1732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957341" y="56282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Conditions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334371" y="5668558"/>
            <a:ext cx="11674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3. Patches Track Fish Resting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5672A02-D00C-4526-BB28-0288A5530E1F}"/>
              </a:ext>
            </a:extLst>
          </p:cNvPr>
          <p:cNvCxnSpPr>
            <a:cxnSpLocks/>
          </p:cNvCxnSpPr>
          <p:nvPr/>
        </p:nvCxnSpPr>
        <p:spPr>
          <a:xfrm>
            <a:off x="3352400" y="1932041"/>
            <a:ext cx="3017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39D253-48F0-4C65-964C-5AFB9DE24648}"/>
              </a:ext>
            </a:extLst>
          </p:cNvPr>
          <p:cNvGrpSpPr/>
          <p:nvPr/>
        </p:nvGrpSpPr>
        <p:grpSpPr>
          <a:xfrm>
            <a:off x="8373622" y="211072"/>
            <a:ext cx="1979663" cy="1184983"/>
            <a:chOff x="3905495" y="245296"/>
            <a:chExt cx="1979663" cy="118498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340C4A2-5E2E-4BA9-B8EF-6E3E3F11E76B}"/>
                </a:ext>
              </a:extLst>
            </p:cNvPr>
            <p:cNvGrpSpPr/>
            <p:nvPr/>
          </p:nvGrpSpPr>
          <p:grpSpPr>
            <a:xfrm>
              <a:off x="3905495" y="245296"/>
              <a:ext cx="1979663" cy="1184983"/>
              <a:chOff x="1210362" y="235279"/>
              <a:chExt cx="1979663" cy="118498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DD94268-9FE3-4778-BC34-E392A41A379E}"/>
                  </a:ext>
                </a:extLst>
              </p:cNvPr>
              <p:cNvGrpSpPr/>
              <p:nvPr/>
            </p:nvGrpSpPr>
            <p:grpSpPr>
              <a:xfrm>
                <a:off x="1210362" y="235279"/>
                <a:ext cx="1772210" cy="1184983"/>
                <a:chOff x="1210362" y="235279"/>
                <a:chExt cx="1772210" cy="1184983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A491751-E5BC-435C-AB64-E513D7A468C1}"/>
                    </a:ext>
                  </a:extLst>
                </p:cNvPr>
                <p:cNvSpPr/>
                <p:nvPr/>
              </p:nvSpPr>
              <p:spPr>
                <a:xfrm>
                  <a:off x="1493519" y="235279"/>
                  <a:ext cx="1489053" cy="117705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DA622D3-4105-47C3-AC68-57FAE353E679}"/>
                    </a:ext>
                  </a:extLst>
                </p:cNvPr>
                <p:cNvSpPr txBox="1"/>
                <p:nvPr/>
              </p:nvSpPr>
              <p:spPr>
                <a:xfrm>
                  <a:off x="1210362" y="1081708"/>
                  <a:ext cx="13508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Stress</a:t>
                  </a:r>
                </a:p>
              </p:txBody>
            </p:sp>
          </p:grp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D476333-A2BB-4C44-9CF4-87AA56085256}"/>
                  </a:ext>
                </a:extLst>
              </p:cNvPr>
              <p:cNvSpPr txBox="1"/>
              <p:nvPr/>
            </p:nvSpPr>
            <p:spPr>
              <a:xfrm>
                <a:off x="1980861" y="1081708"/>
                <a:ext cx="12091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</a:t>
                </a:r>
              </a:p>
            </p:txBody>
          </p:sp>
        </p:grp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383ECB65-8439-4B82-B721-FBC358B381E9}"/>
                </a:ext>
              </a:extLst>
            </p:cNvPr>
            <p:cNvPicPr>
              <a:picLocks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4237167" y="300889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CC5C073-273E-4CBC-90D0-80D05EDAD89A}"/>
                </a:ext>
              </a:extLst>
            </p:cNvPr>
            <p:cNvSpPr/>
            <p:nvPr/>
          </p:nvSpPr>
          <p:spPr>
            <a:xfrm>
              <a:off x="4446368" y="1019126"/>
              <a:ext cx="274320" cy="3657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16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24DF5AAB-A47B-4442-BB0A-4A2FA941A273}"/>
                </a:ext>
              </a:extLst>
            </p:cNvPr>
            <p:cNvPicPr>
              <a:picLocks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4926005" y="295442"/>
              <a:ext cx="626224" cy="94277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28FD24B1-B274-4883-88F5-0604C16BE746}"/>
                </a:ext>
              </a:extLst>
            </p:cNvPr>
            <p:cNvSpPr/>
            <p:nvPr/>
          </p:nvSpPr>
          <p:spPr>
            <a:xfrm>
              <a:off x="5103527" y="771844"/>
              <a:ext cx="338328" cy="300977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6FE098F-4093-44AD-93A4-C62C63466558}"/>
              </a:ext>
            </a:extLst>
          </p:cNvPr>
          <p:cNvCxnSpPr>
            <a:cxnSpLocks/>
          </p:cNvCxnSpPr>
          <p:nvPr/>
        </p:nvCxnSpPr>
        <p:spPr>
          <a:xfrm>
            <a:off x="7650939" y="1932041"/>
            <a:ext cx="100584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B8D7B61-FA61-4163-BECB-A27B4F381B9C}"/>
              </a:ext>
            </a:extLst>
          </p:cNvPr>
          <p:cNvSpPr/>
          <p:nvPr/>
        </p:nvSpPr>
        <p:spPr>
          <a:xfrm>
            <a:off x="8914495" y="3398669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STST: 1 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C8D7E5F-DDD8-46AB-A746-20551B4BD491}"/>
              </a:ext>
            </a:extLst>
          </p:cNvPr>
          <p:cNvSpPr/>
          <p:nvPr/>
        </p:nvSpPr>
        <p:spPr>
          <a:xfrm>
            <a:off x="8914495" y="3677655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Staged: 0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C43500-886E-4D9A-A767-F88EEB5787BC}"/>
              </a:ext>
            </a:extLst>
          </p:cNvPr>
          <p:cNvGrpSpPr/>
          <p:nvPr/>
        </p:nvGrpSpPr>
        <p:grpSpPr>
          <a:xfrm>
            <a:off x="8172010" y="1402973"/>
            <a:ext cx="2419815" cy="2019536"/>
            <a:chOff x="1402236" y="1393430"/>
            <a:chExt cx="2419815" cy="20195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74971A0-2BFE-4A39-A5B8-99A2FC5D04AB}"/>
                </a:ext>
              </a:extLst>
            </p:cNvPr>
            <p:cNvGrpSpPr/>
            <p:nvPr/>
          </p:nvGrpSpPr>
          <p:grpSpPr>
            <a:xfrm>
              <a:off x="1402236" y="1393430"/>
              <a:ext cx="2419815" cy="1222332"/>
              <a:chOff x="1402236" y="1393430"/>
              <a:chExt cx="2419815" cy="1222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𝒂𝒈𝒆𝒏𝒕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713EA09A-2BF2-442A-A7CE-1F49802B0E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2236" y="2186542"/>
                    <a:ext cx="2419815" cy="429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845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93D1E53-69A2-4A21-954D-B8C9542A3B97}"/>
                  </a:ext>
                </a:extLst>
              </p:cNvPr>
              <p:cNvGrpSpPr/>
              <p:nvPr/>
            </p:nvGrpSpPr>
            <p:grpSpPr>
              <a:xfrm>
                <a:off x="1880406" y="1579624"/>
                <a:ext cx="1438648" cy="830997"/>
                <a:chOff x="2220402" y="1955114"/>
                <a:chExt cx="1438648" cy="83099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894CD7E2-905A-405C-9594-ACACE159E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flipH="1">
                  <a:off x="2220402" y="1955114"/>
                  <a:ext cx="1438648" cy="830997"/>
                </a:xfrm>
                <a:prstGeom prst="rect">
                  <a:avLst/>
                </a:prstGeom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FBFD2C57-24A4-49D5-9CD4-89FB2A8FDE51}"/>
                    </a:ext>
                  </a:extLst>
                </p:cNvPr>
                <p:cNvCxnSpPr/>
                <p:nvPr/>
              </p:nvCxnSpPr>
              <p:spPr>
                <a:xfrm>
                  <a:off x="2437921" y="2602786"/>
                  <a:ext cx="109728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C9ADDD-6F2E-43C5-8890-9D49AEA5ABCB}"/>
                  </a:ext>
                </a:extLst>
              </p:cNvPr>
              <p:cNvSpPr txBox="1"/>
              <p:nvPr/>
            </p:nvSpPr>
            <p:spPr>
              <a:xfrm>
                <a:off x="1775247" y="1393430"/>
                <a:ext cx="1822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Swimming Speed</a:t>
                </a:r>
              </a:p>
            </p:txBody>
          </p:sp>
        </p:grpSp>
        <p:sp>
          <p:nvSpPr>
            <p:cNvPr id="82" name="Arrow: Up-Down 81">
              <a:extLst>
                <a:ext uri="{FF2B5EF4-FFF2-40B4-BE49-F238E27FC236}">
                  <a16:creationId xmlns:a16="http://schemas.microsoft.com/office/drawing/2014/main" id="{84270C7A-CC37-4BF3-8772-A8A0C6C58035}"/>
                </a:ext>
              </a:extLst>
            </p:cNvPr>
            <p:cNvSpPr/>
            <p:nvPr/>
          </p:nvSpPr>
          <p:spPr>
            <a:xfrm>
              <a:off x="2456264" y="2585816"/>
              <a:ext cx="208670" cy="82715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7BC2696-3F43-4C0E-8B4B-8CF820256EBC}"/>
              </a:ext>
            </a:extLst>
          </p:cNvPr>
          <p:cNvSpPr/>
          <p:nvPr/>
        </p:nvSpPr>
        <p:spPr>
          <a:xfrm>
            <a:off x="2056512" y="3387652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STST: 0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53A88C7B-7C05-4E3E-BE8A-E4F0A850DE0F}"/>
              </a:ext>
            </a:extLst>
          </p:cNvPr>
          <p:cNvSpPr/>
          <p:nvPr/>
        </p:nvSpPr>
        <p:spPr>
          <a:xfrm>
            <a:off x="2056512" y="3666638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Staged: 0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1E01E0-ACF3-435F-A339-0DB14B44558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8751" y="1347852"/>
            <a:ext cx="2420322" cy="2145978"/>
          </a:xfrm>
          <a:prstGeom prst="rect">
            <a:avLst/>
          </a:prstGeom>
        </p:spPr>
      </p:pic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B13AA08-BCC1-4E26-A457-ED358935D1FF}"/>
              </a:ext>
            </a:extLst>
          </p:cNvPr>
          <p:cNvSpPr/>
          <p:nvPr/>
        </p:nvSpPr>
        <p:spPr>
          <a:xfrm>
            <a:off x="6552312" y="3371501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STST: 0 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F1FDE110-D4D2-44BA-B568-3C78FB0B3EE4}"/>
              </a:ext>
            </a:extLst>
          </p:cNvPr>
          <p:cNvSpPr/>
          <p:nvPr/>
        </p:nvSpPr>
        <p:spPr>
          <a:xfrm>
            <a:off x="6552312" y="3650487"/>
            <a:ext cx="914400" cy="2347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Staged: 1 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5621AD15-F1D5-4359-99D3-3BCD2635BFD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74646" y="1386182"/>
            <a:ext cx="2420322" cy="21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68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55F1D-6843-4DCB-8528-A11E2A7CD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2341" y="4041719"/>
            <a:ext cx="5157787" cy="3970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Fish attempt to remain in place, move lower in the water column, and drift passively with the current to conserve energy use.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DB9A50B-1593-4143-98DE-B96024EDE4D7}"/>
              </a:ext>
            </a:extLst>
          </p:cNvPr>
          <p:cNvSpPr/>
          <p:nvPr/>
        </p:nvSpPr>
        <p:spPr>
          <a:xfrm>
            <a:off x="749015" y="472072"/>
            <a:ext cx="4754880" cy="3383280"/>
          </a:xfrm>
          <a:prstGeom prst="rect">
            <a:avLst/>
          </a:prstGeom>
          <a:gradFill>
            <a:gsLst>
              <a:gs pos="12928">
                <a:srgbClr val="D6434C"/>
              </a:gs>
              <a:gs pos="320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1C22C3-2219-4936-9E54-D32B375D188B}"/>
              </a:ext>
            </a:extLst>
          </p:cNvPr>
          <p:cNvSpPr/>
          <p:nvPr/>
        </p:nvSpPr>
        <p:spPr>
          <a:xfrm>
            <a:off x="6577531" y="459372"/>
            <a:ext cx="4754880" cy="3383280"/>
          </a:xfrm>
          <a:prstGeom prst="rect">
            <a:avLst/>
          </a:prstGeom>
          <a:gradFill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DA7D9-9FF1-4A15-B039-B2EC74563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28" y="5532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4. </a:t>
            </a:r>
            <a:r>
              <a:rPr lang="en-US" sz="3600" b="1" dirty="0"/>
              <a:t>During Rest</a:t>
            </a:r>
            <a:r>
              <a:rPr lang="en-US" sz="3600" dirty="0"/>
              <a:t>: Fish Move to Conserve Energy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A0284-540C-4BD4-8A79-4FD6CA929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883" y="3170996"/>
            <a:ext cx="5157787" cy="823912"/>
          </a:xfrm>
        </p:spPr>
        <p:txBody>
          <a:bodyPr/>
          <a:lstStyle/>
          <a:p>
            <a:pPr algn="ctr"/>
            <a:r>
              <a:rPr lang="en-US" dirty="0"/>
              <a:t>Selective Tidal Stream Transport (STST)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4B66F-3E4D-4F7E-87CA-B59C66EE5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2031" y="3166718"/>
            <a:ext cx="5183188" cy="823912"/>
          </a:xfrm>
        </p:spPr>
        <p:txBody>
          <a:bodyPr/>
          <a:lstStyle/>
          <a:p>
            <a:pPr algn="ctr"/>
            <a:r>
              <a:rPr lang="en-US" dirty="0"/>
              <a:t>Staging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7CA8F4D-3958-48DA-99AC-D0C1585981D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258210" y="4057521"/>
                <a:ext cx="5933790" cy="39705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Fish identify and move to the most energy-efficient neighboring patches to rest</a:t>
                </a:r>
              </a:p>
              <a:p>
                <a:pPr marL="0" indent="0">
                  <a:buNone/>
                </a:pPr>
                <a:r>
                  <a:rPr lang="en-US" sz="2400" dirty="0"/>
                  <a:t>	where:</a:t>
                </a:r>
              </a:p>
              <a:p>
                <a:pPr marL="0" indent="0">
                  <a:buNone/>
                </a:pPr>
                <a:r>
                  <a:rPr lang="en-US" sz="2400" dirty="0"/>
                  <a:t> 		|</a:t>
                </a:r>
                <a:r>
                  <a:rPr lang="en-US" sz="2400" b="1" i="1" dirty="0"/>
                  <a:t>u</a:t>
                </a:r>
                <a:r>
                  <a:rPr lang="en-US" sz="2400" dirty="0"/>
                  <a:t>|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7CA8F4D-3958-48DA-99AC-D0C158598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258210" y="4057521"/>
                <a:ext cx="5933790" cy="3970570"/>
              </a:xfrm>
              <a:blipFill>
                <a:blip r:embed="rId2"/>
                <a:stretch>
                  <a:fillRect l="-1644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7EDFC1F-64AD-4736-91CF-D04374833EE8}"/>
              </a:ext>
            </a:extLst>
          </p:cNvPr>
          <p:cNvGrpSpPr/>
          <p:nvPr/>
        </p:nvGrpSpPr>
        <p:grpSpPr>
          <a:xfrm>
            <a:off x="6122902" y="272182"/>
            <a:ext cx="5230891" cy="3732937"/>
            <a:chOff x="6122902" y="272182"/>
            <a:chExt cx="5230891" cy="373293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0C7C7B6-608B-4DAB-B3FE-99E6075BBF5C}"/>
                </a:ext>
              </a:extLst>
            </p:cNvPr>
            <p:cNvGrpSpPr/>
            <p:nvPr/>
          </p:nvGrpSpPr>
          <p:grpSpPr>
            <a:xfrm>
              <a:off x="6122902" y="272182"/>
              <a:ext cx="5230891" cy="3732937"/>
              <a:chOff x="6122902" y="272182"/>
              <a:chExt cx="5230891" cy="3732937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D477DF65-6095-4927-886A-08A2CF12ADAD}"/>
                  </a:ext>
                </a:extLst>
              </p:cNvPr>
              <p:cNvGrpSpPr/>
              <p:nvPr/>
            </p:nvGrpSpPr>
            <p:grpSpPr>
              <a:xfrm>
                <a:off x="6542668" y="416443"/>
                <a:ext cx="4811125" cy="3469882"/>
                <a:chOff x="6542668" y="416443"/>
                <a:chExt cx="4811125" cy="3469882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01012ACD-B33C-47C6-BF65-E14C1A0AB0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42668" y="416443"/>
                  <a:ext cx="4811125" cy="3469882"/>
                </a:xfrm>
                <a:prstGeom prst="rect">
                  <a:avLst/>
                </a:prstGeom>
                <a:scene3d>
                  <a:camera prst="perspectiveRelaxed"/>
                  <a:lightRig rig="threePt" dir="t"/>
                </a:scene3d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C0C852BA-2119-4A0A-877D-E915219839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H="1">
                  <a:off x="10034115" y="1041503"/>
                  <a:ext cx="878053" cy="50718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57EECFC9-2CF1-4E39-9DC7-897F9B6AB9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H="1">
                  <a:off x="10123523" y="1395413"/>
                  <a:ext cx="699235" cy="40389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C7EA95D5-D015-4BB9-B694-454019F3C8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H="1">
                  <a:off x="10587392" y="1303645"/>
                  <a:ext cx="500299" cy="28898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C1DA721E-05C2-4010-8729-6A2CDA95D7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035987" flipH="1">
                  <a:off x="10065701" y="1718978"/>
                  <a:ext cx="878053" cy="50718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9382099E-106C-4D1B-8912-63E6896670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035987" flipH="1">
                  <a:off x="10155109" y="2072888"/>
                  <a:ext cx="699235" cy="40389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23BB9247-31D8-470C-A95B-99C943811C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035987" flipH="1">
                  <a:off x="10618978" y="1981120"/>
                  <a:ext cx="500299" cy="28898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7C93544-864A-4494-BF79-70047ABF2BFE}"/>
                  </a:ext>
                </a:extLst>
              </p:cNvPr>
              <p:cNvGrpSpPr/>
              <p:nvPr/>
            </p:nvGrpSpPr>
            <p:grpSpPr>
              <a:xfrm>
                <a:off x="6122902" y="272182"/>
                <a:ext cx="4300979" cy="3732937"/>
                <a:chOff x="6122902" y="272182"/>
                <a:chExt cx="4300979" cy="3732937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8F5FE81-BBEF-4743-ACB3-A0D686F9A8D7}"/>
                    </a:ext>
                  </a:extLst>
                </p:cNvPr>
                <p:cNvSpPr txBox="1"/>
                <p:nvPr/>
              </p:nvSpPr>
              <p:spPr>
                <a:xfrm>
                  <a:off x="6402964" y="2217945"/>
                  <a:ext cx="18025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High Stress</a:t>
                  </a:r>
                </a:p>
              </p:txBody>
            </p:sp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85B28AF8-487B-48D2-B305-8FE7EB268E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H="1">
                  <a:off x="7955810" y="1762961"/>
                  <a:ext cx="1207040" cy="69721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BD2468AB-D0DC-42BE-A619-70A8778762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908143" flipH="1">
                  <a:off x="9370305" y="1371930"/>
                  <a:ext cx="878053" cy="50718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FB77F304-A47B-4552-A229-05E51DBF0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908143" flipH="1">
                  <a:off x="9459713" y="1725840"/>
                  <a:ext cx="699235" cy="40389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202619B9-7356-4F4A-8602-0BB66D4F71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908143" flipH="1">
                  <a:off x="9923582" y="1634072"/>
                  <a:ext cx="500299" cy="288985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0C617D5E-A550-486D-A42A-6D441E6A9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53625" y="1897568"/>
                  <a:ext cx="354189" cy="101144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62119549-3E7B-48FE-9488-F0BE4F335F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631691" y="1466232"/>
                  <a:ext cx="460717" cy="31233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22CE093A-EE2C-4BC0-AA42-7BFC5E111B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648865" y="2085445"/>
                  <a:ext cx="356508" cy="3393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3480C9F-ADC2-4D92-8928-73B56EF0325B}"/>
                    </a:ext>
                  </a:extLst>
                </p:cNvPr>
                <p:cNvGrpSpPr/>
                <p:nvPr/>
              </p:nvGrpSpPr>
              <p:grpSpPr>
                <a:xfrm>
                  <a:off x="6122902" y="272182"/>
                  <a:ext cx="2419815" cy="1152268"/>
                  <a:chOff x="5092943" y="426993"/>
                  <a:chExt cx="2419815" cy="1152268"/>
                </a:xfrm>
              </p:grpSpPr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8503E1C5-EB06-4566-A1EC-954FFAB3C5BD}"/>
                      </a:ext>
                    </a:extLst>
                  </p:cNvPr>
                  <p:cNvSpPr txBox="1"/>
                  <p:nvPr/>
                </p:nvSpPr>
                <p:spPr>
                  <a:xfrm>
                    <a:off x="5092943" y="1209929"/>
                    <a:ext cx="241981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 dirty="0"/>
                      <a:t>Low Energy</a:t>
                    </a:r>
                  </a:p>
                </p:txBody>
              </p:sp>
              <p:pic>
                <p:nvPicPr>
                  <p:cNvPr id="67" name="Picture 66">
                    <a:extLst>
                      <a:ext uri="{FF2B5EF4-FFF2-40B4-BE49-F238E27FC236}">
                        <a16:creationId xmlns:a16="http://schemas.microsoft.com/office/drawing/2014/main" id="{EA08C5AE-5AD2-4F67-B7D4-75CD6BF1C92C}"/>
                      </a:ext>
                    </a:extLst>
                  </p:cNvPr>
                  <p:cNvPicPr>
                    <a:picLocks/>
                  </p:cNvPicPr>
                  <p:nvPr/>
                </p:nvPicPr>
                <p:blipFill rotWithShape="1">
                  <a:blip r:embed="rId5"/>
                  <a:srcRect l="36883" t="9252" r="55401" b="73628"/>
                  <a:stretch/>
                </p:blipFill>
                <p:spPr>
                  <a:xfrm>
                    <a:off x="5907362" y="426993"/>
                    <a:ext cx="626224" cy="942776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D26C8B90-7674-4FD5-A3AB-F43F86167CB6}"/>
                      </a:ext>
                    </a:extLst>
                  </p:cNvPr>
                  <p:cNvSpPr/>
                  <p:nvPr/>
                </p:nvSpPr>
                <p:spPr>
                  <a:xfrm>
                    <a:off x="6116563" y="1145230"/>
                    <a:ext cx="274320" cy="36576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7CDAA5B0-2ECC-479E-8BB5-B15589513AE4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5"/>
                <a:srcRect l="36883" t="9252" r="55401" b="73628"/>
                <a:stretch/>
              </p:blipFill>
              <p:spPr>
                <a:xfrm>
                  <a:off x="6917041" y="1415913"/>
                  <a:ext cx="626224" cy="942776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61C3F131-B5FB-4342-9B8A-C3A0DF040053}"/>
                    </a:ext>
                  </a:extLst>
                </p:cNvPr>
                <p:cNvSpPr/>
                <p:nvPr/>
              </p:nvSpPr>
              <p:spPr>
                <a:xfrm>
                  <a:off x="7094563" y="1892315"/>
                  <a:ext cx="338328" cy="300977"/>
                </a:xfrm>
                <a:prstGeom prst="rect">
                  <a:avLst/>
                </a:prstGeom>
                <a:solidFill>
                  <a:srgbClr val="C00000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F8BEDC88-3C13-4730-AD51-0895033E7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17317" y="4005119"/>
                  <a:ext cx="109728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EF36B36-4FFF-4BAB-904C-CFA1349E8A7E}"/>
                </a:ext>
              </a:extLst>
            </p:cNvPr>
            <p:cNvGrpSpPr/>
            <p:nvPr/>
          </p:nvGrpSpPr>
          <p:grpSpPr>
            <a:xfrm>
              <a:off x="6984639" y="1390975"/>
              <a:ext cx="3896980" cy="1363648"/>
              <a:chOff x="6736484" y="3166429"/>
              <a:chExt cx="3896980" cy="136364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3AF90E5-0694-49CF-91C4-30D0654EE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5764" y="3166429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D13B9124-82F5-4485-8D21-3ECA049D4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0057" y="3831785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FE244AF-6283-4DF3-AEC5-4E4A86FC2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50584" y="4519443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A071050-E093-4E25-91E6-501372BFD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463" y="3166429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B0412FE-F26D-45CD-95AE-BC1BD0407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463" y="3816399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01C60AA-FEB5-43A5-ABC4-046A8F6D1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463" y="4530077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5B965D1-CA95-4443-878F-F3A90DCAB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0170" y="3166429"/>
                <a:ext cx="36576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CF7506E-22A0-4507-BCD2-61A632B90F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6717" y="4530077"/>
                <a:ext cx="36576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00CF0BF-F2CF-4342-8213-285D6A4228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6484" y="4530077"/>
                <a:ext cx="54864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99CEF02-6778-4E3A-9024-B25EA14EF35B}"/>
              </a:ext>
            </a:extLst>
          </p:cNvPr>
          <p:cNvGrpSpPr/>
          <p:nvPr/>
        </p:nvGrpSpPr>
        <p:grpSpPr>
          <a:xfrm>
            <a:off x="196819" y="262430"/>
            <a:ext cx="5334501" cy="3621541"/>
            <a:chOff x="196819" y="262430"/>
            <a:chExt cx="5334501" cy="362154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54376AC-E9DA-4B3D-963D-B9D3EEA08730}"/>
                </a:ext>
              </a:extLst>
            </p:cNvPr>
            <p:cNvGrpSpPr/>
            <p:nvPr/>
          </p:nvGrpSpPr>
          <p:grpSpPr>
            <a:xfrm>
              <a:off x="196819" y="262430"/>
              <a:ext cx="5334501" cy="3621541"/>
              <a:chOff x="196819" y="262430"/>
              <a:chExt cx="5334501" cy="3621541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23E3B4A9-5824-46A0-8C4D-79B7CE35FAF6}"/>
                  </a:ext>
                </a:extLst>
              </p:cNvPr>
              <p:cNvGrpSpPr/>
              <p:nvPr/>
            </p:nvGrpSpPr>
            <p:grpSpPr>
              <a:xfrm>
                <a:off x="196819" y="262430"/>
                <a:ext cx="5334501" cy="3621541"/>
                <a:chOff x="196819" y="262430"/>
                <a:chExt cx="5334501" cy="3621541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9D320CFD-BE7D-4454-9A8C-971A63623542}"/>
                    </a:ext>
                  </a:extLst>
                </p:cNvPr>
                <p:cNvGrpSpPr/>
                <p:nvPr/>
              </p:nvGrpSpPr>
              <p:grpSpPr>
                <a:xfrm>
                  <a:off x="423329" y="414089"/>
                  <a:ext cx="5107991" cy="3469882"/>
                  <a:chOff x="423329" y="414089"/>
                  <a:chExt cx="5107991" cy="3469882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A7BD4182-00A6-4750-BDCF-9B93955AAD2C}"/>
                      </a:ext>
                    </a:extLst>
                  </p:cNvPr>
                  <p:cNvGrpSpPr/>
                  <p:nvPr/>
                </p:nvGrpSpPr>
                <p:grpSpPr>
                  <a:xfrm>
                    <a:off x="423329" y="414089"/>
                    <a:ext cx="5107991" cy="3469882"/>
                    <a:chOff x="423329" y="414089"/>
                    <a:chExt cx="5107991" cy="3469882"/>
                  </a:xfrm>
                </p:grpSpPr>
                <p:pic>
                  <p:nvPicPr>
                    <p:cNvPr id="55" name="Picture 54">
                      <a:extLst>
                        <a:ext uri="{FF2B5EF4-FFF2-40B4-BE49-F238E27FC236}">
                          <a16:creationId xmlns:a16="http://schemas.microsoft.com/office/drawing/2014/main" id="{C063A030-C59F-4D02-B8A0-0AF055CAEBB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720195" y="414089"/>
                      <a:ext cx="4811125" cy="3469882"/>
                    </a:xfrm>
                    <a:prstGeom prst="rect">
                      <a:avLst/>
                    </a:prstGeom>
                    <a:scene3d>
                      <a:camera prst="perspectiveRelaxed"/>
                      <a:lightRig rig="threePt" dir="t"/>
                    </a:scene3d>
                  </p:spPr>
                </p:pic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0F35EEE5-DB5B-4B6E-94AE-95E9313F24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3329" y="1432521"/>
                      <a:ext cx="1802599" cy="1141204"/>
                      <a:chOff x="413973" y="938824"/>
                      <a:chExt cx="1802599" cy="1141204"/>
                    </a:xfrm>
                  </p:grpSpPr>
                  <p:sp>
                    <p:nvSpPr>
                      <p:cNvPr id="77" name="TextBox 76">
                        <a:extLst>
                          <a:ext uri="{FF2B5EF4-FFF2-40B4-BE49-F238E27FC236}">
                            <a16:creationId xmlns:a16="http://schemas.microsoft.com/office/drawing/2014/main" id="{CA3758CB-BDD3-4580-B364-8A525426985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3973" y="1710696"/>
                        <a:ext cx="1802599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b="1" dirty="0"/>
                          <a:t>Low Stress</a:t>
                        </a:r>
                      </a:p>
                    </p:txBody>
                  </p:sp>
                  <p:pic>
                    <p:nvPicPr>
                      <p:cNvPr id="65" name="Picture 64">
                        <a:extLst>
                          <a:ext uri="{FF2B5EF4-FFF2-40B4-BE49-F238E27FC236}">
                            <a16:creationId xmlns:a16="http://schemas.microsoft.com/office/drawing/2014/main" id="{82D17C27-E503-4FFA-A143-C955E9038F0A}"/>
                          </a:ext>
                        </a:extLst>
                      </p:cNvPr>
                      <p:cNvPicPr>
                        <a:picLocks/>
                      </p:cNvPicPr>
                      <p:nvPr/>
                    </p:nvPicPr>
                    <p:blipFill rotWithShape="1">
                      <a:blip r:embed="rId5"/>
                      <a:srcRect l="36883" t="9252" r="55401" b="73628"/>
                      <a:stretch/>
                    </p:blipFill>
                    <p:spPr>
                      <a:xfrm>
                        <a:off x="975945" y="938824"/>
                        <a:ext cx="626224" cy="942776"/>
                      </a:xfrm>
                      <a:prstGeom prst="rect">
                        <a:avLst/>
                      </a:prstGeom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</p:pic>
                  <p:sp>
                    <p:nvSpPr>
                      <p:cNvPr id="66" name="Rectangle 65">
                        <a:extLst>
                          <a:ext uri="{FF2B5EF4-FFF2-40B4-BE49-F238E27FC236}">
                            <a16:creationId xmlns:a16="http://schemas.microsoft.com/office/drawing/2014/main" id="{977EF809-5846-4A50-8544-A224FF227F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5146" y="1657061"/>
                        <a:ext cx="274320" cy="36576"/>
                      </a:xfrm>
                      <a:prstGeom prst="rect">
                        <a:avLst/>
                      </a:prstGeom>
                      <a:solidFill>
                        <a:srgbClr val="C00000"/>
                      </a:solidFill>
                      <a:ln>
                        <a:solidFill>
                          <a:srgbClr val="C0161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cxnSp>
                <p:nvCxnSpPr>
                  <p:cNvPr id="56" name="Straight Arrow Connector 55">
                    <a:extLst>
                      <a:ext uri="{FF2B5EF4-FFF2-40B4-BE49-F238E27FC236}">
                        <a16:creationId xmlns:a16="http://schemas.microsoft.com/office/drawing/2014/main" id="{9FE35DD1-7F28-4D13-A7A8-CD3B7DD501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62399" y="1463878"/>
                    <a:ext cx="36576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Arrow Connector 56">
                    <a:extLst>
                      <a:ext uri="{FF2B5EF4-FFF2-40B4-BE49-F238E27FC236}">
                        <a16:creationId xmlns:a16="http://schemas.microsoft.com/office/drawing/2014/main" id="{B3A321D2-1283-4DA2-9DC8-D132929E00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373190" y="2897235"/>
                    <a:ext cx="36576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235F5AAE-2901-4C33-ACD4-C784EB5512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72957" y="2897235"/>
                    <a:ext cx="27432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Arrow Connector 58">
                    <a:extLst>
                      <a:ext uri="{FF2B5EF4-FFF2-40B4-BE49-F238E27FC236}">
                        <a16:creationId xmlns:a16="http://schemas.microsoft.com/office/drawing/2014/main" id="{213109A8-F478-4790-BF46-10FC4B1E8C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33297" y="2137172"/>
                    <a:ext cx="64008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Arrow Connector 59">
                    <a:extLst>
                      <a:ext uri="{FF2B5EF4-FFF2-40B4-BE49-F238E27FC236}">
                        <a16:creationId xmlns:a16="http://schemas.microsoft.com/office/drawing/2014/main" id="{41B613FC-B07F-4A82-A596-4C7098A43C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77901" y="2934233"/>
                    <a:ext cx="64008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Arrow Connector 60">
                    <a:extLst>
                      <a:ext uri="{FF2B5EF4-FFF2-40B4-BE49-F238E27FC236}">
                        <a16:creationId xmlns:a16="http://schemas.microsoft.com/office/drawing/2014/main" id="{5BAA4AA0-02A9-4A01-BE2C-927629F2B4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10995" y="1463878"/>
                    <a:ext cx="64008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Arrow Connector 61">
                    <a:extLst>
                      <a:ext uri="{FF2B5EF4-FFF2-40B4-BE49-F238E27FC236}">
                        <a16:creationId xmlns:a16="http://schemas.microsoft.com/office/drawing/2014/main" id="{BFE04B44-0358-44D7-8DB7-5CCB35E005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43979" y="1463878"/>
                    <a:ext cx="91440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Arrow Connector 62">
                    <a:extLst>
                      <a:ext uri="{FF2B5EF4-FFF2-40B4-BE49-F238E27FC236}">
                        <a16:creationId xmlns:a16="http://schemas.microsoft.com/office/drawing/2014/main" id="{7FECBB08-027D-48DC-9700-253529E8DF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451774" y="2137172"/>
                    <a:ext cx="91440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Arrow Connector 63">
                    <a:extLst>
                      <a:ext uri="{FF2B5EF4-FFF2-40B4-BE49-F238E27FC236}">
                        <a16:creationId xmlns:a16="http://schemas.microsoft.com/office/drawing/2014/main" id="{02EAF577-965C-4A79-AEE3-7656DE0F40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616920" y="2956534"/>
                    <a:ext cx="914400" cy="0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8A0F712-F770-452B-91AB-C310B14CC680}"/>
                    </a:ext>
                  </a:extLst>
                </p:cNvPr>
                <p:cNvSpPr txBox="1"/>
                <p:nvPr/>
              </p:nvSpPr>
              <p:spPr>
                <a:xfrm>
                  <a:off x="196819" y="1054284"/>
                  <a:ext cx="241981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Sufficient Energy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F736A141-E002-4CA5-8FED-491A50C968F3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5"/>
                <a:srcRect l="36883" t="9252" r="55401" b="73628"/>
                <a:stretch/>
              </p:blipFill>
              <p:spPr>
                <a:xfrm>
                  <a:off x="1072957" y="262430"/>
                  <a:ext cx="626224" cy="942776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58D130F0-71DF-472C-A5C5-234A2AE54234}"/>
                    </a:ext>
                  </a:extLst>
                </p:cNvPr>
                <p:cNvSpPr/>
                <p:nvPr/>
              </p:nvSpPr>
              <p:spPr>
                <a:xfrm>
                  <a:off x="1250479" y="738832"/>
                  <a:ext cx="338328" cy="300977"/>
                </a:xfrm>
                <a:prstGeom prst="rect">
                  <a:avLst/>
                </a:prstGeom>
                <a:solidFill>
                  <a:srgbClr val="00B050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E10A1DDA-0DAC-4023-AC9E-7F78264A12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1961802" y="1877445"/>
                <a:ext cx="1207040" cy="69721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063DBFDF-C2F6-4BE7-8110-20AEABCA5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77971" y="1423111"/>
                <a:ext cx="576999" cy="45803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45E8C823-7C8D-4C32-8022-3B5243A8A3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1426" y="2188028"/>
              <a:ext cx="356508" cy="3393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6F8D18-0FFD-4A39-A872-3E3EE0140EDF}"/>
              </a:ext>
            </a:extLst>
          </p:cNvPr>
          <p:cNvCxnSpPr>
            <a:cxnSpLocks/>
          </p:cNvCxnSpPr>
          <p:nvPr/>
        </p:nvCxnSpPr>
        <p:spPr>
          <a:xfrm>
            <a:off x="592060" y="3998898"/>
            <a:ext cx="5029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270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081"/>
            <a:ext cx="11353800" cy="1325563"/>
          </a:xfrm>
        </p:spPr>
        <p:txBody>
          <a:bodyPr/>
          <a:lstStyle/>
          <a:p>
            <a:pPr algn="ctr"/>
            <a:r>
              <a:rPr lang="en-US" dirty="0"/>
              <a:t>5. </a:t>
            </a:r>
            <a:r>
              <a:rPr lang="en-US" b="1" dirty="0"/>
              <a:t>While in Rest</a:t>
            </a:r>
            <a:r>
              <a:rPr lang="en-US" dirty="0"/>
              <a:t>: Fish Check for Better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70965-C2DC-4D96-A963-F82D8595F4C9}"/>
                  </a:ext>
                </a:extLst>
              </p:cNvPr>
              <p:cNvSpPr txBox="1"/>
              <p:nvPr/>
            </p:nvSpPr>
            <p:spPr>
              <a:xfrm>
                <a:off x="2865451" y="2077582"/>
                <a:ext cx="7797800" cy="42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Fish remain in </a:t>
                </a:r>
                <a:r>
                  <a:rPr lang="en-US" sz="2000" b="1" dirty="0"/>
                  <a:t>STST</a:t>
                </a:r>
                <a:r>
                  <a:rPr lang="en-US" sz="2000" dirty="0"/>
                  <a:t> until </a:t>
                </a:r>
                <a:r>
                  <a:rPr lang="en-US" sz="2000" b="1" dirty="0"/>
                  <a:t>|</a:t>
                </a:r>
                <a:r>
                  <a:rPr lang="en-US" sz="2000" b="1" i="1" dirty="0"/>
                  <a:t>u</a:t>
                </a:r>
                <a:r>
                  <a:rPr lang="en-US" sz="2000" b="1" dirty="0"/>
                  <a:t>|</a:t>
                </a:r>
                <a:r>
                  <a:rPr lang="en-US" sz="2000" dirty="0"/>
                  <a:t> in the </a:t>
                </a:r>
                <a:r>
                  <a:rPr lang="en-US" sz="2000" b="1" dirty="0"/>
                  <a:t>opposite direction</a:t>
                </a:r>
                <a:r>
                  <a:rPr lang="en-US" sz="2000" dirty="0"/>
                  <a:t> is </a:t>
                </a:r>
                <a:r>
                  <a:rPr lang="en-US" sz="2000" b="1" dirty="0"/>
                  <a:t>&lt;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570965-C2DC-4D96-A963-F82D8595F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51" y="2077582"/>
                <a:ext cx="7797800" cy="429220"/>
              </a:xfrm>
              <a:prstGeom prst="rect">
                <a:avLst/>
              </a:prstGeom>
              <a:blipFill>
                <a:blip r:embed="rId2"/>
                <a:stretch>
                  <a:fillRect l="-782" t="-714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C9ED671C-E30B-4BAE-A936-D1FC8C6BE207}"/>
              </a:ext>
            </a:extLst>
          </p:cNvPr>
          <p:cNvSpPr txBox="1"/>
          <p:nvPr/>
        </p:nvSpPr>
        <p:spPr>
          <a:xfrm>
            <a:off x="2865451" y="3091792"/>
            <a:ext cx="759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Fish remain </a:t>
            </a:r>
            <a:r>
              <a:rPr lang="en-US" sz="2000" b="1" dirty="0"/>
              <a:t>Staging</a:t>
            </a:r>
            <a:r>
              <a:rPr lang="en-US" sz="2000" dirty="0"/>
              <a:t> until </a:t>
            </a:r>
            <a:r>
              <a:rPr lang="en-US" sz="2000" b="1" dirty="0"/>
              <a:t>Stress</a:t>
            </a:r>
            <a:r>
              <a:rPr lang="en-US" sz="2000" dirty="0"/>
              <a:t> is </a:t>
            </a:r>
            <a:r>
              <a:rPr lang="en-US" sz="2000" b="1" dirty="0"/>
              <a:t>&lt;= 10%</a:t>
            </a:r>
            <a:r>
              <a:rPr lang="en-US" sz="2000" dirty="0"/>
              <a:t> and </a:t>
            </a:r>
            <a:r>
              <a:rPr lang="en-US" sz="2000" b="1" dirty="0"/>
              <a:t>Energy</a:t>
            </a:r>
            <a:r>
              <a:rPr lang="en-US" sz="2000" dirty="0"/>
              <a:t> </a:t>
            </a:r>
            <a:r>
              <a:rPr lang="en-US" sz="2000" b="1" dirty="0"/>
              <a:t>&gt;= 75%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473A3-5F1B-4EA0-8959-745DDC452545}"/>
              </a:ext>
            </a:extLst>
          </p:cNvPr>
          <p:cNvSpPr txBox="1"/>
          <p:nvPr/>
        </p:nvSpPr>
        <p:spPr>
          <a:xfrm>
            <a:off x="1332005" y="4565808"/>
            <a:ext cx="10021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Identifies critical recovery thresholds for migratory fish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Pinpoints locations where currents or temperature and salinity fluctuations impose energetic stress.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fisheries management by revealing when and where fish pause most often, and assessing whether these resting zones overlap with areas of high contamination.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3B3F5-5284-49D7-BF69-984A77F2553E}"/>
              </a:ext>
            </a:extLst>
          </p:cNvPr>
          <p:cNvSpPr txBox="1"/>
          <p:nvPr/>
        </p:nvSpPr>
        <p:spPr>
          <a:xfrm>
            <a:off x="1332005" y="4174697"/>
            <a:ext cx="2664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Why it Matters: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ACABA6-87AF-42E8-8745-D6688CA06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451" y="2915959"/>
            <a:ext cx="766999" cy="766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90F76-9440-459E-957E-A53FDAC9D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451" y="1897438"/>
            <a:ext cx="766999" cy="76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54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34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475515"/>
              </p:ext>
            </p:extLst>
          </p:nvPr>
        </p:nvGraphicFramePr>
        <p:xfrm>
          <a:off x="1790366" y="1673906"/>
          <a:ext cx="8611266" cy="304161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305633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4305633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35491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Stress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Related to an fish’s ability to mitigate salinity and temperature stress.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381188"/>
                  </a:ext>
                </a:extLst>
              </a:tr>
              <a:tr h="881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Swimming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193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2566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382412"/>
              </p:ext>
            </p:extLst>
          </p:nvPr>
        </p:nvGraphicFramePr>
        <p:xfrm>
          <a:off x="316169" y="1400547"/>
          <a:ext cx="11559653" cy="478838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69315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2275724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7214614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4320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STST?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When fish switch into passive drift due to unfavorable flow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Staging?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When fish stop active migration to recover from low energy or high stress.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Time-in-STST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Cumulative time fish spend utilizing STST throughout migration.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388528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Time-in-Staging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Cumulative time fish spend staging throughout migration.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97606"/>
                  </a:ext>
                </a:extLst>
              </a:tr>
              <a:tr h="54725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STST-in-Patch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Where in the environment fish most frequently rely on STST behavior.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dirty="0"/>
                        <a:t>Staging-in-Patch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Where fish most often stop to recover based on flow and stress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  <a:tr h="432019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/>
                        <a:t>STST-time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Which locations accumulate the most total time in passive drift.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7786940"/>
                  </a:ext>
                </a:extLst>
              </a:tr>
              <a:tr h="756034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/>
                        <a:t>Staging-time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Which locations accumulate the most total time spent resting or recovering.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404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590550" y="1427956"/>
            <a:ext cx="110109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the triggers for STST or Staging (e.g., high current velocity, low energy, high stress) feel biologically reasonable?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it make sense that fish might rest more in certain areas or times due to hydrodynamics or salinity mismatch?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2000" b="1" dirty="0"/>
              <a:t>Missing Variables, Traits, or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a fish’s species, age, or size affect resting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there missing environmental stressors (e.g., predation, poor habitat quality in resting areas) that could influence resting?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outputs are most useful for identifying critical habitat or management actions (e.g., resting hotspot maps, resting duration, overlap of these spots with contamination)?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it more helpful to track where fish rest or how long they remain in those states?</a:t>
            </a:r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318B-7953-4797-910B-AC7B80D5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43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644E97-2C58-45C4-AF3F-FC40F4B02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641" y="1207348"/>
            <a:ext cx="4147971" cy="2518483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27E8E18-46E0-469E-A1AF-8FDA66BF2856}"/>
              </a:ext>
            </a:extLst>
          </p:cNvPr>
          <p:cNvSpPr/>
          <p:nvPr/>
        </p:nvSpPr>
        <p:spPr>
          <a:xfrm>
            <a:off x="7186805" y="1673761"/>
            <a:ext cx="4080510" cy="1634499"/>
          </a:xfrm>
          <a:custGeom>
            <a:avLst/>
            <a:gdLst>
              <a:gd name="connsiteX0" fmla="*/ 0 w 4080510"/>
              <a:gd name="connsiteY0" fmla="*/ 777245 h 1634499"/>
              <a:gd name="connsiteX1" fmla="*/ 434340 w 4080510"/>
              <a:gd name="connsiteY1" fmla="*/ 5 h 1634499"/>
              <a:gd name="connsiteX2" fmla="*/ 914400 w 4080510"/>
              <a:gd name="connsiteY2" fmla="*/ 765815 h 1634499"/>
              <a:gd name="connsiteX3" fmla="*/ 1497330 w 4080510"/>
              <a:gd name="connsiteY3" fmla="*/ 1634495 h 1634499"/>
              <a:gd name="connsiteX4" fmla="*/ 1805940 w 4080510"/>
              <a:gd name="connsiteY4" fmla="*/ 777245 h 1634499"/>
              <a:gd name="connsiteX5" fmla="*/ 2240280 w 4080510"/>
              <a:gd name="connsiteY5" fmla="*/ 5 h 1634499"/>
              <a:gd name="connsiteX6" fmla="*/ 2686050 w 4080510"/>
              <a:gd name="connsiteY6" fmla="*/ 788675 h 1634499"/>
              <a:gd name="connsiteX7" fmla="*/ 3166110 w 4080510"/>
              <a:gd name="connsiteY7" fmla="*/ 1634495 h 1634499"/>
              <a:gd name="connsiteX8" fmla="*/ 3440430 w 4080510"/>
              <a:gd name="connsiteY8" fmla="*/ 777245 h 1634499"/>
              <a:gd name="connsiteX9" fmla="*/ 3760470 w 4080510"/>
              <a:gd name="connsiteY9" fmla="*/ 5 h 1634499"/>
              <a:gd name="connsiteX10" fmla="*/ 4080510 w 4080510"/>
              <a:gd name="connsiteY10" fmla="*/ 777245 h 16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80510" h="1634499">
                <a:moveTo>
                  <a:pt x="0" y="777245"/>
                </a:moveTo>
                <a:cubicBezTo>
                  <a:pt x="140970" y="389577"/>
                  <a:pt x="281940" y="1910"/>
                  <a:pt x="434340" y="5"/>
                </a:cubicBezTo>
                <a:cubicBezTo>
                  <a:pt x="586740" y="-1900"/>
                  <a:pt x="737235" y="493400"/>
                  <a:pt x="914400" y="765815"/>
                </a:cubicBezTo>
                <a:cubicBezTo>
                  <a:pt x="1091565" y="1038230"/>
                  <a:pt x="1348740" y="1632590"/>
                  <a:pt x="1497330" y="1634495"/>
                </a:cubicBezTo>
                <a:cubicBezTo>
                  <a:pt x="1645920" y="1636400"/>
                  <a:pt x="1682115" y="1049660"/>
                  <a:pt x="1805940" y="777245"/>
                </a:cubicBezTo>
                <a:cubicBezTo>
                  <a:pt x="1929765" y="504830"/>
                  <a:pt x="2093595" y="-1900"/>
                  <a:pt x="2240280" y="5"/>
                </a:cubicBezTo>
                <a:cubicBezTo>
                  <a:pt x="2386965" y="1910"/>
                  <a:pt x="2531745" y="516260"/>
                  <a:pt x="2686050" y="788675"/>
                </a:cubicBezTo>
                <a:cubicBezTo>
                  <a:pt x="2840355" y="1061090"/>
                  <a:pt x="3040380" y="1636400"/>
                  <a:pt x="3166110" y="1634495"/>
                </a:cubicBezTo>
                <a:cubicBezTo>
                  <a:pt x="3291840" y="1632590"/>
                  <a:pt x="3341370" y="1049660"/>
                  <a:pt x="3440430" y="777245"/>
                </a:cubicBezTo>
                <a:cubicBezTo>
                  <a:pt x="3539490" y="504830"/>
                  <a:pt x="3653790" y="5"/>
                  <a:pt x="3760470" y="5"/>
                </a:cubicBezTo>
                <a:cubicBezTo>
                  <a:pt x="3867150" y="5"/>
                  <a:pt x="3973830" y="388625"/>
                  <a:pt x="4080510" y="777245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2E18E-CCCC-4900-BC6B-673440F0A892}"/>
              </a:ext>
            </a:extLst>
          </p:cNvPr>
          <p:cNvSpPr txBox="1"/>
          <p:nvPr/>
        </p:nvSpPr>
        <p:spPr>
          <a:xfrm>
            <a:off x="6814448" y="114666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47AA3-CEB5-4D7A-9D78-C9B73F2D7BB2}"/>
              </a:ext>
            </a:extLst>
          </p:cNvPr>
          <p:cNvSpPr txBox="1"/>
          <p:nvPr/>
        </p:nvSpPr>
        <p:spPr>
          <a:xfrm>
            <a:off x="11099020" y="2456715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</a:t>
            </a:r>
            <a:endParaRPr lang="en-US" sz="1400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86251-0B1F-464C-94BD-02B3FFD849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77" r="7513"/>
          <a:stretch/>
        </p:blipFill>
        <p:spPr>
          <a:xfrm>
            <a:off x="7209102" y="1584916"/>
            <a:ext cx="4080510" cy="883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D514D9-338F-4D9E-9C59-DC762E424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981" y="2124343"/>
            <a:ext cx="3579521" cy="1997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05D18C-C223-4FB3-9D6C-CCFBE8484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03" y="1246777"/>
            <a:ext cx="4147971" cy="2518483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CDA6835-1978-4968-AA00-BEDAB9E314F6}"/>
              </a:ext>
            </a:extLst>
          </p:cNvPr>
          <p:cNvSpPr/>
          <p:nvPr/>
        </p:nvSpPr>
        <p:spPr>
          <a:xfrm>
            <a:off x="1322567" y="1713190"/>
            <a:ext cx="4080510" cy="1634499"/>
          </a:xfrm>
          <a:custGeom>
            <a:avLst/>
            <a:gdLst>
              <a:gd name="connsiteX0" fmla="*/ 0 w 4080510"/>
              <a:gd name="connsiteY0" fmla="*/ 777245 h 1634499"/>
              <a:gd name="connsiteX1" fmla="*/ 434340 w 4080510"/>
              <a:gd name="connsiteY1" fmla="*/ 5 h 1634499"/>
              <a:gd name="connsiteX2" fmla="*/ 914400 w 4080510"/>
              <a:gd name="connsiteY2" fmla="*/ 765815 h 1634499"/>
              <a:gd name="connsiteX3" fmla="*/ 1497330 w 4080510"/>
              <a:gd name="connsiteY3" fmla="*/ 1634495 h 1634499"/>
              <a:gd name="connsiteX4" fmla="*/ 1805940 w 4080510"/>
              <a:gd name="connsiteY4" fmla="*/ 777245 h 1634499"/>
              <a:gd name="connsiteX5" fmla="*/ 2240280 w 4080510"/>
              <a:gd name="connsiteY5" fmla="*/ 5 h 1634499"/>
              <a:gd name="connsiteX6" fmla="*/ 2686050 w 4080510"/>
              <a:gd name="connsiteY6" fmla="*/ 788675 h 1634499"/>
              <a:gd name="connsiteX7" fmla="*/ 3166110 w 4080510"/>
              <a:gd name="connsiteY7" fmla="*/ 1634495 h 1634499"/>
              <a:gd name="connsiteX8" fmla="*/ 3440430 w 4080510"/>
              <a:gd name="connsiteY8" fmla="*/ 777245 h 1634499"/>
              <a:gd name="connsiteX9" fmla="*/ 3760470 w 4080510"/>
              <a:gd name="connsiteY9" fmla="*/ 5 h 1634499"/>
              <a:gd name="connsiteX10" fmla="*/ 4080510 w 4080510"/>
              <a:gd name="connsiteY10" fmla="*/ 777245 h 16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80510" h="1634499">
                <a:moveTo>
                  <a:pt x="0" y="777245"/>
                </a:moveTo>
                <a:cubicBezTo>
                  <a:pt x="140970" y="389577"/>
                  <a:pt x="281940" y="1910"/>
                  <a:pt x="434340" y="5"/>
                </a:cubicBezTo>
                <a:cubicBezTo>
                  <a:pt x="586740" y="-1900"/>
                  <a:pt x="737235" y="493400"/>
                  <a:pt x="914400" y="765815"/>
                </a:cubicBezTo>
                <a:cubicBezTo>
                  <a:pt x="1091565" y="1038230"/>
                  <a:pt x="1348740" y="1632590"/>
                  <a:pt x="1497330" y="1634495"/>
                </a:cubicBezTo>
                <a:cubicBezTo>
                  <a:pt x="1645920" y="1636400"/>
                  <a:pt x="1682115" y="1049660"/>
                  <a:pt x="1805940" y="777245"/>
                </a:cubicBezTo>
                <a:cubicBezTo>
                  <a:pt x="1929765" y="504830"/>
                  <a:pt x="2093595" y="-1900"/>
                  <a:pt x="2240280" y="5"/>
                </a:cubicBezTo>
                <a:cubicBezTo>
                  <a:pt x="2386965" y="1910"/>
                  <a:pt x="2531745" y="516260"/>
                  <a:pt x="2686050" y="788675"/>
                </a:cubicBezTo>
                <a:cubicBezTo>
                  <a:pt x="2840355" y="1061090"/>
                  <a:pt x="3040380" y="1636400"/>
                  <a:pt x="3166110" y="1634495"/>
                </a:cubicBezTo>
                <a:cubicBezTo>
                  <a:pt x="3291840" y="1632590"/>
                  <a:pt x="3341370" y="1049660"/>
                  <a:pt x="3440430" y="777245"/>
                </a:cubicBezTo>
                <a:cubicBezTo>
                  <a:pt x="3539490" y="504830"/>
                  <a:pt x="3653790" y="5"/>
                  <a:pt x="3760470" y="5"/>
                </a:cubicBezTo>
                <a:cubicBezTo>
                  <a:pt x="3867150" y="5"/>
                  <a:pt x="3973830" y="388625"/>
                  <a:pt x="4080510" y="777245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A0526A-ED83-4D0D-B1A8-B5A66517340E}"/>
              </a:ext>
            </a:extLst>
          </p:cNvPr>
          <p:cNvSpPr txBox="1"/>
          <p:nvPr/>
        </p:nvSpPr>
        <p:spPr>
          <a:xfrm>
            <a:off x="950210" y="118608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8B1574-5C74-4784-8376-964DA1AF2789}"/>
              </a:ext>
            </a:extLst>
          </p:cNvPr>
          <p:cNvSpPr txBox="1"/>
          <p:nvPr/>
        </p:nvSpPr>
        <p:spPr>
          <a:xfrm>
            <a:off x="5234782" y="2496144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</a:t>
            </a:r>
            <a:endParaRPr lang="en-US" sz="1400" b="1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3DABED-42AE-479C-B17E-AEA2D774BA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542" r="8969"/>
          <a:stretch/>
        </p:blipFill>
        <p:spPr>
          <a:xfrm>
            <a:off x="1359643" y="1596458"/>
            <a:ext cx="4043434" cy="8900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7C1A86-6E89-4BBA-B28F-C3A2A25DA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981" y="4075512"/>
            <a:ext cx="4676037" cy="26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16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33287AF2-A938-48C3-A676-555ADF455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460587"/>
              </p:ext>
            </p:extLst>
          </p:nvPr>
        </p:nvGraphicFramePr>
        <p:xfrm>
          <a:off x="-1321136" y="1020889"/>
          <a:ext cx="7654066" cy="4196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438">
                  <a:extLst>
                    <a:ext uri="{9D8B030D-6E8A-4147-A177-3AD203B41FA5}">
                      <a16:colId xmlns:a16="http://schemas.microsoft.com/office/drawing/2014/main" val="380566682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782083904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81024897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548327721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52358378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32195985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029820615"/>
                    </a:ext>
                  </a:extLst>
                </a:gridCol>
              </a:tblGrid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67338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6285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80412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020853"/>
                  </a:ext>
                </a:extLst>
              </a:tr>
            </a:tbl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935C1DA-FF5E-45AC-A25B-BCFD6BB69D5C}"/>
              </a:ext>
            </a:extLst>
          </p:cNvPr>
          <p:cNvGrpSpPr/>
          <p:nvPr/>
        </p:nvGrpSpPr>
        <p:grpSpPr>
          <a:xfrm>
            <a:off x="2335689" y="1383020"/>
            <a:ext cx="7539387" cy="4180704"/>
            <a:chOff x="2335689" y="1383020"/>
            <a:chExt cx="7539387" cy="418070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040C17-43C3-4664-A185-8624EC051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5689" y="138621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E86FD4E-8371-4D8F-9099-9926BAA6CF70}"/>
                </a:ext>
              </a:extLst>
            </p:cNvPr>
            <p:cNvGrpSpPr/>
            <p:nvPr/>
          </p:nvGrpSpPr>
          <p:grpSpPr>
            <a:xfrm>
              <a:off x="2813440" y="1827966"/>
              <a:ext cx="460094" cy="522908"/>
              <a:chOff x="4627659" y="2411124"/>
              <a:chExt cx="3729162" cy="393623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6C7E14C-38E6-43F6-B073-EFDB65D839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90B70E52-9864-40F7-B8C1-F818148A8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4A2D920-5A15-4010-B55D-0C951DAAF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1523" y="247753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B2ED24D-2237-4130-AD5B-A8E6D7DBAF29}"/>
                </a:ext>
              </a:extLst>
            </p:cNvPr>
            <p:cNvGrpSpPr/>
            <p:nvPr/>
          </p:nvGrpSpPr>
          <p:grpSpPr>
            <a:xfrm>
              <a:off x="2849274" y="2919283"/>
              <a:ext cx="460094" cy="522908"/>
              <a:chOff x="4627659" y="2411124"/>
              <a:chExt cx="3729162" cy="3936234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D8EEFFD-BE0A-4F67-8509-45899EE92FC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680E041-6729-4AAC-B095-208C071A9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CB5FA1D-3B95-4086-A55A-AFCF1A0CA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5689" y="349521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D3DE27D-F007-4A5B-8F0A-98C2F8463F69}"/>
                </a:ext>
              </a:extLst>
            </p:cNvPr>
            <p:cNvGrpSpPr/>
            <p:nvPr/>
          </p:nvGrpSpPr>
          <p:grpSpPr>
            <a:xfrm>
              <a:off x="2813440" y="3936958"/>
              <a:ext cx="460094" cy="522908"/>
              <a:chOff x="4627659" y="2411124"/>
              <a:chExt cx="3729162" cy="3936234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720E4732-DC20-4D2F-9213-F706ED66F4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8FA7567-A5AD-49A6-94F6-E67ACC06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15CCC5D-34A6-4FBD-AF1A-2ABF66D06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5689" y="4549136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A847B52-3100-4866-AC6B-8B1D26032F84}"/>
                </a:ext>
              </a:extLst>
            </p:cNvPr>
            <p:cNvGrpSpPr/>
            <p:nvPr/>
          </p:nvGrpSpPr>
          <p:grpSpPr>
            <a:xfrm>
              <a:off x="2813440" y="4990884"/>
              <a:ext cx="460094" cy="522908"/>
              <a:chOff x="4627659" y="2411124"/>
              <a:chExt cx="3729162" cy="3936234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7972385-886E-4F3C-8CA1-FC193EF98A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7B1879C-B7B8-49DB-882D-A5578B49B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8BBFB88-9D8B-4E0A-82BD-A599EB5F6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0197" y="138621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51711EF-DD85-423F-8D41-B3E377FCC995}"/>
                </a:ext>
              </a:extLst>
            </p:cNvPr>
            <p:cNvGrpSpPr/>
            <p:nvPr/>
          </p:nvGrpSpPr>
          <p:grpSpPr>
            <a:xfrm>
              <a:off x="3927948" y="1827966"/>
              <a:ext cx="460094" cy="522908"/>
              <a:chOff x="4627659" y="2411124"/>
              <a:chExt cx="3729162" cy="3936234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4243C73E-1952-4548-944B-EA87F21422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25B09AAC-7272-437B-939E-DEB82F44F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091AF45-0A81-4D0B-BD92-B231C25FD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855" y="2434819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A222A85-D498-4BE8-8444-AEA633204396}"/>
                </a:ext>
              </a:extLst>
            </p:cNvPr>
            <p:cNvGrpSpPr/>
            <p:nvPr/>
          </p:nvGrpSpPr>
          <p:grpSpPr>
            <a:xfrm>
              <a:off x="3945606" y="2876567"/>
              <a:ext cx="460094" cy="522908"/>
              <a:chOff x="4627659" y="2411124"/>
              <a:chExt cx="3729162" cy="3936234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81C87293-8898-4901-9ACF-F79B6CF214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F2AA8C81-B5EB-4671-89C7-425AC123C5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6550F2F-087C-44E5-9918-6EF09D6C1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855" y="3522106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C9D153D-BBD9-48A7-ADBF-A4278817BFD2}"/>
                </a:ext>
              </a:extLst>
            </p:cNvPr>
            <p:cNvGrpSpPr/>
            <p:nvPr/>
          </p:nvGrpSpPr>
          <p:grpSpPr>
            <a:xfrm>
              <a:off x="3945606" y="3963854"/>
              <a:ext cx="460094" cy="522908"/>
              <a:chOff x="4627659" y="2411124"/>
              <a:chExt cx="3729162" cy="3936234"/>
            </a:xfrm>
          </p:grpSpPr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ADCD544C-8057-477D-974A-B3D24D2DF5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DA306D9E-6C98-458E-AAE8-E3D4223852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621D17F-8237-43B6-B334-8AB463FB8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7724" y="4563343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DF9D09C-FABC-4E34-91AA-78C954D33567}"/>
                </a:ext>
              </a:extLst>
            </p:cNvPr>
            <p:cNvGrpSpPr/>
            <p:nvPr/>
          </p:nvGrpSpPr>
          <p:grpSpPr>
            <a:xfrm>
              <a:off x="3905475" y="5005091"/>
              <a:ext cx="460094" cy="522908"/>
              <a:chOff x="4627659" y="2411124"/>
              <a:chExt cx="3729162" cy="3936234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C7DEC88D-341E-46A4-B928-D19E1D29E0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CD7A39FE-4C33-4AF8-8D85-A3D15FD795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DF2D058-0F0B-4526-B573-A4C5A4B1D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4056" y="1421943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93E7E8E-FF10-4586-A619-DA44BBA485E0}"/>
                </a:ext>
              </a:extLst>
            </p:cNvPr>
            <p:cNvGrpSpPr/>
            <p:nvPr/>
          </p:nvGrpSpPr>
          <p:grpSpPr>
            <a:xfrm>
              <a:off x="5001807" y="1863691"/>
              <a:ext cx="460094" cy="522908"/>
              <a:chOff x="4627659" y="2411124"/>
              <a:chExt cx="3729162" cy="3936234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27964433-6842-4D6A-ADFE-5859BD3344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9BC4909D-F3B2-464C-AFC3-88286E8FD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221C9D39-CE59-4CF9-A9D5-B77C701C2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1714" y="2470544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D35D886-AF96-45D8-8225-72AD11E31A64}"/>
                </a:ext>
              </a:extLst>
            </p:cNvPr>
            <p:cNvGrpSpPr/>
            <p:nvPr/>
          </p:nvGrpSpPr>
          <p:grpSpPr>
            <a:xfrm>
              <a:off x="5019465" y="2912292"/>
              <a:ext cx="460094" cy="522908"/>
              <a:chOff x="4627659" y="2411124"/>
              <a:chExt cx="3729162" cy="3936234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F8FE7078-50B0-48DE-B1FC-BE7110E96E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39828C9C-0151-4096-88CF-155F9E91C7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E1274A1-2025-4763-9A41-ADB0B4F64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1714" y="355783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7E90E1C-20AA-454B-8AE1-022B65401AB4}"/>
                </a:ext>
              </a:extLst>
            </p:cNvPr>
            <p:cNvGrpSpPr/>
            <p:nvPr/>
          </p:nvGrpSpPr>
          <p:grpSpPr>
            <a:xfrm>
              <a:off x="5019465" y="3999579"/>
              <a:ext cx="460094" cy="522908"/>
              <a:chOff x="4627659" y="2411124"/>
              <a:chExt cx="3729162" cy="393623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5B6BFEEB-D73B-4F49-B4A2-104F64D06A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C0DFC2EE-4C9E-4F2D-A534-900AEF6FC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7F265E3-3BDA-4F5D-BFC3-5F1C77898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1583" y="459906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484983C-E863-4670-A356-49903EBAA6FB}"/>
                </a:ext>
              </a:extLst>
            </p:cNvPr>
            <p:cNvGrpSpPr/>
            <p:nvPr/>
          </p:nvGrpSpPr>
          <p:grpSpPr>
            <a:xfrm>
              <a:off x="4979334" y="5040816"/>
              <a:ext cx="460094" cy="522908"/>
              <a:chOff x="4627659" y="2411124"/>
              <a:chExt cx="3729162" cy="3936234"/>
            </a:xfrm>
          </p:grpSpPr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B16864D8-751C-4831-9F51-49F261A891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8B481179-3FB5-4165-A6E3-275A1D7260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A256131-BC26-4A0F-A619-937B588BA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46573" y="138708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20C9AEC-1BEC-4EE1-9027-18535C4B59C3}"/>
                </a:ext>
              </a:extLst>
            </p:cNvPr>
            <p:cNvGrpSpPr/>
            <p:nvPr/>
          </p:nvGrpSpPr>
          <p:grpSpPr>
            <a:xfrm>
              <a:off x="6124324" y="1828828"/>
              <a:ext cx="460094" cy="522908"/>
              <a:chOff x="4627659" y="2411124"/>
              <a:chExt cx="3729162" cy="3936234"/>
            </a:xfrm>
          </p:grpSpPr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28D24D86-3CC9-461A-9E59-214CE60A79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E1B00549-DE41-4014-A142-60AD28F5C3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D5A9162-2422-45B9-9C7A-8C7E8978E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4231" y="243568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3AEE6CE-34C2-44E5-B7E0-B5DF6CF19048}"/>
                </a:ext>
              </a:extLst>
            </p:cNvPr>
            <p:cNvGrpSpPr/>
            <p:nvPr/>
          </p:nvGrpSpPr>
          <p:grpSpPr>
            <a:xfrm>
              <a:off x="6141982" y="2877429"/>
              <a:ext cx="460094" cy="522908"/>
              <a:chOff x="4627659" y="2411124"/>
              <a:chExt cx="3729162" cy="3936234"/>
            </a:xfrm>
          </p:grpSpPr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C3CBD5FF-CA33-4C89-8706-6E19C80122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ECEF049A-2837-40A5-B36B-F09A5B3800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C2C0198-2CB3-435D-AF93-B9413AA9D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4231" y="352296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69D3C39-2440-4262-ADA7-77D0898026CB}"/>
                </a:ext>
              </a:extLst>
            </p:cNvPr>
            <p:cNvGrpSpPr/>
            <p:nvPr/>
          </p:nvGrpSpPr>
          <p:grpSpPr>
            <a:xfrm>
              <a:off x="6141982" y="3964716"/>
              <a:ext cx="460094" cy="522908"/>
              <a:chOff x="4627659" y="2411124"/>
              <a:chExt cx="3729162" cy="3936234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0035CCAD-0C0B-4855-946A-C2DB1DD0A0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B23BBFF8-8682-45F5-B8F1-D1734A81D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7F98FC0-FC70-42B5-B3D9-0B157ED1D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4100" y="456420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F35B58A-001B-4EE6-87B1-BFC741EDE53C}"/>
                </a:ext>
              </a:extLst>
            </p:cNvPr>
            <p:cNvGrpSpPr/>
            <p:nvPr/>
          </p:nvGrpSpPr>
          <p:grpSpPr>
            <a:xfrm>
              <a:off x="6101851" y="5005953"/>
              <a:ext cx="460094" cy="522908"/>
              <a:chOff x="4627659" y="2411124"/>
              <a:chExt cx="3729162" cy="3936234"/>
            </a:xfrm>
          </p:grpSpPr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470F787-5F28-44DF-9D2A-1DC6943794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9DC3D6DF-4443-4933-8A59-BE8C73CB5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0A60233-5DA3-4288-853D-2AE49FE4F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5670" y="138302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9757570B-305A-4E91-A213-3B5E662A83D5}"/>
                </a:ext>
              </a:extLst>
            </p:cNvPr>
            <p:cNvGrpSpPr/>
            <p:nvPr/>
          </p:nvGrpSpPr>
          <p:grpSpPr>
            <a:xfrm>
              <a:off x="7223421" y="1824768"/>
              <a:ext cx="460094" cy="522908"/>
              <a:chOff x="4627659" y="2411124"/>
              <a:chExt cx="3729162" cy="3936234"/>
            </a:xfrm>
          </p:grpSpPr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EC5226C3-D67C-4C05-8633-4665FBA1F9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DCBE17F0-214A-4E88-9AEB-81146BC18E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EEC9A9C-FEDC-4D35-8576-9F06495DC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3328" y="243162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EE8E429-A02F-41EB-8608-2AEE70B3D112}"/>
                </a:ext>
              </a:extLst>
            </p:cNvPr>
            <p:cNvGrpSpPr/>
            <p:nvPr/>
          </p:nvGrpSpPr>
          <p:grpSpPr>
            <a:xfrm>
              <a:off x="7241079" y="2873369"/>
              <a:ext cx="460094" cy="522908"/>
              <a:chOff x="4627659" y="2411124"/>
              <a:chExt cx="3729162" cy="3936234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5A900C8F-8E71-406C-990D-3051CB3B2F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D9C08CC3-1F2F-45B4-AB76-81476AB09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8424BC1-A534-4F81-82BA-C030A8F37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3328" y="351890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3331113-4C4F-4EF5-89AC-FB46245345A9}"/>
                </a:ext>
              </a:extLst>
            </p:cNvPr>
            <p:cNvGrpSpPr/>
            <p:nvPr/>
          </p:nvGrpSpPr>
          <p:grpSpPr>
            <a:xfrm>
              <a:off x="7241079" y="3960656"/>
              <a:ext cx="460094" cy="522908"/>
              <a:chOff x="4627659" y="2411124"/>
              <a:chExt cx="3729162" cy="3936234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C5D0BBBC-118A-4332-8EF3-6A4229975F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F1EC1A08-9B03-4F60-9DC0-ED244EB719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4D1383EE-CCE7-4A30-A046-5CD7F5EFE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23197" y="456014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808E287-8376-495B-921F-884028905E1F}"/>
                </a:ext>
              </a:extLst>
            </p:cNvPr>
            <p:cNvGrpSpPr/>
            <p:nvPr/>
          </p:nvGrpSpPr>
          <p:grpSpPr>
            <a:xfrm>
              <a:off x="7200948" y="5001893"/>
              <a:ext cx="460094" cy="522908"/>
              <a:chOff x="4627659" y="2411124"/>
              <a:chExt cx="3729162" cy="3936234"/>
            </a:xfrm>
          </p:grpSpPr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5C2D0E57-B93A-40D5-B4CA-6510099D97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252F2685-91EB-47A5-B8BB-338CA0E22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47DD7733-83A3-4C13-A9E0-AFD38C0DE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45363" y="138302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EECBAFF-7A65-43BE-8571-70A40694FFF1}"/>
                </a:ext>
              </a:extLst>
            </p:cNvPr>
            <p:cNvGrpSpPr/>
            <p:nvPr/>
          </p:nvGrpSpPr>
          <p:grpSpPr>
            <a:xfrm>
              <a:off x="8323114" y="1824768"/>
              <a:ext cx="460094" cy="522908"/>
              <a:chOff x="4627659" y="2411124"/>
              <a:chExt cx="3729162" cy="3936234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CBB04A22-83E4-4CFB-BD0D-7D4DF74349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FD97DA47-FC6C-42A7-897D-0E03DF423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EDA7CC7F-F930-4D7C-9828-5F562681C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63021" y="243162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3475CB9-DFEC-4F51-8DD5-18DA1A14AE55}"/>
                </a:ext>
              </a:extLst>
            </p:cNvPr>
            <p:cNvGrpSpPr/>
            <p:nvPr/>
          </p:nvGrpSpPr>
          <p:grpSpPr>
            <a:xfrm>
              <a:off x="8340772" y="2873369"/>
              <a:ext cx="460094" cy="522908"/>
              <a:chOff x="4627659" y="2411124"/>
              <a:chExt cx="3729162" cy="3936234"/>
            </a:xfrm>
          </p:grpSpPr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0FE615D2-0AB5-4605-A60F-E9DD2A11CC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7830EED-4F7E-48CA-8418-BBB95F9BEB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A36F4E48-F385-46BC-8784-071F4F8C9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63021" y="351890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91BF76AF-7DF6-4C70-A7A3-045CFA6A1459}"/>
                </a:ext>
              </a:extLst>
            </p:cNvPr>
            <p:cNvGrpSpPr/>
            <p:nvPr/>
          </p:nvGrpSpPr>
          <p:grpSpPr>
            <a:xfrm>
              <a:off x="8340772" y="3960656"/>
              <a:ext cx="460094" cy="522908"/>
              <a:chOff x="4627659" y="2411124"/>
              <a:chExt cx="3729162" cy="3936234"/>
            </a:xfrm>
          </p:grpSpPr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4F5985A2-573A-44F9-B5D3-FBA2F7B503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4E5F3E90-C919-4391-9B8C-AB55686416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C73652C0-BA62-4B42-B96C-2B2D8E51A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2890" y="456014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ECDF9658-A68D-4642-85A0-B4B1D86B9D97}"/>
                </a:ext>
              </a:extLst>
            </p:cNvPr>
            <p:cNvGrpSpPr/>
            <p:nvPr/>
          </p:nvGrpSpPr>
          <p:grpSpPr>
            <a:xfrm>
              <a:off x="8300641" y="5001893"/>
              <a:ext cx="460094" cy="522908"/>
              <a:chOff x="4627659" y="2411124"/>
              <a:chExt cx="3729162" cy="3936234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CD62DC7C-FC06-4C68-8503-B88313BF7F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5" name="Picture 114">
                <a:extLst>
                  <a:ext uri="{FF2B5EF4-FFF2-40B4-BE49-F238E27FC236}">
                    <a16:creationId xmlns:a16="http://schemas.microsoft.com/office/drawing/2014/main" id="{E2F6EA4D-3D5C-4D52-9909-B1F7EC8CC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7E324470-7CBF-4D31-8968-809FD29D6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9573" y="140359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F00B982-A48E-4217-9CAA-F3D5547A2645}"/>
                </a:ext>
              </a:extLst>
            </p:cNvPr>
            <p:cNvGrpSpPr/>
            <p:nvPr/>
          </p:nvGrpSpPr>
          <p:grpSpPr>
            <a:xfrm>
              <a:off x="9397324" y="1845346"/>
              <a:ext cx="460094" cy="522908"/>
              <a:chOff x="4627659" y="2411124"/>
              <a:chExt cx="3729162" cy="3936234"/>
            </a:xfrm>
          </p:grpSpPr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933BEDDE-50D9-4DB4-8531-FDFB231B11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54ABB287-7494-4C7C-88E9-393D9470C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DCBF1F2B-9463-44FE-9E0B-0B0DC2CFF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37231" y="2452199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07FBFDAE-ACC5-41E4-A79C-DAF20684E583}"/>
                </a:ext>
              </a:extLst>
            </p:cNvPr>
            <p:cNvGrpSpPr/>
            <p:nvPr/>
          </p:nvGrpSpPr>
          <p:grpSpPr>
            <a:xfrm>
              <a:off x="9414982" y="2893947"/>
              <a:ext cx="460094" cy="522908"/>
              <a:chOff x="4627659" y="2411124"/>
              <a:chExt cx="3729162" cy="3936234"/>
            </a:xfrm>
          </p:grpSpPr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2258C680-3DC3-4702-BD02-ECF468182F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7FBC0355-5F35-4C28-B4C1-21010A3D9E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94AEBFF-60F0-4E43-BA5C-B69D6B878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37231" y="3539486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E2B28FF3-F6E4-44E7-97BD-6DE5627BFECD}"/>
                </a:ext>
              </a:extLst>
            </p:cNvPr>
            <p:cNvGrpSpPr/>
            <p:nvPr/>
          </p:nvGrpSpPr>
          <p:grpSpPr>
            <a:xfrm>
              <a:off x="9414982" y="3981234"/>
              <a:ext cx="460094" cy="522908"/>
              <a:chOff x="4627659" y="2411124"/>
              <a:chExt cx="3729162" cy="3936234"/>
            </a:xfrm>
          </p:grpSpPr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606D6559-1F33-4CF7-8418-57D9F2216D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27" name="Picture 126">
                <a:extLst>
                  <a:ext uri="{FF2B5EF4-FFF2-40B4-BE49-F238E27FC236}">
                    <a16:creationId xmlns:a16="http://schemas.microsoft.com/office/drawing/2014/main" id="{33919BAA-883F-4BFD-A511-4AC59D0915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BB501C07-BF6E-402E-9E40-026C446F2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7100" y="4580723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8205BB37-85C9-4C63-B078-DCF9361781DD}"/>
                </a:ext>
              </a:extLst>
            </p:cNvPr>
            <p:cNvGrpSpPr/>
            <p:nvPr/>
          </p:nvGrpSpPr>
          <p:grpSpPr>
            <a:xfrm>
              <a:off x="9374851" y="5022471"/>
              <a:ext cx="460094" cy="522908"/>
              <a:chOff x="4627659" y="2411124"/>
              <a:chExt cx="3729162" cy="3936234"/>
            </a:xfrm>
          </p:grpSpPr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EC3C14C2-A663-4BC4-89D5-38FD28046A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8225C682-30F8-4D9D-8EFF-D1E3C5F14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</p:grpSp>
      <p:graphicFrame>
        <p:nvGraphicFramePr>
          <p:cNvPr id="134" name="Table 4">
            <a:extLst>
              <a:ext uri="{FF2B5EF4-FFF2-40B4-BE49-F238E27FC236}">
                <a16:creationId xmlns:a16="http://schemas.microsoft.com/office/drawing/2014/main" id="{EFA03101-FA30-42F9-9B41-4DAC4E912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753232"/>
              </p:ext>
            </p:extLst>
          </p:nvPr>
        </p:nvGraphicFramePr>
        <p:xfrm>
          <a:off x="3708388" y="2452199"/>
          <a:ext cx="4373752" cy="314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438">
                  <a:extLst>
                    <a:ext uri="{9D8B030D-6E8A-4147-A177-3AD203B41FA5}">
                      <a16:colId xmlns:a16="http://schemas.microsoft.com/office/drawing/2014/main" val="380566682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782083904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81024897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548327721"/>
                    </a:ext>
                  </a:extLst>
                </a:gridCol>
              </a:tblGrid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6285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80412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02085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8F380BA-377D-4073-B15A-7502DDB76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892" y="1062505"/>
            <a:ext cx="4395597" cy="3170195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160857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031167" y="2091821"/>
                <a:ext cx="5881670" cy="3774513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/>
                  <a:t>🧠 </a:t>
                </a:r>
                <a:r>
                  <a:rPr lang="en-US" sz="1600" b="1" dirty="0"/>
                  <a:t>Stress</a:t>
                </a:r>
                <a:br>
                  <a:rPr lang="en-US" sz="1600" dirty="0"/>
                </a:br>
                <a:r>
                  <a:rPr lang="en-US" sz="1600" dirty="0"/>
                  <a:t>The level of stress experienced by the fish due to salinity or temperature mismatch.</a:t>
                </a:r>
              </a:p>
              <a:p>
                <a:r>
                  <a:rPr lang="en-US" sz="1800" dirty="0"/>
                  <a:t>🔋</a:t>
                </a:r>
                <a:r>
                  <a:rPr lang="en-US" sz="1600" dirty="0"/>
                  <a:t> </a:t>
                </a:r>
                <a:r>
                  <a:rPr lang="en-US" sz="1600" b="1" dirty="0"/>
                  <a:t>Energy</a:t>
                </a:r>
                <a:br>
                  <a:rPr lang="en-US" sz="1600" dirty="0"/>
                </a:br>
                <a:r>
                  <a:rPr lang="en-US" sz="1600" dirty="0"/>
                  <a:t>The amount energy the fish uses to swim, recover, and regulate bodily functions. </a:t>
                </a:r>
              </a:p>
              <a:p>
                <a:r>
                  <a:rPr lang="en-US" sz="1800" dirty="0"/>
                  <a:t>⏱️</a:t>
                </a:r>
                <a:r>
                  <a:rPr lang="en-US" sz="1600" b="1" dirty="0"/>
                  <a:t>Swimming Speed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br>
                  <a:rPr lang="en-US" sz="1600" dirty="0"/>
                </a:br>
                <a:r>
                  <a:rPr lang="en-US" sz="1600" dirty="0"/>
                  <a:t>The swimming speed of a fish, which determines whether it can resist the current or must drift.</a:t>
                </a:r>
              </a:p>
              <a:p>
                <a:r>
                  <a:rPr lang="en-US" sz="1800" dirty="0"/>
                  <a:t>💤</a:t>
                </a:r>
                <a:r>
                  <a:rPr lang="en-US" sz="1600" dirty="0"/>
                  <a:t> </a:t>
                </a:r>
                <a:r>
                  <a:rPr lang="en-US" sz="1600" b="1" dirty="0"/>
                  <a:t>Staging?</a:t>
                </a:r>
                <a:br>
                  <a:rPr lang="en-US" sz="1600" dirty="0"/>
                </a:br>
                <a:r>
                  <a:rPr lang="en-US" sz="1600" dirty="0"/>
                  <a:t>Boolean value indicating whether the fish is currently in a recovery (staging) state.</a:t>
                </a:r>
              </a:p>
              <a:p>
                <a:r>
                  <a:rPr lang="en-US" sz="1800" dirty="0"/>
                  <a:t>🔄</a:t>
                </a:r>
                <a:r>
                  <a:rPr lang="en-US" sz="1600" dirty="0"/>
                  <a:t> </a:t>
                </a:r>
                <a:r>
                  <a:rPr lang="en-US" sz="1600" b="1" dirty="0"/>
                  <a:t>In-STST?</a:t>
                </a:r>
                <a:br>
                  <a:rPr lang="en-US" sz="1600" dirty="0"/>
                </a:br>
                <a:r>
                  <a:rPr lang="en-US" sz="1600" dirty="0"/>
                  <a:t>Boolean value indicating whether the fish is currently passively resting with the flow.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031167" y="2091821"/>
                <a:ext cx="5881670" cy="3774513"/>
              </a:xfrm>
              <a:blipFill>
                <a:blip r:embed="rId3"/>
                <a:stretch>
                  <a:fillRect l="-622" t="-1454" b="-8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60" y="32888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Key Variables for the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B2B7-15C1-49A6-A7ED-4E49B977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686" y="1255965"/>
            <a:ext cx="5157787" cy="823912"/>
          </a:xfrm>
        </p:spPr>
        <p:txBody>
          <a:bodyPr>
            <a:normAutofit fontScale="92500"/>
          </a:bodyPr>
          <a:lstStyle/>
          <a:p>
            <a:r>
              <a:rPr lang="en-US" sz="3600" b="1" dirty="0"/>
              <a:t>🌍 Environmental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9CC2B-FAA2-48DC-9330-CC91B6EC7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3706" y="2091821"/>
            <a:ext cx="5703887" cy="3684588"/>
          </a:xfrm>
        </p:spPr>
        <p:txBody>
          <a:bodyPr>
            <a:noAutofit/>
          </a:bodyPr>
          <a:lstStyle/>
          <a:p>
            <a:r>
              <a:rPr lang="en-US" sz="1800" dirty="0"/>
              <a:t>🌀</a:t>
            </a:r>
            <a:r>
              <a:rPr lang="en-US" sz="1600" dirty="0"/>
              <a:t> </a:t>
            </a:r>
            <a:r>
              <a:rPr lang="en-US" sz="1600" b="1" dirty="0"/>
              <a:t>Velocity (</a:t>
            </a:r>
            <a:r>
              <a:rPr lang="en-US" sz="1600" b="1" i="1" dirty="0"/>
              <a:t>u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along-channel flow velocity in a patch, influencing whether fish swim or drift.</a:t>
            </a:r>
          </a:p>
          <a:p>
            <a:r>
              <a:rPr lang="en-US" sz="1800" dirty="0"/>
              <a:t>🛑</a:t>
            </a:r>
            <a:r>
              <a:rPr lang="en-US" sz="1600" dirty="0"/>
              <a:t> </a:t>
            </a:r>
            <a:r>
              <a:rPr lang="en-US" sz="1600" b="1" dirty="0"/>
              <a:t>Staging Location (</a:t>
            </a:r>
            <a:r>
              <a:rPr lang="en-US" sz="1600" b="1" i="1" dirty="0"/>
              <a:t>Staging-in-Patch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number of agents currently resting (staging) in a patch, useful for identifying recovery zones.</a:t>
            </a:r>
          </a:p>
          <a:p>
            <a:r>
              <a:rPr lang="en-US" sz="1800" dirty="0"/>
              <a:t>🌊</a:t>
            </a:r>
            <a:r>
              <a:rPr lang="en-US" sz="1600" dirty="0"/>
              <a:t> </a:t>
            </a:r>
            <a:r>
              <a:rPr lang="en-US" sz="1600" b="1" dirty="0"/>
              <a:t>Selective Tidal Stream Transport Location (</a:t>
            </a:r>
            <a:r>
              <a:rPr lang="en-US" sz="1600" b="1" i="1" dirty="0"/>
              <a:t>STST-in-Patch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number of agents currently drifting via STST in a patch, highlighting passive transport zones</a:t>
            </a:r>
          </a:p>
          <a:p>
            <a:r>
              <a:rPr lang="en-US" sz="1800" dirty="0"/>
              <a:t>⏳</a:t>
            </a:r>
            <a:r>
              <a:rPr lang="en-US" sz="1600" dirty="0"/>
              <a:t> </a:t>
            </a:r>
            <a:r>
              <a:rPr lang="en-US" sz="1600" b="1" dirty="0"/>
              <a:t>Time Spent Selective Tidal Stream Transport (</a:t>
            </a:r>
            <a:r>
              <a:rPr lang="en-US" sz="1600" b="1" i="1" dirty="0"/>
              <a:t>STST-time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cumulative time fish spend resting in one location.</a:t>
            </a:r>
          </a:p>
          <a:p>
            <a:r>
              <a:rPr lang="en-US" sz="1800" dirty="0"/>
              <a:t>💤</a:t>
            </a:r>
            <a:r>
              <a:rPr lang="en-US" sz="1600" dirty="0"/>
              <a:t> </a:t>
            </a:r>
            <a:r>
              <a:rPr lang="en-US" sz="1600" b="1" dirty="0"/>
              <a:t>Time Spent Staging (</a:t>
            </a:r>
            <a:r>
              <a:rPr lang="en-US" sz="1600" b="1" i="1" dirty="0"/>
              <a:t>Staging-time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cumulative time fish spend staging in one location.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62DAC-2722-455D-BB2B-1F05A3E62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1560" y="1255965"/>
            <a:ext cx="5703887" cy="8239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🐟 Individual (Fish) Variables</a:t>
            </a:r>
          </a:p>
        </p:txBody>
      </p:sp>
    </p:spTree>
    <p:extLst>
      <p:ext uri="{BB962C8B-B14F-4D97-AF65-F5344CB8AC3E}">
        <p14:creationId xmlns:p14="http://schemas.microsoft.com/office/powerpoint/2010/main" val="4128243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318B-7953-4797-910B-AC7B80D5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02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644E97-2C58-45C4-AF3F-FC40F4B02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641" y="1207348"/>
            <a:ext cx="4147971" cy="2518483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27E8E18-46E0-469E-A1AF-8FDA66BF2856}"/>
              </a:ext>
            </a:extLst>
          </p:cNvPr>
          <p:cNvSpPr/>
          <p:nvPr/>
        </p:nvSpPr>
        <p:spPr>
          <a:xfrm>
            <a:off x="7186805" y="1673761"/>
            <a:ext cx="4080510" cy="1634499"/>
          </a:xfrm>
          <a:custGeom>
            <a:avLst/>
            <a:gdLst>
              <a:gd name="connsiteX0" fmla="*/ 0 w 4080510"/>
              <a:gd name="connsiteY0" fmla="*/ 777245 h 1634499"/>
              <a:gd name="connsiteX1" fmla="*/ 434340 w 4080510"/>
              <a:gd name="connsiteY1" fmla="*/ 5 h 1634499"/>
              <a:gd name="connsiteX2" fmla="*/ 914400 w 4080510"/>
              <a:gd name="connsiteY2" fmla="*/ 765815 h 1634499"/>
              <a:gd name="connsiteX3" fmla="*/ 1497330 w 4080510"/>
              <a:gd name="connsiteY3" fmla="*/ 1634495 h 1634499"/>
              <a:gd name="connsiteX4" fmla="*/ 1805940 w 4080510"/>
              <a:gd name="connsiteY4" fmla="*/ 777245 h 1634499"/>
              <a:gd name="connsiteX5" fmla="*/ 2240280 w 4080510"/>
              <a:gd name="connsiteY5" fmla="*/ 5 h 1634499"/>
              <a:gd name="connsiteX6" fmla="*/ 2686050 w 4080510"/>
              <a:gd name="connsiteY6" fmla="*/ 788675 h 1634499"/>
              <a:gd name="connsiteX7" fmla="*/ 3166110 w 4080510"/>
              <a:gd name="connsiteY7" fmla="*/ 1634495 h 1634499"/>
              <a:gd name="connsiteX8" fmla="*/ 3440430 w 4080510"/>
              <a:gd name="connsiteY8" fmla="*/ 777245 h 1634499"/>
              <a:gd name="connsiteX9" fmla="*/ 3760470 w 4080510"/>
              <a:gd name="connsiteY9" fmla="*/ 5 h 1634499"/>
              <a:gd name="connsiteX10" fmla="*/ 4080510 w 4080510"/>
              <a:gd name="connsiteY10" fmla="*/ 777245 h 16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80510" h="1634499">
                <a:moveTo>
                  <a:pt x="0" y="777245"/>
                </a:moveTo>
                <a:cubicBezTo>
                  <a:pt x="140970" y="389577"/>
                  <a:pt x="281940" y="1910"/>
                  <a:pt x="434340" y="5"/>
                </a:cubicBezTo>
                <a:cubicBezTo>
                  <a:pt x="586740" y="-1900"/>
                  <a:pt x="737235" y="493400"/>
                  <a:pt x="914400" y="765815"/>
                </a:cubicBezTo>
                <a:cubicBezTo>
                  <a:pt x="1091565" y="1038230"/>
                  <a:pt x="1348740" y="1632590"/>
                  <a:pt x="1497330" y="1634495"/>
                </a:cubicBezTo>
                <a:cubicBezTo>
                  <a:pt x="1645920" y="1636400"/>
                  <a:pt x="1682115" y="1049660"/>
                  <a:pt x="1805940" y="777245"/>
                </a:cubicBezTo>
                <a:cubicBezTo>
                  <a:pt x="1929765" y="504830"/>
                  <a:pt x="2093595" y="-1900"/>
                  <a:pt x="2240280" y="5"/>
                </a:cubicBezTo>
                <a:cubicBezTo>
                  <a:pt x="2386965" y="1910"/>
                  <a:pt x="2531745" y="516260"/>
                  <a:pt x="2686050" y="788675"/>
                </a:cubicBezTo>
                <a:cubicBezTo>
                  <a:pt x="2840355" y="1061090"/>
                  <a:pt x="3040380" y="1636400"/>
                  <a:pt x="3166110" y="1634495"/>
                </a:cubicBezTo>
                <a:cubicBezTo>
                  <a:pt x="3291840" y="1632590"/>
                  <a:pt x="3341370" y="1049660"/>
                  <a:pt x="3440430" y="777245"/>
                </a:cubicBezTo>
                <a:cubicBezTo>
                  <a:pt x="3539490" y="504830"/>
                  <a:pt x="3653790" y="5"/>
                  <a:pt x="3760470" y="5"/>
                </a:cubicBezTo>
                <a:cubicBezTo>
                  <a:pt x="3867150" y="5"/>
                  <a:pt x="3973830" y="388625"/>
                  <a:pt x="4080510" y="777245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2E18E-CCCC-4900-BC6B-673440F0A892}"/>
              </a:ext>
            </a:extLst>
          </p:cNvPr>
          <p:cNvSpPr txBox="1"/>
          <p:nvPr/>
        </p:nvSpPr>
        <p:spPr>
          <a:xfrm>
            <a:off x="6814448" y="114666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47AA3-CEB5-4D7A-9D78-C9B73F2D7BB2}"/>
              </a:ext>
            </a:extLst>
          </p:cNvPr>
          <p:cNvSpPr txBox="1"/>
          <p:nvPr/>
        </p:nvSpPr>
        <p:spPr>
          <a:xfrm>
            <a:off x="11099020" y="2456715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</a:t>
            </a:r>
            <a:endParaRPr lang="en-US" sz="1400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86251-0B1F-464C-94BD-02B3FFD849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77" r="7513"/>
          <a:stretch/>
        </p:blipFill>
        <p:spPr>
          <a:xfrm>
            <a:off x="7209102" y="1584916"/>
            <a:ext cx="4080510" cy="883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D514D9-338F-4D9E-9C59-DC762E424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981" y="2124343"/>
            <a:ext cx="3579521" cy="1997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05D18C-C223-4FB3-9D6C-CCFBE8484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03" y="1246777"/>
            <a:ext cx="4147971" cy="2518483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CDA6835-1978-4968-AA00-BEDAB9E314F6}"/>
              </a:ext>
            </a:extLst>
          </p:cNvPr>
          <p:cNvSpPr/>
          <p:nvPr/>
        </p:nvSpPr>
        <p:spPr>
          <a:xfrm>
            <a:off x="1322567" y="1713190"/>
            <a:ext cx="4080510" cy="1634499"/>
          </a:xfrm>
          <a:custGeom>
            <a:avLst/>
            <a:gdLst>
              <a:gd name="connsiteX0" fmla="*/ 0 w 4080510"/>
              <a:gd name="connsiteY0" fmla="*/ 777245 h 1634499"/>
              <a:gd name="connsiteX1" fmla="*/ 434340 w 4080510"/>
              <a:gd name="connsiteY1" fmla="*/ 5 h 1634499"/>
              <a:gd name="connsiteX2" fmla="*/ 914400 w 4080510"/>
              <a:gd name="connsiteY2" fmla="*/ 765815 h 1634499"/>
              <a:gd name="connsiteX3" fmla="*/ 1497330 w 4080510"/>
              <a:gd name="connsiteY3" fmla="*/ 1634495 h 1634499"/>
              <a:gd name="connsiteX4" fmla="*/ 1805940 w 4080510"/>
              <a:gd name="connsiteY4" fmla="*/ 777245 h 1634499"/>
              <a:gd name="connsiteX5" fmla="*/ 2240280 w 4080510"/>
              <a:gd name="connsiteY5" fmla="*/ 5 h 1634499"/>
              <a:gd name="connsiteX6" fmla="*/ 2686050 w 4080510"/>
              <a:gd name="connsiteY6" fmla="*/ 788675 h 1634499"/>
              <a:gd name="connsiteX7" fmla="*/ 3166110 w 4080510"/>
              <a:gd name="connsiteY7" fmla="*/ 1634495 h 1634499"/>
              <a:gd name="connsiteX8" fmla="*/ 3440430 w 4080510"/>
              <a:gd name="connsiteY8" fmla="*/ 777245 h 1634499"/>
              <a:gd name="connsiteX9" fmla="*/ 3760470 w 4080510"/>
              <a:gd name="connsiteY9" fmla="*/ 5 h 1634499"/>
              <a:gd name="connsiteX10" fmla="*/ 4080510 w 4080510"/>
              <a:gd name="connsiteY10" fmla="*/ 777245 h 16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80510" h="1634499">
                <a:moveTo>
                  <a:pt x="0" y="777245"/>
                </a:moveTo>
                <a:cubicBezTo>
                  <a:pt x="140970" y="389577"/>
                  <a:pt x="281940" y="1910"/>
                  <a:pt x="434340" y="5"/>
                </a:cubicBezTo>
                <a:cubicBezTo>
                  <a:pt x="586740" y="-1900"/>
                  <a:pt x="737235" y="493400"/>
                  <a:pt x="914400" y="765815"/>
                </a:cubicBezTo>
                <a:cubicBezTo>
                  <a:pt x="1091565" y="1038230"/>
                  <a:pt x="1348740" y="1632590"/>
                  <a:pt x="1497330" y="1634495"/>
                </a:cubicBezTo>
                <a:cubicBezTo>
                  <a:pt x="1645920" y="1636400"/>
                  <a:pt x="1682115" y="1049660"/>
                  <a:pt x="1805940" y="777245"/>
                </a:cubicBezTo>
                <a:cubicBezTo>
                  <a:pt x="1929765" y="504830"/>
                  <a:pt x="2093595" y="-1900"/>
                  <a:pt x="2240280" y="5"/>
                </a:cubicBezTo>
                <a:cubicBezTo>
                  <a:pt x="2386965" y="1910"/>
                  <a:pt x="2531745" y="516260"/>
                  <a:pt x="2686050" y="788675"/>
                </a:cubicBezTo>
                <a:cubicBezTo>
                  <a:pt x="2840355" y="1061090"/>
                  <a:pt x="3040380" y="1636400"/>
                  <a:pt x="3166110" y="1634495"/>
                </a:cubicBezTo>
                <a:cubicBezTo>
                  <a:pt x="3291840" y="1632590"/>
                  <a:pt x="3341370" y="1049660"/>
                  <a:pt x="3440430" y="777245"/>
                </a:cubicBezTo>
                <a:cubicBezTo>
                  <a:pt x="3539490" y="504830"/>
                  <a:pt x="3653790" y="5"/>
                  <a:pt x="3760470" y="5"/>
                </a:cubicBezTo>
                <a:cubicBezTo>
                  <a:pt x="3867150" y="5"/>
                  <a:pt x="3973830" y="388625"/>
                  <a:pt x="4080510" y="777245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A0526A-ED83-4D0D-B1A8-B5A66517340E}"/>
              </a:ext>
            </a:extLst>
          </p:cNvPr>
          <p:cNvSpPr txBox="1"/>
          <p:nvPr/>
        </p:nvSpPr>
        <p:spPr>
          <a:xfrm>
            <a:off x="950210" y="118608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8B1574-5C74-4784-8376-964DA1AF2789}"/>
              </a:ext>
            </a:extLst>
          </p:cNvPr>
          <p:cNvSpPr txBox="1"/>
          <p:nvPr/>
        </p:nvSpPr>
        <p:spPr>
          <a:xfrm>
            <a:off x="5234782" y="2496144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</a:t>
            </a:r>
            <a:endParaRPr lang="en-US" sz="1400" b="1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3DABED-42AE-479C-B17E-AEA2D774BA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542" r="8969"/>
          <a:stretch/>
        </p:blipFill>
        <p:spPr>
          <a:xfrm>
            <a:off x="1359643" y="1596458"/>
            <a:ext cx="4043434" cy="8900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7C1A86-6E89-4BBA-B28F-C3A2A25DA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981" y="4075512"/>
            <a:ext cx="4676037" cy="26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76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33287AF2-A938-48C3-A676-555ADF455ED3}"/>
              </a:ext>
            </a:extLst>
          </p:cNvPr>
          <p:cNvGraphicFramePr>
            <a:graphicFrameLocks noGrp="1"/>
          </p:cNvGraphicFramePr>
          <p:nvPr/>
        </p:nvGraphicFramePr>
        <p:xfrm>
          <a:off x="-1321136" y="1020889"/>
          <a:ext cx="7654066" cy="4196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438">
                  <a:extLst>
                    <a:ext uri="{9D8B030D-6E8A-4147-A177-3AD203B41FA5}">
                      <a16:colId xmlns:a16="http://schemas.microsoft.com/office/drawing/2014/main" val="380566682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782083904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81024897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548327721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52358378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32195985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029820615"/>
                    </a:ext>
                  </a:extLst>
                </a:gridCol>
              </a:tblGrid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67338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6285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80412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020853"/>
                  </a:ext>
                </a:extLst>
              </a:tr>
            </a:tbl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935C1DA-FF5E-45AC-A25B-BCFD6BB69D5C}"/>
              </a:ext>
            </a:extLst>
          </p:cNvPr>
          <p:cNvGrpSpPr/>
          <p:nvPr/>
        </p:nvGrpSpPr>
        <p:grpSpPr>
          <a:xfrm>
            <a:off x="2335689" y="1383020"/>
            <a:ext cx="7539387" cy="4180704"/>
            <a:chOff x="2335689" y="1383020"/>
            <a:chExt cx="7539387" cy="418070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040C17-43C3-4664-A185-8624EC051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5689" y="138621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E86FD4E-8371-4D8F-9099-9926BAA6CF70}"/>
                </a:ext>
              </a:extLst>
            </p:cNvPr>
            <p:cNvGrpSpPr/>
            <p:nvPr/>
          </p:nvGrpSpPr>
          <p:grpSpPr>
            <a:xfrm>
              <a:off x="2813440" y="1827966"/>
              <a:ext cx="460094" cy="522908"/>
              <a:chOff x="4627659" y="2411124"/>
              <a:chExt cx="3729162" cy="393623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6C7E14C-38E6-43F6-B073-EFDB65D839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90B70E52-9864-40F7-B8C1-F818148A8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4A2D920-5A15-4010-B55D-0C951DAAF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1523" y="247753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B2ED24D-2237-4130-AD5B-A8E6D7DBAF29}"/>
                </a:ext>
              </a:extLst>
            </p:cNvPr>
            <p:cNvGrpSpPr/>
            <p:nvPr/>
          </p:nvGrpSpPr>
          <p:grpSpPr>
            <a:xfrm>
              <a:off x="2849274" y="2919283"/>
              <a:ext cx="460094" cy="522908"/>
              <a:chOff x="4627659" y="2411124"/>
              <a:chExt cx="3729162" cy="3936234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D8EEFFD-BE0A-4F67-8509-45899EE92FC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680E041-6729-4AAC-B095-208C071A9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CB5FA1D-3B95-4086-A55A-AFCF1A0CA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5689" y="349521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D3DE27D-F007-4A5B-8F0A-98C2F8463F69}"/>
                </a:ext>
              </a:extLst>
            </p:cNvPr>
            <p:cNvGrpSpPr/>
            <p:nvPr/>
          </p:nvGrpSpPr>
          <p:grpSpPr>
            <a:xfrm>
              <a:off x="2813440" y="3936958"/>
              <a:ext cx="460094" cy="522908"/>
              <a:chOff x="4627659" y="2411124"/>
              <a:chExt cx="3729162" cy="3936234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720E4732-DC20-4D2F-9213-F706ED66F4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8FA7567-A5AD-49A6-94F6-E67ACC06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15CCC5D-34A6-4FBD-AF1A-2ABF66D06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5689" y="4549136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A847B52-3100-4866-AC6B-8B1D26032F84}"/>
                </a:ext>
              </a:extLst>
            </p:cNvPr>
            <p:cNvGrpSpPr/>
            <p:nvPr/>
          </p:nvGrpSpPr>
          <p:grpSpPr>
            <a:xfrm>
              <a:off x="2813440" y="4990884"/>
              <a:ext cx="460094" cy="522908"/>
              <a:chOff x="4627659" y="2411124"/>
              <a:chExt cx="3729162" cy="3936234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7972385-886E-4F3C-8CA1-FC193EF98A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7B1879C-B7B8-49DB-882D-A5578B49B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8BBFB88-9D8B-4E0A-82BD-A599EB5F6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0197" y="138621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51711EF-DD85-423F-8D41-B3E377FCC995}"/>
                </a:ext>
              </a:extLst>
            </p:cNvPr>
            <p:cNvGrpSpPr/>
            <p:nvPr/>
          </p:nvGrpSpPr>
          <p:grpSpPr>
            <a:xfrm>
              <a:off x="3927948" y="1827966"/>
              <a:ext cx="460094" cy="522908"/>
              <a:chOff x="4627659" y="2411124"/>
              <a:chExt cx="3729162" cy="3936234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4243C73E-1952-4548-944B-EA87F21422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25B09AAC-7272-437B-939E-DEB82F44F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091AF45-0A81-4D0B-BD92-B231C25FD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855" y="2434819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A222A85-D498-4BE8-8444-AEA633204396}"/>
                </a:ext>
              </a:extLst>
            </p:cNvPr>
            <p:cNvGrpSpPr/>
            <p:nvPr/>
          </p:nvGrpSpPr>
          <p:grpSpPr>
            <a:xfrm>
              <a:off x="3945606" y="2876567"/>
              <a:ext cx="460094" cy="522908"/>
              <a:chOff x="4627659" y="2411124"/>
              <a:chExt cx="3729162" cy="3936234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81C87293-8898-4901-9ACF-F79B6CF214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F2AA8C81-B5EB-4671-89C7-425AC123C5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6550F2F-087C-44E5-9918-6EF09D6C1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855" y="3522106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C9D153D-BBD9-48A7-ADBF-A4278817BFD2}"/>
                </a:ext>
              </a:extLst>
            </p:cNvPr>
            <p:cNvGrpSpPr/>
            <p:nvPr/>
          </p:nvGrpSpPr>
          <p:grpSpPr>
            <a:xfrm>
              <a:off x="3945606" y="3963854"/>
              <a:ext cx="460094" cy="522908"/>
              <a:chOff x="4627659" y="2411124"/>
              <a:chExt cx="3729162" cy="3936234"/>
            </a:xfrm>
          </p:grpSpPr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ADCD544C-8057-477D-974A-B3D24D2DF5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DA306D9E-6C98-458E-AAE8-E3D4223852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621D17F-8237-43B6-B334-8AB463FB8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7724" y="4563343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DF9D09C-FABC-4E34-91AA-78C954D33567}"/>
                </a:ext>
              </a:extLst>
            </p:cNvPr>
            <p:cNvGrpSpPr/>
            <p:nvPr/>
          </p:nvGrpSpPr>
          <p:grpSpPr>
            <a:xfrm>
              <a:off x="3905475" y="5005091"/>
              <a:ext cx="460094" cy="522908"/>
              <a:chOff x="4627659" y="2411124"/>
              <a:chExt cx="3729162" cy="3936234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C7DEC88D-341E-46A4-B928-D19E1D29E0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CD7A39FE-4C33-4AF8-8D85-A3D15FD795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DF2D058-0F0B-4526-B573-A4C5A4B1D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4056" y="1421943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93E7E8E-FF10-4586-A619-DA44BBA485E0}"/>
                </a:ext>
              </a:extLst>
            </p:cNvPr>
            <p:cNvGrpSpPr/>
            <p:nvPr/>
          </p:nvGrpSpPr>
          <p:grpSpPr>
            <a:xfrm>
              <a:off x="5001807" y="1863691"/>
              <a:ext cx="460094" cy="522908"/>
              <a:chOff x="4627659" y="2411124"/>
              <a:chExt cx="3729162" cy="3936234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27964433-6842-4D6A-ADFE-5859BD3344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9BC4909D-F3B2-464C-AFC3-88286E8FD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221C9D39-CE59-4CF9-A9D5-B77C701C2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1714" y="2470544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D35D886-AF96-45D8-8225-72AD11E31A64}"/>
                </a:ext>
              </a:extLst>
            </p:cNvPr>
            <p:cNvGrpSpPr/>
            <p:nvPr/>
          </p:nvGrpSpPr>
          <p:grpSpPr>
            <a:xfrm>
              <a:off x="5019465" y="2912292"/>
              <a:ext cx="460094" cy="522908"/>
              <a:chOff x="4627659" y="2411124"/>
              <a:chExt cx="3729162" cy="3936234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F8FE7078-50B0-48DE-B1FC-BE7110E96E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39828C9C-0151-4096-88CF-155F9E91C7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E1274A1-2025-4763-9A41-ADB0B4F64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1714" y="355783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7E90E1C-20AA-454B-8AE1-022B65401AB4}"/>
                </a:ext>
              </a:extLst>
            </p:cNvPr>
            <p:cNvGrpSpPr/>
            <p:nvPr/>
          </p:nvGrpSpPr>
          <p:grpSpPr>
            <a:xfrm>
              <a:off x="5019465" y="3999579"/>
              <a:ext cx="460094" cy="522908"/>
              <a:chOff x="4627659" y="2411124"/>
              <a:chExt cx="3729162" cy="393623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5B6BFEEB-D73B-4F49-B4A2-104F64D06A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C0DFC2EE-4C9E-4F2D-A534-900AEF6FC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7F265E3-3BDA-4F5D-BFC3-5F1C77898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1583" y="459906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484983C-E863-4670-A356-49903EBAA6FB}"/>
                </a:ext>
              </a:extLst>
            </p:cNvPr>
            <p:cNvGrpSpPr/>
            <p:nvPr/>
          </p:nvGrpSpPr>
          <p:grpSpPr>
            <a:xfrm>
              <a:off x="4979334" y="5040816"/>
              <a:ext cx="460094" cy="522908"/>
              <a:chOff x="4627659" y="2411124"/>
              <a:chExt cx="3729162" cy="3936234"/>
            </a:xfrm>
          </p:grpSpPr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B16864D8-751C-4831-9F51-49F261A891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8B481179-3FB5-4165-A6E3-275A1D7260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A256131-BC26-4A0F-A619-937B588BA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46573" y="138708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20C9AEC-1BEC-4EE1-9027-18535C4B59C3}"/>
                </a:ext>
              </a:extLst>
            </p:cNvPr>
            <p:cNvGrpSpPr/>
            <p:nvPr/>
          </p:nvGrpSpPr>
          <p:grpSpPr>
            <a:xfrm>
              <a:off x="6124324" y="1828828"/>
              <a:ext cx="460094" cy="522908"/>
              <a:chOff x="4627659" y="2411124"/>
              <a:chExt cx="3729162" cy="3936234"/>
            </a:xfrm>
          </p:grpSpPr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28D24D86-3CC9-461A-9E59-214CE60A79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E1B00549-DE41-4014-A142-60AD28F5C3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D5A9162-2422-45B9-9C7A-8C7E8978E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4231" y="243568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3AEE6CE-34C2-44E5-B7E0-B5DF6CF19048}"/>
                </a:ext>
              </a:extLst>
            </p:cNvPr>
            <p:cNvGrpSpPr/>
            <p:nvPr/>
          </p:nvGrpSpPr>
          <p:grpSpPr>
            <a:xfrm>
              <a:off x="6141982" y="2877429"/>
              <a:ext cx="460094" cy="522908"/>
              <a:chOff x="4627659" y="2411124"/>
              <a:chExt cx="3729162" cy="3936234"/>
            </a:xfrm>
          </p:grpSpPr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C3CBD5FF-CA33-4C89-8706-6E19C80122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ECEF049A-2837-40A5-B36B-F09A5B3800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C2C0198-2CB3-435D-AF93-B9413AA9D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4231" y="352296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69D3C39-2440-4262-ADA7-77D0898026CB}"/>
                </a:ext>
              </a:extLst>
            </p:cNvPr>
            <p:cNvGrpSpPr/>
            <p:nvPr/>
          </p:nvGrpSpPr>
          <p:grpSpPr>
            <a:xfrm>
              <a:off x="6141982" y="3964716"/>
              <a:ext cx="460094" cy="522908"/>
              <a:chOff x="4627659" y="2411124"/>
              <a:chExt cx="3729162" cy="3936234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0035CCAD-0C0B-4855-946A-C2DB1DD0A0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B23BBFF8-8682-45F5-B8F1-D1734A81D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7F98FC0-FC70-42B5-B3D9-0B157ED1D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4100" y="456420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F35B58A-001B-4EE6-87B1-BFC741EDE53C}"/>
                </a:ext>
              </a:extLst>
            </p:cNvPr>
            <p:cNvGrpSpPr/>
            <p:nvPr/>
          </p:nvGrpSpPr>
          <p:grpSpPr>
            <a:xfrm>
              <a:off x="6101851" y="5005953"/>
              <a:ext cx="460094" cy="522908"/>
              <a:chOff x="4627659" y="2411124"/>
              <a:chExt cx="3729162" cy="3936234"/>
            </a:xfrm>
          </p:grpSpPr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470F787-5F28-44DF-9D2A-1DC6943794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9DC3D6DF-4443-4933-8A59-BE8C73CB5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0A60233-5DA3-4288-853D-2AE49FE4F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5670" y="138302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9757570B-305A-4E91-A213-3B5E662A83D5}"/>
                </a:ext>
              </a:extLst>
            </p:cNvPr>
            <p:cNvGrpSpPr/>
            <p:nvPr/>
          </p:nvGrpSpPr>
          <p:grpSpPr>
            <a:xfrm>
              <a:off x="7223421" y="1824768"/>
              <a:ext cx="460094" cy="522908"/>
              <a:chOff x="4627659" y="2411124"/>
              <a:chExt cx="3729162" cy="3936234"/>
            </a:xfrm>
          </p:grpSpPr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EC5226C3-D67C-4C05-8633-4665FBA1F9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DCBE17F0-214A-4E88-9AEB-81146BC18E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EEC9A9C-FEDC-4D35-8576-9F06495DC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3328" y="243162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EE8E429-A02F-41EB-8608-2AEE70B3D112}"/>
                </a:ext>
              </a:extLst>
            </p:cNvPr>
            <p:cNvGrpSpPr/>
            <p:nvPr/>
          </p:nvGrpSpPr>
          <p:grpSpPr>
            <a:xfrm>
              <a:off x="7241079" y="2873369"/>
              <a:ext cx="460094" cy="522908"/>
              <a:chOff x="4627659" y="2411124"/>
              <a:chExt cx="3729162" cy="3936234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5A900C8F-8E71-406C-990D-3051CB3B2F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D9C08CC3-1F2F-45B4-AB76-81476AB09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8424BC1-A534-4F81-82BA-C030A8F37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3328" y="351890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3331113-4C4F-4EF5-89AC-FB46245345A9}"/>
                </a:ext>
              </a:extLst>
            </p:cNvPr>
            <p:cNvGrpSpPr/>
            <p:nvPr/>
          </p:nvGrpSpPr>
          <p:grpSpPr>
            <a:xfrm>
              <a:off x="7241079" y="3960656"/>
              <a:ext cx="460094" cy="522908"/>
              <a:chOff x="4627659" y="2411124"/>
              <a:chExt cx="3729162" cy="3936234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C5D0BBBC-118A-4332-8EF3-6A4229975F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F1EC1A08-9B03-4F60-9DC0-ED244EB719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4D1383EE-CCE7-4A30-A046-5CD7F5EFE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23197" y="456014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808E287-8376-495B-921F-884028905E1F}"/>
                </a:ext>
              </a:extLst>
            </p:cNvPr>
            <p:cNvGrpSpPr/>
            <p:nvPr/>
          </p:nvGrpSpPr>
          <p:grpSpPr>
            <a:xfrm>
              <a:off x="7200948" y="5001893"/>
              <a:ext cx="460094" cy="522908"/>
              <a:chOff x="4627659" y="2411124"/>
              <a:chExt cx="3729162" cy="3936234"/>
            </a:xfrm>
          </p:grpSpPr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5C2D0E57-B93A-40D5-B4CA-6510099D97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252F2685-91EB-47A5-B8BB-338CA0E22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47DD7733-83A3-4C13-A9E0-AFD38C0DE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45363" y="138302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EECBAFF-7A65-43BE-8571-70A40694FFF1}"/>
                </a:ext>
              </a:extLst>
            </p:cNvPr>
            <p:cNvGrpSpPr/>
            <p:nvPr/>
          </p:nvGrpSpPr>
          <p:grpSpPr>
            <a:xfrm>
              <a:off x="8323114" y="1824768"/>
              <a:ext cx="460094" cy="522908"/>
              <a:chOff x="4627659" y="2411124"/>
              <a:chExt cx="3729162" cy="3936234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CBB04A22-83E4-4CFB-BD0D-7D4DF74349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FD97DA47-FC6C-42A7-897D-0E03DF423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EDA7CC7F-F930-4D7C-9828-5F562681C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63021" y="243162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3475CB9-DFEC-4F51-8DD5-18DA1A14AE55}"/>
                </a:ext>
              </a:extLst>
            </p:cNvPr>
            <p:cNvGrpSpPr/>
            <p:nvPr/>
          </p:nvGrpSpPr>
          <p:grpSpPr>
            <a:xfrm>
              <a:off x="8340772" y="2873369"/>
              <a:ext cx="460094" cy="522908"/>
              <a:chOff x="4627659" y="2411124"/>
              <a:chExt cx="3729162" cy="3936234"/>
            </a:xfrm>
          </p:grpSpPr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0FE615D2-0AB5-4605-A60F-E9DD2A11CC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7830EED-4F7E-48CA-8418-BBB95F9BEB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A36F4E48-F385-46BC-8784-071F4F8C9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63021" y="351890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91BF76AF-7DF6-4C70-A7A3-045CFA6A1459}"/>
                </a:ext>
              </a:extLst>
            </p:cNvPr>
            <p:cNvGrpSpPr/>
            <p:nvPr/>
          </p:nvGrpSpPr>
          <p:grpSpPr>
            <a:xfrm>
              <a:off x="8340772" y="3960656"/>
              <a:ext cx="460094" cy="522908"/>
              <a:chOff x="4627659" y="2411124"/>
              <a:chExt cx="3729162" cy="3936234"/>
            </a:xfrm>
          </p:grpSpPr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4F5985A2-573A-44F9-B5D3-FBA2F7B503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4E5F3E90-C919-4391-9B8C-AB55686416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C73652C0-BA62-4B42-B96C-2B2D8E51A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2890" y="456014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ECDF9658-A68D-4642-85A0-B4B1D86B9D97}"/>
                </a:ext>
              </a:extLst>
            </p:cNvPr>
            <p:cNvGrpSpPr/>
            <p:nvPr/>
          </p:nvGrpSpPr>
          <p:grpSpPr>
            <a:xfrm>
              <a:off x="8300641" y="5001893"/>
              <a:ext cx="460094" cy="522908"/>
              <a:chOff x="4627659" y="2411124"/>
              <a:chExt cx="3729162" cy="3936234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CD62DC7C-FC06-4C68-8503-B88313BF7F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5" name="Picture 114">
                <a:extLst>
                  <a:ext uri="{FF2B5EF4-FFF2-40B4-BE49-F238E27FC236}">
                    <a16:creationId xmlns:a16="http://schemas.microsoft.com/office/drawing/2014/main" id="{E2F6EA4D-3D5C-4D52-9909-B1F7EC8CC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7E324470-7CBF-4D31-8968-809FD29D6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9573" y="140359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F00B982-A48E-4217-9CAA-F3D5547A2645}"/>
                </a:ext>
              </a:extLst>
            </p:cNvPr>
            <p:cNvGrpSpPr/>
            <p:nvPr/>
          </p:nvGrpSpPr>
          <p:grpSpPr>
            <a:xfrm>
              <a:off x="9397324" y="1845346"/>
              <a:ext cx="460094" cy="522908"/>
              <a:chOff x="4627659" y="2411124"/>
              <a:chExt cx="3729162" cy="3936234"/>
            </a:xfrm>
          </p:grpSpPr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933BEDDE-50D9-4DB4-8531-FDFB231B11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54ABB287-7494-4C7C-88E9-393D9470C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DCBF1F2B-9463-44FE-9E0B-0B0DC2CFF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37231" y="2452199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07FBFDAE-ACC5-41E4-A79C-DAF20684E583}"/>
                </a:ext>
              </a:extLst>
            </p:cNvPr>
            <p:cNvGrpSpPr/>
            <p:nvPr/>
          </p:nvGrpSpPr>
          <p:grpSpPr>
            <a:xfrm>
              <a:off x="9414982" y="2893947"/>
              <a:ext cx="460094" cy="522908"/>
              <a:chOff x="4627659" y="2411124"/>
              <a:chExt cx="3729162" cy="3936234"/>
            </a:xfrm>
          </p:grpSpPr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2258C680-3DC3-4702-BD02-ECF468182F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7FBC0355-5F35-4C28-B4C1-21010A3D9E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94AEBFF-60F0-4E43-BA5C-B69D6B878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37231" y="3539486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E2B28FF3-F6E4-44E7-97BD-6DE5627BFECD}"/>
                </a:ext>
              </a:extLst>
            </p:cNvPr>
            <p:cNvGrpSpPr/>
            <p:nvPr/>
          </p:nvGrpSpPr>
          <p:grpSpPr>
            <a:xfrm>
              <a:off x="9414982" y="3981234"/>
              <a:ext cx="460094" cy="522908"/>
              <a:chOff x="4627659" y="2411124"/>
              <a:chExt cx="3729162" cy="3936234"/>
            </a:xfrm>
          </p:grpSpPr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606D6559-1F33-4CF7-8418-57D9F2216D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27" name="Picture 126">
                <a:extLst>
                  <a:ext uri="{FF2B5EF4-FFF2-40B4-BE49-F238E27FC236}">
                    <a16:creationId xmlns:a16="http://schemas.microsoft.com/office/drawing/2014/main" id="{33919BAA-883F-4BFD-A511-4AC59D0915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BB501C07-BF6E-402E-9E40-026C446F2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7100" y="4580723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8205BB37-85C9-4C63-B078-DCF9361781DD}"/>
                </a:ext>
              </a:extLst>
            </p:cNvPr>
            <p:cNvGrpSpPr/>
            <p:nvPr/>
          </p:nvGrpSpPr>
          <p:grpSpPr>
            <a:xfrm>
              <a:off x="9374851" y="5022471"/>
              <a:ext cx="460094" cy="522908"/>
              <a:chOff x="4627659" y="2411124"/>
              <a:chExt cx="3729162" cy="3936234"/>
            </a:xfrm>
          </p:grpSpPr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EC3C14C2-A663-4BC4-89D5-38FD28046A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8225C682-30F8-4D9D-8EFF-D1E3C5F14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</p:grpSp>
      <p:graphicFrame>
        <p:nvGraphicFramePr>
          <p:cNvPr id="134" name="Table 4">
            <a:extLst>
              <a:ext uri="{FF2B5EF4-FFF2-40B4-BE49-F238E27FC236}">
                <a16:creationId xmlns:a16="http://schemas.microsoft.com/office/drawing/2014/main" id="{EFA03101-FA30-42F9-9B41-4DAC4E912D64}"/>
              </a:ext>
            </a:extLst>
          </p:cNvPr>
          <p:cNvGraphicFramePr>
            <a:graphicFrameLocks noGrp="1"/>
          </p:cNvGraphicFramePr>
          <p:nvPr/>
        </p:nvGraphicFramePr>
        <p:xfrm>
          <a:off x="3708388" y="2452199"/>
          <a:ext cx="4373752" cy="314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438">
                  <a:extLst>
                    <a:ext uri="{9D8B030D-6E8A-4147-A177-3AD203B41FA5}">
                      <a16:colId xmlns:a16="http://schemas.microsoft.com/office/drawing/2014/main" val="380566682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782083904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81024897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548327721"/>
                    </a:ext>
                  </a:extLst>
                </a:gridCol>
              </a:tblGrid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6285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80412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02085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8F380BA-377D-4073-B15A-7502DDB76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892" y="1062505"/>
            <a:ext cx="4395597" cy="3170195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461671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031167" y="2091821"/>
                <a:ext cx="5881670" cy="3774513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/>
                  <a:t>🧠 </a:t>
                </a:r>
                <a:r>
                  <a:rPr lang="en-US" sz="1600" b="1" dirty="0"/>
                  <a:t>Stress</a:t>
                </a:r>
                <a:br>
                  <a:rPr lang="en-US" sz="1600" dirty="0"/>
                </a:br>
                <a:r>
                  <a:rPr lang="en-US" sz="1600" dirty="0"/>
                  <a:t>The level of stress experienced by the fish due to salinity or temperature mismatch.</a:t>
                </a:r>
              </a:p>
              <a:p>
                <a:r>
                  <a:rPr lang="en-US" sz="1800" dirty="0"/>
                  <a:t>🔋</a:t>
                </a:r>
                <a:r>
                  <a:rPr lang="en-US" sz="1600" dirty="0"/>
                  <a:t> </a:t>
                </a:r>
                <a:r>
                  <a:rPr lang="en-US" sz="1600" b="1" dirty="0"/>
                  <a:t>Energy</a:t>
                </a:r>
                <a:br>
                  <a:rPr lang="en-US" sz="1600" dirty="0"/>
                </a:br>
                <a:r>
                  <a:rPr lang="en-US" sz="1600" dirty="0"/>
                  <a:t>The amount energy the fish uses to swim, recover, and regulate bodily functions. </a:t>
                </a:r>
              </a:p>
              <a:p>
                <a:r>
                  <a:rPr lang="en-US" sz="1800" dirty="0"/>
                  <a:t>⏱️</a:t>
                </a:r>
                <a:r>
                  <a:rPr lang="en-US" sz="1600" b="1" dirty="0"/>
                  <a:t>Swimming Speed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br>
                  <a:rPr lang="en-US" sz="1600" dirty="0"/>
                </a:br>
                <a:r>
                  <a:rPr lang="en-US" sz="1600" dirty="0"/>
                  <a:t>The swimming speed of a fish, which determines whether it can resist the current or must drift.</a:t>
                </a:r>
              </a:p>
              <a:p>
                <a:r>
                  <a:rPr lang="en-US" sz="1800" dirty="0"/>
                  <a:t>💤</a:t>
                </a:r>
                <a:r>
                  <a:rPr lang="en-US" sz="1600" dirty="0"/>
                  <a:t> </a:t>
                </a:r>
                <a:r>
                  <a:rPr lang="en-US" sz="1600" b="1" dirty="0"/>
                  <a:t>Staging?</a:t>
                </a:r>
                <a:br>
                  <a:rPr lang="en-US" sz="1600" dirty="0"/>
                </a:br>
                <a:r>
                  <a:rPr lang="en-US" sz="1600" dirty="0"/>
                  <a:t>Boolean value indicating whether the fish is currently in a recovery (staging) state.</a:t>
                </a:r>
              </a:p>
              <a:p>
                <a:r>
                  <a:rPr lang="en-US" sz="1800" dirty="0"/>
                  <a:t>🔄</a:t>
                </a:r>
                <a:r>
                  <a:rPr lang="en-US" sz="1600" dirty="0"/>
                  <a:t> </a:t>
                </a:r>
                <a:r>
                  <a:rPr lang="en-US" sz="1600" b="1" dirty="0"/>
                  <a:t>In-STST?</a:t>
                </a:r>
                <a:br>
                  <a:rPr lang="en-US" sz="1600" dirty="0"/>
                </a:br>
                <a:r>
                  <a:rPr lang="en-US" sz="1600" dirty="0"/>
                  <a:t>Boolean value indicating whether the fish is currently passively resting with the flow.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031167" y="2091821"/>
                <a:ext cx="5881670" cy="3774513"/>
              </a:xfrm>
              <a:blipFill>
                <a:blip r:embed="rId3"/>
                <a:stretch>
                  <a:fillRect l="-622" t="-1454" b="-8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60" y="32888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Key Variables for the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B2B7-15C1-49A6-A7ED-4E49B977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686" y="1255965"/>
            <a:ext cx="5157787" cy="823912"/>
          </a:xfrm>
        </p:spPr>
        <p:txBody>
          <a:bodyPr>
            <a:normAutofit fontScale="92500"/>
          </a:bodyPr>
          <a:lstStyle/>
          <a:p>
            <a:r>
              <a:rPr lang="en-US" sz="3600" b="1" dirty="0"/>
              <a:t>🌍 Environmental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9CC2B-FAA2-48DC-9330-CC91B6EC7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3706" y="2091821"/>
            <a:ext cx="5703887" cy="3684588"/>
          </a:xfrm>
        </p:spPr>
        <p:txBody>
          <a:bodyPr>
            <a:noAutofit/>
          </a:bodyPr>
          <a:lstStyle/>
          <a:p>
            <a:r>
              <a:rPr lang="en-US" sz="1800" dirty="0"/>
              <a:t>🌀</a:t>
            </a:r>
            <a:r>
              <a:rPr lang="en-US" sz="1600" dirty="0"/>
              <a:t> </a:t>
            </a:r>
            <a:r>
              <a:rPr lang="en-US" sz="1600" b="1" dirty="0"/>
              <a:t>Velocity (</a:t>
            </a:r>
            <a:r>
              <a:rPr lang="en-US" sz="1600" b="1" i="1" dirty="0"/>
              <a:t>u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along-channel flow velocity in a patch, influencing whether fish swim or drift.</a:t>
            </a:r>
          </a:p>
          <a:p>
            <a:r>
              <a:rPr lang="en-US" sz="1800" dirty="0"/>
              <a:t>🛑</a:t>
            </a:r>
            <a:r>
              <a:rPr lang="en-US" sz="1600" dirty="0"/>
              <a:t> </a:t>
            </a:r>
            <a:r>
              <a:rPr lang="en-US" sz="1600" b="1" dirty="0"/>
              <a:t>Staging Location (</a:t>
            </a:r>
            <a:r>
              <a:rPr lang="en-US" sz="1600" b="1" i="1" dirty="0"/>
              <a:t>Staging-in-Patch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number of agents currently resting (staging) in a patch, useful for identifying recovery zones.</a:t>
            </a:r>
          </a:p>
          <a:p>
            <a:r>
              <a:rPr lang="en-US" sz="1800" dirty="0"/>
              <a:t>🌊</a:t>
            </a:r>
            <a:r>
              <a:rPr lang="en-US" sz="1600" dirty="0"/>
              <a:t> </a:t>
            </a:r>
            <a:r>
              <a:rPr lang="en-US" sz="1600" b="1" dirty="0"/>
              <a:t>Selective Tidal Stream Transport Location (</a:t>
            </a:r>
            <a:r>
              <a:rPr lang="en-US" sz="1600" b="1" i="1" dirty="0"/>
              <a:t>STST-in-Patch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number of agents currently drifting via STST in a patch, highlighting passive transport zones</a:t>
            </a:r>
          </a:p>
          <a:p>
            <a:r>
              <a:rPr lang="en-US" sz="1800" dirty="0"/>
              <a:t>⏳</a:t>
            </a:r>
            <a:r>
              <a:rPr lang="en-US" sz="1600" dirty="0"/>
              <a:t> </a:t>
            </a:r>
            <a:r>
              <a:rPr lang="en-US" sz="1600" b="1" dirty="0"/>
              <a:t>Time Spent Selective Tidal Stream Transport (</a:t>
            </a:r>
            <a:r>
              <a:rPr lang="en-US" sz="1600" b="1" i="1" dirty="0"/>
              <a:t>STST-time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cumulative time fish spend resting in one location.</a:t>
            </a:r>
          </a:p>
          <a:p>
            <a:r>
              <a:rPr lang="en-US" sz="1800" dirty="0"/>
              <a:t>💤</a:t>
            </a:r>
            <a:r>
              <a:rPr lang="en-US" sz="1600" dirty="0"/>
              <a:t> </a:t>
            </a:r>
            <a:r>
              <a:rPr lang="en-US" sz="1600" b="1" dirty="0"/>
              <a:t>Time Spent Staging (</a:t>
            </a:r>
            <a:r>
              <a:rPr lang="en-US" sz="1600" b="1" i="1" dirty="0"/>
              <a:t>Staging-time</a:t>
            </a:r>
            <a:r>
              <a:rPr lang="en-US" sz="1600" b="1" dirty="0"/>
              <a:t>)</a:t>
            </a:r>
            <a:br>
              <a:rPr lang="en-US" sz="1600" dirty="0"/>
            </a:br>
            <a:r>
              <a:rPr lang="en-US" sz="1600" dirty="0"/>
              <a:t>The cumulative time fish spend staging in one location.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62DAC-2722-455D-BB2B-1F05A3E62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1560" y="1255965"/>
            <a:ext cx="5703887" cy="8239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🐟 Individual (Fish) Variables</a:t>
            </a:r>
          </a:p>
        </p:txBody>
      </p:sp>
    </p:spTree>
    <p:extLst>
      <p:ext uri="{BB962C8B-B14F-4D97-AF65-F5344CB8AC3E}">
        <p14:creationId xmlns:p14="http://schemas.microsoft.com/office/powerpoint/2010/main" val="289636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3491</TotalTime>
  <Words>2255</Words>
  <Application>Microsoft Office PowerPoint</Application>
  <PresentationFormat>Widescreen</PresentationFormat>
  <Paragraphs>437</Paragraphs>
  <Slides>27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Helvetica Neue</vt:lpstr>
      <vt:lpstr>MJXc-TeX-main-R</vt:lpstr>
      <vt:lpstr>MJXc-TeX-math-I</vt:lpstr>
      <vt:lpstr>Office Theme</vt:lpstr>
      <vt:lpstr>Resting</vt:lpstr>
      <vt:lpstr>Relevant Background Information</vt:lpstr>
      <vt:lpstr>Model Objectives</vt:lpstr>
      <vt:lpstr>Key Variables for the Model</vt:lpstr>
      <vt:lpstr>Conditions that Trigger Resting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During Rest: Fish Move to Conserve Energy</vt:lpstr>
      <vt:lpstr>5. While in Rest: Fish Check for Better Conditions</vt:lpstr>
      <vt:lpstr>Individual-Specific Traits</vt:lpstr>
      <vt:lpstr>Outputs of Interest</vt:lpstr>
      <vt:lpstr>Discussion Prompts</vt:lpstr>
      <vt:lpstr>PowerPoint Presentation</vt:lpstr>
      <vt:lpstr>PowerPoint Presentation</vt:lpstr>
      <vt:lpstr>PowerPoint Presentation</vt:lpstr>
      <vt:lpstr>Key Variables for the Model</vt:lpstr>
      <vt:lpstr>PowerPoint Presentation</vt:lpstr>
      <vt:lpstr>PowerPoint Presentation</vt:lpstr>
      <vt:lpstr>PowerPoint Presentation</vt:lpstr>
      <vt:lpstr>Key Variables for the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139</cp:revision>
  <dcterms:created xsi:type="dcterms:W3CDTF">2025-06-04T12:52:07Z</dcterms:created>
  <dcterms:modified xsi:type="dcterms:W3CDTF">2025-06-20T18:39:22Z</dcterms:modified>
</cp:coreProperties>
</file>