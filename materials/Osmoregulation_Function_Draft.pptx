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9" r:id="rId4"/>
    <p:sldId id="260" r:id="rId5"/>
    <p:sldId id="261" r:id="rId6"/>
    <p:sldId id="266" r:id="rId7"/>
    <p:sldId id="267" r:id="rId8"/>
    <p:sldId id="268" r:id="rId9"/>
    <p:sldId id="273" r:id="rId10"/>
    <p:sldId id="275" r:id="rId11"/>
    <p:sldId id="277" r:id="rId12"/>
    <p:sldId id="276" r:id="rId13"/>
    <p:sldId id="264" r:id="rId14"/>
    <p:sldId id="263" r:id="rId15"/>
    <p:sldId id="269" r:id="rId16"/>
    <p:sldId id="265" r:id="rId17"/>
    <p:sldId id="262" r:id="rId18"/>
    <p:sldId id="257" r:id="rId19"/>
    <p:sldId id="270" r:id="rId20"/>
    <p:sldId id="258" r:id="rId21"/>
    <p:sldId id="289" r:id="rId22"/>
    <p:sldId id="290" r:id="rId23"/>
    <p:sldId id="29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48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BC76-2F6C-46F9-9261-043820BA6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598526-C96C-4996-9482-202CE7A4B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2722A-93B3-4CB9-82EB-2834F8D51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19E3A-9C98-4213-A183-4F729F91F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2D41E-1A10-4671-9AA3-BD7EE04D7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05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65179-FE2A-4C96-A64D-D8582A4DA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01AE2-B495-49F6-958E-1516F9320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27F5E-1AFE-4EAB-9C73-BFF5238CB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04A05-8870-41C4-85D7-ED06DE335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68A0D-9A54-4B52-B238-50C3586F8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787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17AA6-FCB8-437C-B1B4-56475F413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F3D79-1045-49CA-8BA8-CAED6B572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F8F99-96A6-4711-8468-5C442659A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88E8A-65B0-49E0-8FDF-D5BF72EE7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9BADA-1214-4F9A-A6A6-F30FE452C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05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64E55-1BF4-4D5D-BDE2-A6D23778A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2A14A-38D6-478E-8A22-26233D0C8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DF143-4BEA-432A-82D9-BDE29C791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CC5B7-C246-4F27-ACCF-9AAE57A92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F57BC1-AA5A-4583-A0DB-135501D72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E3415-A874-4DF7-A072-DAF5E39C2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35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290A9-1976-4E5D-B395-C465B009F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98AC2-21CC-48D8-8EBB-B51192DC0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F517D-E56B-4A8E-813F-8010FD1F4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3BAC2-DE1D-4C03-A991-AA7560C91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12057C-4E9E-4999-8377-8A7BF0137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CBF522-AD06-4FC3-BA71-B03C01120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FB97B0-8211-4DA2-830B-FE2E516B2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B2EED1-504E-4E54-BE6E-301B4AA7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96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82EF3-9A0D-4727-82E6-96E9A486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A1F5-9A10-46B9-89FB-6127CE038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5EBD1-7720-4FCC-8232-C19485BA5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99E50-636F-4DF4-B0C3-F60082A6B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77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1E88D6-5103-4488-A2E5-0B7392F1D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B8FAC6-1EB2-49CD-986F-57EE48DA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94728-BB70-4DD3-8544-B6DF2837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4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88E98-6E5F-43BA-8C83-70751CA49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5D455-0976-4CB2-8BB9-6754231D2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C4036-13AC-47FE-8B6A-6515BF4E0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94CDC-2373-4286-A589-4547B6361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DAFBD-596D-4E76-A8BA-218281E80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F37A4-C356-4095-BB1D-5BC5BD681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57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1B830-6476-4E26-B4DA-4E5D6DA8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08069E-9E4E-4464-B129-5D40AC4118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35B8D-3B19-40C4-9097-C6CED1583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FC0AD-7062-44AA-99DF-37CDB4C32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B120E-5F9E-49A7-BEDA-38CCACB68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0844C-144D-4CC7-8A3B-94E204AC2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285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10F1-EBAF-473C-AB82-9B58FEF6C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7010E7-8734-4DBA-8967-4D16F63F3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F14B2-C75B-44A0-A6AC-374D891A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9542A-75B1-45C1-B38F-8DB97DD20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2665A-A977-46F8-8F57-684F2169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862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A21C50-0ACD-4C61-B077-95AFBBFCEB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2A83B7-D655-4C47-A587-81D552396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BB0D0-6FF7-40CE-BC33-04611A002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968EB-AFDB-4FC7-B662-1595B68BB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55098-0F2C-4D5F-BFE0-2DF78B19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53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29676-D91C-4648-B0D6-420947B50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3E9A8-1A2C-49B0-AFBA-94356E553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DED03-403A-4962-8DCB-146DACA4D4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AB58A-3F32-434F-856E-DD0BF0CB98E8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FF19E-0511-4299-8711-D752E88ED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C8F5F-3509-424D-B9CC-3F5E8CB94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3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27583-FA58-443E-95F9-6BF0088A2A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Osmoregulation Function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B7E120-65D1-46DC-BC03-B147B42393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Drafted By: Vanessa Quintana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59756A-31F1-4264-917B-C3321E2EBE6E}"/>
              </a:ext>
            </a:extLst>
          </p:cNvPr>
          <p:cNvSpPr txBox="1"/>
          <p:nvPr/>
        </p:nvSpPr>
        <p:spPr>
          <a:xfrm>
            <a:off x="6905625" y="106829"/>
            <a:ext cx="525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Penobscot Estuary Community Modeling Workshop</a:t>
            </a:r>
          </a:p>
          <a:p>
            <a:pPr algn="r"/>
            <a:r>
              <a:rPr lang="en-US" dirty="0"/>
              <a:t>ABM Draft Osmoregulation Function</a:t>
            </a:r>
          </a:p>
          <a:p>
            <a:pPr algn="r"/>
            <a:r>
              <a:rPr lang="en-US" dirty="0"/>
              <a:t>August 6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1834254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F8677-FB2A-4457-84A1-E08E30A8B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25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Relevant Background Information</a:t>
            </a:r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34663D66-C204-40C6-A188-C009FC307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500016"/>
              </p:ext>
            </p:extLst>
          </p:nvPr>
        </p:nvGraphicFramePr>
        <p:xfrm>
          <a:off x="1258094" y="1895697"/>
          <a:ext cx="967581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333">
                  <a:extLst>
                    <a:ext uri="{9D8B030D-6E8A-4147-A177-3AD203B41FA5}">
                      <a16:colId xmlns:a16="http://schemas.microsoft.com/office/drawing/2014/main" val="758357700"/>
                    </a:ext>
                  </a:extLst>
                </a:gridCol>
                <a:gridCol w="7160479">
                  <a:extLst>
                    <a:ext uri="{9D8B030D-6E8A-4147-A177-3AD203B41FA5}">
                      <a16:colId xmlns:a16="http://schemas.microsoft.com/office/drawing/2014/main" val="41262084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Term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Definition</a:t>
                      </a:r>
                      <a:endParaRPr 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524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/>
                        <a:t>Osmoregulation</a:t>
                      </a:r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How fish keep the right balance of salt and water inside their bodies, even when the water around them changes.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36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Gills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Organs that allow fish to breathe and also help control the salt and water balance in their bodies.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721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Chloride Cells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Special cells in the gills that help fish adjust to salty or fresh water by moving salt in or out of their bodies.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3638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/>
                        <a:t>Homeostasis</a:t>
                      </a:r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 ability of fish to keep their internal conditions stable and healthy, even when the environment changes.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450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2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D33D-47AC-46B2-BACF-B697F6462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Model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881BF-4D07-47A4-AD5F-CACCFBA97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515600" cy="1984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Purpose: </a:t>
            </a:r>
            <a:r>
              <a:rPr lang="en-US" dirty="0"/>
              <a:t>Simulates stress and energy use as fish adapt to changing salinity.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Objectives: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Quantify Salinity Stress </a:t>
            </a:r>
            <a:r>
              <a:rPr lang="en-US" sz="2400" dirty="0"/>
              <a:t>by calculating the difference between environmental salinity and internal salinity.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Regulate Chloride Cell Density </a:t>
            </a:r>
            <a:r>
              <a:rPr lang="en-US" sz="2400" dirty="0"/>
              <a:t>to maintain homeostasis by adjusting cell expression in response to stress.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Estimate Energy Costs </a:t>
            </a:r>
            <a:r>
              <a:rPr lang="en-US" sz="2400" dirty="0"/>
              <a:t>associated with chloride cell creation, maintenance, and decay to track the metabolic trade-offs of osmoregulation.</a:t>
            </a:r>
          </a:p>
        </p:txBody>
      </p:sp>
    </p:spTree>
    <p:extLst>
      <p:ext uri="{BB962C8B-B14F-4D97-AF65-F5344CB8AC3E}">
        <p14:creationId xmlns:p14="http://schemas.microsoft.com/office/powerpoint/2010/main" val="2550288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F8677-FB2A-4457-84A1-E08E30A8B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655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Key Variables for the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7B2B7-15C1-49A6-A7ED-4E49B9774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566" y="1294001"/>
            <a:ext cx="5157787" cy="823912"/>
          </a:xfrm>
        </p:spPr>
        <p:txBody>
          <a:bodyPr>
            <a:normAutofit fontScale="92500"/>
          </a:bodyPr>
          <a:lstStyle/>
          <a:p>
            <a:r>
              <a:rPr lang="en-US" sz="3600" b="1" dirty="0"/>
              <a:t>🌍 Environmental Variable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9CC2B-FAA2-48DC-9330-CC91B6EC7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3906" y="2226237"/>
            <a:ext cx="4990447" cy="3684588"/>
          </a:xfrm>
        </p:spPr>
        <p:txBody>
          <a:bodyPr>
            <a:normAutofit/>
          </a:bodyPr>
          <a:lstStyle/>
          <a:p>
            <a:r>
              <a:rPr lang="en-US" sz="2000" dirty="0"/>
              <a:t>🧂 </a:t>
            </a:r>
            <a:r>
              <a:rPr lang="en-US" sz="2000" b="1" dirty="0"/>
              <a:t>Salinity</a:t>
            </a:r>
            <a:br>
              <a:rPr lang="en-US" sz="2000" dirty="0"/>
            </a:br>
            <a:r>
              <a:rPr lang="en-US" sz="2000" i="1" dirty="0"/>
              <a:t>How salty the surrounding water is</a:t>
            </a:r>
            <a:br>
              <a:rPr lang="en-US" sz="2000" dirty="0"/>
            </a:br>
            <a:r>
              <a:rPr lang="en-US" sz="2000" i="1" dirty="0"/>
              <a:t>(Affects how much the fish needs to regulate)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262DAC-2722-455D-BB2B-1F05A3E624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94353" y="1294001"/>
            <a:ext cx="5703887" cy="82391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600" b="1" dirty="0"/>
              <a:t>🐟 Individual (Fish) Variables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322524-FA0B-4B09-A398-76A25CDC94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2226237"/>
            <a:ext cx="5703887" cy="3774513"/>
          </a:xfrm>
        </p:spPr>
        <p:txBody>
          <a:bodyPr>
            <a:noAutofit/>
          </a:bodyPr>
          <a:lstStyle/>
          <a:p>
            <a:r>
              <a:rPr lang="en-US" sz="2000" dirty="0"/>
              <a:t>⚡ </a:t>
            </a:r>
            <a:r>
              <a:rPr lang="en-US" sz="2000" b="1" dirty="0"/>
              <a:t>Energy</a:t>
            </a:r>
            <a:br>
              <a:rPr lang="en-US" sz="2000" dirty="0"/>
            </a:br>
            <a:r>
              <a:rPr lang="en-US" sz="2000" i="1" dirty="0"/>
              <a:t>Available energy for physiological processes</a:t>
            </a:r>
            <a:endParaRPr lang="en-US" sz="2000" dirty="0"/>
          </a:p>
          <a:p>
            <a:r>
              <a:rPr lang="en-US" sz="2000" dirty="0"/>
              <a:t>🌊 </a:t>
            </a:r>
            <a:r>
              <a:rPr lang="en-US" sz="2000" b="1" dirty="0"/>
              <a:t>Salinity Stress</a:t>
            </a:r>
            <a:br>
              <a:rPr lang="en-US" sz="2000" dirty="0"/>
            </a:br>
            <a:r>
              <a:rPr lang="en-US" sz="2000" i="1" dirty="0"/>
              <a:t>Difference between internal and external salinity</a:t>
            </a:r>
            <a:endParaRPr lang="en-US" sz="2000" dirty="0"/>
          </a:p>
          <a:p>
            <a:r>
              <a:rPr lang="en-US" sz="2000" dirty="0"/>
              <a:t>💧 </a:t>
            </a:r>
            <a:r>
              <a:rPr lang="en-US" sz="2000" b="1" dirty="0"/>
              <a:t>Internal Salinity</a:t>
            </a:r>
            <a:br>
              <a:rPr lang="en-US" sz="2000" dirty="0"/>
            </a:br>
            <a:r>
              <a:rPr lang="en-US" sz="2000" i="1" dirty="0"/>
              <a:t>The salt level the fish is trying to maintain inside its body</a:t>
            </a:r>
            <a:endParaRPr lang="en-US" sz="2000" dirty="0"/>
          </a:p>
          <a:p>
            <a:r>
              <a:rPr lang="en-US" sz="2000" dirty="0"/>
              <a:t>🧫 </a:t>
            </a:r>
            <a:r>
              <a:rPr lang="en-US" sz="2000" b="1" dirty="0"/>
              <a:t>Chloride Cell Density</a:t>
            </a:r>
            <a:br>
              <a:rPr lang="en-US" sz="2000" dirty="0"/>
            </a:br>
            <a:r>
              <a:rPr lang="en-US" sz="2000" dirty="0"/>
              <a:t> </a:t>
            </a:r>
            <a:r>
              <a:rPr lang="en-US" sz="2000" i="1" dirty="0"/>
              <a:t>Percent of specialized gill cells expressed for salt regulation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28243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1. Fish Interact with Environmental Salinity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ABFCE5-36A5-4BFB-A32C-96DFCF7BA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042" y="1506071"/>
            <a:ext cx="8770369" cy="4827536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4993E-BB34-4514-90AA-F0212803C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489" y="1843755"/>
            <a:ext cx="1438648" cy="8309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72D0F06-87A0-427D-9918-C73FF37C344D}"/>
              </a:ext>
            </a:extLst>
          </p:cNvPr>
          <p:cNvSpPr txBox="1"/>
          <p:nvPr/>
        </p:nvSpPr>
        <p:spPr>
          <a:xfrm>
            <a:off x="4267766" y="1560159"/>
            <a:ext cx="3567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Internal Salinity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73D36A-A84C-495E-BC27-65D83CF51A5F}"/>
              </a:ext>
            </a:extLst>
          </p:cNvPr>
          <p:cNvSpPr txBox="1"/>
          <p:nvPr/>
        </p:nvSpPr>
        <p:spPr>
          <a:xfrm>
            <a:off x="3212056" y="5680679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Salinity</a:t>
            </a:r>
          </a:p>
        </p:txBody>
      </p:sp>
      <p:sp>
        <p:nvSpPr>
          <p:cNvPr id="15" name="Arrow: Up-Down 14">
            <a:extLst>
              <a:ext uri="{FF2B5EF4-FFF2-40B4-BE49-F238E27FC236}">
                <a16:creationId xmlns:a16="http://schemas.microsoft.com/office/drawing/2014/main" id="{A70A0BBE-2999-48B9-BDAD-AEEF3FA367FE}"/>
              </a:ext>
            </a:extLst>
          </p:cNvPr>
          <p:cNvSpPr/>
          <p:nvPr/>
        </p:nvSpPr>
        <p:spPr>
          <a:xfrm>
            <a:off x="5941474" y="2491458"/>
            <a:ext cx="220538" cy="100584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B5A656-C4C6-48F5-9883-BB997E6D39A2}"/>
              </a:ext>
            </a:extLst>
          </p:cNvPr>
          <p:cNvSpPr txBox="1"/>
          <p:nvPr/>
        </p:nvSpPr>
        <p:spPr>
          <a:xfrm>
            <a:off x="811599" y="6110696"/>
            <a:ext cx="104444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Environmental Salinity - Acclimated Salinity = Stress from Salinity</a:t>
            </a:r>
          </a:p>
          <a:p>
            <a:pPr algn="ctr"/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2068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2. Fish Calculate Stress from Salinity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71C7FB7-EFCF-4F49-A34A-67809E7EC287}"/>
              </a:ext>
            </a:extLst>
          </p:cNvPr>
          <p:cNvSpPr txBox="1"/>
          <p:nvPr/>
        </p:nvSpPr>
        <p:spPr>
          <a:xfrm>
            <a:off x="8771490" y="5841611"/>
            <a:ext cx="25823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chemeClr val="accent1"/>
                </a:solidFill>
              </a:rPr>
              <a:t>Internal Salinity</a:t>
            </a:r>
          </a:p>
          <a:p>
            <a:pPr algn="r"/>
            <a:r>
              <a:rPr lang="en-US" sz="2000" b="1" dirty="0">
                <a:solidFill>
                  <a:srgbClr val="FF0000"/>
                </a:solidFill>
              </a:rPr>
              <a:t>Environmental Salinity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921E814-1C6D-4064-97DD-EC6ED51FDBE9}"/>
              </a:ext>
            </a:extLst>
          </p:cNvPr>
          <p:cNvGrpSpPr/>
          <p:nvPr/>
        </p:nvGrpSpPr>
        <p:grpSpPr>
          <a:xfrm>
            <a:off x="163417" y="1544581"/>
            <a:ext cx="7872288" cy="4880070"/>
            <a:chOff x="2133731" y="1544190"/>
            <a:chExt cx="7872288" cy="488007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171B6D-9BF9-4C62-B314-DF5215BFD0FA}"/>
                </a:ext>
              </a:extLst>
            </p:cNvPr>
            <p:cNvSpPr txBox="1"/>
            <p:nvPr/>
          </p:nvSpPr>
          <p:spPr>
            <a:xfrm>
              <a:off x="2133731" y="3306859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Difference Increases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7D90D92-A123-49DD-B2BD-EE8A346F6C77}"/>
                </a:ext>
              </a:extLst>
            </p:cNvPr>
            <p:cNvGrpSpPr/>
            <p:nvPr/>
          </p:nvGrpSpPr>
          <p:grpSpPr>
            <a:xfrm>
              <a:off x="6421445" y="1544190"/>
              <a:ext cx="3206878" cy="2122384"/>
              <a:chOff x="838200" y="3022686"/>
              <a:chExt cx="3206878" cy="2122384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A779920-CF11-4D59-B80A-B03713837036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3206878" cy="2122384"/>
                <a:chOff x="1017956" y="2071167"/>
                <a:chExt cx="1529814" cy="1576028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8D18AF52-BFAF-48B5-B2B1-0B187484509B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" name="Straight Arrow Connector 3">
                    <a:extLst>
                      <a:ext uri="{FF2B5EF4-FFF2-40B4-BE49-F238E27FC236}">
                        <a16:creationId xmlns:a16="http://schemas.microsoft.com/office/drawing/2014/main" id="{B22E02D0-5ED2-4C5C-88B0-AB1271CC05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Arrow Connector 15">
                    <a:extLst>
                      <a:ext uri="{FF2B5EF4-FFF2-40B4-BE49-F238E27FC236}">
                        <a16:creationId xmlns:a16="http://schemas.microsoft.com/office/drawing/2014/main" id="{363175B3-F9FC-4613-8420-FC6E53E2BA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846EC70-472A-4BAA-B0DF-DF746FA5BEEE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X</a:t>
                  </a:r>
                  <a:endParaRPr lang="en-US" sz="1200" b="1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A21425E-BE7C-4775-9678-FA1870CFE432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CD6EFE-6388-46FD-B5D9-9F27D743D2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1604" y="3257300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BBBAE9E-285B-43A3-A295-CB085E3B6977}"/>
                </a:ext>
              </a:extLst>
            </p:cNvPr>
            <p:cNvGrpSpPr/>
            <p:nvPr/>
          </p:nvGrpSpPr>
          <p:grpSpPr>
            <a:xfrm>
              <a:off x="2559977" y="1544190"/>
              <a:ext cx="3206878" cy="2122384"/>
              <a:chOff x="1017956" y="2071167"/>
              <a:chExt cx="1529814" cy="1576028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83104C3-DE64-4950-A669-7E17AC330525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544A03A3-DE47-4D21-A0F0-E55D689762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FD38DB0C-BEA8-412E-A5D4-779A66707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11EEBE-81EA-4D22-9EF9-00D5DD5ABE9A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83AEE3E-122F-4116-8C23-2640C052B0C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2C6AB0E-7188-423E-8387-D38453171891}"/>
                </a:ext>
              </a:extLst>
            </p:cNvPr>
            <p:cNvGrpSpPr/>
            <p:nvPr/>
          </p:nvGrpSpPr>
          <p:grpSpPr>
            <a:xfrm>
              <a:off x="2559977" y="4280016"/>
              <a:ext cx="3206878" cy="2122384"/>
              <a:chOff x="1017956" y="2071167"/>
              <a:chExt cx="1529814" cy="1576028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3020587-8EF8-4C95-8791-1A7FBC51CFB0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93C92D6C-B29D-4AFF-9D06-FADCFA2A4D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6BCBB532-6A6A-4D1F-B58A-0F0D3C5F0C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AEF06E-E078-4A24-83A6-AAF56CFC1C15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58F3AE-3C60-4BC4-8C7D-AF3E01C0EAE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78BB74E-3BBF-44FE-9679-AE12DB397043}"/>
                </a:ext>
              </a:extLst>
            </p:cNvPr>
            <p:cNvGrpSpPr/>
            <p:nvPr/>
          </p:nvGrpSpPr>
          <p:grpSpPr>
            <a:xfrm>
              <a:off x="6421445" y="4280016"/>
              <a:ext cx="3206878" cy="2122384"/>
              <a:chOff x="838200" y="3022686"/>
              <a:chExt cx="3206878" cy="2122384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6C006937-B937-4B81-A299-5CC7CAF49C2B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3206878" cy="2122384"/>
                <a:chOff x="1017956" y="2071167"/>
                <a:chExt cx="1529814" cy="1576028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5D0D43CB-7093-4DB1-BAEB-9862421454A5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7" name="Straight Arrow Connector 46">
                    <a:extLst>
                      <a:ext uri="{FF2B5EF4-FFF2-40B4-BE49-F238E27FC236}">
                        <a16:creationId xmlns:a16="http://schemas.microsoft.com/office/drawing/2014/main" id="{270BD38B-0785-406A-8340-5C54790592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Arrow Connector 47">
                    <a:extLst>
                      <a:ext uri="{FF2B5EF4-FFF2-40B4-BE49-F238E27FC236}">
                        <a16:creationId xmlns:a16="http://schemas.microsoft.com/office/drawing/2014/main" id="{3ED6467A-F770-4483-BD64-9B51558D0B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E6E9088-3FEC-4BF4-8540-4D0E59AD546A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X</a:t>
                  </a:r>
                  <a:endParaRPr lang="en-US" sz="1200" b="1" dirty="0"/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CD10605-A783-498F-A638-AA71D816BB7C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FE3D02F-73F3-4561-99C5-CFFFC5B94D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8904" y="3229922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EB7BD89-7CBB-49D2-8591-C4C0327AEF6E}"/>
                </a:ext>
              </a:extLst>
            </p:cNvPr>
            <p:cNvSpPr txBox="1"/>
            <p:nvPr/>
          </p:nvSpPr>
          <p:spPr>
            <a:xfrm>
              <a:off x="2133732" y="6029813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Difference Decreases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047D0D9F-6B88-4144-9DE0-A55754F0865C}"/>
                </a:ext>
              </a:extLst>
            </p:cNvPr>
            <p:cNvGrpSpPr/>
            <p:nvPr/>
          </p:nvGrpSpPr>
          <p:grpSpPr>
            <a:xfrm>
              <a:off x="2886605" y="1693727"/>
              <a:ext cx="2525485" cy="1513114"/>
              <a:chOff x="816429" y="1839686"/>
              <a:chExt cx="2525485" cy="1513114"/>
            </a:xfrm>
          </p:grpSpPr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FB9FB4A0-E4C0-4AB3-AEEB-1D487982B552}"/>
                  </a:ext>
                </a:extLst>
              </p:cNvPr>
              <p:cNvSpPr/>
              <p:nvPr/>
            </p:nvSpPr>
            <p:spPr>
              <a:xfrm>
                <a:off x="816429" y="2551399"/>
                <a:ext cx="2525485" cy="801401"/>
              </a:xfrm>
              <a:custGeom>
                <a:avLst/>
                <a:gdLst>
                  <a:gd name="connsiteX0" fmla="*/ 0 w 2525485"/>
                  <a:gd name="connsiteY0" fmla="*/ 801401 h 801401"/>
                  <a:gd name="connsiteX1" fmla="*/ 914400 w 2525485"/>
                  <a:gd name="connsiteY1" fmla="*/ 115601 h 801401"/>
                  <a:gd name="connsiteX2" fmla="*/ 2525485 w 2525485"/>
                  <a:gd name="connsiteY2" fmla="*/ 6744 h 801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25485" h="801401">
                    <a:moveTo>
                      <a:pt x="0" y="801401"/>
                    </a:moveTo>
                    <a:cubicBezTo>
                      <a:pt x="246743" y="524722"/>
                      <a:pt x="493486" y="248044"/>
                      <a:pt x="914400" y="115601"/>
                    </a:cubicBezTo>
                    <a:cubicBezTo>
                      <a:pt x="1335314" y="-16842"/>
                      <a:pt x="1930399" y="-5049"/>
                      <a:pt x="2525485" y="6744"/>
                    </a:cubicBezTo>
                  </a:path>
                </a:pathLst>
              </a:custGeom>
              <a:noFill/>
              <a:ln w="57150">
                <a:prstDash val="dash"/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7D9FA3F9-D286-449A-BD9D-273C564786E3}"/>
                  </a:ext>
                </a:extLst>
              </p:cNvPr>
              <p:cNvSpPr/>
              <p:nvPr/>
            </p:nvSpPr>
            <p:spPr>
              <a:xfrm>
                <a:off x="849086" y="1839686"/>
                <a:ext cx="2362200" cy="1502228"/>
              </a:xfrm>
              <a:custGeom>
                <a:avLst/>
                <a:gdLst>
                  <a:gd name="connsiteX0" fmla="*/ 0 w 2362200"/>
                  <a:gd name="connsiteY0" fmla="*/ 1502228 h 1502228"/>
                  <a:gd name="connsiteX1" fmla="*/ 1034143 w 2362200"/>
                  <a:gd name="connsiteY1" fmla="*/ 783771 h 1502228"/>
                  <a:gd name="connsiteX2" fmla="*/ 2362200 w 2362200"/>
                  <a:gd name="connsiteY2" fmla="*/ 0 h 1502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62200" h="1502228">
                    <a:moveTo>
                      <a:pt x="0" y="1502228"/>
                    </a:moveTo>
                    <a:cubicBezTo>
                      <a:pt x="320221" y="1268185"/>
                      <a:pt x="640443" y="1034142"/>
                      <a:pt x="1034143" y="783771"/>
                    </a:cubicBezTo>
                    <a:cubicBezTo>
                      <a:pt x="1427843" y="533400"/>
                      <a:pt x="1895021" y="266700"/>
                      <a:pt x="2362200" y="0"/>
                    </a:cubicBezTo>
                  </a:path>
                </a:pathLst>
              </a:custGeom>
              <a:noFill/>
              <a:ln w="57150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1DAA1C32-A862-4BD7-94DB-8A72527C39D5}"/>
                </a:ext>
              </a:extLst>
            </p:cNvPr>
            <p:cNvGrpSpPr/>
            <p:nvPr/>
          </p:nvGrpSpPr>
          <p:grpSpPr>
            <a:xfrm flipH="1" flipV="1">
              <a:off x="2891669" y="4467343"/>
              <a:ext cx="2525485" cy="1513114"/>
              <a:chOff x="816429" y="1839686"/>
              <a:chExt cx="2525485" cy="1513114"/>
            </a:xfrm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DBAEF198-4B3E-42E4-9C6B-0B3114A639D3}"/>
                  </a:ext>
                </a:extLst>
              </p:cNvPr>
              <p:cNvSpPr/>
              <p:nvPr/>
            </p:nvSpPr>
            <p:spPr>
              <a:xfrm>
                <a:off x="816429" y="2551399"/>
                <a:ext cx="2525485" cy="801401"/>
              </a:xfrm>
              <a:custGeom>
                <a:avLst/>
                <a:gdLst>
                  <a:gd name="connsiteX0" fmla="*/ 0 w 2525485"/>
                  <a:gd name="connsiteY0" fmla="*/ 801401 h 801401"/>
                  <a:gd name="connsiteX1" fmla="*/ 914400 w 2525485"/>
                  <a:gd name="connsiteY1" fmla="*/ 115601 h 801401"/>
                  <a:gd name="connsiteX2" fmla="*/ 2525485 w 2525485"/>
                  <a:gd name="connsiteY2" fmla="*/ 6744 h 801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25485" h="801401">
                    <a:moveTo>
                      <a:pt x="0" y="801401"/>
                    </a:moveTo>
                    <a:cubicBezTo>
                      <a:pt x="246743" y="524722"/>
                      <a:pt x="493486" y="248044"/>
                      <a:pt x="914400" y="115601"/>
                    </a:cubicBezTo>
                    <a:cubicBezTo>
                      <a:pt x="1335314" y="-16842"/>
                      <a:pt x="1930399" y="-5049"/>
                      <a:pt x="2525485" y="6744"/>
                    </a:cubicBezTo>
                  </a:path>
                </a:pathLst>
              </a:custGeom>
              <a:noFill/>
              <a:ln w="57150">
                <a:prstDash val="dash"/>
                <a:headEnd type="triangle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4EA758D1-C3BB-4D41-9642-8C6CFAFFA6AD}"/>
                  </a:ext>
                </a:extLst>
              </p:cNvPr>
              <p:cNvSpPr/>
              <p:nvPr/>
            </p:nvSpPr>
            <p:spPr>
              <a:xfrm>
                <a:off x="849086" y="1839686"/>
                <a:ext cx="2362200" cy="1502228"/>
              </a:xfrm>
              <a:custGeom>
                <a:avLst/>
                <a:gdLst>
                  <a:gd name="connsiteX0" fmla="*/ 0 w 2362200"/>
                  <a:gd name="connsiteY0" fmla="*/ 1502228 h 1502228"/>
                  <a:gd name="connsiteX1" fmla="*/ 1034143 w 2362200"/>
                  <a:gd name="connsiteY1" fmla="*/ 783771 h 1502228"/>
                  <a:gd name="connsiteX2" fmla="*/ 2362200 w 2362200"/>
                  <a:gd name="connsiteY2" fmla="*/ 0 h 1502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62200" h="1502228">
                    <a:moveTo>
                      <a:pt x="0" y="1502228"/>
                    </a:moveTo>
                    <a:cubicBezTo>
                      <a:pt x="320221" y="1268185"/>
                      <a:pt x="640443" y="1034142"/>
                      <a:pt x="1034143" y="783771"/>
                    </a:cubicBezTo>
                    <a:cubicBezTo>
                      <a:pt x="1427843" y="533400"/>
                      <a:pt x="1895021" y="266700"/>
                      <a:pt x="2362200" y="0"/>
                    </a:cubicBezTo>
                  </a:path>
                </a:pathLst>
              </a:custGeom>
              <a:noFill/>
              <a:ln w="57150">
                <a:solidFill>
                  <a:srgbClr val="FF0000"/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5D1842CE-9AA4-44CC-BA69-A7DC7D47846F}"/>
                </a:ext>
              </a:extLst>
            </p:cNvPr>
            <p:cNvSpPr/>
            <p:nvPr/>
          </p:nvSpPr>
          <p:spPr>
            <a:xfrm>
              <a:off x="5864523" y="2209212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Arrow: Right 61">
              <a:extLst>
                <a:ext uri="{FF2B5EF4-FFF2-40B4-BE49-F238E27FC236}">
                  <a16:creationId xmlns:a16="http://schemas.microsoft.com/office/drawing/2014/main" id="{ECE887C5-5FFC-43D2-B2F6-BF533791B824}"/>
                </a:ext>
              </a:extLst>
            </p:cNvPr>
            <p:cNvSpPr/>
            <p:nvPr/>
          </p:nvSpPr>
          <p:spPr>
            <a:xfrm>
              <a:off x="5864523" y="4920022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E1A0054-BC40-4DDB-A3E8-4EDF67E99336}"/>
                </a:ext>
              </a:extLst>
            </p:cNvPr>
            <p:cNvSpPr txBox="1"/>
            <p:nvPr/>
          </p:nvSpPr>
          <p:spPr>
            <a:xfrm>
              <a:off x="6043749" y="3331974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Stress Increases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DB5BBB-3C2C-4419-9C5D-D1F1C303675D}"/>
                </a:ext>
              </a:extLst>
            </p:cNvPr>
            <p:cNvSpPr txBox="1"/>
            <p:nvPr/>
          </p:nvSpPr>
          <p:spPr>
            <a:xfrm>
              <a:off x="6043750" y="6054928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Stress Decreases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C7B507B2-0C0D-4444-B2FA-14A2A865D3BC}"/>
              </a:ext>
            </a:extLst>
          </p:cNvPr>
          <p:cNvSpPr txBox="1"/>
          <p:nvPr/>
        </p:nvSpPr>
        <p:spPr>
          <a:xfrm>
            <a:off x="8395461" y="1416612"/>
            <a:ext cx="2944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Ecological Implication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2C2C97F-E0BB-4B84-8F17-21434DB4D4F0}"/>
              </a:ext>
            </a:extLst>
          </p:cNvPr>
          <p:cNvSpPr txBox="1"/>
          <p:nvPr/>
        </p:nvSpPr>
        <p:spPr>
          <a:xfrm>
            <a:off x="8395461" y="2028264"/>
            <a:ext cx="30792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Individual osmoregulation processes cannot keep up with maintaining homeostasis of the fish and salinity stress increases.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3204463-A0B0-42D7-A4D7-A19FDF02E520}"/>
              </a:ext>
            </a:extLst>
          </p:cNvPr>
          <p:cNvCxnSpPr/>
          <p:nvPr/>
        </p:nvCxnSpPr>
        <p:spPr>
          <a:xfrm>
            <a:off x="8468255" y="1856505"/>
            <a:ext cx="27989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5EC2463-A61B-444D-9BD1-BA9C6AA1F533}"/>
              </a:ext>
            </a:extLst>
          </p:cNvPr>
          <p:cNvSpPr txBox="1"/>
          <p:nvPr/>
        </p:nvSpPr>
        <p:spPr>
          <a:xfrm>
            <a:off x="8395461" y="4622804"/>
            <a:ext cx="3079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Fish is maintaining homeostasis and salinity stress decreases.</a:t>
            </a:r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416ACCBD-8061-4D1A-855F-42CA7E05F768}"/>
              </a:ext>
            </a:extLst>
          </p:cNvPr>
          <p:cNvSpPr/>
          <p:nvPr/>
        </p:nvSpPr>
        <p:spPr>
          <a:xfrm>
            <a:off x="7638560" y="2209603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2AE67B58-9666-4E02-87F9-23A14C76794A}"/>
              </a:ext>
            </a:extLst>
          </p:cNvPr>
          <p:cNvSpPr/>
          <p:nvPr/>
        </p:nvSpPr>
        <p:spPr>
          <a:xfrm>
            <a:off x="7638560" y="4920413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AA5A6-97DC-4500-BBD2-62D975E18BDC}"/>
              </a:ext>
            </a:extLst>
          </p:cNvPr>
          <p:cNvSpPr txBox="1"/>
          <p:nvPr/>
        </p:nvSpPr>
        <p:spPr>
          <a:xfrm rot="16200000">
            <a:off x="-1236790" y="3570480"/>
            <a:ext cx="3214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Dependent on Acclimation Rate</a:t>
            </a:r>
          </a:p>
        </p:txBody>
      </p:sp>
    </p:spTree>
    <p:extLst>
      <p:ext uri="{BB962C8B-B14F-4D97-AF65-F5344CB8AC3E}">
        <p14:creationId xmlns:p14="http://schemas.microsoft.com/office/powerpoint/2010/main" val="1425602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3. Fish Calculate Chloride Cells Needed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921E814-1C6D-4064-97DD-EC6ED51FDBE9}"/>
              </a:ext>
            </a:extLst>
          </p:cNvPr>
          <p:cNvGrpSpPr/>
          <p:nvPr/>
        </p:nvGrpSpPr>
        <p:grpSpPr>
          <a:xfrm>
            <a:off x="134842" y="1259272"/>
            <a:ext cx="7674575" cy="4880070"/>
            <a:chOff x="2133731" y="1544190"/>
            <a:chExt cx="7674575" cy="488007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171B6D-9BF9-4C62-B314-DF5215BFD0FA}"/>
                </a:ext>
              </a:extLst>
            </p:cNvPr>
            <p:cNvSpPr txBox="1"/>
            <p:nvPr/>
          </p:nvSpPr>
          <p:spPr>
            <a:xfrm>
              <a:off x="2133731" y="3306859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Stress Increases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7D90D92-A123-49DD-B2BD-EE8A346F6C77}"/>
                </a:ext>
              </a:extLst>
            </p:cNvPr>
            <p:cNvGrpSpPr/>
            <p:nvPr/>
          </p:nvGrpSpPr>
          <p:grpSpPr>
            <a:xfrm>
              <a:off x="6421445" y="1544190"/>
              <a:ext cx="3206878" cy="2122384"/>
              <a:chOff x="838200" y="3022686"/>
              <a:chExt cx="3206878" cy="2122384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A779920-CF11-4D59-B80A-B03713837036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3206878" cy="2122384"/>
                <a:chOff x="1017956" y="2071167"/>
                <a:chExt cx="1529814" cy="1576028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8D18AF52-BFAF-48B5-B2B1-0B187484509B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" name="Straight Arrow Connector 3">
                    <a:extLst>
                      <a:ext uri="{FF2B5EF4-FFF2-40B4-BE49-F238E27FC236}">
                        <a16:creationId xmlns:a16="http://schemas.microsoft.com/office/drawing/2014/main" id="{B22E02D0-5ED2-4C5C-88B0-AB1271CC05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Arrow Connector 15">
                    <a:extLst>
                      <a:ext uri="{FF2B5EF4-FFF2-40B4-BE49-F238E27FC236}">
                        <a16:creationId xmlns:a16="http://schemas.microsoft.com/office/drawing/2014/main" id="{363175B3-F9FC-4613-8420-FC6E53E2BA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846EC70-472A-4BAA-B0DF-DF746FA5BEEE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X</a:t>
                  </a:r>
                  <a:endParaRPr lang="en-US" sz="1200" b="1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A21425E-BE7C-4775-9678-FA1870CFE432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CD6EFE-6388-46FD-B5D9-9F27D743D2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1604" y="3257300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BBBAE9E-285B-43A3-A295-CB085E3B6977}"/>
                </a:ext>
              </a:extLst>
            </p:cNvPr>
            <p:cNvGrpSpPr/>
            <p:nvPr/>
          </p:nvGrpSpPr>
          <p:grpSpPr>
            <a:xfrm>
              <a:off x="2559977" y="1544190"/>
              <a:ext cx="3206878" cy="2122384"/>
              <a:chOff x="1017956" y="2071167"/>
              <a:chExt cx="1529814" cy="1576028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83104C3-DE64-4950-A669-7E17AC330525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544A03A3-DE47-4D21-A0F0-E55D689762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FD38DB0C-BEA8-412E-A5D4-779A66707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11EEBE-81EA-4D22-9EF9-00D5DD5ABE9A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83AEE3E-122F-4116-8C23-2640C052B0C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2C6AB0E-7188-423E-8387-D38453171891}"/>
                </a:ext>
              </a:extLst>
            </p:cNvPr>
            <p:cNvGrpSpPr/>
            <p:nvPr/>
          </p:nvGrpSpPr>
          <p:grpSpPr>
            <a:xfrm>
              <a:off x="2559977" y="4280016"/>
              <a:ext cx="3206878" cy="2122384"/>
              <a:chOff x="1017956" y="2071167"/>
              <a:chExt cx="1529814" cy="1576028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3020587-8EF8-4C95-8791-1A7FBC51CFB0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93C92D6C-B29D-4AFF-9D06-FADCFA2A4D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6BCBB532-6A6A-4D1F-B58A-0F0D3C5F0C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AEF06E-E078-4A24-83A6-AAF56CFC1C15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58F3AE-3C60-4BC4-8C7D-AF3E01C0EAE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78BB74E-3BBF-44FE-9679-AE12DB397043}"/>
                </a:ext>
              </a:extLst>
            </p:cNvPr>
            <p:cNvGrpSpPr/>
            <p:nvPr/>
          </p:nvGrpSpPr>
          <p:grpSpPr>
            <a:xfrm>
              <a:off x="6421445" y="4280016"/>
              <a:ext cx="3206878" cy="2122384"/>
              <a:chOff x="838200" y="3022686"/>
              <a:chExt cx="3206878" cy="2122384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6C006937-B937-4B81-A299-5CC7CAF49C2B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3206878" cy="2122384"/>
                <a:chOff x="1017956" y="2071167"/>
                <a:chExt cx="1529814" cy="1576028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5D0D43CB-7093-4DB1-BAEB-9862421454A5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7" name="Straight Arrow Connector 46">
                    <a:extLst>
                      <a:ext uri="{FF2B5EF4-FFF2-40B4-BE49-F238E27FC236}">
                        <a16:creationId xmlns:a16="http://schemas.microsoft.com/office/drawing/2014/main" id="{270BD38B-0785-406A-8340-5C54790592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Arrow Connector 47">
                    <a:extLst>
                      <a:ext uri="{FF2B5EF4-FFF2-40B4-BE49-F238E27FC236}">
                        <a16:creationId xmlns:a16="http://schemas.microsoft.com/office/drawing/2014/main" id="{3ED6467A-F770-4483-BD64-9B51558D0B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E6E9088-3FEC-4BF4-8540-4D0E59AD546A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X</a:t>
                  </a:r>
                  <a:endParaRPr lang="en-US" sz="1200" b="1" dirty="0"/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CD10605-A783-498F-A638-AA71D816BB7C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FE3D02F-73F3-4561-99C5-CFFFC5B94D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8904" y="3229922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EB7BD89-7CBB-49D2-8591-C4C0327AEF6E}"/>
                </a:ext>
              </a:extLst>
            </p:cNvPr>
            <p:cNvSpPr txBox="1"/>
            <p:nvPr/>
          </p:nvSpPr>
          <p:spPr>
            <a:xfrm>
              <a:off x="2133732" y="6029813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Stress Decreases</a:t>
              </a:r>
            </a:p>
          </p:txBody>
        </p: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5D1842CE-9AA4-44CC-BA69-A7DC7D47846F}"/>
                </a:ext>
              </a:extLst>
            </p:cNvPr>
            <p:cNvSpPr/>
            <p:nvPr/>
          </p:nvSpPr>
          <p:spPr>
            <a:xfrm>
              <a:off x="5864523" y="2209212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Arrow: Right 61">
              <a:extLst>
                <a:ext uri="{FF2B5EF4-FFF2-40B4-BE49-F238E27FC236}">
                  <a16:creationId xmlns:a16="http://schemas.microsoft.com/office/drawing/2014/main" id="{ECE887C5-5FFC-43D2-B2F6-BF533791B824}"/>
                </a:ext>
              </a:extLst>
            </p:cNvPr>
            <p:cNvSpPr/>
            <p:nvPr/>
          </p:nvSpPr>
          <p:spPr>
            <a:xfrm>
              <a:off x="5864523" y="4920022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E1A0054-BC40-4DDB-A3E8-4EDF67E99336}"/>
                </a:ext>
              </a:extLst>
            </p:cNvPr>
            <p:cNvSpPr txBox="1"/>
            <p:nvPr/>
          </p:nvSpPr>
          <p:spPr>
            <a:xfrm>
              <a:off x="5766855" y="3308172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Chloride Cells Increase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DB5BBB-3C2C-4419-9C5D-D1F1C303675D}"/>
                </a:ext>
              </a:extLst>
            </p:cNvPr>
            <p:cNvSpPr txBox="1"/>
            <p:nvPr/>
          </p:nvSpPr>
          <p:spPr>
            <a:xfrm>
              <a:off x="5846037" y="6054928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Chloride Cells Decrease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C7B507B2-0C0D-4444-B2FA-14A2A865D3BC}"/>
              </a:ext>
            </a:extLst>
          </p:cNvPr>
          <p:cNvSpPr txBox="1"/>
          <p:nvPr/>
        </p:nvSpPr>
        <p:spPr>
          <a:xfrm>
            <a:off x="8366886" y="1131303"/>
            <a:ext cx="2944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Ecological Implication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2C2C97F-E0BB-4B84-8F17-21434DB4D4F0}"/>
              </a:ext>
            </a:extLst>
          </p:cNvPr>
          <p:cNvSpPr txBox="1"/>
          <p:nvPr/>
        </p:nvSpPr>
        <p:spPr>
          <a:xfrm>
            <a:off x="8366886" y="1742955"/>
            <a:ext cx="30792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Stress initializes the creation of new chloride cells to keep up with osmoregulation and maintain homeostasis, limited by a fish’s cell growth rate.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3204463-A0B0-42D7-A4D7-A19FDF02E520}"/>
              </a:ext>
            </a:extLst>
          </p:cNvPr>
          <p:cNvCxnSpPr/>
          <p:nvPr/>
        </p:nvCxnSpPr>
        <p:spPr>
          <a:xfrm>
            <a:off x="8439680" y="1571196"/>
            <a:ext cx="27989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5EC2463-A61B-444D-9BD1-BA9C6AA1F533}"/>
              </a:ext>
            </a:extLst>
          </p:cNvPr>
          <p:cNvSpPr txBox="1"/>
          <p:nvPr/>
        </p:nvSpPr>
        <p:spPr>
          <a:xfrm>
            <a:off x="8439680" y="4338817"/>
            <a:ext cx="3079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Fish can remove excess chloride cells that are not needed to maintain homeostasis.</a:t>
            </a:r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416ACCBD-8061-4D1A-855F-42CA7E05F768}"/>
              </a:ext>
            </a:extLst>
          </p:cNvPr>
          <p:cNvSpPr/>
          <p:nvPr/>
        </p:nvSpPr>
        <p:spPr>
          <a:xfrm>
            <a:off x="7609985" y="1924294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2AE67B58-9666-4E02-87F9-23A14C76794A}"/>
              </a:ext>
            </a:extLst>
          </p:cNvPr>
          <p:cNvSpPr/>
          <p:nvPr/>
        </p:nvSpPr>
        <p:spPr>
          <a:xfrm>
            <a:off x="7609985" y="4635104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C6C5D0F-AD40-4942-BA1B-A2E7B44F8B4C}"/>
              </a:ext>
            </a:extLst>
          </p:cNvPr>
          <p:cNvCxnSpPr>
            <a:cxnSpLocks/>
          </p:cNvCxnSpPr>
          <p:nvPr/>
        </p:nvCxnSpPr>
        <p:spPr>
          <a:xfrm flipV="1">
            <a:off x="966131" y="1462404"/>
            <a:ext cx="2104647" cy="1473296"/>
          </a:xfrm>
          <a:prstGeom prst="line">
            <a:avLst/>
          </a:prstGeom>
          <a:ln w="57150">
            <a:solidFill>
              <a:schemeClr val="tx1"/>
            </a:solidFill>
            <a:prstDash val="dash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BA202DA6-8BC6-407C-BDD8-F8BFE422BCFE}"/>
              </a:ext>
            </a:extLst>
          </p:cNvPr>
          <p:cNvGrpSpPr/>
          <p:nvPr/>
        </p:nvGrpSpPr>
        <p:grpSpPr>
          <a:xfrm>
            <a:off x="5473461" y="1848713"/>
            <a:ext cx="1432272" cy="1059588"/>
            <a:chOff x="5502036" y="2134022"/>
            <a:chExt cx="1432272" cy="1059588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746C95B-D07D-4146-9BAD-50C879F18AF6}"/>
                </a:ext>
              </a:extLst>
            </p:cNvPr>
            <p:cNvSpPr/>
            <p:nvPr/>
          </p:nvSpPr>
          <p:spPr>
            <a:xfrm>
              <a:off x="5826383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0E26F34-7EBC-4845-9DEE-0E7E8D3FD37F}"/>
                </a:ext>
              </a:extLst>
            </p:cNvPr>
            <p:cNvSpPr/>
            <p:nvPr/>
          </p:nvSpPr>
          <p:spPr>
            <a:xfrm>
              <a:off x="5502036" y="3028927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B27854B-936E-44D6-8F96-D15042888292}"/>
                </a:ext>
              </a:extLst>
            </p:cNvPr>
            <p:cNvSpPr/>
            <p:nvPr/>
          </p:nvSpPr>
          <p:spPr>
            <a:xfrm>
              <a:off x="5826383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13B3EAE-7436-4CF3-B58F-F5F247196576}"/>
                </a:ext>
              </a:extLst>
            </p:cNvPr>
            <p:cNvSpPr/>
            <p:nvPr/>
          </p:nvSpPr>
          <p:spPr>
            <a:xfrm>
              <a:off x="6151077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684138E-A41E-4CA2-8A6D-1B533110F128}"/>
                </a:ext>
              </a:extLst>
            </p:cNvPr>
            <p:cNvSpPr/>
            <p:nvPr/>
          </p:nvSpPr>
          <p:spPr>
            <a:xfrm>
              <a:off x="6151077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63EEE6C-2459-41B5-9862-F24840A2031C}"/>
                </a:ext>
              </a:extLst>
            </p:cNvPr>
            <p:cNvSpPr/>
            <p:nvPr/>
          </p:nvSpPr>
          <p:spPr>
            <a:xfrm>
              <a:off x="6153367" y="2583913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DC5B107-0ACA-4AB5-A2A4-35AE032199DA}"/>
                </a:ext>
              </a:extLst>
            </p:cNvPr>
            <p:cNvSpPr/>
            <p:nvPr/>
          </p:nvSpPr>
          <p:spPr>
            <a:xfrm>
              <a:off x="6475366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7F112A3-F5BF-4680-A880-31E17AD8A9C0}"/>
                </a:ext>
              </a:extLst>
            </p:cNvPr>
            <p:cNvSpPr/>
            <p:nvPr/>
          </p:nvSpPr>
          <p:spPr>
            <a:xfrm>
              <a:off x="6475366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EFFF08C-6AF6-4A9F-ADF6-2A556FB9FEF2}"/>
                </a:ext>
              </a:extLst>
            </p:cNvPr>
            <p:cNvSpPr/>
            <p:nvPr/>
          </p:nvSpPr>
          <p:spPr>
            <a:xfrm>
              <a:off x="6477656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13461634-4898-4FBA-8BAA-7AD5BC413C4F}"/>
                </a:ext>
              </a:extLst>
            </p:cNvPr>
            <p:cNvSpPr/>
            <p:nvPr/>
          </p:nvSpPr>
          <p:spPr>
            <a:xfrm>
              <a:off x="6472729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D60FF05-B79D-45E5-9852-2EFCFD7A107C}"/>
                </a:ext>
              </a:extLst>
            </p:cNvPr>
            <p:cNvSpPr/>
            <p:nvPr/>
          </p:nvSpPr>
          <p:spPr>
            <a:xfrm>
              <a:off x="6788720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DA23FD79-61BE-4956-B759-05EABE7DEE0B}"/>
                </a:ext>
              </a:extLst>
            </p:cNvPr>
            <p:cNvSpPr/>
            <p:nvPr/>
          </p:nvSpPr>
          <p:spPr>
            <a:xfrm>
              <a:off x="6788720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F384603-87B8-4E50-BEA5-5FB8372FE51D}"/>
                </a:ext>
              </a:extLst>
            </p:cNvPr>
            <p:cNvSpPr/>
            <p:nvPr/>
          </p:nvSpPr>
          <p:spPr>
            <a:xfrm>
              <a:off x="6791010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8F36C5D-3828-4AD5-9A7C-3016F8F642D1}"/>
                </a:ext>
              </a:extLst>
            </p:cNvPr>
            <p:cNvSpPr/>
            <p:nvPr/>
          </p:nvSpPr>
          <p:spPr>
            <a:xfrm>
              <a:off x="6786083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30F5022-3E1A-4B5C-A7A4-B52879FD9680}"/>
                </a:ext>
              </a:extLst>
            </p:cNvPr>
            <p:cNvSpPr/>
            <p:nvPr/>
          </p:nvSpPr>
          <p:spPr>
            <a:xfrm>
              <a:off x="6786083" y="2134022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CA75C4E9-5749-4D8F-B3A1-64758DBAD4CC}"/>
              </a:ext>
            </a:extLst>
          </p:cNvPr>
          <p:cNvGrpSpPr/>
          <p:nvPr/>
        </p:nvGrpSpPr>
        <p:grpSpPr>
          <a:xfrm flipH="1">
            <a:off x="4825552" y="4603549"/>
            <a:ext cx="1432272" cy="1059588"/>
            <a:chOff x="5502036" y="2134022"/>
            <a:chExt cx="1432272" cy="1059588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1F5454D3-382B-43C4-84DE-5002D67C2270}"/>
                </a:ext>
              </a:extLst>
            </p:cNvPr>
            <p:cNvSpPr/>
            <p:nvPr/>
          </p:nvSpPr>
          <p:spPr>
            <a:xfrm>
              <a:off x="5826383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113C4B1F-8D9C-46CC-A4F8-5EB66CB7E1E0}"/>
                </a:ext>
              </a:extLst>
            </p:cNvPr>
            <p:cNvSpPr/>
            <p:nvPr/>
          </p:nvSpPr>
          <p:spPr>
            <a:xfrm>
              <a:off x="5502036" y="3028927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30D505F7-C97E-409A-A828-35754A23BCB1}"/>
                </a:ext>
              </a:extLst>
            </p:cNvPr>
            <p:cNvSpPr/>
            <p:nvPr/>
          </p:nvSpPr>
          <p:spPr>
            <a:xfrm>
              <a:off x="5826383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B920B96F-B68E-4BF8-A41B-E9ED65D9DF4D}"/>
                </a:ext>
              </a:extLst>
            </p:cNvPr>
            <p:cNvSpPr/>
            <p:nvPr/>
          </p:nvSpPr>
          <p:spPr>
            <a:xfrm>
              <a:off x="6151077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E2F19113-10E8-4582-91F8-573DFC509422}"/>
                </a:ext>
              </a:extLst>
            </p:cNvPr>
            <p:cNvSpPr/>
            <p:nvPr/>
          </p:nvSpPr>
          <p:spPr>
            <a:xfrm>
              <a:off x="6151077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EFB832D-0C2B-4EB8-9300-6B4FE893CE72}"/>
                </a:ext>
              </a:extLst>
            </p:cNvPr>
            <p:cNvSpPr/>
            <p:nvPr/>
          </p:nvSpPr>
          <p:spPr>
            <a:xfrm>
              <a:off x="6153367" y="2583913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172EF418-EA84-48A2-ACB9-28474B00E8CC}"/>
                </a:ext>
              </a:extLst>
            </p:cNvPr>
            <p:cNvSpPr/>
            <p:nvPr/>
          </p:nvSpPr>
          <p:spPr>
            <a:xfrm>
              <a:off x="6475366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4F7AC3C2-B627-4BC2-92B7-ACB17CAF76FC}"/>
                </a:ext>
              </a:extLst>
            </p:cNvPr>
            <p:cNvSpPr/>
            <p:nvPr/>
          </p:nvSpPr>
          <p:spPr>
            <a:xfrm>
              <a:off x="6475366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32C473A-508D-43DB-AC79-6D05C5CE3813}"/>
                </a:ext>
              </a:extLst>
            </p:cNvPr>
            <p:cNvSpPr/>
            <p:nvPr/>
          </p:nvSpPr>
          <p:spPr>
            <a:xfrm>
              <a:off x="6477656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78478DEA-1DB4-475A-BDD0-528D90D8A0CD}"/>
                </a:ext>
              </a:extLst>
            </p:cNvPr>
            <p:cNvSpPr/>
            <p:nvPr/>
          </p:nvSpPr>
          <p:spPr>
            <a:xfrm>
              <a:off x="6472729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93B4777E-B36B-4A17-B8AE-6B80895E380D}"/>
                </a:ext>
              </a:extLst>
            </p:cNvPr>
            <p:cNvSpPr/>
            <p:nvPr/>
          </p:nvSpPr>
          <p:spPr>
            <a:xfrm>
              <a:off x="6788720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0616FF3E-81C2-495E-9649-BD76D689FCDD}"/>
                </a:ext>
              </a:extLst>
            </p:cNvPr>
            <p:cNvSpPr/>
            <p:nvPr/>
          </p:nvSpPr>
          <p:spPr>
            <a:xfrm>
              <a:off x="6788720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541E6EEB-E34A-4173-BB60-58287DE8EC0E}"/>
                </a:ext>
              </a:extLst>
            </p:cNvPr>
            <p:cNvSpPr/>
            <p:nvPr/>
          </p:nvSpPr>
          <p:spPr>
            <a:xfrm>
              <a:off x="6791010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4334863-EBB4-473F-962C-4E1E7FD7AB1C}"/>
                </a:ext>
              </a:extLst>
            </p:cNvPr>
            <p:cNvSpPr/>
            <p:nvPr/>
          </p:nvSpPr>
          <p:spPr>
            <a:xfrm>
              <a:off x="6786083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08FA632-9F64-4A22-8D6C-31AC4BDC427B}"/>
                </a:ext>
              </a:extLst>
            </p:cNvPr>
            <p:cNvSpPr/>
            <p:nvPr/>
          </p:nvSpPr>
          <p:spPr>
            <a:xfrm>
              <a:off x="6786083" y="2134022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3F4814C-E017-4E08-9DC1-B55664619FB3}"/>
              </a:ext>
            </a:extLst>
          </p:cNvPr>
          <p:cNvGrpSpPr/>
          <p:nvPr/>
        </p:nvGrpSpPr>
        <p:grpSpPr>
          <a:xfrm>
            <a:off x="8263956" y="5884420"/>
            <a:ext cx="2198669" cy="414473"/>
            <a:chOff x="1049389" y="571517"/>
            <a:chExt cx="2198669" cy="414473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71C7FB7-EFCF-4F49-A34A-67809E7EC287}"/>
                </a:ext>
              </a:extLst>
            </p:cNvPr>
            <p:cNvSpPr txBox="1"/>
            <p:nvPr/>
          </p:nvSpPr>
          <p:spPr>
            <a:xfrm>
              <a:off x="1768166" y="616658"/>
              <a:ext cx="1479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/>
                <a:t>Chloride Cells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0796F2B-E0EF-464D-AC4C-9F0375015C51}"/>
                </a:ext>
              </a:extLst>
            </p:cNvPr>
            <p:cNvSpPr/>
            <p:nvPr/>
          </p:nvSpPr>
          <p:spPr>
            <a:xfrm>
              <a:off x="1049389" y="571517"/>
              <a:ext cx="483429" cy="414473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9FC667E1-5138-46F4-97AC-AB99F9212BF7}"/>
              </a:ext>
            </a:extLst>
          </p:cNvPr>
          <p:cNvCxnSpPr>
            <a:cxnSpLocks/>
          </p:cNvCxnSpPr>
          <p:nvPr/>
        </p:nvCxnSpPr>
        <p:spPr>
          <a:xfrm>
            <a:off x="4825552" y="4409571"/>
            <a:ext cx="1713883" cy="1226442"/>
          </a:xfrm>
          <a:prstGeom prst="line">
            <a:avLst/>
          </a:prstGeom>
          <a:ln w="57150">
            <a:solidFill>
              <a:schemeClr val="accent2"/>
            </a:solidFill>
            <a:prstDash val="sys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B230CA9C-F037-47E8-9389-3E23975AE2FA}"/>
              </a:ext>
            </a:extLst>
          </p:cNvPr>
          <p:cNvCxnSpPr>
            <a:cxnSpLocks/>
          </p:cNvCxnSpPr>
          <p:nvPr/>
        </p:nvCxnSpPr>
        <p:spPr>
          <a:xfrm flipV="1">
            <a:off x="5118381" y="1714371"/>
            <a:ext cx="1690253" cy="1213197"/>
          </a:xfrm>
          <a:prstGeom prst="line">
            <a:avLst/>
          </a:prstGeom>
          <a:ln w="57150">
            <a:solidFill>
              <a:schemeClr val="accent2"/>
            </a:solidFill>
            <a:prstDash val="sys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4485804-D1CF-4920-BAC4-A7DF438BFFFF}"/>
              </a:ext>
            </a:extLst>
          </p:cNvPr>
          <p:cNvGrpSpPr/>
          <p:nvPr/>
        </p:nvGrpSpPr>
        <p:grpSpPr>
          <a:xfrm>
            <a:off x="8209696" y="6369803"/>
            <a:ext cx="3969041" cy="369332"/>
            <a:chOff x="936278" y="804982"/>
            <a:chExt cx="3969041" cy="369332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B307DEC-4D35-4BCD-B49B-EF51913CD290}"/>
                </a:ext>
              </a:extLst>
            </p:cNvPr>
            <p:cNvCxnSpPr/>
            <p:nvPr/>
          </p:nvCxnSpPr>
          <p:spPr>
            <a:xfrm>
              <a:off x="936278" y="989648"/>
              <a:ext cx="591951" cy="0"/>
            </a:xfrm>
            <a:prstGeom prst="line">
              <a:avLst/>
            </a:prstGeom>
            <a:ln w="76200">
              <a:solidFill>
                <a:schemeClr val="accent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797B358F-C7E6-41FC-AE0A-B72EC13CB5C6}"/>
                </a:ext>
              </a:extLst>
            </p:cNvPr>
            <p:cNvSpPr txBox="1"/>
            <p:nvPr/>
          </p:nvSpPr>
          <p:spPr>
            <a:xfrm>
              <a:off x="1709315" y="804982"/>
              <a:ext cx="31960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/>
                <a:t>Max Rate of Cell Growth/Decay</a:t>
              </a:r>
            </a:p>
          </p:txBody>
        </p:sp>
      </p:grp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EBA4FA3-8519-4F04-97FD-478963B9B72D}"/>
              </a:ext>
            </a:extLst>
          </p:cNvPr>
          <p:cNvCxnSpPr>
            <a:cxnSpLocks/>
          </p:cNvCxnSpPr>
          <p:nvPr/>
        </p:nvCxnSpPr>
        <p:spPr>
          <a:xfrm>
            <a:off x="956784" y="4184052"/>
            <a:ext cx="2104647" cy="1473296"/>
          </a:xfrm>
          <a:prstGeom prst="line">
            <a:avLst/>
          </a:prstGeom>
          <a:ln w="57150">
            <a:solidFill>
              <a:schemeClr val="tx1"/>
            </a:solidFill>
            <a:prstDash val="dash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37C20FEA-48B5-4288-8C5B-4523310E3412}"/>
              </a:ext>
            </a:extLst>
          </p:cNvPr>
          <p:cNvSpPr txBox="1"/>
          <p:nvPr/>
        </p:nvSpPr>
        <p:spPr>
          <a:xfrm>
            <a:off x="4556711" y="3322964"/>
            <a:ext cx="2813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Dependent on Growth Rate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A08C9AA-D7F5-4EBB-B56C-C1DDBCEEF3BD}"/>
              </a:ext>
            </a:extLst>
          </p:cNvPr>
          <p:cNvSpPr txBox="1"/>
          <p:nvPr/>
        </p:nvSpPr>
        <p:spPr>
          <a:xfrm>
            <a:off x="4644405" y="6056809"/>
            <a:ext cx="2813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Dependent on Growth Rate</a:t>
            </a:r>
          </a:p>
        </p:txBody>
      </p:sp>
    </p:spTree>
    <p:extLst>
      <p:ext uri="{BB962C8B-B14F-4D97-AF65-F5344CB8AC3E}">
        <p14:creationId xmlns:p14="http://schemas.microsoft.com/office/powerpoint/2010/main" val="1676997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71E915B-F2B9-4936-B098-E229E24F790C}"/>
              </a:ext>
            </a:extLst>
          </p:cNvPr>
          <p:cNvSpPr/>
          <p:nvPr/>
        </p:nvSpPr>
        <p:spPr>
          <a:xfrm>
            <a:off x="4148002" y="1561109"/>
            <a:ext cx="3201083" cy="15708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591" y="8550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4. Fish Calculate Energy Cost to Regulate Cells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171B6D-9BF9-4C62-B314-DF5215BFD0FA}"/>
              </a:ext>
            </a:extLst>
          </p:cNvPr>
          <p:cNvSpPr txBox="1"/>
          <p:nvPr/>
        </p:nvSpPr>
        <p:spPr>
          <a:xfrm>
            <a:off x="-173522" y="3051488"/>
            <a:ext cx="396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Chloride Cells Increase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779920-CF11-4D59-B80A-B03713837036}"/>
              </a:ext>
            </a:extLst>
          </p:cNvPr>
          <p:cNvGrpSpPr/>
          <p:nvPr/>
        </p:nvGrpSpPr>
        <p:grpSpPr>
          <a:xfrm>
            <a:off x="8236857" y="1314355"/>
            <a:ext cx="3206878" cy="2122384"/>
            <a:chOff x="1017956" y="2071167"/>
            <a:chExt cx="1529814" cy="157602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D18AF52-BFAF-48B5-B2B1-0B187484509B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B22E02D0-5ED2-4C5C-88B0-AB1271CC05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63175B3-F9FC-4613-8420-FC6E53E2BA3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46EC70-472A-4BAA-B0DF-DF746FA5BEEE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21425E-BE7C-4775-9678-FA1870CFE432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BBAE9E-285B-43A3-A295-CB085E3B6977}"/>
              </a:ext>
            </a:extLst>
          </p:cNvPr>
          <p:cNvGrpSpPr/>
          <p:nvPr/>
        </p:nvGrpSpPr>
        <p:grpSpPr>
          <a:xfrm>
            <a:off x="252724" y="1288819"/>
            <a:ext cx="3206878" cy="2122384"/>
            <a:chOff x="1017956" y="2071167"/>
            <a:chExt cx="1529814" cy="157602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83104C3-DE64-4950-A669-7E17AC330525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544A03A3-DE47-4D21-A0F0-E55D689762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FD38DB0C-BEA8-412E-A5D4-779A667073D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011EEBE-81EA-4D22-9EF9-00D5DD5ABE9A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83AEE3E-122F-4116-8C23-2640C052B0C8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2C6AB0E-7188-423E-8387-D38453171891}"/>
              </a:ext>
            </a:extLst>
          </p:cNvPr>
          <p:cNvGrpSpPr/>
          <p:nvPr/>
        </p:nvGrpSpPr>
        <p:grpSpPr>
          <a:xfrm>
            <a:off x="325345" y="4039001"/>
            <a:ext cx="3206878" cy="2122384"/>
            <a:chOff x="1017956" y="2071167"/>
            <a:chExt cx="1529814" cy="1576028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3020587-8EF8-4C95-8791-1A7FBC51CFB0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93C92D6C-B29D-4AFF-9D06-FADCFA2A4D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6BCBB532-6A6A-4D1F-B58A-0F0D3C5F0C8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CAEF06E-E078-4A24-83A6-AAF56CFC1C15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D58F3AE-3C60-4BC4-8C7D-AF3E01C0EAE8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C006937-B937-4B81-A299-5CC7CAF49C2B}"/>
              </a:ext>
            </a:extLst>
          </p:cNvPr>
          <p:cNvGrpSpPr/>
          <p:nvPr/>
        </p:nvGrpSpPr>
        <p:grpSpPr>
          <a:xfrm>
            <a:off x="8337658" y="4057615"/>
            <a:ext cx="3206878" cy="2122384"/>
            <a:chOff x="1017956" y="2071167"/>
            <a:chExt cx="1529814" cy="1576028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D0D43CB-7093-4DB1-BAEB-9862421454A5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270BD38B-0785-406A-8340-5C54790592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3ED6467A-F770-4483-BD64-9B51558D0B8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E6E9088-3FEC-4BF4-8540-4D0E59AD546A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CD10605-A783-498F-A638-AA71D816BB7C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7EB7BD89-7CBB-49D2-8591-C4C0327AEF6E}"/>
              </a:ext>
            </a:extLst>
          </p:cNvPr>
          <p:cNvSpPr txBox="1"/>
          <p:nvPr/>
        </p:nvSpPr>
        <p:spPr>
          <a:xfrm>
            <a:off x="-279324" y="5950906"/>
            <a:ext cx="396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Chloride Cells Decrease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E1A0054-BC40-4DDB-A3E8-4EDF67E99336}"/>
              </a:ext>
            </a:extLst>
          </p:cNvPr>
          <p:cNvSpPr txBox="1"/>
          <p:nvPr/>
        </p:nvSpPr>
        <p:spPr>
          <a:xfrm>
            <a:off x="7762249" y="3077024"/>
            <a:ext cx="396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Cost is More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DB5BBB-3C2C-4419-9C5D-D1F1C303675D}"/>
              </a:ext>
            </a:extLst>
          </p:cNvPr>
          <p:cNvSpPr txBox="1"/>
          <p:nvPr/>
        </p:nvSpPr>
        <p:spPr>
          <a:xfrm>
            <a:off x="7762250" y="5832527"/>
            <a:ext cx="396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Cost Is less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2C2C97F-E0BB-4B84-8F17-21434DB4D4F0}"/>
              </a:ext>
            </a:extLst>
          </p:cNvPr>
          <p:cNvSpPr txBox="1"/>
          <p:nvPr/>
        </p:nvSpPr>
        <p:spPr>
          <a:xfrm>
            <a:off x="1149021" y="3466423"/>
            <a:ext cx="907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Stress initializes the creation of new chloride cells which costs lots of energy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5EC2463-A61B-444D-9BD1-BA9C6AA1F533}"/>
              </a:ext>
            </a:extLst>
          </p:cNvPr>
          <p:cNvSpPr txBox="1"/>
          <p:nvPr/>
        </p:nvSpPr>
        <p:spPr>
          <a:xfrm>
            <a:off x="531800" y="6355111"/>
            <a:ext cx="11090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Fish can remove excess chloride cells that are not needed to maintain homeostasis, but this still uses some energy.</a:t>
            </a:r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416ACCBD-8061-4D1A-855F-42CA7E05F768}"/>
              </a:ext>
            </a:extLst>
          </p:cNvPr>
          <p:cNvSpPr/>
          <p:nvPr/>
        </p:nvSpPr>
        <p:spPr>
          <a:xfrm>
            <a:off x="7729089" y="2113919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2AE67B58-9666-4E02-87F9-23A14C76794A}"/>
              </a:ext>
            </a:extLst>
          </p:cNvPr>
          <p:cNvSpPr/>
          <p:nvPr/>
        </p:nvSpPr>
        <p:spPr>
          <a:xfrm>
            <a:off x="7866861" y="4769192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21050AE-5485-4408-92DC-470DDD41B856}"/>
              </a:ext>
            </a:extLst>
          </p:cNvPr>
          <p:cNvCxnSpPr>
            <a:cxnSpLocks/>
          </p:cNvCxnSpPr>
          <p:nvPr/>
        </p:nvCxnSpPr>
        <p:spPr>
          <a:xfrm>
            <a:off x="733435" y="4246237"/>
            <a:ext cx="2104647" cy="1473296"/>
          </a:xfrm>
          <a:prstGeom prst="line">
            <a:avLst/>
          </a:prstGeom>
          <a:ln w="57150">
            <a:solidFill>
              <a:schemeClr val="tx1"/>
            </a:solidFill>
            <a:prstDash val="dash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C6C5D0F-AD40-4942-BA1B-A2E7B44F8B4C}"/>
              </a:ext>
            </a:extLst>
          </p:cNvPr>
          <p:cNvCxnSpPr>
            <a:cxnSpLocks/>
          </p:cNvCxnSpPr>
          <p:nvPr/>
        </p:nvCxnSpPr>
        <p:spPr>
          <a:xfrm flipV="1">
            <a:off x="657767" y="1491951"/>
            <a:ext cx="2104647" cy="1473296"/>
          </a:xfrm>
          <a:prstGeom prst="line">
            <a:avLst/>
          </a:prstGeom>
          <a:ln w="57150">
            <a:solidFill>
              <a:schemeClr val="tx1"/>
            </a:solidFill>
            <a:prstDash val="dash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99B5EE6-ED70-4067-A48F-1EA09895474A}"/>
              </a:ext>
            </a:extLst>
          </p:cNvPr>
          <p:cNvGrpSpPr/>
          <p:nvPr/>
        </p:nvGrpSpPr>
        <p:grpSpPr>
          <a:xfrm>
            <a:off x="1325470" y="1893856"/>
            <a:ext cx="1432272" cy="1059588"/>
            <a:chOff x="5502036" y="2134022"/>
            <a:chExt cx="1432272" cy="1059588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AD9ADF8E-9861-4229-B385-0D0F026317B7}"/>
                </a:ext>
              </a:extLst>
            </p:cNvPr>
            <p:cNvSpPr/>
            <p:nvPr/>
          </p:nvSpPr>
          <p:spPr>
            <a:xfrm>
              <a:off x="5826383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E7DAEDA8-E9B3-4EED-A53D-0D8DE514E94E}"/>
                </a:ext>
              </a:extLst>
            </p:cNvPr>
            <p:cNvSpPr/>
            <p:nvPr/>
          </p:nvSpPr>
          <p:spPr>
            <a:xfrm>
              <a:off x="5502036" y="3028927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12F1C4D8-5FE3-43F4-84AD-5AA28FE2103E}"/>
                </a:ext>
              </a:extLst>
            </p:cNvPr>
            <p:cNvSpPr/>
            <p:nvPr/>
          </p:nvSpPr>
          <p:spPr>
            <a:xfrm>
              <a:off x="5826383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06CB9A7D-F09F-4F39-9F06-2E07D43C19A1}"/>
                </a:ext>
              </a:extLst>
            </p:cNvPr>
            <p:cNvSpPr/>
            <p:nvPr/>
          </p:nvSpPr>
          <p:spPr>
            <a:xfrm>
              <a:off x="6151077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E607873-ADEC-4E80-B444-86055B2FF0B6}"/>
                </a:ext>
              </a:extLst>
            </p:cNvPr>
            <p:cNvSpPr/>
            <p:nvPr/>
          </p:nvSpPr>
          <p:spPr>
            <a:xfrm>
              <a:off x="6151077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04CBD44-A9CE-492D-AFEF-B1F6FC60E112}"/>
                </a:ext>
              </a:extLst>
            </p:cNvPr>
            <p:cNvSpPr/>
            <p:nvPr/>
          </p:nvSpPr>
          <p:spPr>
            <a:xfrm>
              <a:off x="6153367" y="2583913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78E45F14-47E7-4CE6-AC8A-2FD9B4D9F252}"/>
                </a:ext>
              </a:extLst>
            </p:cNvPr>
            <p:cNvSpPr/>
            <p:nvPr/>
          </p:nvSpPr>
          <p:spPr>
            <a:xfrm>
              <a:off x="6475366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662BA61F-D0EF-49CB-A05B-710AB1CA1D5C}"/>
                </a:ext>
              </a:extLst>
            </p:cNvPr>
            <p:cNvSpPr/>
            <p:nvPr/>
          </p:nvSpPr>
          <p:spPr>
            <a:xfrm>
              <a:off x="6475366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BF0525BA-2A01-4BF4-9811-410D38A432F5}"/>
                </a:ext>
              </a:extLst>
            </p:cNvPr>
            <p:cNvSpPr/>
            <p:nvPr/>
          </p:nvSpPr>
          <p:spPr>
            <a:xfrm>
              <a:off x="6477656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20370E2A-2322-4660-B34C-2501AF9F8BCB}"/>
                </a:ext>
              </a:extLst>
            </p:cNvPr>
            <p:cNvSpPr/>
            <p:nvPr/>
          </p:nvSpPr>
          <p:spPr>
            <a:xfrm>
              <a:off x="6472729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88FDE92C-2BAF-4039-9BCC-497E9112F19D}"/>
                </a:ext>
              </a:extLst>
            </p:cNvPr>
            <p:cNvSpPr/>
            <p:nvPr/>
          </p:nvSpPr>
          <p:spPr>
            <a:xfrm>
              <a:off x="6788720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07E312D9-686E-4C85-807E-0AFBA872DE42}"/>
                </a:ext>
              </a:extLst>
            </p:cNvPr>
            <p:cNvSpPr/>
            <p:nvPr/>
          </p:nvSpPr>
          <p:spPr>
            <a:xfrm>
              <a:off x="6788720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DC197F3F-F93F-48B9-A964-F9CDBF2A109B}"/>
                </a:ext>
              </a:extLst>
            </p:cNvPr>
            <p:cNvSpPr/>
            <p:nvPr/>
          </p:nvSpPr>
          <p:spPr>
            <a:xfrm>
              <a:off x="6791010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244F3426-8EDD-41B9-B7E6-95ACF20CEE4E}"/>
                </a:ext>
              </a:extLst>
            </p:cNvPr>
            <p:cNvSpPr/>
            <p:nvPr/>
          </p:nvSpPr>
          <p:spPr>
            <a:xfrm>
              <a:off x="6786083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9CCA369E-6733-493B-BE4F-7D41C2B53A66}"/>
                </a:ext>
              </a:extLst>
            </p:cNvPr>
            <p:cNvSpPr/>
            <p:nvPr/>
          </p:nvSpPr>
          <p:spPr>
            <a:xfrm>
              <a:off x="6786083" y="2134022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BCA33776-DF28-4CAC-8D3D-850A6DFB22F9}"/>
              </a:ext>
            </a:extLst>
          </p:cNvPr>
          <p:cNvGrpSpPr/>
          <p:nvPr/>
        </p:nvGrpSpPr>
        <p:grpSpPr>
          <a:xfrm flipH="1">
            <a:off x="742091" y="4622429"/>
            <a:ext cx="1432272" cy="1059588"/>
            <a:chOff x="5502036" y="2134022"/>
            <a:chExt cx="1432272" cy="1059588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B6F9CA84-81EB-4C89-864D-1C25142511C4}"/>
                </a:ext>
              </a:extLst>
            </p:cNvPr>
            <p:cNvSpPr/>
            <p:nvPr/>
          </p:nvSpPr>
          <p:spPr>
            <a:xfrm>
              <a:off x="5826383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D1BB931E-597E-4E82-A6F1-7E8CE3A3A437}"/>
                </a:ext>
              </a:extLst>
            </p:cNvPr>
            <p:cNvSpPr/>
            <p:nvPr/>
          </p:nvSpPr>
          <p:spPr>
            <a:xfrm>
              <a:off x="5502036" y="3028927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C3B5683D-3A5F-4A68-82D8-542EB34CB2D3}"/>
                </a:ext>
              </a:extLst>
            </p:cNvPr>
            <p:cNvSpPr/>
            <p:nvPr/>
          </p:nvSpPr>
          <p:spPr>
            <a:xfrm>
              <a:off x="5826383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4314BDFB-A1DF-43C8-92FD-0B5AB3516FFC}"/>
                </a:ext>
              </a:extLst>
            </p:cNvPr>
            <p:cNvSpPr/>
            <p:nvPr/>
          </p:nvSpPr>
          <p:spPr>
            <a:xfrm>
              <a:off x="6151077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3C2C494B-0054-45B5-9BC6-DCDF25F09758}"/>
                </a:ext>
              </a:extLst>
            </p:cNvPr>
            <p:cNvSpPr/>
            <p:nvPr/>
          </p:nvSpPr>
          <p:spPr>
            <a:xfrm>
              <a:off x="6151077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9102DC67-9A45-47E0-BEBD-164B01F4D403}"/>
                </a:ext>
              </a:extLst>
            </p:cNvPr>
            <p:cNvSpPr/>
            <p:nvPr/>
          </p:nvSpPr>
          <p:spPr>
            <a:xfrm>
              <a:off x="6153367" y="2583913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8D2841A5-F50F-4B67-A6AA-EBEE7A596735}"/>
                </a:ext>
              </a:extLst>
            </p:cNvPr>
            <p:cNvSpPr/>
            <p:nvPr/>
          </p:nvSpPr>
          <p:spPr>
            <a:xfrm>
              <a:off x="6475366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F0E4325A-6086-4E3A-A9D8-7240DA56BC99}"/>
                </a:ext>
              </a:extLst>
            </p:cNvPr>
            <p:cNvSpPr/>
            <p:nvPr/>
          </p:nvSpPr>
          <p:spPr>
            <a:xfrm>
              <a:off x="6475366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48C8F40D-3F93-449C-B86F-043DF35CCFDC}"/>
                </a:ext>
              </a:extLst>
            </p:cNvPr>
            <p:cNvSpPr/>
            <p:nvPr/>
          </p:nvSpPr>
          <p:spPr>
            <a:xfrm>
              <a:off x="6477656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E611D9D8-34DC-4C20-890A-2D64B7A1A473}"/>
                </a:ext>
              </a:extLst>
            </p:cNvPr>
            <p:cNvSpPr/>
            <p:nvPr/>
          </p:nvSpPr>
          <p:spPr>
            <a:xfrm>
              <a:off x="6472729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FAD76347-E47A-4A50-8C19-AB21CF6A492D}"/>
                </a:ext>
              </a:extLst>
            </p:cNvPr>
            <p:cNvSpPr/>
            <p:nvPr/>
          </p:nvSpPr>
          <p:spPr>
            <a:xfrm>
              <a:off x="6788720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ECFB8323-5E6E-487E-A0F5-BC8D121F2B81}"/>
                </a:ext>
              </a:extLst>
            </p:cNvPr>
            <p:cNvSpPr/>
            <p:nvPr/>
          </p:nvSpPr>
          <p:spPr>
            <a:xfrm>
              <a:off x="6788720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32737CEC-0674-4E23-88DA-13E7CCBAEE53}"/>
                </a:ext>
              </a:extLst>
            </p:cNvPr>
            <p:cNvSpPr/>
            <p:nvPr/>
          </p:nvSpPr>
          <p:spPr>
            <a:xfrm>
              <a:off x="6791010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95593775-292D-4DEF-8522-CF7E8B32CBF4}"/>
                </a:ext>
              </a:extLst>
            </p:cNvPr>
            <p:cNvSpPr/>
            <p:nvPr/>
          </p:nvSpPr>
          <p:spPr>
            <a:xfrm>
              <a:off x="6786083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692D2221-2690-4987-A7D2-8DAF7DE9C90B}"/>
                </a:ext>
              </a:extLst>
            </p:cNvPr>
            <p:cNvSpPr/>
            <p:nvPr/>
          </p:nvSpPr>
          <p:spPr>
            <a:xfrm>
              <a:off x="6786083" y="2134022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052EA22E-8268-487E-BA1B-B36881B0FCD9}"/>
              </a:ext>
            </a:extLst>
          </p:cNvPr>
          <p:cNvSpPr txBox="1"/>
          <p:nvPr/>
        </p:nvSpPr>
        <p:spPr>
          <a:xfrm>
            <a:off x="4323488" y="2420301"/>
            <a:ext cx="1280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Cells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ADDA22B-EFA3-4AC7-84C6-6A52B4942608}"/>
              </a:ext>
            </a:extLst>
          </p:cNvPr>
          <p:cNvSpPr txBox="1"/>
          <p:nvPr/>
        </p:nvSpPr>
        <p:spPr>
          <a:xfrm>
            <a:off x="5876698" y="2393762"/>
            <a:ext cx="1185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Creation Energy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69B9898-2422-40F6-8052-61B12EB3A83D}"/>
              </a:ext>
            </a:extLst>
          </p:cNvPr>
          <p:cNvSpPr txBox="1"/>
          <p:nvPr/>
        </p:nvSpPr>
        <p:spPr>
          <a:xfrm>
            <a:off x="4614113" y="1717119"/>
            <a:ext cx="6799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%</a:t>
            </a: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6D54F3A6-A4F8-471D-9AA0-B9E1BF259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950" y="1817325"/>
            <a:ext cx="621788" cy="6217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54A814-8423-4E2D-BD86-FAC6076A5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931" y="2094563"/>
            <a:ext cx="248387" cy="248387"/>
          </a:xfrm>
          <a:prstGeom prst="rect">
            <a:avLst/>
          </a:prstGeom>
        </p:spPr>
      </p:pic>
      <p:sp>
        <p:nvSpPr>
          <p:cNvPr id="113" name="Arrow: Right 112">
            <a:extLst>
              <a:ext uri="{FF2B5EF4-FFF2-40B4-BE49-F238E27FC236}">
                <a16:creationId xmlns:a16="http://schemas.microsoft.com/office/drawing/2014/main" id="{B2DADFDC-8C57-43B9-BDD3-E7F1957A0DEF}"/>
              </a:ext>
            </a:extLst>
          </p:cNvPr>
          <p:cNvSpPr/>
          <p:nvPr/>
        </p:nvSpPr>
        <p:spPr>
          <a:xfrm>
            <a:off x="3358300" y="2075798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103924E7-9D04-49E3-A35D-CDC6B1A32BCE}"/>
              </a:ext>
            </a:extLst>
          </p:cNvPr>
          <p:cNvSpPr/>
          <p:nvPr/>
        </p:nvSpPr>
        <p:spPr>
          <a:xfrm>
            <a:off x="4290655" y="4284545"/>
            <a:ext cx="3201083" cy="15708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DBD3CCE-E780-4D4F-8D75-2F60267ABFD4}"/>
              </a:ext>
            </a:extLst>
          </p:cNvPr>
          <p:cNvSpPr txBox="1"/>
          <p:nvPr/>
        </p:nvSpPr>
        <p:spPr>
          <a:xfrm>
            <a:off x="4588265" y="5146529"/>
            <a:ext cx="995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Cells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E29931B1-805C-4B9E-B1D7-52A9497F464A}"/>
              </a:ext>
            </a:extLst>
          </p:cNvPr>
          <p:cNvSpPr txBox="1"/>
          <p:nvPr/>
        </p:nvSpPr>
        <p:spPr>
          <a:xfrm>
            <a:off x="6019351" y="5117198"/>
            <a:ext cx="1185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to Destroy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231076A-D2C7-4F4F-B69C-3C80F2AC4AEE}"/>
              </a:ext>
            </a:extLst>
          </p:cNvPr>
          <p:cNvSpPr txBox="1"/>
          <p:nvPr/>
        </p:nvSpPr>
        <p:spPr>
          <a:xfrm>
            <a:off x="4725630" y="4450077"/>
            <a:ext cx="6799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%</a:t>
            </a:r>
          </a:p>
        </p:txBody>
      </p:sp>
      <p:pic>
        <p:nvPicPr>
          <p:cNvPr id="167" name="Picture 166">
            <a:extLst>
              <a:ext uri="{FF2B5EF4-FFF2-40B4-BE49-F238E27FC236}">
                <a16:creationId xmlns:a16="http://schemas.microsoft.com/office/drawing/2014/main" id="{7D517605-190E-4C9A-864D-E11EE9F3A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603" y="4540761"/>
            <a:ext cx="621788" cy="621788"/>
          </a:xfrm>
          <a:prstGeom prst="rect">
            <a:avLst/>
          </a:prstGeom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id="{70ABF858-D738-44C6-BAA4-9B8EB0470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584" y="4817999"/>
            <a:ext cx="248387" cy="248387"/>
          </a:xfrm>
          <a:prstGeom prst="rect">
            <a:avLst/>
          </a:prstGeom>
        </p:spPr>
      </p:pic>
      <p:sp>
        <p:nvSpPr>
          <p:cNvPr id="169" name="Arrow: Right 168">
            <a:extLst>
              <a:ext uri="{FF2B5EF4-FFF2-40B4-BE49-F238E27FC236}">
                <a16:creationId xmlns:a16="http://schemas.microsoft.com/office/drawing/2014/main" id="{84D1E272-2537-4598-9323-5DB07E613A20}"/>
              </a:ext>
            </a:extLst>
          </p:cNvPr>
          <p:cNvSpPr/>
          <p:nvPr/>
        </p:nvSpPr>
        <p:spPr>
          <a:xfrm>
            <a:off x="3399622" y="4772892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44C867C7-0B31-49A8-BEB9-309FCBF15D87}"/>
              </a:ext>
            </a:extLst>
          </p:cNvPr>
          <p:cNvSpPr/>
          <p:nvPr/>
        </p:nvSpPr>
        <p:spPr>
          <a:xfrm>
            <a:off x="9022624" y="2085038"/>
            <a:ext cx="1525366" cy="9165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528A29A0-6C45-4589-907D-48D6D70454A5}"/>
              </a:ext>
            </a:extLst>
          </p:cNvPr>
          <p:cNvSpPr/>
          <p:nvPr/>
        </p:nvSpPr>
        <p:spPr>
          <a:xfrm>
            <a:off x="9022624" y="5368361"/>
            <a:ext cx="1525366" cy="3748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867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39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5. Fish Calculate Cell Maintenance Energy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171B6D-9BF9-4C62-B314-DF5215BFD0FA}"/>
              </a:ext>
            </a:extLst>
          </p:cNvPr>
          <p:cNvSpPr txBox="1"/>
          <p:nvPr/>
        </p:nvSpPr>
        <p:spPr>
          <a:xfrm>
            <a:off x="-189008" y="4106978"/>
            <a:ext cx="396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Cells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779920-CF11-4D59-B80A-B03713837036}"/>
              </a:ext>
            </a:extLst>
          </p:cNvPr>
          <p:cNvGrpSpPr/>
          <p:nvPr/>
        </p:nvGrpSpPr>
        <p:grpSpPr>
          <a:xfrm>
            <a:off x="8333016" y="2376497"/>
            <a:ext cx="3206878" cy="2122384"/>
            <a:chOff x="1017956" y="2071167"/>
            <a:chExt cx="1529814" cy="157602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D18AF52-BFAF-48B5-B2B1-0B187484509B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B22E02D0-5ED2-4C5C-88B0-AB1271CC05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63175B3-F9FC-4613-8420-FC6E53E2BA3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46EC70-472A-4BAA-B0DF-DF746FA5BEEE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21425E-BE7C-4775-9678-FA1870CFE432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BE1A0054-BC40-4DDB-A3E8-4EDF67E99336}"/>
              </a:ext>
            </a:extLst>
          </p:cNvPr>
          <p:cNvSpPr txBox="1"/>
          <p:nvPr/>
        </p:nvSpPr>
        <p:spPr>
          <a:xfrm>
            <a:off x="3773261" y="4106978"/>
            <a:ext cx="396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Cost of Maintenance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543C4-3929-4E4B-8F4E-AF2652DD64F5}"/>
              </a:ext>
            </a:extLst>
          </p:cNvPr>
          <p:cNvSpPr txBox="1"/>
          <p:nvPr/>
        </p:nvSpPr>
        <p:spPr>
          <a:xfrm>
            <a:off x="1241335" y="2517798"/>
            <a:ext cx="110158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dirty="0"/>
              <a:t>%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890949D-54CD-427F-92A6-0D7613848AEA}"/>
              </a:ext>
            </a:extLst>
          </p:cNvPr>
          <p:cNvSpPr/>
          <p:nvPr/>
        </p:nvSpPr>
        <p:spPr>
          <a:xfrm>
            <a:off x="9039823" y="3429000"/>
            <a:ext cx="1527048" cy="631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8AC4308-3A5E-404A-B214-D38B090C0055}"/>
              </a:ext>
            </a:extLst>
          </p:cNvPr>
          <p:cNvSpPr txBox="1"/>
          <p:nvPr/>
        </p:nvSpPr>
        <p:spPr>
          <a:xfrm>
            <a:off x="8353492" y="4128420"/>
            <a:ext cx="2923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Net Energy Cost of Maintenance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5F8B78-0583-40CE-9B21-7E8F88280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326" y="2682460"/>
            <a:ext cx="1194137" cy="1194137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72028C4A-9AB8-4E67-9D8E-9E47044AC9D4}"/>
              </a:ext>
            </a:extLst>
          </p:cNvPr>
          <p:cNvGrpSpPr/>
          <p:nvPr/>
        </p:nvGrpSpPr>
        <p:grpSpPr>
          <a:xfrm rot="2855737">
            <a:off x="3285545" y="3059266"/>
            <a:ext cx="548640" cy="548640"/>
            <a:chOff x="3757306" y="1950364"/>
            <a:chExt cx="548640" cy="54864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00918FB-71F4-4E96-95FE-975A4D4BD03C}"/>
                </a:ext>
              </a:extLst>
            </p:cNvPr>
            <p:cNvSpPr/>
            <p:nvPr/>
          </p:nvSpPr>
          <p:spPr>
            <a:xfrm>
              <a:off x="3938928" y="1950364"/>
              <a:ext cx="184908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77F7B49-48E6-4C77-A59C-A657CE2FD874}"/>
                </a:ext>
              </a:extLst>
            </p:cNvPr>
            <p:cNvSpPr/>
            <p:nvPr/>
          </p:nvSpPr>
          <p:spPr>
            <a:xfrm rot="16200000">
              <a:off x="3940186" y="1950364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12C9BDB-96FF-436F-ABE7-0B7CCA5A5570}"/>
              </a:ext>
            </a:extLst>
          </p:cNvPr>
          <p:cNvGrpSpPr/>
          <p:nvPr/>
        </p:nvGrpSpPr>
        <p:grpSpPr>
          <a:xfrm>
            <a:off x="7461210" y="3096649"/>
            <a:ext cx="548640" cy="462365"/>
            <a:chOff x="7887685" y="2054990"/>
            <a:chExt cx="548640" cy="462365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84038AA-7EBF-4C46-B6F8-C455F271FBBF}"/>
                </a:ext>
              </a:extLst>
            </p:cNvPr>
            <p:cNvSpPr/>
            <p:nvPr/>
          </p:nvSpPr>
          <p:spPr>
            <a:xfrm rot="16200000">
              <a:off x="8070565" y="1872110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6D5D56B5-A837-4770-BA5B-77FA51CDD29C}"/>
                </a:ext>
              </a:extLst>
            </p:cNvPr>
            <p:cNvSpPr/>
            <p:nvPr/>
          </p:nvSpPr>
          <p:spPr>
            <a:xfrm rot="16200000">
              <a:off x="8070565" y="2151595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58825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591" y="8550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6. Fish Calculate Total Energy Balance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921E814-1C6D-4064-97DD-EC6ED51FDBE9}"/>
              </a:ext>
            </a:extLst>
          </p:cNvPr>
          <p:cNvGrpSpPr/>
          <p:nvPr/>
        </p:nvGrpSpPr>
        <p:grpSpPr>
          <a:xfrm>
            <a:off x="87217" y="1544581"/>
            <a:ext cx="7570792" cy="4859617"/>
            <a:chOff x="2057531" y="1544190"/>
            <a:chExt cx="7570792" cy="485961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171B6D-9BF9-4C62-B314-DF5215BFD0FA}"/>
                </a:ext>
              </a:extLst>
            </p:cNvPr>
            <p:cNvSpPr txBox="1"/>
            <p:nvPr/>
          </p:nvSpPr>
          <p:spPr>
            <a:xfrm>
              <a:off x="2057531" y="3314621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Cost of Creation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A779920-CF11-4D59-B80A-B03713837036}"/>
                </a:ext>
              </a:extLst>
            </p:cNvPr>
            <p:cNvGrpSpPr/>
            <p:nvPr/>
          </p:nvGrpSpPr>
          <p:grpSpPr>
            <a:xfrm>
              <a:off x="6421445" y="1544190"/>
              <a:ext cx="3206878" cy="2122384"/>
              <a:chOff x="1017956" y="2071167"/>
              <a:chExt cx="1529814" cy="1576028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8D18AF52-BFAF-48B5-B2B1-0B187484509B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4" name="Straight Arrow Connector 3">
                  <a:extLst>
                    <a:ext uri="{FF2B5EF4-FFF2-40B4-BE49-F238E27FC236}">
                      <a16:creationId xmlns:a16="http://schemas.microsoft.com/office/drawing/2014/main" id="{B22E02D0-5ED2-4C5C-88B0-AB1271CC05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363175B3-F9FC-4613-8420-FC6E53E2BA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46EC70-472A-4BAA-B0DF-DF746FA5BEEE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21425E-BE7C-4775-9678-FA1870CFE432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BBBAE9E-285B-43A3-A295-CB085E3B6977}"/>
                </a:ext>
              </a:extLst>
            </p:cNvPr>
            <p:cNvGrpSpPr/>
            <p:nvPr/>
          </p:nvGrpSpPr>
          <p:grpSpPr>
            <a:xfrm>
              <a:off x="2559977" y="1544190"/>
              <a:ext cx="3206878" cy="2122384"/>
              <a:chOff x="1017956" y="2071167"/>
              <a:chExt cx="1529814" cy="1576028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83104C3-DE64-4950-A669-7E17AC330525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544A03A3-DE47-4D21-A0F0-E55D689762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FD38DB0C-BEA8-412E-A5D4-779A66707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11EEBE-81EA-4D22-9EF9-00D5DD5ABE9A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83AEE3E-122F-4116-8C23-2640C052B0C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2C6AB0E-7188-423E-8387-D38453171891}"/>
                </a:ext>
              </a:extLst>
            </p:cNvPr>
            <p:cNvGrpSpPr/>
            <p:nvPr/>
          </p:nvGrpSpPr>
          <p:grpSpPr>
            <a:xfrm>
              <a:off x="2559977" y="4280016"/>
              <a:ext cx="3206878" cy="2122384"/>
              <a:chOff x="1017956" y="2071167"/>
              <a:chExt cx="1529814" cy="1576028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3020587-8EF8-4C95-8791-1A7FBC51CFB0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93C92D6C-B29D-4AFF-9D06-FADCFA2A4D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6BCBB532-6A6A-4D1F-B58A-0F0D3C5F0C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AEF06E-E078-4A24-83A6-AAF56CFC1C15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58F3AE-3C60-4BC4-8C7D-AF3E01C0EAE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C006937-B937-4B81-A299-5CC7CAF49C2B}"/>
                </a:ext>
              </a:extLst>
            </p:cNvPr>
            <p:cNvGrpSpPr/>
            <p:nvPr/>
          </p:nvGrpSpPr>
          <p:grpSpPr>
            <a:xfrm>
              <a:off x="6421445" y="4280016"/>
              <a:ext cx="3206878" cy="2122384"/>
              <a:chOff x="1017956" y="2071167"/>
              <a:chExt cx="1529814" cy="1576028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5D0D43CB-7093-4DB1-BAEB-9862421454A5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270BD38B-0785-406A-8340-5C54790592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3ED6467A-F770-4483-BD64-9B51558D0B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E6E9088-3FEC-4BF4-8540-4D0E59AD546A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CD10605-A783-498F-A638-AA71D816BB7C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EB7BD89-7CBB-49D2-8591-C4C0327AEF6E}"/>
                </a:ext>
              </a:extLst>
            </p:cNvPr>
            <p:cNvSpPr txBox="1"/>
            <p:nvPr/>
          </p:nvSpPr>
          <p:spPr>
            <a:xfrm>
              <a:off x="2133732" y="6029813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Cost of Decay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E1A0054-BC40-4DDB-A3E8-4EDF67E99336}"/>
                </a:ext>
              </a:extLst>
            </p:cNvPr>
            <p:cNvSpPr txBox="1"/>
            <p:nvPr/>
          </p:nvSpPr>
          <p:spPr>
            <a:xfrm>
              <a:off x="5960890" y="3325782"/>
              <a:ext cx="33668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Cost of Maintenance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DB5BBB-3C2C-4419-9C5D-D1F1C303675D}"/>
                </a:ext>
              </a:extLst>
            </p:cNvPr>
            <p:cNvSpPr txBox="1"/>
            <p:nvPr/>
          </p:nvSpPr>
          <p:spPr>
            <a:xfrm>
              <a:off x="5666054" y="6034475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Cost of Maintenance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1BF340A-7F09-4EC3-8CE2-148AEFAF8E26}"/>
              </a:ext>
            </a:extLst>
          </p:cNvPr>
          <p:cNvGrpSpPr/>
          <p:nvPr/>
        </p:nvGrpSpPr>
        <p:grpSpPr>
          <a:xfrm>
            <a:off x="3751898" y="1959054"/>
            <a:ext cx="548640" cy="548640"/>
            <a:chOff x="3757306" y="1950364"/>
            <a:chExt cx="548640" cy="54864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B189957-F955-4DCB-BFBF-78EDAA95D592}"/>
                </a:ext>
              </a:extLst>
            </p:cNvPr>
            <p:cNvSpPr/>
            <p:nvPr/>
          </p:nvSpPr>
          <p:spPr>
            <a:xfrm>
              <a:off x="3938928" y="1950364"/>
              <a:ext cx="184908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9B4B31C-0C47-4159-AA98-5432E973C2B5}"/>
                </a:ext>
              </a:extLst>
            </p:cNvPr>
            <p:cNvSpPr/>
            <p:nvPr/>
          </p:nvSpPr>
          <p:spPr>
            <a:xfrm rot="16200000">
              <a:off x="3940186" y="1950364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6FE003-EA60-486C-9F8B-8185663E8E66}"/>
              </a:ext>
            </a:extLst>
          </p:cNvPr>
          <p:cNvGrpSpPr/>
          <p:nvPr/>
        </p:nvGrpSpPr>
        <p:grpSpPr>
          <a:xfrm>
            <a:off x="3751898" y="4811571"/>
            <a:ext cx="548640" cy="548640"/>
            <a:chOff x="3757306" y="1950364"/>
            <a:chExt cx="548640" cy="54864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EA4938C-9319-49B0-93D8-5A3513551CD6}"/>
                </a:ext>
              </a:extLst>
            </p:cNvPr>
            <p:cNvSpPr/>
            <p:nvPr/>
          </p:nvSpPr>
          <p:spPr>
            <a:xfrm>
              <a:off x="3938928" y="1950364"/>
              <a:ext cx="184908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2F33B9B-75DE-4CAE-86A9-387714AC7F31}"/>
                </a:ext>
              </a:extLst>
            </p:cNvPr>
            <p:cNvSpPr/>
            <p:nvPr/>
          </p:nvSpPr>
          <p:spPr>
            <a:xfrm rot="16200000">
              <a:off x="3940186" y="1950364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5B5A6D4-7E7D-44E9-93BE-8F5C8BBCE76F}"/>
              </a:ext>
            </a:extLst>
          </p:cNvPr>
          <p:cNvGrpSpPr/>
          <p:nvPr/>
        </p:nvGrpSpPr>
        <p:grpSpPr>
          <a:xfrm>
            <a:off x="7659085" y="4853517"/>
            <a:ext cx="548640" cy="462365"/>
            <a:chOff x="7887685" y="2054990"/>
            <a:chExt cx="548640" cy="462365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4948E59-00C9-49AE-AB5E-F451095E27A8}"/>
                </a:ext>
              </a:extLst>
            </p:cNvPr>
            <p:cNvSpPr/>
            <p:nvPr/>
          </p:nvSpPr>
          <p:spPr>
            <a:xfrm rot="16200000">
              <a:off x="8070565" y="1872110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FCAC360-471E-45C8-BD39-B22ED0E1D075}"/>
                </a:ext>
              </a:extLst>
            </p:cNvPr>
            <p:cNvSpPr/>
            <p:nvPr/>
          </p:nvSpPr>
          <p:spPr>
            <a:xfrm rot="16200000">
              <a:off x="8070565" y="2151595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A79F56-68DE-4A0D-A28C-85CC5228A3C8}"/>
              </a:ext>
            </a:extLst>
          </p:cNvPr>
          <p:cNvGrpSpPr/>
          <p:nvPr/>
        </p:nvGrpSpPr>
        <p:grpSpPr>
          <a:xfrm>
            <a:off x="7659085" y="2004484"/>
            <a:ext cx="548640" cy="462365"/>
            <a:chOff x="7887685" y="2054990"/>
            <a:chExt cx="548640" cy="462365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E031B15-60DA-4929-B868-CEC68504F948}"/>
                </a:ext>
              </a:extLst>
            </p:cNvPr>
            <p:cNvSpPr/>
            <p:nvPr/>
          </p:nvSpPr>
          <p:spPr>
            <a:xfrm rot="16200000">
              <a:off x="8070565" y="1872110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382184F-6024-4583-B6A5-E15F85D6E129}"/>
                </a:ext>
              </a:extLst>
            </p:cNvPr>
            <p:cNvSpPr/>
            <p:nvPr/>
          </p:nvSpPr>
          <p:spPr>
            <a:xfrm rot="16200000">
              <a:off x="8070565" y="2151595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6A297F1C-A9B5-45A1-9089-E4CC086A00B5}"/>
              </a:ext>
            </a:extLst>
          </p:cNvPr>
          <p:cNvCxnSpPr>
            <a:cxnSpLocks/>
          </p:cNvCxnSpPr>
          <p:nvPr/>
        </p:nvCxnSpPr>
        <p:spPr>
          <a:xfrm flipV="1">
            <a:off x="9046584" y="1599336"/>
            <a:ext cx="0" cy="1653155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D1A59D7-A133-4917-A59C-3D10DF805109}"/>
              </a:ext>
            </a:extLst>
          </p:cNvPr>
          <p:cNvCxnSpPr>
            <a:cxnSpLocks/>
          </p:cNvCxnSpPr>
          <p:nvPr/>
        </p:nvCxnSpPr>
        <p:spPr>
          <a:xfrm rot="5400000" flipV="1">
            <a:off x="10324461" y="1974616"/>
            <a:ext cx="0" cy="255575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36CE201A-34BD-4CCC-B9C1-14C9294FD9B4}"/>
              </a:ext>
            </a:extLst>
          </p:cNvPr>
          <p:cNvSpPr txBox="1"/>
          <p:nvPr/>
        </p:nvSpPr>
        <p:spPr>
          <a:xfrm>
            <a:off x="11304614" y="3252490"/>
            <a:ext cx="595445" cy="41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X</a:t>
            </a:r>
            <a:endParaRPr lang="en-US" sz="12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7CF665B-A851-438A-B071-C7FB5F8143E5}"/>
              </a:ext>
            </a:extLst>
          </p:cNvPr>
          <p:cNvSpPr txBox="1"/>
          <p:nvPr/>
        </p:nvSpPr>
        <p:spPr>
          <a:xfrm>
            <a:off x="8693181" y="1544579"/>
            <a:ext cx="582004" cy="41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Y</a:t>
            </a:r>
            <a:endParaRPr lang="en-US" sz="1200" b="1" dirty="0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26E3743F-E03C-4AA4-B7B8-8E35832F5E0C}"/>
              </a:ext>
            </a:extLst>
          </p:cNvPr>
          <p:cNvCxnSpPr>
            <a:cxnSpLocks/>
          </p:cNvCxnSpPr>
          <p:nvPr/>
        </p:nvCxnSpPr>
        <p:spPr>
          <a:xfrm flipV="1">
            <a:off x="9019287" y="4320042"/>
            <a:ext cx="0" cy="1653155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2DF7BD4B-DA44-4A59-96CB-2406CC56E1F6}"/>
              </a:ext>
            </a:extLst>
          </p:cNvPr>
          <p:cNvCxnSpPr>
            <a:cxnSpLocks/>
          </p:cNvCxnSpPr>
          <p:nvPr/>
        </p:nvCxnSpPr>
        <p:spPr>
          <a:xfrm rot="5400000" flipV="1">
            <a:off x="10297164" y="4695322"/>
            <a:ext cx="0" cy="255575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3F1FE693-61D7-481C-9585-B3D63741B6FB}"/>
              </a:ext>
            </a:extLst>
          </p:cNvPr>
          <p:cNvSpPr txBox="1"/>
          <p:nvPr/>
        </p:nvSpPr>
        <p:spPr>
          <a:xfrm>
            <a:off x="11277317" y="5973196"/>
            <a:ext cx="595445" cy="41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X</a:t>
            </a:r>
            <a:endParaRPr lang="en-US" sz="12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8D86A49-A2D4-477D-85C4-CF3FFDE2FEC2}"/>
              </a:ext>
            </a:extLst>
          </p:cNvPr>
          <p:cNvSpPr txBox="1"/>
          <p:nvPr/>
        </p:nvSpPr>
        <p:spPr>
          <a:xfrm>
            <a:off x="8665884" y="4265285"/>
            <a:ext cx="582004" cy="41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Y</a:t>
            </a:r>
            <a:endParaRPr lang="en-US" sz="1200" b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AA14CE0-1841-439C-8214-0ED36E01D2AB}"/>
              </a:ext>
            </a:extLst>
          </p:cNvPr>
          <p:cNvSpPr txBox="1"/>
          <p:nvPr/>
        </p:nvSpPr>
        <p:spPr>
          <a:xfrm>
            <a:off x="8613752" y="3274898"/>
            <a:ext cx="336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Total Energy Cost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D8BF5DD-7B80-4A13-9A28-B03B87AAF7EB}"/>
              </a:ext>
            </a:extLst>
          </p:cNvPr>
          <p:cNvSpPr txBox="1"/>
          <p:nvPr/>
        </p:nvSpPr>
        <p:spPr>
          <a:xfrm>
            <a:off x="8641049" y="5976984"/>
            <a:ext cx="336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Total Energy Cost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58987B-4EC1-41FD-B06F-434C0D581ADF}"/>
              </a:ext>
            </a:extLst>
          </p:cNvPr>
          <p:cNvSpPr/>
          <p:nvPr/>
        </p:nvSpPr>
        <p:spPr>
          <a:xfrm>
            <a:off x="1305668" y="2315032"/>
            <a:ext cx="1525366" cy="9165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FF5A69F-B355-4F15-AAC7-0A8B2899ED4B}"/>
              </a:ext>
            </a:extLst>
          </p:cNvPr>
          <p:cNvSpPr/>
          <p:nvPr/>
        </p:nvSpPr>
        <p:spPr>
          <a:xfrm>
            <a:off x="1305668" y="5598355"/>
            <a:ext cx="1525366" cy="3748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F5818E-D131-4B12-B04B-AD76276A168A}"/>
              </a:ext>
            </a:extLst>
          </p:cNvPr>
          <p:cNvSpPr/>
          <p:nvPr/>
        </p:nvSpPr>
        <p:spPr>
          <a:xfrm>
            <a:off x="5157938" y="2587691"/>
            <a:ext cx="1527048" cy="631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BABFA95-9358-452D-99B5-180EE019A575}"/>
              </a:ext>
            </a:extLst>
          </p:cNvPr>
          <p:cNvSpPr/>
          <p:nvPr/>
        </p:nvSpPr>
        <p:spPr>
          <a:xfrm>
            <a:off x="5157819" y="5339130"/>
            <a:ext cx="1527048" cy="631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5A96D7F-28D7-4AA4-92B0-F2E2D80BAA98}"/>
              </a:ext>
            </a:extLst>
          </p:cNvPr>
          <p:cNvSpPr/>
          <p:nvPr/>
        </p:nvSpPr>
        <p:spPr>
          <a:xfrm>
            <a:off x="9440948" y="2313240"/>
            <a:ext cx="1525366" cy="9165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566A609-7F53-429F-985C-E3D7C37A28C6}"/>
              </a:ext>
            </a:extLst>
          </p:cNvPr>
          <p:cNvSpPr/>
          <p:nvPr/>
        </p:nvSpPr>
        <p:spPr>
          <a:xfrm>
            <a:off x="9440948" y="5577777"/>
            <a:ext cx="1525366" cy="3748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097DBB2-AC0E-4FA1-A224-728FABECBEC2}"/>
              </a:ext>
            </a:extLst>
          </p:cNvPr>
          <p:cNvSpPr/>
          <p:nvPr/>
        </p:nvSpPr>
        <p:spPr>
          <a:xfrm>
            <a:off x="9433885" y="1682020"/>
            <a:ext cx="1527048" cy="631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B92AA93-7BE7-4415-B601-3059E8DF6B92}"/>
              </a:ext>
            </a:extLst>
          </p:cNvPr>
          <p:cNvSpPr/>
          <p:nvPr/>
        </p:nvSpPr>
        <p:spPr>
          <a:xfrm>
            <a:off x="9440948" y="4937670"/>
            <a:ext cx="1527048" cy="631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598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Individual-Specific Traits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407348"/>
              </p:ext>
            </p:extLst>
          </p:nvPr>
        </p:nvGraphicFramePr>
        <p:xfrm>
          <a:off x="838199" y="1471613"/>
          <a:ext cx="10400505" cy="4481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6835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3466835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  <a:gridCol w="3466835">
                  <a:extLst>
                    <a:ext uri="{9D8B030D-6E8A-4147-A177-3AD203B41FA5}">
                      <a16:colId xmlns:a16="http://schemas.microsoft.com/office/drawing/2014/main" val="1731384931"/>
                    </a:ext>
                  </a:extLst>
                </a:gridCol>
              </a:tblGrid>
              <a:tr h="4683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Trait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Generalization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Feedback Prompt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118246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Salinity Acclimation Rate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Higher for larger, older fish; species-dependent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What species or life stages are better at acclimating to salinity changes?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  <a:tr h="8241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Cell Growth/Decay Rate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Slower in larger, older fish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Are there size thresholds or life stages where this isn’t true?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909502"/>
                  </a:ext>
                </a:extLst>
              </a:tr>
              <a:tr h="118246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Creation Energy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Higher for large/old fish or energetically expensive species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What species are more energetically expensive? Is this true for all life stages/ species?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068958"/>
                  </a:ext>
                </a:extLst>
              </a:tr>
              <a:tr h="8241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Decay Energy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Lower than creation but still trait-influenced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Is this difference significant enough to model?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799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8083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4DCF-B740-4A2B-8E3C-5E111C1F1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25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Discussion Prompts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D145DE-608B-466C-AA20-079097C90905}"/>
              </a:ext>
            </a:extLst>
          </p:cNvPr>
          <p:cNvSpPr txBox="1"/>
          <p:nvPr/>
        </p:nvSpPr>
        <p:spPr>
          <a:xfrm>
            <a:off x="590550" y="1427956"/>
            <a:ext cx="110109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Physiology &amp; Assumptions</a:t>
            </a:r>
          </a:p>
          <a:p>
            <a:r>
              <a:rPr lang="en-US" dirty="0"/>
              <a:t>Do the model’s assumptions about age and size improving salinity acclimation reflect what’s observed in the field?</a:t>
            </a:r>
          </a:p>
          <a:p>
            <a:r>
              <a:rPr lang="en-US" dirty="0"/>
              <a:t>Is the slower chloride cell growth in older fish an appropriate generalization?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b="1" dirty="0"/>
              <a:t>Energy Use &amp; Trade-offs</a:t>
            </a:r>
          </a:p>
          <a:p>
            <a:r>
              <a:rPr lang="en-US" dirty="0"/>
              <a:t>Are the representations for creating, maintaining, and removing chloride cells realistic?</a:t>
            </a:r>
          </a:p>
          <a:p>
            <a:r>
              <a:rPr lang="en-US" dirty="0"/>
              <a:t>Should cell decay cost less than creation in all cases, or could there be exceptions (e.g., during stress recovery)?</a:t>
            </a:r>
          </a:p>
          <a:p>
            <a:r>
              <a:rPr lang="en-US" dirty="0"/>
              <a:t>Would it make sense to include energy thresholds where osmoregulation begins to fail?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 startAt="3"/>
            </a:pPr>
            <a:r>
              <a:rPr lang="en-US" b="1" dirty="0"/>
              <a:t>Model Simplifications</a:t>
            </a:r>
          </a:p>
          <a:p>
            <a:r>
              <a:rPr lang="en-US" dirty="0"/>
              <a:t>Are their key physiological processes or variables missing from this version?</a:t>
            </a:r>
          </a:p>
          <a:p>
            <a:r>
              <a:rPr lang="en-US" dirty="0"/>
              <a:t>Are there feedback loops (e.g., stress reducing energy, which limits regulation) that should be more explicit?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 startAt="4"/>
            </a:pPr>
            <a:r>
              <a:rPr lang="en-US" b="1" dirty="0"/>
              <a:t>Species-Specific Differences</a:t>
            </a:r>
          </a:p>
          <a:p>
            <a:r>
              <a:rPr lang="en-US" dirty="0"/>
              <a:t>Are the generalizations of the function consistent across species (e.g., alewife vs. blueback herring)?</a:t>
            </a:r>
          </a:p>
          <a:p>
            <a:r>
              <a:rPr lang="en-US" dirty="0"/>
              <a:t>Should species have different salinity tolerance windows?</a:t>
            </a:r>
          </a:p>
        </p:txBody>
      </p:sp>
    </p:spTree>
    <p:extLst>
      <p:ext uri="{BB962C8B-B14F-4D97-AF65-F5344CB8AC3E}">
        <p14:creationId xmlns:p14="http://schemas.microsoft.com/office/powerpoint/2010/main" val="588720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Express Chloride Cells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ABFCE5-36A5-4BFB-A32C-96DFCF7BA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815" y="1146842"/>
            <a:ext cx="8770369" cy="4827536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4993E-BB34-4514-90AA-F0212803C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262" y="1484526"/>
            <a:ext cx="1438648" cy="8309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73D36A-A84C-495E-BC27-65D83CF51A5F}"/>
              </a:ext>
            </a:extLst>
          </p:cNvPr>
          <p:cNvSpPr txBox="1"/>
          <p:nvPr/>
        </p:nvSpPr>
        <p:spPr>
          <a:xfrm>
            <a:off x="3303829" y="5321450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Salinity</a:t>
            </a:r>
          </a:p>
        </p:txBody>
      </p:sp>
      <p:sp>
        <p:nvSpPr>
          <p:cNvPr id="15" name="Arrow: Up-Down 14">
            <a:extLst>
              <a:ext uri="{FF2B5EF4-FFF2-40B4-BE49-F238E27FC236}">
                <a16:creationId xmlns:a16="http://schemas.microsoft.com/office/drawing/2014/main" id="{A70A0BBE-2999-48B9-BDAD-AEEF3FA367FE}"/>
              </a:ext>
            </a:extLst>
          </p:cNvPr>
          <p:cNvSpPr/>
          <p:nvPr/>
        </p:nvSpPr>
        <p:spPr>
          <a:xfrm>
            <a:off x="6033247" y="2132229"/>
            <a:ext cx="220538" cy="100584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D18CA2-F002-4B36-AEAA-2DA8AB75A6E8}"/>
              </a:ext>
            </a:extLst>
          </p:cNvPr>
          <p:cNvSpPr txBox="1"/>
          <p:nvPr/>
        </p:nvSpPr>
        <p:spPr>
          <a:xfrm>
            <a:off x="1947486" y="5886030"/>
            <a:ext cx="83920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Environmental Salinity - Acclimated Salinity = Osmotic Stress</a:t>
            </a:r>
          </a:p>
          <a:p>
            <a:pPr algn="ctr"/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0329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>
            <a:extLst>
              <a:ext uri="{FF2B5EF4-FFF2-40B4-BE49-F238E27FC236}">
                <a16:creationId xmlns:a16="http://schemas.microsoft.com/office/drawing/2014/main" id="{20417C95-831A-44A7-B956-E447FE0A8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163" y="-23654"/>
            <a:ext cx="1605935" cy="10085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A0AA40-5894-4D6E-A1F1-0924B4ACE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" y="5799032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Process Flow Diagram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1D1930B-18EF-4462-AEFD-89BC8729F0E0}"/>
              </a:ext>
            </a:extLst>
          </p:cNvPr>
          <p:cNvGrpSpPr/>
          <p:nvPr/>
        </p:nvGrpSpPr>
        <p:grpSpPr>
          <a:xfrm>
            <a:off x="1803941" y="687896"/>
            <a:ext cx="9061821" cy="6107550"/>
            <a:chOff x="983524" y="261245"/>
            <a:chExt cx="3749204" cy="615892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50E56E6-5198-45BC-8463-5843084F8633}"/>
                </a:ext>
              </a:extLst>
            </p:cNvPr>
            <p:cNvSpPr/>
            <p:nvPr/>
          </p:nvSpPr>
          <p:spPr>
            <a:xfrm>
              <a:off x="2634562" y="261245"/>
              <a:ext cx="1168897" cy="3741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ysClr val="windowText" lastClr="000000"/>
                  </a:solidFill>
                </a:rPr>
                <a:t>Internal Salinity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AE3ECD0-22D0-41D6-92E7-48D5CCE1E009}"/>
                </a:ext>
              </a:extLst>
            </p:cNvPr>
            <p:cNvGrpSpPr/>
            <p:nvPr/>
          </p:nvGrpSpPr>
          <p:grpSpPr>
            <a:xfrm>
              <a:off x="983524" y="261310"/>
              <a:ext cx="3131277" cy="4910766"/>
              <a:chOff x="620633" y="382442"/>
              <a:chExt cx="5139191" cy="7413194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FB41314-B375-483E-B4AA-CDAABF7658DF}"/>
                  </a:ext>
                </a:extLst>
              </p:cNvPr>
              <p:cNvSpPr txBox="1"/>
              <p:nvPr/>
            </p:nvSpPr>
            <p:spPr>
              <a:xfrm>
                <a:off x="632010" y="6382922"/>
                <a:ext cx="2832843" cy="590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Density Decreases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61B83E7-F288-4F29-84F0-075B79F07F46}"/>
                  </a:ext>
                </a:extLst>
              </p:cNvPr>
              <p:cNvSpPr txBox="1"/>
              <p:nvPr/>
            </p:nvSpPr>
            <p:spPr>
              <a:xfrm>
                <a:off x="620633" y="5821566"/>
                <a:ext cx="2832843" cy="590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Stress Decreases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D6828BA-8C90-4DA7-B846-2A1F442EE0BF}"/>
                  </a:ext>
                </a:extLst>
              </p:cNvPr>
              <p:cNvSpPr/>
              <p:nvPr/>
            </p:nvSpPr>
            <p:spPr>
              <a:xfrm>
                <a:off x="1053356" y="382442"/>
                <a:ext cx="1918447" cy="564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ysClr val="windowText" lastClr="000000"/>
                    </a:solidFill>
                  </a:rPr>
                  <a:t>Environmental Salinity</a:t>
                </a: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476DCB8-5A54-453B-B447-491CD4A5C42B}"/>
                  </a:ext>
                </a:extLst>
              </p:cNvPr>
              <p:cNvCxnSpPr/>
              <p:nvPr/>
            </p:nvCxnSpPr>
            <p:spPr>
              <a:xfrm>
                <a:off x="2012579" y="947219"/>
                <a:ext cx="0" cy="51098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C6D7F13-3B0F-493A-80F5-24D897467339}"/>
                  </a:ext>
                </a:extLst>
              </p:cNvPr>
              <p:cNvCxnSpPr/>
              <p:nvPr/>
            </p:nvCxnSpPr>
            <p:spPr>
              <a:xfrm>
                <a:off x="4289615" y="947218"/>
                <a:ext cx="0" cy="51098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1920898-361C-429C-A33B-6D3D783194F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55579" y="307501"/>
                <a:ext cx="0" cy="2286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9C997C8-3370-4C33-B8A5-C0128B051666}"/>
                  </a:ext>
                </a:extLst>
              </p:cNvPr>
              <p:cNvCxnSpPr/>
              <p:nvPr/>
            </p:nvCxnSpPr>
            <p:spPr>
              <a:xfrm>
                <a:off x="3155579" y="1458206"/>
                <a:ext cx="0" cy="276072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BD31C62-C66E-498D-AB0B-BD215D660432}"/>
                  </a:ext>
                </a:extLst>
              </p:cNvPr>
              <p:cNvSpPr txBox="1"/>
              <p:nvPr/>
            </p:nvSpPr>
            <p:spPr>
              <a:xfrm>
                <a:off x="1739156" y="1630248"/>
                <a:ext cx="2832843" cy="1449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Difference between environmental salinity and acclimated-salinity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A208D51C-8FFF-4F21-82F5-EF7011C56E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00403" y="2553578"/>
                <a:ext cx="0" cy="1828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B75A1BA-DA24-4C61-81D3-099490044E2B}"/>
                  </a:ext>
                </a:extLst>
              </p:cNvPr>
              <p:cNvSpPr/>
              <p:nvPr/>
            </p:nvSpPr>
            <p:spPr>
              <a:xfrm>
                <a:off x="2241179" y="2725618"/>
                <a:ext cx="1918447" cy="564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ysClr val="windowText" lastClr="000000"/>
                    </a:solidFill>
                  </a:rPr>
                  <a:t>Osmotic Stress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D2BA122-3255-4C6F-9B68-0BFA9B7EF40B}"/>
                  </a:ext>
                </a:extLst>
              </p:cNvPr>
              <p:cNvSpPr txBox="1"/>
              <p:nvPr/>
            </p:nvSpPr>
            <p:spPr>
              <a:xfrm>
                <a:off x="640980" y="3567626"/>
                <a:ext cx="2832843" cy="590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Difference Decreases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D8056116-FE13-42F0-82A8-9C01C8C13F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3847" y="3290395"/>
                <a:ext cx="0" cy="1828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D3140F01-3D92-47E4-8650-942B0CC5176D}"/>
                  </a:ext>
                </a:extLst>
              </p:cNvPr>
              <p:cNvGrpSpPr/>
              <p:nvPr/>
            </p:nvGrpSpPr>
            <p:grpSpPr>
              <a:xfrm>
                <a:off x="2057402" y="3469854"/>
                <a:ext cx="2286000" cy="186301"/>
                <a:chOff x="2106703" y="4670942"/>
                <a:chExt cx="2286000" cy="186301"/>
              </a:xfrm>
            </p:grpSpPr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9201F537-9376-43C5-95DE-507A2D3707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3249703" y="3531363"/>
                  <a:ext cx="0" cy="22860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8BBCB99B-DB2F-4B19-B7A4-39FC7DB3EB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83733" y="4674363"/>
                  <a:ext cx="0" cy="18288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D9D9953D-C861-4B5F-AE78-0A8FC30966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06703" y="4670942"/>
                  <a:ext cx="0" cy="18288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7DA61CA-5CD7-4A8F-B87F-D67B1711452C}"/>
                  </a:ext>
                </a:extLst>
              </p:cNvPr>
              <p:cNvSpPr txBox="1"/>
              <p:nvPr/>
            </p:nvSpPr>
            <p:spPr>
              <a:xfrm>
                <a:off x="2906479" y="3569779"/>
                <a:ext cx="2832843" cy="590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Difference Increases</a:t>
                </a: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07EE1A83-8BCB-4DC5-9DAF-EE71343BD8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4432" y="4053990"/>
                <a:ext cx="0" cy="1828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F7B4EC8C-76ED-4435-B037-17153B41C8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7402" y="4050569"/>
                <a:ext cx="0" cy="1828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2ED7C6B-FD6F-4433-9456-EB46E8CF5419}"/>
                  </a:ext>
                </a:extLst>
              </p:cNvPr>
              <p:cNvSpPr txBox="1"/>
              <p:nvPr/>
            </p:nvSpPr>
            <p:spPr>
              <a:xfrm>
                <a:off x="645465" y="4172100"/>
                <a:ext cx="2832843" cy="590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Stress Decreases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D4864CD-A328-4E3F-8E70-C0099DDC8615}"/>
                  </a:ext>
                </a:extLst>
              </p:cNvPr>
              <p:cNvSpPr txBox="1"/>
              <p:nvPr/>
            </p:nvSpPr>
            <p:spPr>
              <a:xfrm>
                <a:off x="2926981" y="4155741"/>
                <a:ext cx="2832843" cy="590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Stress Increases</a:t>
                </a:r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E403D94B-BA43-4471-B7E0-A03851008D7B}"/>
                  </a:ext>
                </a:extLst>
              </p:cNvPr>
              <p:cNvGrpSpPr/>
              <p:nvPr/>
            </p:nvGrpSpPr>
            <p:grpSpPr>
              <a:xfrm flipV="1">
                <a:off x="2048432" y="4606202"/>
                <a:ext cx="2286000" cy="186301"/>
                <a:chOff x="2106703" y="4670942"/>
                <a:chExt cx="2286000" cy="186301"/>
              </a:xfrm>
            </p:grpSpPr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295EEA58-A5BF-49CA-941C-8B95B82339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3249703" y="3531363"/>
                  <a:ext cx="0" cy="22860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44BEE8B8-E556-4BAB-B0CA-A8446E4AB1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83733" y="4674363"/>
                  <a:ext cx="0" cy="18288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80F1E6B0-0667-4EB0-8400-0734B9BBC4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06703" y="4670942"/>
                  <a:ext cx="0" cy="18288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65243CBF-0EB1-4053-9925-A95D4A942F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1427" y="4789082"/>
                <a:ext cx="0" cy="1828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D91756F-1175-4593-BA0A-C0CF9FE23C10}"/>
                  </a:ext>
                </a:extLst>
              </p:cNvPr>
              <p:cNvSpPr/>
              <p:nvPr/>
            </p:nvSpPr>
            <p:spPr>
              <a:xfrm>
                <a:off x="2232203" y="4968542"/>
                <a:ext cx="1918447" cy="564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ysClr val="windowText" lastClr="000000"/>
                    </a:solidFill>
                  </a:rPr>
                  <a:t>Chloride Cell Density</a:t>
                </a:r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1CAAF874-3F4A-4750-B574-622EC049A4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5907" y="5552712"/>
                <a:ext cx="0" cy="1828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75C0293D-948C-4798-A5E5-EEF957B4488A}"/>
                  </a:ext>
                </a:extLst>
              </p:cNvPr>
              <p:cNvGrpSpPr/>
              <p:nvPr/>
            </p:nvGrpSpPr>
            <p:grpSpPr>
              <a:xfrm>
                <a:off x="2039462" y="5732171"/>
                <a:ext cx="2286000" cy="186301"/>
                <a:chOff x="2106703" y="4670942"/>
                <a:chExt cx="2286000" cy="186301"/>
              </a:xfrm>
            </p:grpSpPr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D4A2E1E0-3B53-464E-9033-4BBE671C4D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3249703" y="3531363"/>
                  <a:ext cx="0" cy="22860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0B7B8F0B-D194-47A7-B3B6-C7830A5CD0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83733" y="4674363"/>
                  <a:ext cx="0" cy="18288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39040E4F-6E35-4A85-9209-AC9F820064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06703" y="4670942"/>
                  <a:ext cx="0" cy="18288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87CEDF2-53D5-4DAA-A82F-8F01D388319D}"/>
                  </a:ext>
                </a:extLst>
              </p:cNvPr>
              <p:cNvSpPr txBox="1"/>
              <p:nvPr/>
            </p:nvSpPr>
            <p:spPr>
              <a:xfrm>
                <a:off x="2917388" y="5798727"/>
                <a:ext cx="2832843" cy="590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Stress Increases</a:t>
                </a:r>
              </a:p>
            </p:txBody>
          </p: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3E68553F-713C-4C4A-BA1F-DF68C582C2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26425" y="6265220"/>
                <a:ext cx="0" cy="1828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71304FD-2A7C-4955-A6E0-46EDD8224B3C}"/>
                  </a:ext>
                </a:extLst>
              </p:cNvPr>
              <p:cNvSpPr txBox="1"/>
              <p:nvPr/>
            </p:nvSpPr>
            <p:spPr>
              <a:xfrm>
                <a:off x="2922309" y="6374102"/>
                <a:ext cx="2832843" cy="590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Density Increases</a:t>
                </a: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B9B19277-3CA1-497F-A587-D89F7D3328A6}"/>
                  </a:ext>
                </a:extLst>
              </p:cNvPr>
              <p:cNvGrpSpPr/>
              <p:nvPr/>
            </p:nvGrpSpPr>
            <p:grpSpPr>
              <a:xfrm flipV="1">
                <a:off x="2030492" y="6868519"/>
                <a:ext cx="2286000" cy="186301"/>
                <a:chOff x="2106703" y="4670942"/>
                <a:chExt cx="2286000" cy="186301"/>
              </a:xfrm>
            </p:grpSpPr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75307569-DC3B-4509-8C72-A600761C09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3249703" y="3531363"/>
                  <a:ext cx="0" cy="22860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F63A662B-6441-439F-9026-247A7D0210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83733" y="4674363"/>
                  <a:ext cx="0" cy="18288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2ADE098A-77D4-4B25-92A9-80708740B7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06703" y="4670942"/>
                  <a:ext cx="0" cy="18288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A7D03C50-01D8-4F3F-AB0A-A56AAB8FE2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73487" y="7051399"/>
                <a:ext cx="0" cy="1828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B819A686-B8D1-465A-BB5D-3D9F46CAA4A3}"/>
                  </a:ext>
                </a:extLst>
              </p:cNvPr>
              <p:cNvSpPr/>
              <p:nvPr/>
            </p:nvSpPr>
            <p:spPr>
              <a:xfrm>
                <a:off x="2214263" y="7230859"/>
                <a:ext cx="1918447" cy="564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ysClr val="windowText" lastClr="000000"/>
                    </a:solidFill>
                  </a:rPr>
                  <a:t>New Chloride Cells</a:t>
                </a:r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F315EF4-7D69-4E16-93F1-4AD0D413F4BC}"/>
                </a:ext>
              </a:extLst>
            </p:cNvPr>
            <p:cNvSpPr txBox="1"/>
            <p:nvPr/>
          </p:nvSpPr>
          <p:spPr>
            <a:xfrm>
              <a:off x="3406513" y="5261268"/>
              <a:ext cx="1326215" cy="391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Maintenance Energy Cost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6A49CD0-88BA-4003-B013-4D9035A20D4E}"/>
                </a:ext>
              </a:extLst>
            </p:cNvPr>
            <p:cNvSpPr txBox="1"/>
            <p:nvPr/>
          </p:nvSpPr>
          <p:spPr>
            <a:xfrm>
              <a:off x="1907674" y="5261268"/>
              <a:ext cx="1103876" cy="391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Creation Energy Cost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FC1BE78-4A25-47C9-A9B0-A9C2EFF27134}"/>
                </a:ext>
              </a:extLst>
            </p:cNvPr>
            <p:cNvSpPr txBox="1"/>
            <p:nvPr/>
          </p:nvSpPr>
          <p:spPr>
            <a:xfrm>
              <a:off x="2797560" y="6078763"/>
              <a:ext cx="1093694" cy="34140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Energy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38221AAD-91A2-4A57-97B0-8DFFC0C6819F}"/>
                </a:ext>
              </a:extLst>
            </p:cNvPr>
            <p:cNvGrpSpPr/>
            <p:nvPr/>
          </p:nvGrpSpPr>
          <p:grpSpPr>
            <a:xfrm>
              <a:off x="3149865" y="3492234"/>
              <a:ext cx="1007172" cy="1769035"/>
              <a:chOff x="2944768" y="3098800"/>
              <a:chExt cx="1007172" cy="1769035"/>
            </a:xfrm>
          </p:grpSpPr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D02842CC-410F-47B1-8325-3A6F2062A3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44768" y="3098800"/>
                <a:ext cx="100584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dash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CE74289-2AE6-4A8F-BB1F-EF358F7856D6}"/>
                  </a:ext>
                </a:extLst>
              </p:cNvPr>
              <p:cNvCxnSpPr/>
              <p:nvPr/>
            </p:nvCxnSpPr>
            <p:spPr>
              <a:xfrm>
                <a:off x="3951940" y="3098800"/>
                <a:ext cx="0" cy="1769035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CC6B137-AB9D-440B-8417-1683B968EDAD}"/>
                </a:ext>
              </a:extLst>
            </p:cNvPr>
            <p:cNvSpPr txBox="1"/>
            <p:nvPr/>
          </p:nvSpPr>
          <p:spPr>
            <a:xfrm>
              <a:off x="2696682" y="5718544"/>
              <a:ext cx="1646252" cy="391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Energy - Osmoregulation Energy</a:t>
              </a: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8D7AFC5-9DF0-45D7-94E4-CCAB24C020CD}"/>
                </a:ext>
              </a:extLst>
            </p:cNvPr>
            <p:cNvGrpSpPr/>
            <p:nvPr/>
          </p:nvGrpSpPr>
          <p:grpSpPr>
            <a:xfrm>
              <a:off x="2523776" y="5495317"/>
              <a:ext cx="1646603" cy="242293"/>
              <a:chOff x="2523776" y="5495317"/>
              <a:chExt cx="1392845" cy="242293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A260AB5B-FB32-4786-977E-5CBBBB9E06A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220199" y="4920040"/>
                <a:ext cx="0" cy="139284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E918D2D6-182B-4342-ACB8-6707BB6BF0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11156" y="5495317"/>
                <a:ext cx="0" cy="12114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05E3DF09-492A-44F8-B275-6441BBF1BF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3776" y="5497583"/>
                <a:ext cx="0" cy="12114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B5631D2-D8D5-45FD-9FDC-8C4E66AE7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20196" y="5616464"/>
                <a:ext cx="0" cy="121146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diamon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4A2256E-398D-459A-9025-D163623CA80A}"/>
                </a:ext>
              </a:extLst>
            </p:cNvPr>
            <p:cNvCxnSpPr>
              <a:cxnSpLocks/>
            </p:cNvCxnSpPr>
            <p:nvPr/>
          </p:nvCxnSpPr>
          <p:spPr>
            <a:xfrm>
              <a:off x="3347075" y="5946636"/>
              <a:ext cx="0" cy="1211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65FA149-AA6A-49D5-82DE-C90321B781C5}"/>
                </a:ext>
              </a:extLst>
            </p:cNvPr>
            <p:cNvCxnSpPr>
              <a:cxnSpLocks/>
            </p:cNvCxnSpPr>
            <p:nvPr/>
          </p:nvCxnSpPr>
          <p:spPr>
            <a:xfrm>
              <a:off x="2533381" y="5172076"/>
              <a:ext cx="0" cy="121146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7" name="Picture 76">
            <a:extLst>
              <a:ext uri="{FF2B5EF4-FFF2-40B4-BE49-F238E27FC236}">
                <a16:creationId xmlns:a16="http://schemas.microsoft.com/office/drawing/2014/main" id="{0FE68185-E3D6-485E-925A-504EBED9D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834" y="139268"/>
            <a:ext cx="493945" cy="493945"/>
          </a:xfrm>
          <a:prstGeom prst="rect">
            <a:avLst/>
          </a:prstGeom>
        </p:spPr>
      </p:pic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5CB42B1-55BB-4D83-996E-42E2ABB1C6C3}"/>
              </a:ext>
            </a:extLst>
          </p:cNvPr>
          <p:cNvCxnSpPr>
            <a:cxnSpLocks/>
          </p:cNvCxnSpPr>
          <p:nvPr/>
        </p:nvCxnSpPr>
        <p:spPr>
          <a:xfrm>
            <a:off x="7215622" y="4569672"/>
            <a:ext cx="0" cy="1201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183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795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Osmotic Stress Creates a Response in the Fish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ABFCE5-36A5-4BFB-A32C-96DFCF7BA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92" y="2283071"/>
            <a:ext cx="5102958" cy="2808857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4993E-BB34-4514-90AA-F0212803C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694" y="1923046"/>
            <a:ext cx="1438648" cy="8309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72D0F06-87A0-427D-9918-C73FF37C344D}"/>
              </a:ext>
            </a:extLst>
          </p:cNvPr>
          <p:cNvSpPr txBox="1"/>
          <p:nvPr/>
        </p:nvSpPr>
        <p:spPr>
          <a:xfrm>
            <a:off x="931042" y="1199144"/>
            <a:ext cx="3567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Increased Stress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73D36A-A84C-495E-BC27-65D83CF51A5F}"/>
              </a:ext>
            </a:extLst>
          </p:cNvPr>
          <p:cNvSpPr txBox="1"/>
          <p:nvPr/>
        </p:nvSpPr>
        <p:spPr>
          <a:xfrm>
            <a:off x="3172727" y="6104099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Salinity</a:t>
            </a:r>
          </a:p>
        </p:txBody>
      </p:sp>
      <p:sp>
        <p:nvSpPr>
          <p:cNvPr id="15" name="Arrow: Up-Down 14">
            <a:extLst>
              <a:ext uri="{FF2B5EF4-FFF2-40B4-BE49-F238E27FC236}">
                <a16:creationId xmlns:a16="http://schemas.microsoft.com/office/drawing/2014/main" id="{A70A0BBE-2999-48B9-BDAD-AEEF3FA367FE}"/>
              </a:ext>
            </a:extLst>
          </p:cNvPr>
          <p:cNvSpPr/>
          <p:nvPr/>
        </p:nvSpPr>
        <p:spPr>
          <a:xfrm>
            <a:off x="2604749" y="2689605"/>
            <a:ext cx="220538" cy="1005840"/>
          </a:xfrm>
          <a:custGeom>
            <a:avLst/>
            <a:gdLst>
              <a:gd name="connsiteX0" fmla="*/ 0 w 220538"/>
              <a:gd name="connsiteY0" fmla="*/ 110269 h 1005840"/>
              <a:gd name="connsiteX1" fmla="*/ 110269 w 220538"/>
              <a:gd name="connsiteY1" fmla="*/ 0 h 1005840"/>
              <a:gd name="connsiteX2" fmla="*/ 220538 w 220538"/>
              <a:gd name="connsiteY2" fmla="*/ 110269 h 1005840"/>
              <a:gd name="connsiteX3" fmla="*/ 165404 w 220538"/>
              <a:gd name="connsiteY3" fmla="*/ 110269 h 1005840"/>
              <a:gd name="connsiteX4" fmla="*/ 165404 w 220538"/>
              <a:gd name="connsiteY4" fmla="*/ 895571 h 1005840"/>
              <a:gd name="connsiteX5" fmla="*/ 220538 w 220538"/>
              <a:gd name="connsiteY5" fmla="*/ 895571 h 1005840"/>
              <a:gd name="connsiteX6" fmla="*/ 110269 w 220538"/>
              <a:gd name="connsiteY6" fmla="*/ 1005840 h 1005840"/>
              <a:gd name="connsiteX7" fmla="*/ 0 w 220538"/>
              <a:gd name="connsiteY7" fmla="*/ 895571 h 1005840"/>
              <a:gd name="connsiteX8" fmla="*/ 55135 w 220538"/>
              <a:gd name="connsiteY8" fmla="*/ 895571 h 1005840"/>
              <a:gd name="connsiteX9" fmla="*/ 55135 w 220538"/>
              <a:gd name="connsiteY9" fmla="*/ 110269 h 1005840"/>
              <a:gd name="connsiteX10" fmla="*/ 0 w 220538"/>
              <a:gd name="connsiteY10" fmla="*/ 110269 h 1005840"/>
              <a:gd name="connsiteX0" fmla="*/ 0 w 220538"/>
              <a:gd name="connsiteY0" fmla="*/ 110269 h 1005840"/>
              <a:gd name="connsiteX1" fmla="*/ 110269 w 220538"/>
              <a:gd name="connsiteY1" fmla="*/ 0 h 1005840"/>
              <a:gd name="connsiteX2" fmla="*/ 220538 w 220538"/>
              <a:gd name="connsiteY2" fmla="*/ 110269 h 1005840"/>
              <a:gd name="connsiteX3" fmla="*/ 165404 w 220538"/>
              <a:gd name="connsiteY3" fmla="*/ 110269 h 1005840"/>
              <a:gd name="connsiteX4" fmla="*/ 165404 w 220538"/>
              <a:gd name="connsiteY4" fmla="*/ 895571 h 1005840"/>
              <a:gd name="connsiteX5" fmla="*/ 220538 w 220538"/>
              <a:gd name="connsiteY5" fmla="*/ 895571 h 1005840"/>
              <a:gd name="connsiteX6" fmla="*/ 110269 w 220538"/>
              <a:gd name="connsiteY6" fmla="*/ 1005840 h 1005840"/>
              <a:gd name="connsiteX7" fmla="*/ 0 w 220538"/>
              <a:gd name="connsiteY7" fmla="*/ 895571 h 1005840"/>
              <a:gd name="connsiteX8" fmla="*/ 93235 w 220538"/>
              <a:gd name="connsiteY8" fmla="*/ 899381 h 1005840"/>
              <a:gd name="connsiteX9" fmla="*/ 55135 w 220538"/>
              <a:gd name="connsiteY9" fmla="*/ 110269 h 1005840"/>
              <a:gd name="connsiteX10" fmla="*/ 0 w 220538"/>
              <a:gd name="connsiteY10" fmla="*/ 110269 h 1005840"/>
              <a:gd name="connsiteX0" fmla="*/ 0 w 220538"/>
              <a:gd name="connsiteY0" fmla="*/ 110269 h 1005840"/>
              <a:gd name="connsiteX1" fmla="*/ 110269 w 220538"/>
              <a:gd name="connsiteY1" fmla="*/ 0 h 1005840"/>
              <a:gd name="connsiteX2" fmla="*/ 220538 w 220538"/>
              <a:gd name="connsiteY2" fmla="*/ 110269 h 1005840"/>
              <a:gd name="connsiteX3" fmla="*/ 165404 w 220538"/>
              <a:gd name="connsiteY3" fmla="*/ 110269 h 1005840"/>
              <a:gd name="connsiteX4" fmla="*/ 112064 w 220538"/>
              <a:gd name="connsiteY4" fmla="*/ 905096 h 1005840"/>
              <a:gd name="connsiteX5" fmla="*/ 220538 w 220538"/>
              <a:gd name="connsiteY5" fmla="*/ 895571 h 1005840"/>
              <a:gd name="connsiteX6" fmla="*/ 110269 w 220538"/>
              <a:gd name="connsiteY6" fmla="*/ 1005840 h 1005840"/>
              <a:gd name="connsiteX7" fmla="*/ 0 w 220538"/>
              <a:gd name="connsiteY7" fmla="*/ 895571 h 1005840"/>
              <a:gd name="connsiteX8" fmla="*/ 93235 w 220538"/>
              <a:gd name="connsiteY8" fmla="*/ 899381 h 1005840"/>
              <a:gd name="connsiteX9" fmla="*/ 55135 w 220538"/>
              <a:gd name="connsiteY9" fmla="*/ 110269 h 1005840"/>
              <a:gd name="connsiteX10" fmla="*/ 0 w 220538"/>
              <a:gd name="connsiteY10" fmla="*/ 110269 h 1005840"/>
              <a:gd name="connsiteX0" fmla="*/ 0 w 220538"/>
              <a:gd name="connsiteY0" fmla="*/ 110269 h 1005840"/>
              <a:gd name="connsiteX1" fmla="*/ 110269 w 220538"/>
              <a:gd name="connsiteY1" fmla="*/ 0 h 1005840"/>
              <a:gd name="connsiteX2" fmla="*/ 220538 w 220538"/>
              <a:gd name="connsiteY2" fmla="*/ 110269 h 1005840"/>
              <a:gd name="connsiteX3" fmla="*/ 165404 w 220538"/>
              <a:gd name="connsiteY3" fmla="*/ 110269 h 1005840"/>
              <a:gd name="connsiteX4" fmla="*/ 133019 w 220538"/>
              <a:gd name="connsiteY4" fmla="*/ 905096 h 1005840"/>
              <a:gd name="connsiteX5" fmla="*/ 220538 w 220538"/>
              <a:gd name="connsiteY5" fmla="*/ 895571 h 1005840"/>
              <a:gd name="connsiteX6" fmla="*/ 110269 w 220538"/>
              <a:gd name="connsiteY6" fmla="*/ 1005840 h 1005840"/>
              <a:gd name="connsiteX7" fmla="*/ 0 w 220538"/>
              <a:gd name="connsiteY7" fmla="*/ 895571 h 1005840"/>
              <a:gd name="connsiteX8" fmla="*/ 93235 w 220538"/>
              <a:gd name="connsiteY8" fmla="*/ 899381 h 1005840"/>
              <a:gd name="connsiteX9" fmla="*/ 55135 w 220538"/>
              <a:gd name="connsiteY9" fmla="*/ 110269 h 1005840"/>
              <a:gd name="connsiteX10" fmla="*/ 0 w 220538"/>
              <a:gd name="connsiteY10" fmla="*/ 110269 h 1005840"/>
              <a:gd name="connsiteX0" fmla="*/ 0 w 220538"/>
              <a:gd name="connsiteY0" fmla="*/ 110269 h 1005840"/>
              <a:gd name="connsiteX1" fmla="*/ 110269 w 220538"/>
              <a:gd name="connsiteY1" fmla="*/ 0 h 1005840"/>
              <a:gd name="connsiteX2" fmla="*/ 220538 w 220538"/>
              <a:gd name="connsiteY2" fmla="*/ 110269 h 1005840"/>
              <a:gd name="connsiteX3" fmla="*/ 165404 w 220538"/>
              <a:gd name="connsiteY3" fmla="*/ 110269 h 1005840"/>
              <a:gd name="connsiteX4" fmla="*/ 133019 w 220538"/>
              <a:gd name="connsiteY4" fmla="*/ 905096 h 1005840"/>
              <a:gd name="connsiteX5" fmla="*/ 220538 w 220538"/>
              <a:gd name="connsiteY5" fmla="*/ 895571 h 1005840"/>
              <a:gd name="connsiteX6" fmla="*/ 110269 w 220538"/>
              <a:gd name="connsiteY6" fmla="*/ 1005840 h 1005840"/>
              <a:gd name="connsiteX7" fmla="*/ 0 w 220538"/>
              <a:gd name="connsiteY7" fmla="*/ 895571 h 1005840"/>
              <a:gd name="connsiteX8" fmla="*/ 76090 w 220538"/>
              <a:gd name="connsiteY8" fmla="*/ 897476 h 1005840"/>
              <a:gd name="connsiteX9" fmla="*/ 55135 w 220538"/>
              <a:gd name="connsiteY9" fmla="*/ 110269 h 1005840"/>
              <a:gd name="connsiteX10" fmla="*/ 0 w 220538"/>
              <a:gd name="connsiteY10" fmla="*/ 110269 h 1005840"/>
              <a:gd name="connsiteX0" fmla="*/ 0 w 220538"/>
              <a:gd name="connsiteY0" fmla="*/ 110269 h 1005840"/>
              <a:gd name="connsiteX1" fmla="*/ 110269 w 220538"/>
              <a:gd name="connsiteY1" fmla="*/ 0 h 1005840"/>
              <a:gd name="connsiteX2" fmla="*/ 220538 w 220538"/>
              <a:gd name="connsiteY2" fmla="*/ 110269 h 1005840"/>
              <a:gd name="connsiteX3" fmla="*/ 165404 w 220538"/>
              <a:gd name="connsiteY3" fmla="*/ 110269 h 1005840"/>
              <a:gd name="connsiteX4" fmla="*/ 136829 w 220538"/>
              <a:gd name="connsiteY4" fmla="*/ 893666 h 1005840"/>
              <a:gd name="connsiteX5" fmla="*/ 220538 w 220538"/>
              <a:gd name="connsiteY5" fmla="*/ 895571 h 1005840"/>
              <a:gd name="connsiteX6" fmla="*/ 110269 w 220538"/>
              <a:gd name="connsiteY6" fmla="*/ 1005840 h 1005840"/>
              <a:gd name="connsiteX7" fmla="*/ 0 w 220538"/>
              <a:gd name="connsiteY7" fmla="*/ 895571 h 1005840"/>
              <a:gd name="connsiteX8" fmla="*/ 76090 w 220538"/>
              <a:gd name="connsiteY8" fmla="*/ 897476 h 1005840"/>
              <a:gd name="connsiteX9" fmla="*/ 55135 w 220538"/>
              <a:gd name="connsiteY9" fmla="*/ 110269 h 1005840"/>
              <a:gd name="connsiteX10" fmla="*/ 0 w 220538"/>
              <a:gd name="connsiteY10" fmla="*/ 110269 h 100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0538" h="1005840">
                <a:moveTo>
                  <a:pt x="0" y="110269"/>
                </a:moveTo>
                <a:lnTo>
                  <a:pt x="110269" y="0"/>
                </a:lnTo>
                <a:lnTo>
                  <a:pt x="220538" y="110269"/>
                </a:lnTo>
                <a:lnTo>
                  <a:pt x="165404" y="110269"/>
                </a:lnTo>
                <a:lnTo>
                  <a:pt x="136829" y="893666"/>
                </a:lnTo>
                <a:lnTo>
                  <a:pt x="220538" y="895571"/>
                </a:lnTo>
                <a:lnTo>
                  <a:pt x="110269" y="1005840"/>
                </a:lnTo>
                <a:lnTo>
                  <a:pt x="0" y="895571"/>
                </a:lnTo>
                <a:lnTo>
                  <a:pt x="76090" y="897476"/>
                </a:lnTo>
                <a:lnTo>
                  <a:pt x="55135" y="110269"/>
                </a:lnTo>
                <a:lnTo>
                  <a:pt x="0" y="110269"/>
                </a:ln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E59857-25BC-4883-AEA0-B4070C7A6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716" y="2148097"/>
            <a:ext cx="5370240" cy="2955979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676554-7252-401F-8440-B9BAF510AA47}"/>
              </a:ext>
            </a:extLst>
          </p:cNvPr>
          <p:cNvSpPr txBox="1"/>
          <p:nvPr/>
        </p:nvSpPr>
        <p:spPr>
          <a:xfrm>
            <a:off x="7447600" y="1235022"/>
            <a:ext cx="3567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Decreased Stress</a:t>
            </a:r>
          </a:p>
        </p:txBody>
      </p:sp>
    </p:spTree>
    <p:extLst>
      <p:ext uri="{BB962C8B-B14F-4D97-AF65-F5344CB8AC3E}">
        <p14:creationId xmlns:p14="http://schemas.microsoft.com/office/powerpoint/2010/main" val="512175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175D98-DA69-4E59-9636-2A56F2C67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062" y="133826"/>
            <a:ext cx="3907875" cy="659034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3707D55-4102-4B29-9790-3760D0AC6F7D}"/>
              </a:ext>
            </a:extLst>
          </p:cNvPr>
          <p:cNvGrpSpPr/>
          <p:nvPr/>
        </p:nvGrpSpPr>
        <p:grpSpPr>
          <a:xfrm rot="10800000" flipH="1" flipV="1">
            <a:off x="1385163" y="708792"/>
            <a:ext cx="2455883" cy="2188014"/>
            <a:chOff x="4789273" y="3744893"/>
            <a:chExt cx="2455883" cy="2188014"/>
          </a:xfrm>
        </p:grpSpPr>
        <p:sp>
          <p:nvSpPr>
            <p:cNvPr id="4" name="Arc 3">
              <a:extLst>
                <a:ext uri="{FF2B5EF4-FFF2-40B4-BE49-F238E27FC236}">
                  <a16:creationId xmlns:a16="http://schemas.microsoft.com/office/drawing/2014/main" id="{9893A479-B341-46EF-8B9A-7B12683B3ACF}"/>
                </a:ext>
              </a:extLst>
            </p:cNvPr>
            <p:cNvSpPr/>
            <p:nvPr/>
          </p:nvSpPr>
          <p:spPr>
            <a:xfrm flipV="1">
              <a:off x="4789273" y="3744893"/>
              <a:ext cx="2455883" cy="2179935"/>
            </a:xfrm>
            <a:prstGeom prst="arc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2BA9964-0C5A-40CB-BABC-CD03D7D89C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45156" y="4411905"/>
              <a:ext cx="0" cy="45720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triangl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1AF2E3-970A-4349-AE55-64F5374F6C51}"/>
                </a:ext>
              </a:extLst>
            </p:cNvPr>
            <p:cNvCxnSpPr>
              <a:cxnSpLocks/>
            </p:cNvCxnSpPr>
            <p:nvPr/>
          </p:nvCxnSpPr>
          <p:spPr>
            <a:xfrm>
              <a:off x="4915815" y="5927416"/>
              <a:ext cx="1118978" cy="5491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BEF378E-9E3B-4208-9C4A-045F9F49FD2C}"/>
              </a:ext>
            </a:extLst>
          </p:cNvPr>
          <p:cNvGrpSpPr/>
          <p:nvPr/>
        </p:nvGrpSpPr>
        <p:grpSpPr>
          <a:xfrm rot="10800000" flipH="1">
            <a:off x="684019" y="3925614"/>
            <a:ext cx="2455883" cy="2179935"/>
            <a:chOff x="4789273" y="3744893"/>
            <a:chExt cx="2455883" cy="2179935"/>
          </a:xfrm>
        </p:grpSpPr>
        <p:sp>
          <p:nvSpPr>
            <p:cNvPr id="8" name="Arc 7">
              <a:extLst>
                <a:ext uri="{FF2B5EF4-FFF2-40B4-BE49-F238E27FC236}">
                  <a16:creationId xmlns:a16="http://schemas.microsoft.com/office/drawing/2014/main" id="{B318A955-F5A0-4A3F-B0F6-A47FDC06F5AA}"/>
                </a:ext>
              </a:extLst>
            </p:cNvPr>
            <p:cNvSpPr/>
            <p:nvPr/>
          </p:nvSpPr>
          <p:spPr>
            <a:xfrm flipV="1">
              <a:off x="4789273" y="3744893"/>
              <a:ext cx="2455883" cy="2179935"/>
            </a:xfrm>
            <a:prstGeom prst="arc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2A998B3-E7FF-4A8D-8CEE-74F75DF980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45156" y="4411905"/>
              <a:ext cx="0" cy="45720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triangl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8502323-7C8B-4D3E-A9BA-DF958A358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92169" y="5917584"/>
              <a:ext cx="822960" cy="5491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9327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Osmotic Stress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ABFCE5-36A5-4BFB-A32C-96DFCF7BA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118" y="1571239"/>
            <a:ext cx="6596221" cy="363080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D7DA666-0F7C-4D88-BF1F-6D317592DEA8}"/>
              </a:ext>
            </a:extLst>
          </p:cNvPr>
          <p:cNvGrpSpPr/>
          <p:nvPr/>
        </p:nvGrpSpPr>
        <p:grpSpPr>
          <a:xfrm>
            <a:off x="3412471" y="2524126"/>
            <a:ext cx="2212020" cy="2164263"/>
            <a:chOff x="9751476" y="1550894"/>
            <a:chExt cx="2212020" cy="216426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A54993E-BB34-4514-90AA-F0212803C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51476" y="2884160"/>
              <a:ext cx="1438648" cy="83099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37A2728-023E-47B7-89A8-5F71CF262FA9}"/>
                </a:ext>
              </a:extLst>
            </p:cNvPr>
            <p:cNvGrpSpPr/>
            <p:nvPr/>
          </p:nvGrpSpPr>
          <p:grpSpPr>
            <a:xfrm>
              <a:off x="10134111" y="1550894"/>
              <a:ext cx="1829385" cy="1604234"/>
              <a:chOff x="10134111" y="1550894"/>
              <a:chExt cx="1829385" cy="160423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4B298061-882E-493B-92A8-39656E596BC4}"/>
                  </a:ext>
                </a:extLst>
              </p:cNvPr>
              <p:cNvCxnSpPr/>
              <p:nvPr/>
            </p:nvCxnSpPr>
            <p:spPr>
              <a:xfrm flipV="1">
                <a:off x="10587317" y="2444928"/>
                <a:ext cx="295836" cy="710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AD1D092-4B01-40B7-96BF-D15D90A6BD08}"/>
                  </a:ext>
                </a:extLst>
              </p:cNvPr>
              <p:cNvSpPr/>
              <p:nvPr/>
            </p:nvSpPr>
            <p:spPr>
              <a:xfrm>
                <a:off x="10183515" y="1550894"/>
                <a:ext cx="1730579" cy="8940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9F09FF3-C12A-43F8-B05D-C6A675187416}"/>
                  </a:ext>
                </a:extLst>
              </p:cNvPr>
              <p:cNvSpPr txBox="1"/>
              <p:nvPr/>
            </p:nvSpPr>
            <p:spPr>
              <a:xfrm>
                <a:off x="10134111" y="1582412"/>
                <a:ext cx="182938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Fish have an  internal level of acclimated-salinity</a:t>
                </a: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C928361-BD5E-47FF-8D0D-308D05A81CBD}"/>
              </a:ext>
            </a:extLst>
          </p:cNvPr>
          <p:cNvSpPr txBox="1"/>
          <p:nvPr/>
        </p:nvSpPr>
        <p:spPr>
          <a:xfrm>
            <a:off x="7942999" y="4752715"/>
            <a:ext cx="3854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Represents biological ability to manage internal ion-concentrations.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2D0F06-87A0-427D-9918-C73FF37C344D}"/>
              </a:ext>
            </a:extLst>
          </p:cNvPr>
          <p:cNvSpPr txBox="1"/>
          <p:nvPr/>
        </p:nvSpPr>
        <p:spPr>
          <a:xfrm>
            <a:off x="2352333" y="1585718"/>
            <a:ext cx="3567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Salinity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73D36A-A84C-495E-BC27-65D83CF51A5F}"/>
              </a:ext>
            </a:extLst>
          </p:cNvPr>
          <p:cNvSpPr txBox="1"/>
          <p:nvPr/>
        </p:nvSpPr>
        <p:spPr>
          <a:xfrm>
            <a:off x="1153754" y="558585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Represents Salinity Concentrations in an Estuary</a:t>
            </a:r>
          </a:p>
        </p:txBody>
      </p:sp>
    </p:spTree>
    <p:extLst>
      <p:ext uri="{BB962C8B-B14F-4D97-AF65-F5344CB8AC3E}">
        <p14:creationId xmlns:p14="http://schemas.microsoft.com/office/powerpoint/2010/main" val="860578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087742DB-8796-4816-933C-ADA37B7263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131541"/>
              </p:ext>
            </p:extLst>
          </p:nvPr>
        </p:nvGraphicFramePr>
        <p:xfrm>
          <a:off x="999051" y="761113"/>
          <a:ext cx="7654066" cy="4196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438">
                  <a:extLst>
                    <a:ext uri="{9D8B030D-6E8A-4147-A177-3AD203B41FA5}">
                      <a16:colId xmlns:a16="http://schemas.microsoft.com/office/drawing/2014/main" val="3805666822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1782083904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1810248975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548327721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1523583785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3321959852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3029820615"/>
                    </a:ext>
                  </a:extLst>
                </a:gridCol>
              </a:tblGrid>
              <a:tr h="1049095"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667338"/>
                  </a:ext>
                </a:extLst>
              </a:tr>
              <a:tr h="1049095"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76285"/>
                  </a:ext>
                </a:extLst>
              </a:tr>
              <a:tr h="1049095"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80412"/>
                  </a:ext>
                </a:extLst>
              </a:tr>
              <a:tr h="1049095"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020853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59379F7E-BB8F-4324-B05D-200E348C3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150" y="1306859"/>
            <a:ext cx="540964" cy="5409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D1582F-6E50-4F53-8BAA-E31511861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150" y="2373659"/>
            <a:ext cx="540964" cy="5409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A0245B0-D236-4D86-B9AC-2E8049635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573" y="3465990"/>
            <a:ext cx="540964" cy="5409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63AE924-A4E5-4B62-94BC-F2972999B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150" y="4507259"/>
            <a:ext cx="540964" cy="540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EE05A8-C2B1-44AC-9519-1D943E014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449" y="1306859"/>
            <a:ext cx="540964" cy="5409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C109A0-85B1-4F69-B502-CA7FF45DC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449" y="2373659"/>
            <a:ext cx="540964" cy="540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2FFBC-0C9B-4D84-B129-990217A81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449" y="3440459"/>
            <a:ext cx="540964" cy="5409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8ACB06-B3D0-4FBE-AA5C-59FA162BF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449" y="4507259"/>
            <a:ext cx="540964" cy="5409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F87F8A-5E88-4062-B65F-FB35083C3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016" y="1306859"/>
            <a:ext cx="540964" cy="5409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521FC1-8181-4FCD-AA53-23D109BB5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016" y="2373659"/>
            <a:ext cx="540964" cy="540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96C4C8-9F85-4E5A-A4AA-16157E8C4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016" y="3440459"/>
            <a:ext cx="540964" cy="5409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EEDD42-A482-468C-A7C8-AE0103A45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016" y="4507259"/>
            <a:ext cx="540964" cy="5409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DF1532-41BD-4691-93E1-611694451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583" y="1306859"/>
            <a:ext cx="540964" cy="5409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F7E78A8-5492-4838-BDF9-E2E40B459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583" y="2373659"/>
            <a:ext cx="540964" cy="5409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8166885-7299-40BB-883F-6B2A4A583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583" y="3440459"/>
            <a:ext cx="540964" cy="5409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E82D390-4B86-4F2C-82F5-C546393E7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583" y="4507259"/>
            <a:ext cx="540964" cy="5409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A59E301-0F8B-4B51-B765-286F0EF22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078" y="1306859"/>
            <a:ext cx="540964" cy="54096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FC1960A-B558-4B64-AD8B-A705C2C78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078" y="2373659"/>
            <a:ext cx="540964" cy="54096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876C87C-CF80-4945-9237-E4EF237FF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078" y="3440459"/>
            <a:ext cx="540964" cy="5409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E5FBBC4-9A1E-43A5-980E-7DD9F872D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078" y="4507259"/>
            <a:ext cx="540964" cy="54096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C715976-44A9-4BFB-B538-6C3536D81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645" y="1306859"/>
            <a:ext cx="540964" cy="54096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8C7FE6D-A58B-48DA-9B2B-D8FB10063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645" y="2373659"/>
            <a:ext cx="540964" cy="54096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AD6FC8A-5C99-4CA2-8CB7-85E025CB4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645" y="3440459"/>
            <a:ext cx="540964" cy="54096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F69C798-7B82-4758-A705-3FDF9B866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645" y="4507259"/>
            <a:ext cx="540964" cy="54096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81060EA-9ACC-4AD5-B1AB-83C82A631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1586" y="1306859"/>
            <a:ext cx="540964" cy="54096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2C27E18-9980-43CA-AB00-1EA7190B8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1586" y="2373659"/>
            <a:ext cx="540964" cy="54096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EB809A8-B217-4FA6-8832-71A3FDB01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1586" y="3440459"/>
            <a:ext cx="540964" cy="54096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29E9AAF-081B-4E09-950E-55D900AEF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1586" y="4507259"/>
            <a:ext cx="540964" cy="54096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37134DA-4AE1-49E9-AE88-8E6B06F20252}"/>
              </a:ext>
            </a:extLst>
          </p:cNvPr>
          <p:cNvSpPr txBox="1"/>
          <p:nvPr/>
        </p:nvSpPr>
        <p:spPr>
          <a:xfrm>
            <a:off x="2312336" y="5768002"/>
            <a:ext cx="7567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Fish Interact with Salinity within their Environment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F77FFD6-6458-4A88-9DE4-091CCE6947C6}"/>
              </a:ext>
            </a:extLst>
          </p:cNvPr>
          <p:cNvGrpSpPr/>
          <p:nvPr/>
        </p:nvGrpSpPr>
        <p:grpSpPr>
          <a:xfrm>
            <a:off x="10011143" y="2021736"/>
            <a:ext cx="2005831" cy="1985218"/>
            <a:chOff x="9957665" y="1550894"/>
            <a:chExt cx="2005831" cy="198521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AED0C98-AC79-4EAD-97E2-73688BB4C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57665" y="2914623"/>
              <a:ext cx="1075941" cy="62148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1DF1AE1-793D-436B-A83D-FE2EED5CA4B3}"/>
                </a:ext>
              </a:extLst>
            </p:cNvPr>
            <p:cNvGrpSpPr/>
            <p:nvPr/>
          </p:nvGrpSpPr>
          <p:grpSpPr>
            <a:xfrm>
              <a:off x="10134111" y="1550894"/>
              <a:ext cx="1829385" cy="1604234"/>
              <a:chOff x="10134111" y="1550894"/>
              <a:chExt cx="1829385" cy="160423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1962850E-E188-4834-92A7-F153B36ABF54}"/>
                  </a:ext>
                </a:extLst>
              </p:cNvPr>
              <p:cNvCxnSpPr/>
              <p:nvPr/>
            </p:nvCxnSpPr>
            <p:spPr>
              <a:xfrm flipV="1">
                <a:off x="10587317" y="2444928"/>
                <a:ext cx="295836" cy="710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C2E2E7D-6509-4575-BC44-7CE9FAAE4D2F}"/>
                  </a:ext>
                </a:extLst>
              </p:cNvPr>
              <p:cNvSpPr/>
              <p:nvPr/>
            </p:nvSpPr>
            <p:spPr>
              <a:xfrm>
                <a:off x="10183515" y="1550894"/>
                <a:ext cx="1730579" cy="8940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BEF2FC9-ADBE-4F4B-9D6E-4B7F3BDA30B8}"/>
                  </a:ext>
                </a:extLst>
              </p:cNvPr>
              <p:cNvSpPr txBox="1"/>
              <p:nvPr/>
            </p:nvSpPr>
            <p:spPr>
              <a:xfrm>
                <a:off x="10134111" y="1582412"/>
                <a:ext cx="182938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Fish have an  internal level of acclimated-salinity</a:t>
                </a:r>
              </a:p>
            </p:txBody>
          </p:sp>
        </p:grp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2FCA0566-16DC-4BB6-87A6-1643C9E5CC1A}"/>
              </a:ext>
            </a:extLst>
          </p:cNvPr>
          <p:cNvSpPr txBox="1"/>
          <p:nvPr/>
        </p:nvSpPr>
        <p:spPr>
          <a:xfrm>
            <a:off x="179100" y="761113"/>
            <a:ext cx="182938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Environmental Salinity Levels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8804F2-282B-4E3E-9EFC-824E973F4E73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2013321" y="1084279"/>
            <a:ext cx="786610" cy="2225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4F0D2C40-81E4-4388-A05F-E41468C22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320" y="2348128"/>
            <a:ext cx="1438648" cy="8309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8FE665C-BBE2-4B7B-97EC-82512B3FCAA5}"/>
              </a:ext>
            </a:extLst>
          </p:cNvPr>
          <p:cNvCxnSpPr/>
          <p:nvPr/>
        </p:nvCxnSpPr>
        <p:spPr>
          <a:xfrm>
            <a:off x="1190762" y="3440459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FE2D2C9-7BFF-4AE9-89AF-57B966B80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5187" y="1316553"/>
            <a:ext cx="7681626" cy="4224894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379168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087742DB-8796-4816-933C-ADA37B7263FB}"/>
              </a:ext>
            </a:extLst>
          </p:cNvPr>
          <p:cNvGraphicFramePr>
            <a:graphicFrameLocks noGrp="1"/>
          </p:cNvGraphicFramePr>
          <p:nvPr/>
        </p:nvGraphicFramePr>
        <p:xfrm>
          <a:off x="2268967" y="1084279"/>
          <a:ext cx="7654066" cy="4196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438">
                  <a:extLst>
                    <a:ext uri="{9D8B030D-6E8A-4147-A177-3AD203B41FA5}">
                      <a16:colId xmlns:a16="http://schemas.microsoft.com/office/drawing/2014/main" val="3805666822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1782083904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1810248975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548327721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1523583785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3321959852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3029820615"/>
                    </a:ext>
                  </a:extLst>
                </a:gridCol>
              </a:tblGrid>
              <a:tr h="1049095"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667338"/>
                  </a:ext>
                </a:extLst>
              </a:tr>
              <a:tr h="1049095"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76285"/>
                  </a:ext>
                </a:extLst>
              </a:tr>
              <a:tr h="1049095"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80412"/>
                  </a:ext>
                </a:extLst>
              </a:tr>
              <a:tr h="1049095"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020853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59379F7E-BB8F-4324-B05D-200E348C3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150" y="1306859"/>
            <a:ext cx="540964" cy="5409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D1582F-6E50-4F53-8BAA-E31511861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150" y="2373659"/>
            <a:ext cx="540964" cy="5409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A0245B0-D236-4D86-B9AC-2E8049635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573" y="3465990"/>
            <a:ext cx="540964" cy="5409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63AE924-A4E5-4B62-94BC-F2972999B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150" y="4507259"/>
            <a:ext cx="540964" cy="540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EE05A8-C2B1-44AC-9519-1D943E014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449" y="1306859"/>
            <a:ext cx="540964" cy="5409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C109A0-85B1-4F69-B502-CA7FF45DC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449" y="2373659"/>
            <a:ext cx="540964" cy="540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2FFBC-0C9B-4D84-B129-990217A81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449" y="3440459"/>
            <a:ext cx="540964" cy="5409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8ACB06-B3D0-4FBE-AA5C-59FA162BF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449" y="4507259"/>
            <a:ext cx="540964" cy="5409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F87F8A-5E88-4062-B65F-FB35083C3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016" y="1306859"/>
            <a:ext cx="540964" cy="5409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521FC1-8181-4FCD-AA53-23D109BB5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016" y="2373659"/>
            <a:ext cx="540964" cy="540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96C4C8-9F85-4E5A-A4AA-16157E8C4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016" y="3440459"/>
            <a:ext cx="540964" cy="5409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EEDD42-A482-468C-A7C8-AE0103A45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016" y="4507259"/>
            <a:ext cx="540964" cy="5409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DF1532-41BD-4691-93E1-611694451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583" y="1306859"/>
            <a:ext cx="540964" cy="5409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F7E78A8-5492-4838-BDF9-E2E40B459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583" y="2373659"/>
            <a:ext cx="540964" cy="5409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8166885-7299-40BB-883F-6B2A4A583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583" y="3440459"/>
            <a:ext cx="540964" cy="5409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E82D390-4B86-4F2C-82F5-C546393E7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583" y="4507259"/>
            <a:ext cx="540964" cy="5409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A59E301-0F8B-4B51-B765-286F0EF22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078" y="1306859"/>
            <a:ext cx="540964" cy="54096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FC1960A-B558-4B64-AD8B-A705C2C78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078" y="2373659"/>
            <a:ext cx="540964" cy="54096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876C87C-CF80-4945-9237-E4EF237FF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078" y="3440459"/>
            <a:ext cx="540964" cy="5409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E5FBBC4-9A1E-43A5-980E-7DD9F872D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078" y="4507259"/>
            <a:ext cx="540964" cy="54096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C715976-44A9-4BFB-B538-6C3536D81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645" y="1306859"/>
            <a:ext cx="540964" cy="54096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8C7FE6D-A58B-48DA-9B2B-D8FB10063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645" y="2373659"/>
            <a:ext cx="540964" cy="54096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AD6FC8A-5C99-4CA2-8CB7-85E025CB4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645" y="3440459"/>
            <a:ext cx="540964" cy="54096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F69C798-7B82-4758-A705-3FDF9B866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645" y="4507259"/>
            <a:ext cx="540964" cy="54096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81060EA-9ACC-4AD5-B1AB-83C82A631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1586" y="1306859"/>
            <a:ext cx="540964" cy="54096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2C27E18-9980-43CA-AB00-1EA7190B8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1586" y="2373659"/>
            <a:ext cx="540964" cy="54096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EB809A8-B217-4FA6-8832-71A3FDB01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1586" y="3440459"/>
            <a:ext cx="540964" cy="54096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29E9AAF-081B-4E09-950E-55D900AEF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1586" y="4507259"/>
            <a:ext cx="540964" cy="54096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37134DA-4AE1-49E9-AE88-8E6B06F20252}"/>
              </a:ext>
            </a:extLst>
          </p:cNvPr>
          <p:cNvSpPr txBox="1"/>
          <p:nvPr/>
        </p:nvSpPr>
        <p:spPr>
          <a:xfrm>
            <a:off x="2312336" y="5768002"/>
            <a:ext cx="7567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Fish Interact with Salinity within their Environment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F77FFD6-6458-4A88-9DE4-091CCE6947C6}"/>
              </a:ext>
            </a:extLst>
          </p:cNvPr>
          <p:cNvGrpSpPr/>
          <p:nvPr/>
        </p:nvGrpSpPr>
        <p:grpSpPr>
          <a:xfrm>
            <a:off x="10011143" y="2021736"/>
            <a:ext cx="2005831" cy="1985218"/>
            <a:chOff x="9957665" y="1550894"/>
            <a:chExt cx="2005831" cy="198521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AED0C98-AC79-4EAD-97E2-73688BB4C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57665" y="2914623"/>
              <a:ext cx="1075941" cy="62148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1DF1AE1-793D-436B-A83D-FE2EED5CA4B3}"/>
                </a:ext>
              </a:extLst>
            </p:cNvPr>
            <p:cNvGrpSpPr/>
            <p:nvPr/>
          </p:nvGrpSpPr>
          <p:grpSpPr>
            <a:xfrm>
              <a:off x="10134111" y="1550894"/>
              <a:ext cx="1829385" cy="1604234"/>
              <a:chOff x="10134111" y="1550894"/>
              <a:chExt cx="1829385" cy="160423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1962850E-E188-4834-92A7-F153B36ABF54}"/>
                  </a:ext>
                </a:extLst>
              </p:cNvPr>
              <p:cNvCxnSpPr/>
              <p:nvPr/>
            </p:nvCxnSpPr>
            <p:spPr>
              <a:xfrm flipV="1">
                <a:off x="10587317" y="2444928"/>
                <a:ext cx="295836" cy="710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C2E2E7D-6509-4575-BC44-7CE9FAAE4D2F}"/>
                  </a:ext>
                </a:extLst>
              </p:cNvPr>
              <p:cNvSpPr/>
              <p:nvPr/>
            </p:nvSpPr>
            <p:spPr>
              <a:xfrm>
                <a:off x="10183515" y="1550894"/>
                <a:ext cx="1730579" cy="8940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BEF2FC9-ADBE-4F4B-9D6E-4B7F3BDA30B8}"/>
                  </a:ext>
                </a:extLst>
              </p:cNvPr>
              <p:cNvSpPr txBox="1"/>
              <p:nvPr/>
            </p:nvSpPr>
            <p:spPr>
              <a:xfrm>
                <a:off x="10134111" y="1582412"/>
                <a:ext cx="182938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Fish have an  internal level of acclimated-salinity</a:t>
                </a:r>
              </a:p>
            </p:txBody>
          </p:sp>
        </p:grp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2FCA0566-16DC-4BB6-87A6-1643C9E5CC1A}"/>
              </a:ext>
            </a:extLst>
          </p:cNvPr>
          <p:cNvSpPr txBox="1"/>
          <p:nvPr/>
        </p:nvSpPr>
        <p:spPr>
          <a:xfrm>
            <a:off x="179100" y="761113"/>
            <a:ext cx="182938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Environmental Salinity Levels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8804F2-282B-4E3E-9EFC-824E973F4E73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2013321" y="1084279"/>
            <a:ext cx="786610" cy="2225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4F0D2C40-81E4-4388-A05F-E41468C22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631" y="891360"/>
            <a:ext cx="1438648" cy="8309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8FE665C-BBE2-4B7B-97EC-82512B3FCAA5}"/>
              </a:ext>
            </a:extLst>
          </p:cNvPr>
          <p:cNvCxnSpPr/>
          <p:nvPr/>
        </p:nvCxnSpPr>
        <p:spPr>
          <a:xfrm>
            <a:off x="1190762" y="3440459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2216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C124C7-7A5C-43C7-A7CE-DF0F869B7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826" y="1712770"/>
            <a:ext cx="7425726" cy="408739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349F21A-FC8C-4A11-B464-680237BA5CF2}"/>
              </a:ext>
            </a:extLst>
          </p:cNvPr>
          <p:cNvGrpSpPr/>
          <p:nvPr/>
        </p:nvGrpSpPr>
        <p:grpSpPr>
          <a:xfrm>
            <a:off x="9092841" y="1899303"/>
            <a:ext cx="2005831" cy="1985218"/>
            <a:chOff x="9957665" y="1550894"/>
            <a:chExt cx="2005831" cy="198521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D0F076C-8FAB-43CD-82F5-0169719E94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57665" y="2914623"/>
              <a:ext cx="1075941" cy="62148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21D3875-2B88-4227-A7F8-893A70AA9E5E}"/>
                </a:ext>
              </a:extLst>
            </p:cNvPr>
            <p:cNvGrpSpPr/>
            <p:nvPr/>
          </p:nvGrpSpPr>
          <p:grpSpPr>
            <a:xfrm>
              <a:off x="10134111" y="1550894"/>
              <a:ext cx="1829385" cy="1604234"/>
              <a:chOff x="10134111" y="1550894"/>
              <a:chExt cx="1829385" cy="160423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0038DA0F-E6FC-479B-8978-A9E476379430}"/>
                  </a:ext>
                </a:extLst>
              </p:cNvPr>
              <p:cNvCxnSpPr/>
              <p:nvPr/>
            </p:nvCxnSpPr>
            <p:spPr>
              <a:xfrm flipV="1">
                <a:off x="10587317" y="2444928"/>
                <a:ext cx="295836" cy="710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5A71FDD-E916-4FF6-BFC8-E473D7AD243C}"/>
                  </a:ext>
                </a:extLst>
              </p:cNvPr>
              <p:cNvSpPr/>
              <p:nvPr/>
            </p:nvSpPr>
            <p:spPr>
              <a:xfrm>
                <a:off x="10183515" y="1550894"/>
                <a:ext cx="1730579" cy="8940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9F4C66-195E-463A-B168-1E17AF2A0327}"/>
                  </a:ext>
                </a:extLst>
              </p:cNvPr>
              <p:cNvSpPr txBox="1"/>
              <p:nvPr/>
            </p:nvSpPr>
            <p:spPr>
              <a:xfrm>
                <a:off x="10134111" y="1582412"/>
                <a:ext cx="182938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Fish have an  internal level of acclimated-salinity</a:t>
                </a:r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6ADA63-FCAA-470C-B268-29C13C89E9F7}"/>
              </a:ext>
            </a:extLst>
          </p:cNvPr>
          <p:cNvSpPr txBox="1"/>
          <p:nvPr/>
        </p:nvSpPr>
        <p:spPr>
          <a:xfrm>
            <a:off x="116186" y="1218061"/>
            <a:ext cx="182938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Environmental Salinity Levels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927591-E06D-44BB-A00B-87EFF8722531}"/>
              </a:ext>
            </a:extLst>
          </p:cNvPr>
          <p:cNvCxnSpPr>
            <a:cxnSpLocks/>
          </p:cNvCxnSpPr>
          <p:nvPr/>
        </p:nvCxnSpPr>
        <p:spPr>
          <a:xfrm flipH="1" flipV="1">
            <a:off x="2294902" y="510721"/>
            <a:ext cx="914693" cy="5814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DA59E9E-8B95-4AD6-85E1-DBB2C06C1194}"/>
              </a:ext>
            </a:extLst>
          </p:cNvPr>
          <p:cNvSpPr txBox="1"/>
          <p:nvPr/>
        </p:nvSpPr>
        <p:spPr>
          <a:xfrm>
            <a:off x="6240933" y="4418652"/>
            <a:ext cx="3854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Represents biological ability to manage internal ion-concentrations.</a:t>
            </a:r>
          </a:p>
        </p:txBody>
      </p:sp>
    </p:spTree>
    <p:extLst>
      <p:ext uri="{BB962C8B-B14F-4D97-AF65-F5344CB8AC3E}">
        <p14:creationId xmlns:p14="http://schemas.microsoft.com/office/powerpoint/2010/main" val="4160857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roup 169">
            <a:extLst>
              <a:ext uri="{FF2B5EF4-FFF2-40B4-BE49-F238E27FC236}">
                <a16:creationId xmlns:a16="http://schemas.microsoft.com/office/drawing/2014/main" id="{08FF4258-D5DD-4764-A8AD-81987E58DD0F}"/>
              </a:ext>
            </a:extLst>
          </p:cNvPr>
          <p:cNvGrpSpPr/>
          <p:nvPr/>
        </p:nvGrpSpPr>
        <p:grpSpPr>
          <a:xfrm>
            <a:off x="291053" y="-26968"/>
            <a:ext cx="4627711" cy="1481030"/>
            <a:chOff x="291053" y="-26968"/>
            <a:chExt cx="4627711" cy="148103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403E983-841D-4DFA-B1F0-F548A1BAA43D}"/>
                </a:ext>
              </a:extLst>
            </p:cNvPr>
            <p:cNvSpPr/>
            <p:nvPr/>
          </p:nvSpPr>
          <p:spPr>
            <a:xfrm>
              <a:off x="462931" y="86120"/>
              <a:ext cx="4330089" cy="133283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0D526EE7-A300-491B-BEDE-64869333B3E6}"/>
                </a:ext>
              </a:extLst>
            </p:cNvPr>
            <p:cNvSpPr/>
            <p:nvPr/>
          </p:nvSpPr>
          <p:spPr>
            <a:xfrm>
              <a:off x="3632505" y="566184"/>
              <a:ext cx="432639" cy="18288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27A04BB-3DD7-47FE-9B39-052F24EE26F8}"/>
                </a:ext>
              </a:extLst>
            </p:cNvPr>
            <p:cNvSpPr txBox="1"/>
            <p:nvPr/>
          </p:nvSpPr>
          <p:spPr>
            <a:xfrm>
              <a:off x="3912137" y="847703"/>
              <a:ext cx="10066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Energy Use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B9845B9-B08D-452E-8306-A4E62892B496}"/>
                </a:ext>
              </a:extLst>
            </p:cNvPr>
            <p:cNvSpPr txBox="1"/>
            <p:nvPr/>
          </p:nvSpPr>
          <p:spPr>
            <a:xfrm>
              <a:off x="2619715" y="869287"/>
              <a:ext cx="13508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Salinity Stress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8E97A5B-9113-459C-9C6E-76C8B95D12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7196" t="6647" r="73027" b="74624"/>
            <a:stretch/>
          </p:blipFill>
          <p:spPr>
            <a:xfrm>
              <a:off x="2957953" y="-15558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2EC9429-ABCC-4285-AE26-36662B386C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7196" t="6647" r="73027" b="74624"/>
            <a:stretch/>
          </p:blipFill>
          <p:spPr>
            <a:xfrm>
              <a:off x="4078795" y="-26968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3EA6B10-87ED-4E36-A6B8-17CE58AF0F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6883" t="9252" r="55401" b="73628"/>
            <a:stretch/>
          </p:blipFill>
          <p:spPr>
            <a:xfrm>
              <a:off x="1841349" y="120170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FF9F386-1016-4BFB-A8FE-6FADD02FE036}"/>
                </a:ext>
              </a:extLst>
            </p:cNvPr>
            <p:cNvSpPr txBox="1"/>
            <p:nvPr/>
          </p:nvSpPr>
          <p:spPr>
            <a:xfrm>
              <a:off x="291053" y="849990"/>
              <a:ext cx="12091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External Salinity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1D2EC8C-3A2A-420E-8BDE-68C3CB6616A6}"/>
                </a:ext>
              </a:extLst>
            </p:cNvPr>
            <p:cNvSpPr txBox="1"/>
            <p:nvPr/>
          </p:nvSpPr>
          <p:spPr>
            <a:xfrm>
              <a:off x="1563557" y="857463"/>
              <a:ext cx="12091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Internal Salinity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D80FFBA-FAB2-42BF-85A2-30A1DB63BDD2}"/>
                </a:ext>
              </a:extLst>
            </p:cNvPr>
            <p:cNvSpPr txBox="1"/>
            <p:nvPr/>
          </p:nvSpPr>
          <p:spPr>
            <a:xfrm>
              <a:off x="2457257" y="168909"/>
              <a:ext cx="457200" cy="9233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b="1" dirty="0"/>
                <a:t>=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4299EFD-15F7-4D76-8FA5-4E45D9387B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7196" t="6647" r="73027" b="74624"/>
            <a:stretch/>
          </p:blipFill>
          <p:spPr>
            <a:xfrm>
              <a:off x="601420" y="-12502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" name="Arrow: Left-Right 12">
              <a:extLst>
                <a:ext uri="{FF2B5EF4-FFF2-40B4-BE49-F238E27FC236}">
                  <a16:creationId xmlns:a16="http://schemas.microsoft.com/office/drawing/2014/main" id="{2A85A363-1216-4E04-8DAD-FED219EB80BE}"/>
                </a:ext>
              </a:extLst>
            </p:cNvPr>
            <p:cNvSpPr/>
            <p:nvPr/>
          </p:nvSpPr>
          <p:spPr>
            <a:xfrm>
              <a:off x="1268203" y="538105"/>
              <a:ext cx="548640" cy="184938"/>
            </a:xfrm>
            <a:prstGeom prst="left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C3ED31-22EA-42FA-B233-42145107769B}"/>
                </a:ext>
              </a:extLst>
            </p:cNvPr>
            <p:cNvSpPr/>
            <p:nvPr/>
          </p:nvSpPr>
          <p:spPr>
            <a:xfrm>
              <a:off x="4271178" y="477616"/>
              <a:ext cx="243672" cy="33498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DB23EF8-DCDB-491C-BB28-0CF5A4EE5610}"/>
                </a:ext>
              </a:extLst>
            </p:cNvPr>
            <p:cNvSpPr/>
            <p:nvPr/>
          </p:nvSpPr>
          <p:spPr>
            <a:xfrm>
              <a:off x="3146019" y="487774"/>
              <a:ext cx="254405" cy="334983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01F8E50-515C-4C2B-A2F9-A5C01F1541D5}"/>
                </a:ext>
              </a:extLst>
            </p:cNvPr>
            <p:cNvSpPr/>
            <p:nvPr/>
          </p:nvSpPr>
          <p:spPr>
            <a:xfrm>
              <a:off x="794023" y="490241"/>
              <a:ext cx="254405" cy="334983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4382FA1-D1CB-455A-8ED5-00A1E6158167}"/>
                </a:ext>
              </a:extLst>
            </p:cNvPr>
            <p:cNvSpPr/>
            <p:nvPr/>
          </p:nvSpPr>
          <p:spPr>
            <a:xfrm>
              <a:off x="2026902" y="805107"/>
              <a:ext cx="254405" cy="36576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D715E6C8-A140-480F-AB34-39300D331F67}"/>
              </a:ext>
            </a:extLst>
          </p:cNvPr>
          <p:cNvGrpSpPr/>
          <p:nvPr/>
        </p:nvGrpSpPr>
        <p:grpSpPr>
          <a:xfrm>
            <a:off x="291053" y="1910433"/>
            <a:ext cx="3679539" cy="1469620"/>
            <a:chOff x="291053" y="1910433"/>
            <a:chExt cx="3679539" cy="146962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0490FA-42AD-4C75-A379-A5F833A61BE1}"/>
                </a:ext>
              </a:extLst>
            </p:cNvPr>
            <p:cNvSpPr/>
            <p:nvPr/>
          </p:nvSpPr>
          <p:spPr>
            <a:xfrm>
              <a:off x="462932" y="2012111"/>
              <a:ext cx="3233754" cy="133283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96F73E8-7051-4339-A761-B16DDE1F86CB}"/>
                </a:ext>
              </a:extLst>
            </p:cNvPr>
            <p:cNvSpPr txBox="1"/>
            <p:nvPr/>
          </p:nvSpPr>
          <p:spPr>
            <a:xfrm>
              <a:off x="2619715" y="2795278"/>
              <a:ext cx="13508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Salinity Stress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0A2F19B-0186-4CD4-B688-7076717A41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7196" t="6647" r="73027" b="74624"/>
            <a:stretch/>
          </p:blipFill>
          <p:spPr>
            <a:xfrm>
              <a:off x="2957953" y="1910433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0B8C0DD-E357-4348-8A72-A9EB2BF334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6883" t="9252" r="55401" b="73628"/>
            <a:stretch/>
          </p:blipFill>
          <p:spPr>
            <a:xfrm>
              <a:off x="1841349" y="2046161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31E8035-0AB7-4BAB-8387-1573994F0C8D}"/>
                </a:ext>
              </a:extLst>
            </p:cNvPr>
            <p:cNvSpPr txBox="1"/>
            <p:nvPr/>
          </p:nvSpPr>
          <p:spPr>
            <a:xfrm>
              <a:off x="291053" y="2775981"/>
              <a:ext cx="12091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External Salinity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9139A97-9B86-4B64-9BBF-41878A2C7E12}"/>
                </a:ext>
              </a:extLst>
            </p:cNvPr>
            <p:cNvSpPr txBox="1"/>
            <p:nvPr/>
          </p:nvSpPr>
          <p:spPr>
            <a:xfrm>
              <a:off x="1563557" y="2783454"/>
              <a:ext cx="12091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Internal Salinity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E9E60D1-F7D2-416A-8D36-F459E8D3AA73}"/>
                </a:ext>
              </a:extLst>
            </p:cNvPr>
            <p:cNvSpPr txBox="1"/>
            <p:nvPr/>
          </p:nvSpPr>
          <p:spPr>
            <a:xfrm>
              <a:off x="2457257" y="2094900"/>
              <a:ext cx="457200" cy="9233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b="1" dirty="0"/>
                <a:t>=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2984ECE-5B64-48BF-9AE7-C396AB8B7F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7196" t="6647" r="73027" b="74624"/>
            <a:stretch/>
          </p:blipFill>
          <p:spPr>
            <a:xfrm>
              <a:off x="601420" y="1913489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5" name="Arrow: Left-Right 24">
              <a:extLst>
                <a:ext uri="{FF2B5EF4-FFF2-40B4-BE49-F238E27FC236}">
                  <a16:creationId xmlns:a16="http://schemas.microsoft.com/office/drawing/2014/main" id="{7C47A69D-96D4-4BD5-8012-C20EDA458762}"/>
                </a:ext>
              </a:extLst>
            </p:cNvPr>
            <p:cNvSpPr/>
            <p:nvPr/>
          </p:nvSpPr>
          <p:spPr>
            <a:xfrm>
              <a:off x="1268203" y="2464096"/>
              <a:ext cx="548640" cy="184938"/>
            </a:xfrm>
            <a:prstGeom prst="left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45EC5C0-CE17-42E2-A20F-9FDAE0ACD4B4}"/>
                </a:ext>
              </a:extLst>
            </p:cNvPr>
            <p:cNvSpPr/>
            <p:nvPr/>
          </p:nvSpPr>
          <p:spPr>
            <a:xfrm>
              <a:off x="2026901" y="2729853"/>
              <a:ext cx="254405" cy="36576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89414A2-3906-47EE-AD69-5554D5242849}"/>
                </a:ext>
              </a:extLst>
            </p:cNvPr>
            <p:cNvSpPr/>
            <p:nvPr/>
          </p:nvSpPr>
          <p:spPr>
            <a:xfrm>
              <a:off x="791512" y="2417967"/>
              <a:ext cx="254405" cy="334983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7B60AE0-7118-45CC-AD99-D8F4FF89421C}"/>
                </a:ext>
              </a:extLst>
            </p:cNvPr>
            <p:cNvSpPr/>
            <p:nvPr/>
          </p:nvSpPr>
          <p:spPr>
            <a:xfrm>
              <a:off x="3148767" y="2406664"/>
              <a:ext cx="254405" cy="334983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BCCE5E1C-831C-484C-9FB2-4FD9B8FDCF82}"/>
              </a:ext>
            </a:extLst>
          </p:cNvPr>
          <p:cNvSpPr/>
          <p:nvPr/>
        </p:nvSpPr>
        <p:spPr>
          <a:xfrm>
            <a:off x="410985" y="3660653"/>
            <a:ext cx="3233754" cy="133283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2B1661-BB6A-44B4-BB3E-DDA2C14C609B}"/>
              </a:ext>
            </a:extLst>
          </p:cNvPr>
          <p:cNvSpPr txBox="1"/>
          <p:nvPr/>
        </p:nvSpPr>
        <p:spPr>
          <a:xfrm>
            <a:off x="2567768" y="4443820"/>
            <a:ext cx="13508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Salinity Stress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7F9C3C1-973C-4664-9F03-25EDCEF958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883" t="9252" r="55401" b="73628"/>
          <a:stretch/>
        </p:blipFill>
        <p:spPr>
          <a:xfrm>
            <a:off x="1807773" y="3694703"/>
            <a:ext cx="561821" cy="8960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5733048-088E-4C98-B2B3-F89E64030921}"/>
              </a:ext>
            </a:extLst>
          </p:cNvPr>
          <p:cNvSpPr txBox="1"/>
          <p:nvPr/>
        </p:nvSpPr>
        <p:spPr>
          <a:xfrm>
            <a:off x="239106" y="4424523"/>
            <a:ext cx="1209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External Salinity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0DB68E-7A85-4E89-93F6-43759D1614E4}"/>
              </a:ext>
            </a:extLst>
          </p:cNvPr>
          <p:cNvSpPr txBox="1"/>
          <p:nvPr/>
        </p:nvSpPr>
        <p:spPr>
          <a:xfrm>
            <a:off x="1511610" y="4431996"/>
            <a:ext cx="1209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Internal Salinity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9E5299-399B-4E97-980A-E6A1DFC96DB6}"/>
              </a:ext>
            </a:extLst>
          </p:cNvPr>
          <p:cNvSpPr txBox="1"/>
          <p:nvPr/>
        </p:nvSpPr>
        <p:spPr>
          <a:xfrm>
            <a:off x="2405310" y="3743442"/>
            <a:ext cx="457200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5400" b="1" dirty="0"/>
              <a:t>=</a:t>
            </a:r>
          </a:p>
        </p:txBody>
      </p:sp>
      <p:sp>
        <p:nvSpPr>
          <p:cNvPr id="41" name="Arrow: Left-Right 40">
            <a:extLst>
              <a:ext uri="{FF2B5EF4-FFF2-40B4-BE49-F238E27FC236}">
                <a16:creationId xmlns:a16="http://schemas.microsoft.com/office/drawing/2014/main" id="{1A823FFE-C74A-49BB-BD32-9DAE7B679499}"/>
              </a:ext>
            </a:extLst>
          </p:cNvPr>
          <p:cNvSpPr/>
          <p:nvPr/>
        </p:nvSpPr>
        <p:spPr>
          <a:xfrm>
            <a:off x="1216256" y="4112638"/>
            <a:ext cx="548640" cy="184938"/>
          </a:xfrm>
          <a:prstGeom prst="left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0241F5C-185B-49EC-A6D4-78D36315A4FD}"/>
              </a:ext>
            </a:extLst>
          </p:cNvPr>
          <p:cNvSpPr/>
          <p:nvPr/>
        </p:nvSpPr>
        <p:spPr>
          <a:xfrm>
            <a:off x="1993325" y="4378395"/>
            <a:ext cx="254405" cy="36576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0B0CB18B-A7FD-42B4-AF93-A865084DCD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883" t="9252" r="55401" b="73628"/>
          <a:stretch/>
        </p:blipFill>
        <p:spPr>
          <a:xfrm>
            <a:off x="2913035" y="3694703"/>
            <a:ext cx="561821" cy="8960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0F33EBEA-1663-4437-8E18-2D292B1A7EDA}"/>
              </a:ext>
            </a:extLst>
          </p:cNvPr>
          <p:cNvSpPr/>
          <p:nvPr/>
        </p:nvSpPr>
        <p:spPr>
          <a:xfrm>
            <a:off x="3098587" y="4378395"/>
            <a:ext cx="254405" cy="3657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E498BF6-113D-47BA-8422-0752D81403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883" t="9252" r="55401" b="73628"/>
          <a:stretch/>
        </p:blipFill>
        <p:spPr>
          <a:xfrm>
            <a:off x="532710" y="3667030"/>
            <a:ext cx="561821" cy="8960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35996DC1-E5AC-42E0-B650-16F25E1AE0EF}"/>
              </a:ext>
            </a:extLst>
          </p:cNvPr>
          <p:cNvSpPr/>
          <p:nvPr/>
        </p:nvSpPr>
        <p:spPr>
          <a:xfrm>
            <a:off x="718262" y="4350722"/>
            <a:ext cx="254405" cy="36576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86F150CF-0E87-4065-AE75-241500F83519}"/>
              </a:ext>
            </a:extLst>
          </p:cNvPr>
          <p:cNvGrpSpPr/>
          <p:nvPr/>
        </p:nvGrpSpPr>
        <p:grpSpPr>
          <a:xfrm>
            <a:off x="214395" y="5069535"/>
            <a:ext cx="4627711" cy="1466564"/>
            <a:chOff x="214395" y="5069535"/>
            <a:chExt cx="4627711" cy="1466564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298A334D-ACC5-4404-B97B-0EECAAEE0E1C}"/>
                </a:ext>
              </a:extLst>
            </p:cNvPr>
            <p:cNvSpPr/>
            <p:nvPr/>
          </p:nvSpPr>
          <p:spPr>
            <a:xfrm>
              <a:off x="386273" y="5168157"/>
              <a:ext cx="4330089" cy="133283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Arrow: Right 77">
              <a:extLst>
                <a:ext uri="{FF2B5EF4-FFF2-40B4-BE49-F238E27FC236}">
                  <a16:creationId xmlns:a16="http://schemas.microsoft.com/office/drawing/2014/main" id="{DA689EA1-058E-4BCC-B889-63972D6A5D5C}"/>
                </a:ext>
              </a:extLst>
            </p:cNvPr>
            <p:cNvSpPr/>
            <p:nvPr/>
          </p:nvSpPr>
          <p:spPr>
            <a:xfrm>
              <a:off x="3555847" y="5648221"/>
              <a:ext cx="432639" cy="18288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7A79B64-752D-4623-905A-7316F85DBBE1}"/>
                </a:ext>
              </a:extLst>
            </p:cNvPr>
            <p:cNvSpPr txBox="1"/>
            <p:nvPr/>
          </p:nvSpPr>
          <p:spPr>
            <a:xfrm>
              <a:off x="3835479" y="5929740"/>
              <a:ext cx="10066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Energy Use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70ECF2C-8B46-4C9F-8FE2-28A2F24ABFF3}"/>
                </a:ext>
              </a:extLst>
            </p:cNvPr>
            <p:cNvSpPr txBox="1"/>
            <p:nvPr/>
          </p:nvSpPr>
          <p:spPr>
            <a:xfrm>
              <a:off x="2543057" y="5951324"/>
              <a:ext cx="13508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Salinity Stress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711B04F-80B5-4F4A-85E5-0AAA05517AF3}"/>
                </a:ext>
              </a:extLst>
            </p:cNvPr>
            <p:cNvSpPr txBox="1"/>
            <p:nvPr/>
          </p:nvSpPr>
          <p:spPr>
            <a:xfrm>
              <a:off x="214395" y="5932027"/>
              <a:ext cx="12091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External Salinity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AEE3CF6-EF46-4268-9CDC-09F3E28754CA}"/>
                </a:ext>
              </a:extLst>
            </p:cNvPr>
            <p:cNvSpPr txBox="1"/>
            <p:nvPr/>
          </p:nvSpPr>
          <p:spPr>
            <a:xfrm>
              <a:off x="1534621" y="5937805"/>
              <a:ext cx="12091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Internal Salinity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A65690A-C774-4434-A26B-5C0EA8D056FD}"/>
                </a:ext>
              </a:extLst>
            </p:cNvPr>
            <p:cNvSpPr txBox="1"/>
            <p:nvPr/>
          </p:nvSpPr>
          <p:spPr>
            <a:xfrm>
              <a:off x="2380599" y="5250946"/>
              <a:ext cx="457200" cy="9233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b="1" dirty="0"/>
                <a:t>=</a:t>
              </a:r>
            </a:p>
          </p:txBody>
        </p:sp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34F21E91-4F9C-46E5-AFD6-794D54E5D7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7196" t="6647" r="73027" b="74624"/>
            <a:stretch/>
          </p:blipFill>
          <p:spPr>
            <a:xfrm>
              <a:off x="524762" y="5069535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88" name="Arrow: Left-Right 87">
              <a:extLst>
                <a:ext uri="{FF2B5EF4-FFF2-40B4-BE49-F238E27FC236}">
                  <a16:creationId xmlns:a16="http://schemas.microsoft.com/office/drawing/2014/main" id="{EBE0E1C3-93C3-4EA1-A9BE-0C5B7C80F27E}"/>
                </a:ext>
              </a:extLst>
            </p:cNvPr>
            <p:cNvSpPr/>
            <p:nvPr/>
          </p:nvSpPr>
          <p:spPr>
            <a:xfrm>
              <a:off x="1191545" y="5620142"/>
              <a:ext cx="548640" cy="184938"/>
            </a:xfrm>
            <a:prstGeom prst="left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5464640C-CD7D-4223-9FA7-9644E042D2C7}"/>
                </a:ext>
              </a:extLst>
            </p:cNvPr>
            <p:cNvSpPr/>
            <p:nvPr/>
          </p:nvSpPr>
          <p:spPr>
            <a:xfrm>
              <a:off x="717365" y="5572278"/>
              <a:ext cx="254405" cy="334983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F93A5DC3-E32D-4F81-93D9-FDD822017A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7196" t="6647" r="73027" b="74624"/>
            <a:stretch/>
          </p:blipFill>
          <p:spPr>
            <a:xfrm>
              <a:off x="1807773" y="5077088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85E802A-8745-489A-8BB6-5FADEDB3F3A6}"/>
                </a:ext>
              </a:extLst>
            </p:cNvPr>
            <p:cNvSpPr/>
            <p:nvPr/>
          </p:nvSpPr>
          <p:spPr>
            <a:xfrm>
              <a:off x="1997865" y="5581566"/>
              <a:ext cx="254405" cy="334983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8B4053B8-17DB-4F1D-8878-46A2A55554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6883" t="9252" r="55401" b="73628"/>
            <a:stretch/>
          </p:blipFill>
          <p:spPr>
            <a:xfrm>
              <a:off x="2895102" y="5187454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B2B617A-2543-4E23-9B43-15E0252F851F}"/>
                </a:ext>
              </a:extLst>
            </p:cNvPr>
            <p:cNvSpPr/>
            <p:nvPr/>
          </p:nvSpPr>
          <p:spPr>
            <a:xfrm>
              <a:off x="3080654" y="5871146"/>
              <a:ext cx="254405" cy="36576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0C7AA15E-EB30-4BE0-8D46-0807B0D9F0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6883" t="9252" r="55401" b="73628"/>
            <a:stretch/>
          </p:blipFill>
          <p:spPr>
            <a:xfrm>
              <a:off x="4031602" y="5187454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B7701B74-8D73-4B7C-8EC2-525038A89DC9}"/>
                </a:ext>
              </a:extLst>
            </p:cNvPr>
            <p:cNvSpPr/>
            <p:nvPr/>
          </p:nvSpPr>
          <p:spPr>
            <a:xfrm>
              <a:off x="4213841" y="5871146"/>
              <a:ext cx="254405" cy="3657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C4189342-5474-48B3-8DAC-18511DD616E5}"/>
              </a:ext>
            </a:extLst>
          </p:cNvPr>
          <p:cNvGrpSpPr/>
          <p:nvPr/>
        </p:nvGrpSpPr>
        <p:grpSpPr>
          <a:xfrm>
            <a:off x="4866351" y="5168157"/>
            <a:ext cx="4627711" cy="1367942"/>
            <a:chOff x="4866351" y="5168157"/>
            <a:chExt cx="4627711" cy="1367942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63B3AC3-9C3E-43B5-A2E6-85D3194E2C60}"/>
                </a:ext>
              </a:extLst>
            </p:cNvPr>
            <p:cNvSpPr/>
            <p:nvPr/>
          </p:nvSpPr>
          <p:spPr>
            <a:xfrm>
              <a:off x="5038229" y="5168157"/>
              <a:ext cx="4330089" cy="133283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Arrow: Right 111">
              <a:extLst>
                <a:ext uri="{FF2B5EF4-FFF2-40B4-BE49-F238E27FC236}">
                  <a16:creationId xmlns:a16="http://schemas.microsoft.com/office/drawing/2014/main" id="{3CACEEC7-33F5-472B-A74F-B926DA69A2DC}"/>
                </a:ext>
              </a:extLst>
            </p:cNvPr>
            <p:cNvSpPr/>
            <p:nvPr/>
          </p:nvSpPr>
          <p:spPr>
            <a:xfrm>
              <a:off x="8207803" y="5648221"/>
              <a:ext cx="432639" cy="18288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4D74AC90-5A19-4BA4-BD15-7BD4A123D8A0}"/>
                </a:ext>
              </a:extLst>
            </p:cNvPr>
            <p:cNvSpPr txBox="1"/>
            <p:nvPr/>
          </p:nvSpPr>
          <p:spPr>
            <a:xfrm>
              <a:off x="8487435" y="5929740"/>
              <a:ext cx="10066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Energy Use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E62548DC-4672-48A8-9B5E-0C93F4AC8F07}"/>
                </a:ext>
              </a:extLst>
            </p:cNvPr>
            <p:cNvSpPr txBox="1"/>
            <p:nvPr/>
          </p:nvSpPr>
          <p:spPr>
            <a:xfrm>
              <a:off x="7195013" y="5951324"/>
              <a:ext cx="13508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Salinity Stress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9B9A6CD9-94E5-4398-B77F-8ADF10CAF55A}"/>
                </a:ext>
              </a:extLst>
            </p:cNvPr>
            <p:cNvSpPr txBox="1"/>
            <p:nvPr/>
          </p:nvSpPr>
          <p:spPr>
            <a:xfrm>
              <a:off x="4866351" y="5932027"/>
              <a:ext cx="12091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External Salinity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13EC4A3-09EC-46CC-A6C1-1D94AC9AFEE5}"/>
                </a:ext>
              </a:extLst>
            </p:cNvPr>
            <p:cNvSpPr txBox="1"/>
            <p:nvPr/>
          </p:nvSpPr>
          <p:spPr>
            <a:xfrm>
              <a:off x="6186577" y="5937805"/>
              <a:ext cx="12091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Internal Salinity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5FF86DDB-3ECA-4FB9-A403-86E10B7B291F}"/>
                </a:ext>
              </a:extLst>
            </p:cNvPr>
            <p:cNvSpPr txBox="1"/>
            <p:nvPr/>
          </p:nvSpPr>
          <p:spPr>
            <a:xfrm>
              <a:off x="7032555" y="5250946"/>
              <a:ext cx="457200" cy="9233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b="1" dirty="0"/>
                <a:t>=</a:t>
              </a:r>
            </a:p>
          </p:txBody>
        </p:sp>
        <p:sp>
          <p:nvSpPr>
            <p:cNvPr id="119" name="Arrow: Left-Right 118">
              <a:extLst>
                <a:ext uri="{FF2B5EF4-FFF2-40B4-BE49-F238E27FC236}">
                  <a16:creationId xmlns:a16="http://schemas.microsoft.com/office/drawing/2014/main" id="{A29481ED-DA79-459C-AD57-6C7DCE1F21FA}"/>
                </a:ext>
              </a:extLst>
            </p:cNvPr>
            <p:cNvSpPr/>
            <p:nvPr/>
          </p:nvSpPr>
          <p:spPr>
            <a:xfrm>
              <a:off x="5843501" y="5620142"/>
              <a:ext cx="548640" cy="184938"/>
            </a:xfrm>
            <a:prstGeom prst="left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E9CAF57C-B24F-4CC6-879A-89DA1732C5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6883" t="9252" r="55401" b="73628"/>
            <a:stretch/>
          </p:blipFill>
          <p:spPr>
            <a:xfrm>
              <a:off x="7547058" y="5187454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8ED207B9-A642-4C16-88CA-FF3F3B4694F9}"/>
                </a:ext>
              </a:extLst>
            </p:cNvPr>
            <p:cNvSpPr/>
            <p:nvPr/>
          </p:nvSpPr>
          <p:spPr>
            <a:xfrm>
              <a:off x="7732610" y="5871146"/>
              <a:ext cx="254405" cy="36576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FF9071AA-354E-45BE-BD10-ACD0CCF1B5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6883" t="9252" r="55401" b="73628"/>
            <a:stretch/>
          </p:blipFill>
          <p:spPr>
            <a:xfrm>
              <a:off x="8683558" y="5187454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B56A617A-B87D-4DCC-BF9C-DE72FF080F80}"/>
                </a:ext>
              </a:extLst>
            </p:cNvPr>
            <p:cNvSpPr/>
            <p:nvPr/>
          </p:nvSpPr>
          <p:spPr>
            <a:xfrm>
              <a:off x="8865797" y="5871146"/>
              <a:ext cx="254405" cy="3657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14E8D3F3-D3D9-4F26-9B10-7C50E3BD23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6883" t="9252" r="55401" b="73628"/>
            <a:stretch/>
          </p:blipFill>
          <p:spPr>
            <a:xfrm>
              <a:off x="5176366" y="5174534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8CB8862C-6E7B-44ED-8E9D-69F274640B97}"/>
                </a:ext>
              </a:extLst>
            </p:cNvPr>
            <p:cNvSpPr/>
            <p:nvPr/>
          </p:nvSpPr>
          <p:spPr>
            <a:xfrm>
              <a:off x="5361918" y="5858226"/>
              <a:ext cx="254405" cy="36576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B3463557-ED24-41C7-9408-57B3617E7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6883" t="9252" r="55401" b="73628"/>
            <a:stretch/>
          </p:blipFill>
          <p:spPr>
            <a:xfrm>
              <a:off x="6456025" y="5187454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5CAFE8F4-5037-4E22-B718-DAA30B30D640}"/>
                </a:ext>
              </a:extLst>
            </p:cNvPr>
            <p:cNvSpPr/>
            <p:nvPr/>
          </p:nvSpPr>
          <p:spPr>
            <a:xfrm>
              <a:off x="6638264" y="5871146"/>
              <a:ext cx="254405" cy="36576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00537D1B-A047-4F1F-AFD9-45E7218F75A6}"/>
              </a:ext>
            </a:extLst>
          </p:cNvPr>
          <p:cNvGrpSpPr/>
          <p:nvPr/>
        </p:nvGrpSpPr>
        <p:grpSpPr>
          <a:xfrm>
            <a:off x="4068248" y="2190010"/>
            <a:ext cx="3679539" cy="1466045"/>
            <a:chOff x="4068248" y="2190010"/>
            <a:chExt cx="3679539" cy="1466045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4820B825-1F71-41E4-9E2C-974B92F5CF47}"/>
                </a:ext>
              </a:extLst>
            </p:cNvPr>
            <p:cNvSpPr/>
            <p:nvPr/>
          </p:nvSpPr>
          <p:spPr>
            <a:xfrm>
              <a:off x="4240127" y="2288113"/>
              <a:ext cx="3233754" cy="133283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AF987FB9-4425-49A3-A31D-9D88479658F5}"/>
                </a:ext>
              </a:extLst>
            </p:cNvPr>
            <p:cNvSpPr txBox="1"/>
            <p:nvPr/>
          </p:nvSpPr>
          <p:spPr>
            <a:xfrm>
              <a:off x="6396910" y="3071280"/>
              <a:ext cx="13508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Salinity Stress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C84A22A6-DE83-4E7B-8AEF-731CFBA7FBD5}"/>
                </a:ext>
              </a:extLst>
            </p:cNvPr>
            <p:cNvSpPr txBox="1"/>
            <p:nvPr/>
          </p:nvSpPr>
          <p:spPr>
            <a:xfrm>
              <a:off x="4068248" y="3051983"/>
              <a:ext cx="12091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External Salinity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121AF1AC-1EA5-4CF2-9279-E71E43F94F8D}"/>
                </a:ext>
              </a:extLst>
            </p:cNvPr>
            <p:cNvSpPr txBox="1"/>
            <p:nvPr/>
          </p:nvSpPr>
          <p:spPr>
            <a:xfrm>
              <a:off x="5340752" y="3059456"/>
              <a:ext cx="12091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Internal Salinity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9F799DC-B631-49E1-9B0D-852C49794B07}"/>
                </a:ext>
              </a:extLst>
            </p:cNvPr>
            <p:cNvSpPr txBox="1"/>
            <p:nvPr/>
          </p:nvSpPr>
          <p:spPr>
            <a:xfrm>
              <a:off x="6234452" y="2370902"/>
              <a:ext cx="457200" cy="9233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b="1" dirty="0"/>
                <a:t>=</a:t>
              </a:r>
            </a:p>
          </p:txBody>
        </p:sp>
        <p:sp>
          <p:nvSpPr>
            <p:cNvPr id="148" name="Arrow: Left-Right 147">
              <a:extLst>
                <a:ext uri="{FF2B5EF4-FFF2-40B4-BE49-F238E27FC236}">
                  <a16:creationId xmlns:a16="http://schemas.microsoft.com/office/drawing/2014/main" id="{17CFB655-489B-48D3-ACA5-242C6EBA9759}"/>
                </a:ext>
              </a:extLst>
            </p:cNvPr>
            <p:cNvSpPr/>
            <p:nvPr/>
          </p:nvSpPr>
          <p:spPr>
            <a:xfrm>
              <a:off x="5045398" y="2740098"/>
              <a:ext cx="548640" cy="184938"/>
            </a:xfrm>
            <a:prstGeom prst="left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353B99E8-A222-4A0D-AA7E-5EB2A0FDC0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6883" t="9252" r="55401" b="73628"/>
            <a:stretch/>
          </p:blipFill>
          <p:spPr>
            <a:xfrm>
              <a:off x="6742177" y="2322163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0329CB62-9967-4405-9AB9-238FB6333043}"/>
                </a:ext>
              </a:extLst>
            </p:cNvPr>
            <p:cNvSpPr/>
            <p:nvPr/>
          </p:nvSpPr>
          <p:spPr>
            <a:xfrm>
              <a:off x="6927729" y="3005855"/>
              <a:ext cx="254405" cy="36576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4C0DE373-E53F-4FF2-9CBA-A1FC517133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7196" t="6647" r="73027" b="74624"/>
            <a:stretch/>
          </p:blipFill>
          <p:spPr>
            <a:xfrm>
              <a:off x="4342832" y="2190010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FE737A12-3477-4C37-9E71-0CE7E2CC2374}"/>
                </a:ext>
              </a:extLst>
            </p:cNvPr>
            <p:cNvSpPr/>
            <p:nvPr/>
          </p:nvSpPr>
          <p:spPr>
            <a:xfrm>
              <a:off x="4535435" y="2692753"/>
              <a:ext cx="254405" cy="334983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02219D7F-6598-4C26-8DAF-1C4B4E4463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7196" t="6647" r="73027" b="74624"/>
            <a:stretch/>
          </p:blipFill>
          <p:spPr>
            <a:xfrm>
              <a:off x="5625843" y="2197563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4C9DB82C-4E2E-4EEA-AA40-347BCE6394AA}"/>
                </a:ext>
              </a:extLst>
            </p:cNvPr>
            <p:cNvSpPr/>
            <p:nvPr/>
          </p:nvSpPr>
          <p:spPr>
            <a:xfrm>
              <a:off x="5815935" y="2702041"/>
              <a:ext cx="254405" cy="334983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1" name="TextBox 160">
            <a:extLst>
              <a:ext uri="{FF2B5EF4-FFF2-40B4-BE49-F238E27FC236}">
                <a16:creationId xmlns:a16="http://schemas.microsoft.com/office/drawing/2014/main" id="{56DAFF65-1AC9-4143-89B5-1A2C4F42F76A}"/>
              </a:ext>
            </a:extLst>
          </p:cNvPr>
          <p:cNvSpPr txBox="1"/>
          <p:nvPr/>
        </p:nvSpPr>
        <p:spPr>
          <a:xfrm>
            <a:off x="8822511" y="2643455"/>
            <a:ext cx="13508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Stress</a:t>
            </a:r>
          </a:p>
        </p:txBody>
      </p:sp>
      <p:pic>
        <p:nvPicPr>
          <p:cNvPr id="162" name="Picture 161">
            <a:extLst>
              <a:ext uri="{FF2B5EF4-FFF2-40B4-BE49-F238E27FC236}">
                <a16:creationId xmlns:a16="http://schemas.microsoft.com/office/drawing/2014/main" id="{8C0D2CE1-2381-4DB6-B319-680EA9F1FB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883" t="9252" r="55401" b="73628"/>
          <a:stretch/>
        </p:blipFill>
        <p:spPr>
          <a:xfrm>
            <a:off x="9167778" y="1894338"/>
            <a:ext cx="561821" cy="8960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3" name="Rectangle 162">
            <a:extLst>
              <a:ext uri="{FF2B5EF4-FFF2-40B4-BE49-F238E27FC236}">
                <a16:creationId xmlns:a16="http://schemas.microsoft.com/office/drawing/2014/main" id="{80E6F42A-8690-4DF3-B46B-0E0ECC1AA267}"/>
              </a:ext>
            </a:extLst>
          </p:cNvPr>
          <p:cNvSpPr/>
          <p:nvPr/>
        </p:nvSpPr>
        <p:spPr>
          <a:xfrm>
            <a:off x="9353330" y="2578030"/>
            <a:ext cx="254405" cy="3657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4D51E220-4A7C-46D3-9936-DFA4E0DFC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796" y="3267051"/>
            <a:ext cx="1353429" cy="1188823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165" name="TextBox 164">
            <a:extLst>
              <a:ext uri="{FF2B5EF4-FFF2-40B4-BE49-F238E27FC236}">
                <a16:creationId xmlns:a16="http://schemas.microsoft.com/office/drawing/2014/main" id="{EBF2CF45-DDA2-4C64-A32F-A4E41B5651C1}"/>
              </a:ext>
            </a:extLst>
          </p:cNvPr>
          <p:cNvSpPr txBox="1"/>
          <p:nvPr/>
        </p:nvSpPr>
        <p:spPr>
          <a:xfrm>
            <a:off x="7420734" y="1813640"/>
            <a:ext cx="13508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Stress</a:t>
            </a:r>
          </a:p>
        </p:txBody>
      </p:sp>
      <p:pic>
        <p:nvPicPr>
          <p:cNvPr id="166" name="Picture 165">
            <a:extLst>
              <a:ext uri="{FF2B5EF4-FFF2-40B4-BE49-F238E27FC236}">
                <a16:creationId xmlns:a16="http://schemas.microsoft.com/office/drawing/2014/main" id="{7BAD30A0-1CA6-4772-9B6D-D851B687C1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196" t="6647" r="73027" b="74624"/>
          <a:stretch/>
        </p:blipFill>
        <p:spPr>
          <a:xfrm>
            <a:off x="7758972" y="928795"/>
            <a:ext cx="738732" cy="9863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7" name="Rectangle 166">
            <a:extLst>
              <a:ext uri="{FF2B5EF4-FFF2-40B4-BE49-F238E27FC236}">
                <a16:creationId xmlns:a16="http://schemas.microsoft.com/office/drawing/2014/main" id="{FAE578F4-FFAB-40EC-866F-C194AFE512CB}"/>
              </a:ext>
            </a:extLst>
          </p:cNvPr>
          <p:cNvSpPr/>
          <p:nvPr/>
        </p:nvSpPr>
        <p:spPr>
          <a:xfrm>
            <a:off x="7949786" y="1425026"/>
            <a:ext cx="254405" cy="33498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8" name="Picture 167">
            <a:extLst>
              <a:ext uri="{FF2B5EF4-FFF2-40B4-BE49-F238E27FC236}">
                <a16:creationId xmlns:a16="http://schemas.microsoft.com/office/drawing/2014/main" id="{097B2971-EEFC-420D-8B63-03930D18D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9285" y="2764478"/>
            <a:ext cx="1353429" cy="1329043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grpSp>
        <p:nvGrpSpPr>
          <p:cNvPr id="175" name="Group 174">
            <a:extLst>
              <a:ext uri="{FF2B5EF4-FFF2-40B4-BE49-F238E27FC236}">
                <a16:creationId xmlns:a16="http://schemas.microsoft.com/office/drawing/2014/main" id="{482CF421-7961-4740-A9E2-52F8D6DAADF0}"/>
              </a:ext>
            </a:extLst>
          </p:cNvPr>
          <p:cNvGrpSpPr/>
          <p:nvPr/>
        </p:nvGrpSpPr>
        <p:grpSpPr>
          <a:xfrm>
            <a:off x="5190610" y="86120"/>
            <a:ext cx="1006627" cy="1459446"/>
            <a:chOff x="5190610" y="86120"/>
            <a:chExt cx="1006627" cy="1459446"/>
          </a:xfrm>
        </p:grpSpPr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CE579E00-B437-4F26-BD63-1B0E66990C65}"/>
                </a:ext>
              </a:extLst>
            </p:cNvPr>
            <p:cNvSpPr txBox="1"/>
            <p:nvPr/>
          </p:nvSpPr>
          <p:spPr>
            <a:xfrm>
              <a:off x="5190610" y="960791"/>
              <a:ext cx="10066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Energy Use</a:t>
              </a:r>
            </a:p>
          </p:txBody>
        </p:sp>
        <p:pic>
          <p:nvPicPr>
            <p:cNvPr id="173" name="Picture 172">
              <a:extLst>
                <a:ext uri="{FF2B5EF4-FFF2-40B4-BE49-F238E27FC236}">
                  <a16:creationId xmlns:a16="http://schemas.microsoft.com/office/drawing/2014/main" id="{D3CB492A-668C-4B2D-8006-8CC24F642A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7196" t="6647" r="73027" b="74624"/>
            <a:stretch/>
          </p:blipFill>
          <p:spPr>
            <a:xfrm>
              <a:off x="5357268" y="86120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A0DBE171-D8D2-44A0-9180-AD5E8E2FA83D}"/>
                </a:ext>
              </a:extLst>
            </p:cNvPr>
            <p:cNvSpPr/>
            <p:nvPr/>
          </p:nvSpPr>
          <p:spPr>
            <a:xfrm>
              <a:off x="5549651" y="590704"/>
              <a:ext cx="243672" cy="33498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91535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037AA60-E598-46A4-B882-11FAAF82B677}"/>
              </a:ext>
            </a:extLst>
          </p:cNvPr>
          <p:cNvSpPr/>
          <p:nvPr/>
        </p:nvSpPr>
        <p:spPr>
          <a:xfrm>
            <a:off x="1946806" y="1485786"/>
            <a:ext cx="8298388" cy="4311266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50D51A1-9DF9-4CE9-98C4-FBE6947AA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807" y="1496996"/>
            <a:ext cx="8298388" cy="4300056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73D36A-A84C-495E-BC27-65D83CF51A5F}"/>
              </a:ext>
            </a:extLst>
          </p:cNvPr>
          <p:cNvSpPr txBox="1"/>
          <p:nvPr/>
        </p:nvSpPr>
        <p:spPr>
          <a:xfrm>
            <a:off x="3181577" y="52523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Salinity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B5A656-C4C6-48F5-9883-BB997E6D39A2}"/>
              </a:ext>
            </a:extLst>
          </p:cNvPr>
          <p:cNvSpPr txBox="1"/>
          <p:nvPr/>
        </p:nvSpPr>
        <p:spPr>
          <a:xfrm>
            <a:off x="1395870" y="5705409"/>
            <a:ext cx="932867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Stress from salinity would be greater in transitional zones</a:t>
            </a:r>
          </a:p>
          <a:p>
            <a:pPr algn="ctr"/>
            <a:r>
              <a:rPr lang="en-US" b="1" dirty="0"/>
              <a:t> 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1DB3A57-676C-45AB-96D0-7D77B8A146BF}"/>
              </a:ext>
            </a:extLst>
          </p:cNvPr>
          <p:cNvGrpSpPr/>
          <p:nvPr/>
        </p:nvGrpSpPr>
        <p:grpSpPr>
          <a:xfrm>
            <a:off x="4324361" y="23642"/>
            <a:ext cx="3679539" cy="1469620"/>
            <a:chOff x="291053" y="1910433"/>
            <a:chExt cx="3679539" cy="14696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FF48C03-CA8A-4D79-B328-71509DF32BAC}"/>
                </a:ext>
              </a:extLst>
            </p:cNvPr>
            <p:cNvSpPr/>
            <p:nvPr/>
          </p:nvSpPr>
          <p:spPr>
            <a:xfrm>
              <a:off x="462932" y="2012111"/>
              <a:ext cx="3233754" cy="133283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CEE1C14-543C-4F5D-9371-859DB79C5CF8}"/>
                </a:ext>
              </a:extLst>
            </p:cNvPr>
            <p:cNvSpPr txBox="1"/>
            <p:nvPr/>
          </p:nvSpPr>
          <p:spPr>
            <a:xfrm>
              <a:off x="2619715" y="2795278"/>
              <a:ext cx="13508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Salinity Stress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7500FDF6-3494-41B5-9DBD-AC4BEF583A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7196" t="6647" r="73027" b="74624"/>
            <a:stretch/>
          </p:blipFill>
          <p:spPr>
            <a:xfrm>
              <a:off x="2957953" y="1910433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04C68DD4-92B2-46C3-9C58-2740D02A72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883" t="9252" r="55401" b="73628"/>
            <a:stretch/>
          </p:blipFill>
          <p:spPr>
            <a:xfrm>
              <a:off x="1841349" y="2046161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D0F7993-362B-4B1F-AA9F-F9181E99B9ED}"/>
                </a:ext>
              </a:extLst>
            </p:cNvPr>
            <p:cNvSpPr txBox="1"/>
            <p:nvPr/>
          </p:nvSpPr>
          <p:spPr>
            <a:xfrm>
              <a:off x="291053" y="2775981"/>
              <a:ext cx="12091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External Salinity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B379D19-271F-4A20-ABF7-E2B1EDAF6492}"/>
                </a:ext>
              </a:extLst>
            </p:cNvPr>
            <p:cNvSpPr txBox="1"/>
            <p:nvPr/>
          </p:nvSpPr>
          <p:spPr>
            <a:xfrm>
              <a:off x="1563557" y="2783454"/>
              <a:ext cx="12091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Internal Salinity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6DCAB06-486E-488A-8DD3-E47E71D6B2B6}"/>
                </a:ext>
              </a:extLst>
            </p:cNvPr>
            <p:cNvSpPr txBox="1"/>
            <p:nvPr/>
          </p:nvSpPr>
          <p:spPr>
            <a:xfrm>
              <a:off x="2457257" y="2094900"/>
              <a:ext cx="457200" cy="9233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b="1" dirty="0"/>
                <a:t>=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B3D491A-7758-42CD-B59E-1B1D0B426E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7196" t="6647" r="73027" b="74624"/>
            <a:stretch/>
          </p:blipFill>
          <p:spPr>
            <a:xfrm>
              <a:off x="601420" y="1913489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2" name="Arrow: Left-Right 31">
              <a:extLst>
                <a:ext uri="{FF2B5EF4-FFF2-40B4-BE49-F238E27FC236}">
                  <a16:creationId xmlns:a16="http://schemas.microsoft.com/office/drawing/2014/main" id="{70ECDB61-67B0-45A1-97E8-987488F72885}"/>
                </a:ext>
              </a:extLst>
            </p:cNvPr>
            <p:cNvSpPr/>
            <p:nvPr/>
          </p:nvSpPr>
          <p:spPr>
            <a:xfrm>
              <a:off x="1268203" y="2464096"/>
              <a:ext cx="548640" cy="184938"/>
            </a:xfrm>
            <a:prstGeom prst="left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7D2EEA4-D43E-4840-A583-2398C0DDD54D}"/>
                </a:ext>
              </a:extLst>
            </p:cNvPr>
            <p:cNvSpPr/>
            <p:nvPr/>
          </p:nvSpPr>
          <p:spPr>
            <a:xfrm>
              <a:off x="2026901" y="2729853"/>
              <a:ext cx="254405" cy="36576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F0D10AF-BFF8-4742-8A27-67D29795A2E3}"/>
                </a:ext>
              </a:extLst>
            </p:cNvPr>
            <p:cNvSpPr/>
            <p:nvPr/>
          </p:nvSpPr>
          <p:spPr>
            <a:xfrm>
              <a:off x="791512" y="2417967"/>
              <a:ext cx="254405" cy="334983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7D58CD3-23F3-438A-A3AA-C7A177F76B03}"/>
                </a:ext>
              </a:extLst>
            </p:cNvPr>
            <p:cNvSpPr/>
            <p:nvPr/>
          </p:nvSpPr>
          <p:spPr>
            <a:xfrm>
              <a:off x="3148767" y="2406664"/>
              <a:ext cx="254405" cy="334983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FA6D271-20C7-4238-B5C1-80530D7918B2}"/>
              </a:ext>
            </a:extLst>
          </p:cNvPr>
          <p:cNvCxnSpPr>
            <a:cxnSpLocks/>
          </p:cNvCxnSpPr>
          <p:nvPr/>
        </p:nvCxnSpPr>
        <p:spPr>
          <a:xfrm>
            <a:off x="3344846" y="1778105"/>
            <a:ext cx="201168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CD8CBFA5-E264-4B27-8CFF-E621DA2E9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5366" y="2870261"/>
            <a:ext cx="1148466" cy="1008788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BF5CCE2-E4DB-45A1-A190-A6ADD8526EC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2183" y="1427154"/>
            <a:ext cx="3377477" cy="179847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47BBE78-2FF9-41B3-AFD6-F8EC07AA67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0735" y="2774020"/>
            <a:ext cx="1138415" cy="1117903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4993E-BB34-4514-90AA-F0212803C7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5364339" y="1444924"/>
            <a:ext cx="1361227" cy="7862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72D0F06-87A0-427D-9918-C73FF37C344D}"/>
              </a:ext>
            </a:extLst>
          </p:cNvPr>
          <p:cNvSpPr txBox="1"/>
          <p:nvPr/>
        </p:nvSpPr>
        <p:spPr>
          <a:xfrm>
            <a:off x="4299688" y="1960512"/>
            <a:ext cx="3375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Internal Salinity</a:t>
            </a:r>
          </a:p>
        </p:txBody>
      </p:sp>
      <p:sp>
        <p:nvSpPr>
          <p:cNvPr id="15" name="Arrow: Up-Down 14">
            <a:extLst>
              <a:ext uri="{FF2B5EF4-FFF2-40B4-BE49-F238E27FC236}">
                <a16:creationId xmlns:a16="http://schemas.microsoft.com/office/drawing/2014/main" id="{A70A0BBE-2999-48B9-BDAD-AEEF3FA367FE}"/>
              </a:ext>
            </a:extLst>
          </p:cNvPr>
          <p:cNvSpPr/>
          <p:nvPr/>
        </p:nvSpPr>
        <p:spPr>
          <a:xfrm>
            <a:off x="5973395" y="2295898"/>
            <a:ext cx="208670" cy="82715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7811ECD-E7C2-4724-9625-7AA94D121309}"/>
              </a:ext>
            </a:extLst>
          </p:cNvPr>
          <p:cNvSpPr/>
          <p:nvPr/>
        </p:nvSpPr>
        <p:spPr>
          <a:xfrm>
            <a:off x="10493479" y="2160682"/>
            <a:ext cx="1361228" cy="585448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E9F18FD-9F51-48FB-9CDA-E5529561F2D8}"/>
              </a:ext>
            </a:extLst>
          </p:cNvPr>
          <p:cNvSpPr/>
          <p:nvPr/>
        </p:nvSpPr>
        <p:spPr>
          <a:xfrm>
            <a:off x="10621035" y="2331649"/>
            <a:ext cx="365760" cy="233429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301768-623E-4631-8413-239A40E7B602}"/>
              </a:ext>
            </a:extLst>
          </p:cNvPr>
          <p:cNvSpPr txBox="1"/>
          <p:nvPr/>
        </p:nvSpPr>
        <p:spPr>
          <a:xfrm>
            <a:off x="10969007" y="2264866"/>
            <a:ext cx="946183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Salinity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25E5186-8B0D-4A45-AFEB-EB3D4B880D56}"/>
              </a:ext>
            </a:extLst>
          </p:cNvPr>
          <p:cNvSpPr txBox="1"/>
          <p:nvPr/>
        </p:nvSpPr>
        <p:spPr>
          <a:xfrm>
            <a:off x="10309976" y="1775818"/>
            <a:ext cx="1687551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Legend</a:t>
            </a:r>
          </a:p>
        </p:txBody>
      </p:sp>
    </p:spTree>
    <p:extLst>
      <p:ext uri="{BB962C8B-B14F-4D97-AF65-F5344CB8AC3E}">
        <p14:creationId xmlns:p14="http://schemas.microsoft.com/office/powerpoint/2010/main" val="3075229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037AA60-E598-46A4-B882-11FAAF82B677}"/>
              </a:ext>
            </a:extLst>
          </p:cNvPr>
          <p:cNvSpPr/>
          <p:nvPr/>
        </p:nvSpPr>
        <p:spPr>
          <a:xfrm>
            <a:off x="1946806" y="1485786"/>
            <a:ext cx="8298388" cy="4311266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8524205E-1DB7-4748-8EBF-E6AC79A4E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807" y="1496996"/>
            <a:ext cx="8298388" cy="4300056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73D36A-A84C-495E-BC27-65D83CF51A5F}"/>
              </a:ext>
            </a:extLst>
          </p:cNvPr>
          <p:cNvSpPr txBox="1"/>
          <p:nvPr/>
        </p:nvSpPr>
        <p:spPr>
          <a:xfrm>
            <a:off x="3181577" y="52523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Salinity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B5A656-C4C6-48F5-9883-BB997E6D39A2}"/>
              </a:ext>
            </a:extLst>
          </p:cNvPr>
          <p:cNvSpPr txBox="1"/>
          <p:nvPr/>
        </p:nvSpPr>
        <p:spPr>
          <a:xfrm>
            <a:off x="744071" y="5663813"/>
            <a:ext cx="1086522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Stress from salinity would be greater in transitional zones</a:t>
            </a:r>
          </a:p>
          <a:p>
            <a:pPr algn="ctr"/>
            <a:r>
              <a:rPr lang="en-US" b="1" dirty="0"/>
              <a:t> 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EBF77C4-D6C9-4D82-9966-77A9B2B3A7C0}"/>
              </a:ext>
            </a:extLst>
          </p:cNvPr>
          <p:cNvGrpSpPr/>
          <p:nvPr/>
        </p:nvGrpSpPr>
        <p:grpSpPr>
          <a:xfrm>
            <a:off x="7598019" y="13890"/>
            <a:ext cx="3679539" cy="1466045"/>
            <a:chOff x="4068248" y="2190010"/>
            <a:chExt cx="3679539" cy="1466045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35F3ED1-9840-42C2-94B2-C500253EDC9F}"/>
                </a:ext>
              </a:extLst>
            </p:cNvPr>
            <p:cNvSpPr/>
            <p:nvPr/>
          </p:nvSpPr>
          <p:spPr>
            <a:xfrm>
              <a:off x="4240127" y="2288113"/>
              <a:ext cx="3233754" cy="133283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6EAD006-2CAB-4AAC-B00A-58E90AA2857B}"/>
                </a:ext>
              </a:extLst>
            </p:cNvPr>
            <p:cNvSpPr txBox="1"/>
            <p:nvPr/>
          </p:nvSpPr>
          <p:spPr>
            <a:xfrm>
              <a:off x="6396910" y="3071280"/>
              <a:ext cx="13508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Salinity Stress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2BCB047-FAD0-4E76-BF10-C5BE495C1DC0}"/>
                </a:ext>
              </a:extLst>
            </p:cNvPr>
            <p:cNvSpPr txBox="1"/>
            <p:nvPr/>
          </p:nvSpPr>
          <p:spPr>
            <a:xfrm>
              <a:off x="4068248" y="3051983"/>
              <a:ext cx="12091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External Salinity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0CF6543-C736-400B-A76A-44A3DAFE16E2}"/>
                </a:ext>
              </a:extLst>
            </p:cNvPr>
            <p:cNvSpPr txBox="1"/>
            <p:nvPr/>
          </p:nvSpPr>
          <p:spPr>
            <a:xfrm>
              <a:off x="5340752" y="3059456"/>
              <a:ext cx="12091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Internal Salinity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015B634-3F39-4416-9D21-34B0A10377D8}"/>
                </a:ext>
              </a:extLst>
            </p:cNvPr>
            <p:cNvSpPr txBox="1"/>
            <p:nvPr/>
          </p:nvSpPr>
          <p:spPr>
            <a:xfrm>
              <a:off x="6234452" y="2370902"/>
              <a:ext cx="457200" cy="9233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b="1" dirty="0"/>
                <a:t>=</a:t>
              </a:r>
            </a:p>
          </p:txBody>
        </p:sp>
        <p:sp>
          <p:nvSpPr>
            <p:cNvPr id="64" name="Arrow: Left-Right 63">
              <a:extLst>
                <a:ext uri="{FF2B5EF4-FFF2-40B4-BE49-F238E27FC236}">
                  <a16:creationId xmlns:a16="http://schemas.microsoft.com/office/drawing/2014/main" id="{D2CCCF81-0D83-4A6C-B17F-DF5696C01C1C}"/>
                </a:ext>
              </a:extLst>
            </p:cNvPr>
            <p:cNvSpPr/>
            <p:nvPr/>
          </p:nvSpPr>
          <p:spPr>
            <a:xfrm>
              <a:off x="5045398" y="2740098"/>
              <a:ext cx="548640" cy="184938"/>
            </a:xfrm>
            <a:prstGeom prst="left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0846544C-E34C-4918-9A41-6C4F753833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883" t="9252" r="55401" b="73628"/>
            <a:stretch/>
          </p:blipFill>
          <p:spPr>
            <a:xfrm>
              <a:off x="6742177" y="2322163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B1CE783-4449-4FEB-A987-E05BB377E2BC}"/>
                </a:ext>
              </a:extLst>
            </p:cNvPr>
            <p:cNvSpPr/>
            <p:nvPr/>
          </p:nvSpPr>
          <p:spPr>
            <a:xfrm>
              <a:off x="6927729" y="3005855"/>
              <a:ext cx="254405" cy="36576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0C185A23-AB7E-42C2-89D4-31D1370DD9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7196" t="6647" r="73027" b="74624"/>
            <a:stretch/>
          </p:blipFill>
          <p:spPr>
            <a:xfrm>
              <a:off x="4342832" y="2190010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4833857-9D95-456D-A6F0-2B1FC02F55C1}"/>
                </a:ext>
              </a:extLst>
            </p:cNvPr>
            <p:cNvSpPr/>
            <p:nvPr/>
          </p:nvSpPr>
          <p:spPr>
            <a:xfrm>
              <a:off x="4535435" y="2692753"/>
              <a:ext cx="254405" cy="334983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13C0E1E4-EED6-4B68-881E-EB1FDFC36F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7196" t="6647" r="73027" b="74624"/>
            <a:stretch/>
          </p:blipFill>
          <p:spPr>
            <a:xfrm>
              <a:off x="5625843" y="2197563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AFE8FE9-A834-4825-93DE-189420FBF6BA}"/>
                </a:ext>
              </a:extLst>
            </p:cNvPr>
            <p:cNvSpPr/>
            <p:nvPr/>
          </p:nvSpPr>
          <p:spPr>
            <a:xfrm>
              <a:off x="5815935" y="2702041"/>
              <a:ext cx="254405" cy="334983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7" name="Picture 86">
            <a:extLst>
              <a:ext uri="{FF2B5EF4-FFF2-40B4-BE49-F238E27FC236}">
                <a16:creationId xmlns:a16="http://schemas.microsoft.com/office/drawing/2014/main" id="{29C16E32-C039-4DE7-B206-FF2D1374121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00016" y="1427154"/>
            <a:ext cx="3377477" cy="1798476"/>
          </a:xfrm>
          <a:prstGeom prst="rect">
            <a:avLst/>
          </a:prstGeom>
        </p:spPr>
      </p:pic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71C7818-350D-4A2E-A555-65403C5DEE47}"/>
              </a:ext>
            </a:extLst>
          </p:cNvPr>
          <p:cNvCxnSpPr>
            <a:cxnSpLocks/>
          </p:cNvCxnSpPr>
          <p:nvPr/>
        </p:nvCxnSpPr>
        <p:spPr>
          <a:xfrm>
            <a:off x="6716652" y="1777311"/>
            <a:ext cx="21031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9" name="Picture 88">
            <a:extLst>
              <a:ext uri="{FF2B5EF4-FFF2-40B4-BE49-F238E27FC236}">
                <a16:creationId xmlns:a16="http://schemas.microsoft.com/office/drawing/2014/main" id="{EE636871-0791-4BC7-87B4-54B7DE0AD0F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3049" y="1427154"/>
            <a:ext cx="3377477" cy="1798476"/>
          </a:xfrm>
          <a:prstGeom prst="rect">
            <a:avLst/>
          </a:prstGeom>
        </p:spPr>
      </p:pic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0EFF47DA-FB88-4D9E-A08A-0EC7EE794743}"/>
              </a:ext>
            </a:extLst>
          </p:cNvPr>
          <p:cNvCxnSpPr>
            <a:cxnSpLocks/>
          </p:cNvCxnSpPr>
          <p:nvPr/>
        </p:nvCxnSpPr>
        <p:spPr>
          <a:xfrm>
            <a:off x="3326322" y="1769091"/>
            <a:ext cx="21031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Picture 93">
            <a:extLst>
              <a:ext uri="{FF2B5EF4-FFF2-40B4-BE49-F238E27FC236}">
                <a16:creationId xmlns:a16="http://schemas.microsoft.com/office/drawing/2014/main" id="{63C6AA11-DDFA-4C80-888C-FB0EEE9D71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9936" y="2853626"/>
            <a:ext cx="1148466" cy="1008788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4993E-BB34-4514-90AA-F0212803C7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8819772" y="1476825"/>
            <a:ext cx="1361227" cy="7862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72D0F06-87A0-427D-9918-C73FF37C344D}"/>
              </a:ext>
            </a:extLst>
          </p:cNvPr>
          <p:cNvSpPr txBox="1"/>
          <p:nvPr/>
        </p:nvSpPr>
        <p:spPr>
          <a:xfrm>
            <a:off x="7755121" y="1992413"/>
            <a:ext cx="3375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Internal Salinity</a:t>
            </a:r>
          </a:p>
        </p:txBody>
      </p:sp>
      <p:sp>
        <p:nvSpPr>
          <p:cNvPr id="15" name="Arrow: Up-Down 14">
            <a:extLst>
              <a:ext uri="{FF2B5EF4-FFF2-40B4-BE49-F238E27FC236}">
                <a16:creationId xmlns:a16="http://schemas.microsoft.com/office/drawing/2014/main" id="{A70A0BBE-2999-48B9-BDAD-AEEF3FA367FE}"/>
              </a:ext>
            </a:extLst>
          </p:cNvPr>
          <p:cNvSpPr/>
          <p:nvPr/>
        </p:nvSpPr>
        <p:spPr>
          <a:xfrm>
            <a:off x="9428828" y="2327799"/>
            <a:ext cx="208670" cy="82715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921442D4-8E5A-41EC-8118-8B07A1DBCC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5366" y="2870261"/>
            <a:ext cx="1148466" cy="1008788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FC87EF09-64C2-4F4C-B4D8-2DA15E28DC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0735" y="2774020"/>
            <a:ext cx="1138415" cy="1117903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97" name="Rectangle 96">
            <a:extLst>
              <a:ext uri="{FF2B5EF4-FFF2-40B4-BE49-F238E27FC236}">
                <a16:creationId xmlns:a16="http://schemas.microsoft.com/office/drawing/2014/main" id="{D2525148-F2FF-4964-BBCE-2BE2A94D5C56}"/>
              </a:ext>
            </a:extLst>
          </p:cNvPr>
          <p:cNvSpPr/>
          <p:nvPr/>
        </p:nvSpPr>
        <p:spPr>
          <a:xfrm>
            <a:off x="10493479" y="2160682"/>
            <a:ext cx="1361228" cy="58544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76458E60-9067-4645-ACD7-B5D4133A7765}"/>
              </a:ext>
            </a:extLst>
          </p:cNvPr>
          <p:cNvSpPr/>
          <p:nvPr/>
        </p:nvSpPr>
        <p:spPr>
          <a:xfrm>
            <a:off x="10621035" y="2331649"/>
            <a:ext cx="365760" cy="233429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29D95EB-D904-481B-A952-6161A7A1F68E}"/>
              </a:ext>
            </a:extLst>
          </p:cNvPr>
          <p:cNvSpPr txBox="1"/>
          <p:nvPr/>
        </p:nvSpPr>
        <p:spPr>
          <a:xfrm>
            <a:off x="10969007" y="2264866"/>
            <a:ext cx="94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Salinity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5CA99AE-A7F3-4379-B36D-AE11BED36EC3}"/>
              </a:ext>
            </a:extLst>
          </p:cNvPr>
          <p:cNvSpPr txBox="1"/>
          <p:nvPr/>
        </p:nvSpPr>
        <p:spPr>
          <a:xfrm>
            <a:off x="10309976" y="1775818"/>
            <a:ext cx="1687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Legend</a:t>
            </a:r>
          </a:p>
        </p:txBody>
      </p:sp>
    </p:spTree>
    <p:extLst>
      <p:ext uri="{BB962C8B-B14F-4D97-AF65-F5344CB8AC3E}">
        <p14:creationId xmlns:p14="http://schemas.microsoft.com/office/powerpoint/2010/main" val="3717571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2964</TotalTime>
  <Words>1077</Words>
  <Application>Microsoft Office PowerPoint</Application>
  <PresentationFormat>Widescreen</PresentationFormat>
  <Paragraphs>246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Osmoregulation Function</vt:lpstr>
      <vt:lpstr>Relevant Background Information</vt:lpstr>
      <vt:lpstr>Model Objectives</vt:lpstr>
      <vt:lpstr>Key Variables for the Model</vt:lpstr>
      <vt:lpstr>1. Fish Interact with Environmental Salinity</vt:lpstr>
      <vt:lpstr>2. Fish Calculate Stress from Salinity</vt:lpstr>
      <vt:lpstr>3. Fish Calculate Chloride Cells Needed</vt:lpstr>
      <vt:lpstr>4. Fish Calculate Energy Cost to Regulate Cells</vt:lpstr>
      <vt:lpstr>5. Fish Calculate Cell Maintenance Energy</vt:lpstr>
      <vt:lpstr>6. Fish Calculate Total Energy Balance</vt:lpstr>
      <vt:lpstr>Individual-Specific Traits</vt:lpstr>
      <vt:lpstr>Discussion Prompts</vt:lpstr>
      <vt:lpstr>Express Chloride Cells</vt:lpstr>
      <vt:lpstr>Process Flow Diagram</vt:lpstr>
      <vt:lpstr>Osmotic Stress Creates a Response in the Fish</vt:lpstr>
      <vt:lpstr>PowerPoint Presentation</vt:lpstr>
      <vt:lpstr>Osmotic Stress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Osmoregulation Function</dc:title>
  <dc:creator>Quintana, Vanessa M ERDC-RDE-EL-MS Contractor</dc:creator>
  <cp:lastModifiedBy>Quintana, Vanessa M ERDC-RDE-EL-MS Contractor</cp:lastModifiedBy>
  <cp:revision>59</cp:revision>
  <dcterms:created xsi:type="dcterms:W3CDTF">2025-05-20T23:38:07Z</dcterms:created>
  <dcterms:modified xsi:type="dcterms:W3CDTF">2025-06-20T17:38:31Z</dcterms:modified>
</cp:coreProperties>
</file>