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316" r:id="rId3"/>
    <p:sldId id="259" r:id="rId4"/>
    <p:sldId id="260" r:id="rId5"/>
    <p:sldId id="286" r:id="rId6"/>
    <p:sldId id="297" r:id="rId7"/>
    <p:sldId id="298" r:id="rId8"/>
    <p:sldId id="295" r:id="rId9"/>
    <p:sldId id="267" r:id="rId10"/>
    <p:sldId id="300" r:id="rId11"/>
    <p:sldId id="301" r:id="rId12"/>
    <p:sldId id="299" r:id="rId13"/>
    <p:sldId id="303" r:id="rId14"/>
    <p:sldId id="304" r:id="rId15"/>
    <p:sldId id="305" r:id="rId16"/>
    <p:sldId id="309" r:id="rId17"/>
    <p:sldId id="310" r:id="rId18"/>
    <p:sldId id="311" r:id="rId19"/>
    <p:sldId id="312" r:id="rId20"/>
    <p:sldId id="314" r:id="rId21"/>
    <p:sldId id="313" r:id="rId22"/>
    <p:sldId id="278" r:id="rId23"/>
    <p:sldId id="315" r:id="rId24"/>
    <p:sldId id="284" r:id="rId25"/>
    <p:sldId id="266" r:id="rId26"/>
    <p:sldId id="294" r:id="rId27"/>
    <p:sldId id="291" r:id="rId28"/>
    <p:sldId id="289" r:id="rId29"/>
    <p:sldId id="292" r:id="rId30"/>
    <p:sldId id="296" r:id="rId31"/>
    <p:sldId id="258" r:id="rId32"/>
    <p:sldId id="293" r:id="rId33"/>
    <p:sldId id="302" r:id="rId34"/>
    <p:sldId id="317" r:id="rId35"/>
    <p:sldId id="318" r:id="rId36"/>
    <p:sldId id="319" r:id="rId37"/>
    <p:sldId id="320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3C3C"/>
    <a:srgbClr val="571F1F"/>
    <a:srgbClr val="C01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83206" autoAdjust="0"/>
  </p:normalViewPr>
  <p:slideViewPr>
    <p:cSldViewPr snapToGrid="0">
      <p:cViewPr varScale="1">
        <p:scale>
          <a:sx n="70" d="100"/>
          <a:sy n="70" d="100"/>
        </p:scale>
        <p:origin x="34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41F60-1629-46FF-849D-2D3415030A6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77F5A-AE78-413A-BB36-995AB637D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8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Reduce energy cost during high-flow events</a:t>
            </a:r>
            <a:br>
              <a:rPr lang="en-US" dirty="0"/>
            </a:br>
            <a:r>
              <a:rPr lang="en-US" dirty="0"/>
              <a:t>Calculate effective swimming speed based on fish energy and water velocity, capturing how fish respond to hydrodynamic resistance.</a:t>
            </a:r>
          </a:p>
          <a:p>
            <a:r>
              <a:rPr lang="en-US" b="1" dirty="0"/>
              <a:t>Allow recovery during periods of physiological stress</a:t>
            </a:r>
            <a:br>
              <a:rPr lang="en-US" dirty="0"/>
            </a:br>
            <a:r>
              <a:rPr lang="en-US" dirty="0"/>
              <a:t>Use a normalized velocity-based difficulty factor to scale the energetic cost of upstream swimming based on local flow and fish traits.</a:t>
            </a:r>
          </a:p>
          <a:p>
            <a:r>
              <a:rPr lang="en-US" b="1" dirty="0"/>
              <a:t>Track when and where resting occurs</a:t>
            </a:r>
            <a:br>
              <a:rPr lang="en-US" dirty="0"/>
            </a:br>
            <a:r>
              <a:rPr lang="en-US" dirty="0"/>
              <a:t>Determine fish position updates and energy loss at each time step, revealing where and when movement becomes inefficient or unsustainable.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9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8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90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78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27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71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04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680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18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23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84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885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42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930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44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78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along-channel flow velocity in a patch, influencing whether fish swim 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48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00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2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88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42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93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9F1F-8141-4FBF-BF5A-6A38ACA86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38B69-8D7B-4DA7-9337-3BE471C80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FE0F-94D3-4F8E-A4DE-9750190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BD481-E5EA-4687-978B-FA850B51E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9B777-9386-4463-A30C-497BE152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50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8CDC8-7090-4978-91A5-2FFEBBB1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B9FE4-26DD-46E4-8496-6A77EA25F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86A0-8F04-4274-9A55-717320B6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888EE-862C-4763-AE35-0BEB7745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1F349-ADA4-4681-9205-90C3EE82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33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2BB6-E14D-493D-8215-85735409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FEC6B-C50C-4FCA-B757-F6EB4722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D34AB-5657-4FA9-A713-57AD0FB9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14655-D8AC-4D2F-A311-5C6AEAA6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6D47-5368-44C7-A8C9-C9BE063A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8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DCBA0-3B5B-4213-977B-7590AAC3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7316-4E26-46C9-91D8-78645979D5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1ED28-73DC-410B-92F6-0F90B939B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E3D4A-2AED-4748-815A-6AEA9D7BE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CDD8-CBFE-4E2A-AFB3-1855F335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F412-CD08-4121-AE61-D622E47F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5E8C-9770-47EF-BE24-0CD790C8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9F71F-4584-4952-8321-07DF5D2D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A56E1-E548-4E06-8BC6-92137637E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7B174-900E-4640-A7E1-2B78677A98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811DF5-BE54-4C82-A296-531259ECF6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9EB407-9898-4885-9476-4D6ADF53B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BCBBA-F113-4B54-A181-9002B6BDE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572C-0F75-4D3E-961E-4064457A8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3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617E-EE61-427E-8F6D-220DBCB1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408A6-1A7F-451E-A9F0-0C839E02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02C96-FD98-485E-83B7-8B61F80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536F9-5781-4EC0-A444-B6D8E85C6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7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8D3773-774D-451E-8E4B-ED5ABBAF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D8E68-3C83-4AF7-BD5A-473AAE51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774D8-3075-40ED-862F-4303D904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54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D163-F5D6-4A6D-97C7-18570C676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4CE2-FB4A-42C4-B7E6-10A8797A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B8B50-533D-455F-BB36-B2EB8A35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0D6CC-782D-4765-ABF1-E08E1519B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E591-3EF1-4A94-B121-DB3D972A4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FA53D-CAD1-45B1-BFD7-2C11EA66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FF04-BF4B-4111-AE7D-3029DA70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73707-16F0-4F11-8306-97951C67A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B7999A-313F-4F07-AAA6-B3EF5170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85979-0696-40F2-B42E-A65D0E9ED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09B80-A602-4242-BAAF-68E06ADC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5C82-8559-4F05-AC95-A387EF5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3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110E-3C70-4265-92E6-27B0FDB1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7A9C3-D90F-472E-9108-14D174C61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990E2-107E-44F4-BD1E-35A09CD8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A9C65-8A3F-4A51-AD07-F209CD91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10AB-2249-47EA-BF4D-167B5894D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4832A5-A46F-4F31-9488-F79ECFD1F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DEC43-A4F3-467F-80CD-340A69338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054CA-E3BA-450F-9EA7-C79E0500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605-E5B3-4E7E-986F-70A74EA22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C332C-A5DA-4B60-A1D3-C1E4F82E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4DA64-F61E-4BD4-9CB2-73E7A3875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1272D-920A-414C-B438-BA35DB0DB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8C9D2-5604-4DC6-AEA5-610E5C79E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C847F-28CF-4C8F-8216-868300884A7F}" type="datetimeFigureOut">
              <a:rPr lang="en-US" smtClean="0"/>
              <a:t>7/6/2025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04731-B686-4222-965A-52EEC4187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1F3C-613F-4941-BA95-6BA12D214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59F2A-FB88-4F62-8D12-77F5191E2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3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microsoft.com/office/2007/relationships/hdphoto" Target="../media/hdphoto1.wdp"/><Relationship Id="rId5" Type="http://schemas.openxmlformats.org/officeDocument/2006/relationships/image" Target="../media/image31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5" Type="http://schemas.openxmlformats.org/officeDocument/2006/relationships/image" Target="../media/image4.png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0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43.png"/><Relationship Id="rId4" Type="http://schemas.microsoft.com/office/2007/relationships/hdphoto" Target="../media/hdphoto3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11" Type="http://schemas.microsoft.com/office/2007/relationships/hdphoto" Target="../media/hdphoto1.wdp"/><Relationship Id="rId5" Type="http://schemas.openxmlformats.org/officeDocument/2006/relationships/image" Target="../media/image310.png"/><Relationship Id="rId10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01AD-A261-4D81-829A-6B677B848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155772-D1B0-42C5-ACE9-FC72D03E38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69B74-8514-4808-99AD-42DBF8EE9940}"/>
              </a:ext>
            </a:extLst>
          </p:cNvPr>
          <p:cNvSpPr txBox="1"/>
          <p:nvPr/>
        </p:nvSpPr>
        <p:spPr>
          <a:xfrm>
            <a:off x="6934200" y="106958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Bioaccumulation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6578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/>
        </p:nvGraphicFramePr>
        <p:xfrm>
          <a:off x="628253" y="1854753"/>
          <a:ext cx="10935494" cy="291075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2801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8092693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461461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Landward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Movement of fish from marine or estuarine zones upstream into freshwater, typically during spawning migrations.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144510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Seaward Migration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Movement of fish from freshwater or estuarine habitats toward the ocean, often seen in juvenile or post-spawning individuals.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816430">
                <a:tc>
                  <a:txBody>
                    <a:bodyPr/>
                    <a:lstStyle/>
                    <a:p>
                      <a:r>
                        <a:rPr lang="en-US" sz="2000" b="1" dirty="0"/>
                        <a:t>Homing	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ability of fish to return to their natal habitat, guided by environmental cues like salinity, temperature, or chemical signals.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98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4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410" y="1353490"/>
            <a:ext cx="10643906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how fish migrate under flow resistance by calculating swimming effort, difficulty, and energy cost.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Simulate migration movement under varying flow conditions</a:t>
            </a:r>
            <a:br>
              <a:rPr lang="en-US" sz="2000" dirty="0"/>
            </a:br>
            <a:r>
              <a:rPr lang="en-US" sz="2000" dirty="0"/>
              <a:t>Calculate swimming speed based on fish energy and water velocity, capturing how fish respond to hydrodynamic resistance.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Quantify energetic difficulty of movement</a:t>
            </a:r>
            <a:br>
              <a:rPr lang="en-US" sz="2000" dirty="0"/>
            </a:br>
            <a:r>
              <a:rPr lang="en-US" sz="2000" dirty="0"/>
              <a:t>Use a velocity-based difficulty factor to scale the energetic cost of upstream swimming based on local flow and fish traits.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Track movement and energy depletion</a:t>
            </a:r>
            <a:br>
              <a:rPr lang="en-US" sz="2000" dirty="0"/>
            </a:br>
            <a:r>
              <a:rPr lang="en-US" sz="2000" dirty="0"/>
              <a:t>Determine fish position and energy loss at each time step, revealing where and when movement becomes inefficient or unsustainable.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17593" y="1893716"/>
                <a:ext cx="5881670" cy="3774513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🔋</a:t>
                </a:r>
                <a:r>
                  <a:rPr lang="en-US" sz="1400" dirty="0"/>
                  <a:t> </a:t>
                </a:r>
                <a:r>
                  <a:rPr lang="en-US" sz="1400" b="1" dirty="0"/>
                  <a:t>Energy</a:t>
                </a:r>
                <a:br>
                  <a:rPr lang="en-US" sz="1400" dirty="0"/>
                </a:br>
                <a:r>
                  <a:rPr lang="en-US" sz="1400" dirty="0"/>
                  <a:t>The amount energy the fish uses to swim, recover, and regulate bodily functions. </a:t>
                </a:r>
              </a:p>
              <a:p>
                <a:r>
                  <a:rPr lang="en-US" sz="1600" dirty="0"/>
                  <a:t>⏱️</a:t>
                </a:r>
                <a:r>
                  <a:rPr lang="en-US" sz="1400" b="1" dirty="0"/>
                  <a:t>Swimming Speed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swimming speed of a fish, which determines whether it can resist the current or must drift.</a:t>
                </a:r>
              </a:p>
              <a:p>
                <a:r>
                  <a:rPr lang="en-US" sz="1600" dirty="0"/>
                  <a:t>⚠️ </a:t>
                </a:r>
                <a:r>
                  <a:rPr lang="en-US" sz="1400" b="1" dirty="0"/>
                  <a:t>Maximum Speed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𝑺𝒘𝒊𝒎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swimming speed of a fish, which determines whether it can resist the current or must drift.</a:t>
                </a:r>
              </a:p>
              <a:p>
                <a:r>
                  <a:rPr lang="en-US" sz="1600" dirty="0"/>
                  <a:t>🏊</a:t>
                </a:r>
                <a:r>
                  <a:rPr lang="en-US" sz="1400" dirty="0"/>
                  <a:t> </a:t>
                </a:r>
                <a:r>
                  <a:rPr lang="en-US" sz="1400" b="1" dirty="0"/>
                  <a:t>Swimming Difficulty (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𝑫𝒇</m:t>
                    </m:r>
                  </m:oMath>
                </a14:m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difficulty factor of a fish, which determines how “difficult” it is for a fish to swim against the current.</a:t>
                </a:r>
              </a:p>
              <a:p>
                <a:r>
                  <a:rPr lang="en-US" sz="1600" dirty="0"/>
                  <a:t>💤</a:t>
                </a:r>
                <a:r>
                  <a:rPr lang="en-US" sz="1400" dirty="0"/>
                  <a:t> </a:t>
                </a:r>
                <a:r>
                  <a:rPr lang="en-US" sz="1400" b="1" dirty="0"/>
                  <a:t>Swim Energy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𝑺𝒘𝒊𝒎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𝑬𝒏𝒆𝒓𝒈𝒚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Boolean value indicating whether the fish is currently in a recovery (staging) state.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17593" y="1893716"/>
                <a:ext cx="5881670" cy="3774513"/>
              </a:xfrm>
              <a:blipFill>
                <a:blip r:embed="rId3"/>
                <a:stretch>
                  <a:fillRect l="-415" t="-1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80" y="7805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Variables for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06" y="991666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706" y="1858469"/>
            <a:ext cx="5703887" cy="3684588"/>
          </a:xfrm>
        </p:spPr>
        <p:txBody>
          <a:bodyPr>
            <a:noAutofit/>
          </a:bodyPr>
          <a:lstStyle/>
          <a:p>
            <a:r>
              <a:rPr lang="en-US" sz="1600" dirty="0"/>
              <a:t>🌀</a:t>
            </a:r>
            <a:r>
              <a:rPr lang="en-US" sz="1400" dirty="0"/>
              <a:t> </a:t>
            </a:r>
            <a:r>
              <a:rPr lang="en-US" sz="1400" b="1" dirty="0"/>
              <a:t>Velocity (</a:t>
            </a:r>
            <a:r>
              <a:rPr lang="en-US" sz="1400" b="1" i="1" dirty="0"/>
              <a:t>u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along-channel flow velocity in a patch, influencing whether fish swim or drift.</a:t>
            </a:r>
          </a:p>
          <a:p>
            <a:r>
              <a:rPr lang="en-US" sz="1600" dirty="0"/>
              <a:t>🛑</a:t>
            </a:r>
            <a:r>
              <a:rPr lang="en-US" sz="1400" dirty="0"/>
              <a:t> </a:t>
            </a:r>
            <a:r>
              <a:rPr lang="en-US" sz="1400" b="1" dirty="0"/>
              <a:t>Patch Difficulty (</a:t>
            </a:r>
            <a:r>
              <a:rPr lang="en-US" sz="1400" b="1" i="1" dirty="0"/>
              <a:t>Patch-Df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difficulty factor of a patch, which records the highest difficulty experienced in the patch over time.</a:t>
            </a:r>
          </a:p>
          <a:p>
            <a:r>
              <a:rPr lang="en-US" sz="1600" b="1" dirty="0"/>
              <a:t>🐟</a:t>
            </a:r>
            <a:r>
              <a:rPr lang="en-US" sz="1400" dirty="0"/>
              <a:t> </a:t>
            </a:r>
            <a:r>
              <a:rPr lang="en-US" sz="1400" b="1" dirty="0"/>
              <a:t>Fish (</a:t>
            </a:r>
            <a:r>
              <a:rPr lang="en-US" sz="1400" b="1" i="1" dirty="0"/>
              <a:t>Fish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cumulative number of fish using one location.</a:t>
            </a:r>
          </a:p>
          <a:p>
            <a:r>
              <a:rPr lang="en-US" sz="1600" dirty="0"/>
              <a:t>⏳</a:t>
            </a:r>
            <a:r>
              <a:rPr lang="en-US" sz="1400" dirty="0"/>
              <a:t> </a:t>
            </a:r>
            <a:r>
              <a:rPr lang="en-US" sz="1400" b="1" dirty="0"/>
              <a:t>Time Spent (</a:t>
            </a:r>
            <a:r>
              <a:rPr lang="en-US" sz="1400" b="1" i="1" dirty="0"/>
              <a:t>Time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cumulative time fish spend resting in one location.</a:t>
            </a:r>
          </a:p>
          <a:p>
            <a:endParaRPr lang="en-US" sz="1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17580" y="991666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</p:spTree>
    <p:extLst>
      <p:ext uri="{BB962C8B-B14F-4D97-AF65-F5344CB8AC3E}">
        <p14:creationId xmlns:p14="http://schemas.microsoft.com/office/powerpoint/2010/main" val="412824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975916" y="611050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6E184-65EF-4E7B-BF05-5F6676CDF53C}"/>
              </a:ext>
            </a:extLst>
          </p:cNvPr>
          <p:cNvGrpSpPr/>
          <p:nvPr/>
        </p:nvGrpSpPr>
        <p:grpSpPr>
          <a:xfrm>
            <a:off x="1542373" y="620864"/>
            <a:ext cx="8918945" cy="4529601"/>
            <a:chOff x="1631199" y="1952123"/>
            <a:chExt cx="8918945" cy="4529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DCC76E-82E4-489B-B111-88676FC9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369" y="1952123"/>
              <a:ext cx="8235639" cy="4529601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Relaxed"/>
              <a:lightRig rig="threePt" dir="t"/>
            </a:scene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1631199" y="4145198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199" y="4145198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F67821-0371-4DFE-A091-17B83DA69D25}"/>
                </a:ext>
              </a:extLst>
            </p:cNvPr>
            <p:cNvGrpSpPr/>
            <p:nvPr/>
          </p:nvGrpSpPr>
          <p:grpSpPr>
            <a:xfrm>
              <a:off x="1891845" y="3231495"/>
              <a:ext cx="8658299" cy="2225347"/>
              <a:chOff x="1891845" y="3231495"/>
              <a:chExt cx="8658299" cy="222534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276A888-2ECE-4AB8-B3F1-7FAA0C246190}"/>
                  </a:ext>
                </a:extLst>
              </p:cNvPr>
              <p:cNvGrpSpPr/>
              <p:nvPr/>
            </p:nvGrpSpPr>
            <p:grpSpPr>
              <a:xfrm>
                <a:off x="6130892" y="3260052"/>
                <a:ext cx="4419252" cy="2196790"/>
                <a:chOff x="6130892" y="3260052"/>
                <a:chExt cx="4419252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236376D9-59D6-43C3-A016-4189B80E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2775" y="3260052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A6A18C-73F4-401D-82EE-666BB3B0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CBF7041-5B86-4EE7-B4DD-8FCDC3337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E9D3B5-52CB-4EF8-90FC-755ABBC51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8FB62C-34AF-4D50-A582-835C2B68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172C09B0-38AE-4298-87F2-CEBDE777A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86F7CDD-CE4B-4F06-B4D3-ED79669E6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2A4542D-33A8-48CB-96B9-A3CB23BA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55B17BF-6755-4D69-B4A3-66188C691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EF482C0-DD48-49B4-B9AC-0DF016227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D0C8BAC-6E08-490F-A4E1-2171D3E41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F6AEC572-70B1-4668-82BD-C5CEE72BB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B921A53-B0CB-45B0-8E81-8C3204D1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89CFF4B-C07B-49FF-833D-BEE781EC0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0892" y="3876078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1F5CF2D4-DE71-4EBD-B571-001BA271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8278" y="4626276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D2362C5E-F9F0-4F7E-B59D-F1674DE0A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4512" y="5417361"/>
                  <a:ext cx="18288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A28C2BD-3438-4DD0-9510-71B97A3AA584}"/>
                  </a:ext>
                </a:extLst>
              </p:cNvPr>
              <p:cNvGrpSpPr/>
              <p:nvPr/>
            </p:nvGrpSpPr>
            <p:grpSpPr>
              <a:xfrm flipH="1">
                <a:off x="1891845" y="3231495"/>
                <a:ext cx="3371386" cy="2196790"/>
                <a:chOff x="7178758" y="3260052"/>
                <a:chExt cx="3371386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A4429FD-2F8B-4756-BC73-88AC77BB5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5BDA1ABD-5F75-4F9D-A705-8225B8EC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4612499-76E3-4012-B764-2EABB649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3BBC51-E788-421A-9D78-C0AF97458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C8B67D9-5F75-4548-AF92-72DA0E5D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6FBFC15B-92B7-4397-AC9C-D5A1E4A5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8C2C415F-32F1-4E09-A2F8-D62A5EC5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9D4B07B-BE0D-4D53-8815-B8A7F05FD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1FF8A1B-4116-45F8-8D80-0626EE9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9D47ED2-974A-4EA7-A8F6-33ABA327F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14A5F04-FF65-4F4A-8FE6-2BDC7479A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DCDBFF-DDED-4721-8523-4FFB745B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3D1E53-69A2-4A21-954D-B8C9542A3B97}"/>
                </a:ext>
              </a:extLst>
            </p:cNvPr>
            <p:cNvGrpSpPr/>
            <p:nvPr/>
          </p:nvGrpSpPr>
          <p:grpSpPr>
            <a:xfrm>
              <a:off x="2109369" y="3538280"/>
              <a:ext cx="1438648" cy="830997"/>
              <a:chOff x="2142823" y="3694397"/>
              <a:chExt cx="1438648" cy="8309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142823" y="3694397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D2C57-24A4-49D5-9CD4-89FB2A8FDE51}"/>
                  </a:ext>
                </a:extLst>
              </p:cNvPr>
              <p:cNvCxnSpPr/>
              <p:nvPr/>
            </p:nvCxnSpPr>
            <p:spPr>
              <a:xfrm>
                <a:off x="2360342" y="4342069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1066800" y="64174"/>
            <a:ext cx="1033189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/>
              <a:t>Swimming Becomes More or Less Difficult as Fish Move Through Changing Flow Conditions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124609" y="4553971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C9ADDD-6F2E-43C5-8890-9D49AEA5ABCB}"/>
              </a:ext>
            </a:extLst>
          </p:cNvPr>
          <p:cNvSpPr txBox="1"/>
          <p:nvPr/>
        </p:nvSpPr>
        <p:spPr>
          <a:xfrm>
            <a:off x="1900094" y="2022355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Swimming Speed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315F8E1-59E2-4ADE-A007-97C3BD358907}"/>
              </a:ext>
            </a:extLst>
          </p:cNvPr>
          <p:cNvSpPr txBox="1"/>
          <p:nvPr/>
        </p:nvSpPr>
        <p:spPr>
          <a:xfrm>
            <a:off x="873786" y="4923303"/>
            <a:ext cx="104444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Velocity Direction × Magnitude = Difficulty Factor (</a:t>
            </a:r>
            <a:r>
              <a:rPr lang="en-US" sz="2000" b="1" i="1" dirty="0"/>
              <a:t>Df</a:t>
            </a:r>
            <a:r>
              <a:rPr lang="en-US" sz="2000" dirty="0"/>
              <a:t>)</a:t>
            </a:r>
          </a:p>
          <a:p>
            <a:r>
              <a:rPr lang="en-US" b="1" dirty="0"/>
              <a:t>Highest difficulty: </a:t>
            </a:r>
          </a:p>
          <a:p>
            <a:r>
              <a:rPr lang="en-US" b="1" dirty="0"/>
              <a:t>→</a:t>
            </a:r>
            <a:r>
              <a:rPr lang="en-US" dirty="0"/>
              <a:t> Strongest velocity in the opposite direction of fish movement</a:t>
            </a:r>
          </a:p>
          <a:p>
            <a:endParaRPr lang="en-US" dirty="0"/>
          </a:p>
          <a:p>
            <a:r>
              <a:rPr lang="en-US" b="1" dirty="0"/>
              <a:t>Lowest difficulty:</a:t>
            </a:r>
          </a:p>
          <a:p>
            <a:r>
              <a:rPr lang="en-US" b="1" dirty="0"/>
              <a:t>→</a:t>
            </a:r>
            <a:r>
              <a:rPr lang="en-US" dirty="0"/>
              <a:t> Weak or assisting flow in the same direction as fish movement</a:t>
            </a:r>
          </a:p>
          <a:p>
            <a:r>
              <a:rPr lang="en-US" sz="1600" b="1" dirty="0"/>
              <a:t> 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8968541" y="5231384"/>
            <a:ext cx="3223459" cy="1469722"/>
            <a:chOff x="9267697" y="5411156"/>
            <a:chExt cx="2686410" cy="146972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0010F9-677F-4723-8A7B-CDD386509001}"/>
                </a:ext>
              </a:extLst>
            </p:cNvPr>
            <p:cNvSpPr/>
            <p:nvPr/>
          </p:nvSpPr>
          <p:spPr>
            <a:xfrm>
              <a:off x="9267697" y="5787731"/>
              <a:ext cx="2474537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C585B2-0C18-4BB8-BA51-58F6C0F59181}"/>
                </a:ext>
              </a:extLst>
            </p:cNvPr>
            <p:cNvSpPr txBox="1"/>
            <p:nvPr/>
          </p:nvSpPr>
          <p:spPr>
            <a:xfrm>
              <a:off x="9743224" y="5411156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23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>
            <a:extLst>
              <a:ext uri="{FF2B5EF4-FFF2-40B4-BE49-F238E27FC236}">
                <a16:creationId xmlns:a16="http://schemas.microsoft.com/office/drawing/2014/main" id="{AA58D546-A50A-4BF4-82AC-662FC71A1ECE}"/>
              </a:ext>
            </a:extLst>
          </p:cNvPr>
          <p:cNvSpPr txBox="1">
            <a:spLocks/>
          </p:cNvSpPr>
          <p:nvPr/>
        </p:nvSpPr>
        <p:spPr>
          <a:xfrm>
            <a:off x="439139" y="-1382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Swimming Against the 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078" y="5696173"/>
            <a:ext cx="12432156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adjust their speed to overcome opposing currents, constrained by maximum velocity and rate of change.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308278" y="2761796"/>
            <a:ext cx="396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|Current Velocity|</a:t>
            </a:r>
          </a:p>
          <a:p>
            <a:pPr algn="ctr"/>
            <a:r>
              <a:rPr lang="en-US" b="1" dirty="0"/>
              <a:t>Increases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3985253" y="1010825"/>
            <a:ext cx="3206878" cy="2122384"/>
            <a:chOff x="1017956" y="2071167"/>
            <a:chExt cx="1529814" cy="15760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123785" y="1010825"/>
            <a:ext cx="3206878" cy="2122384"/>
            <a:chOff x="1017956" y="2071167"/>
            <a:chExt cx="1529814" cy="15760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D1842CE-9AA4-44CC-BA69-A7DC7D47846F}"/>
              </a:ext>
            </a:extLst>
          </p:cNvPr>
          <p:cNvSpPr/>
          <p:nvPr/>
        </p:nvSpPr>
        <p:spPr>
          <a:xfrm>
            <a:off x="3428331" y="167584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1A0054-BC40-4DDB-A3E8-4EDF67E99336}"/>
                  </a:ext>
                </a:extLst>
              </p:cNvPr>
              <p:cNvSpPr txBox="1"/>
              <p:nvPr/>
            </p:nvSpPr>
            <p:spPr>
              <a:xfrm>
                <a:off x="4276255" y="2765707"/>
                <a:ext cx="2555752" cy="395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b="1" dirty="0"/>
                  <a:t> Increases</a:t>
                </a: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1A0054-BC40-4DDB-A3E8-4EDF67E99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255" y="2765707"/>
                <a:ext cx="2555752" cy="395621"/>
              </a:xfrm>
              <a:prstGeom prst="rect">
                <a:avLst/>
              </a:prstGeom>
              <a:blipFill>
                <a:blip r:embed="rId2"/>
                <a:stretch>
                  <a:fillRect t="-7692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099EB3-CE16-4E30-97DA-6BAD260FF644}"/>
              </a:ext>
            </a:extLst>
          </p:cNvPr>
          <p:cNvCxnSpPr>
            <a:cxnSpLocks/>
          </p:cNvCxnSpPr>
          <p:nvPr/>
        </p:nvCxnSpPr>
        <p:spPr>
          <a:xfrm flipV="1">
            <a:off x="477188" y="1114763"/>
            <a:ext cx="2307488" cy="160397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BF09B5-F54D-4BD1-8B12-46495F55AE97}"/>
              </a:ext>
            </a:extLst>
          </p:cNvPr>
          <p:cNvCxnSpPr>
            <a:cxnSpLocks/>
          </p:cNvCxnSpPr>
          <p:nvPr/>
        </p:nvCxnSpPr>
        <p:spPr>
          <a:xfrm flipV="1">
            <a:off x="4366049" y="1172736"/>
            <a:ext cx="1209201" cy="1516541"/>
          </a:xfrm>
          <a:prstGeom prst="straightConnector1">
            <a:avLst/>
          </a:prstGeom>
          <a:ln w="571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F72D08-9E7C-4D3E-8BDF-DFA8410FE95A}"/>
              </a:ext>
            </a:extLst>
          </p:cNvPr>
          <p:cNvCxnSpPr/>
          <p:nvPr/>
        </p:nvCxnSpPr>
        <p:spPr>
          <a:xfrm flipV="1">
            <a:off x="4335443" y="1931948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9ECA19-E0A6-4848-8560-DD1F33D15F26}"/>
                  </a:ext>
                </a:extLst>
              </p:cNvPr>
              <p:cNvSpPr txBox="1"/>
              <p:nvPr/>
            </p:nvSpPr>
            <p:spPr>
              <a:xfrm>
                <a:off x="5077301" y="1527593"/>
                <a:ext cx="3962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𝑺𝒘𝒊𝒎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9ECA19-E0A6-4848-8560-DD1F33D15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301" y="1527593"/>
                <a:ext cx="39622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7F6CF6A-88EB-43D0-AA13-C102F146DA68}"/>
              </a:ext>
            </a:extLst>
          </p:cNvPr>
          <p:cNvSpPr/>
          <p:nvPr/>
        </p:nvSpPr>
        <p:spPr>
          <a:xfrm>
            <a:off x="4387294" y="1991088"/>
            <a:ext cx="2620537" cy="688846"/>
          </a:xfrm>
          <a:custGeom>
            <a:avLst/>
            <a:gdLst>
              <a:gd name="connsiteX0" fmla="*/ 0 w 2620537"/>
              <a:gd name="connsiteY0" fmla="*/ 688846 h 688846"/>
              <a:gd name="connsiteX1" fmla="*/ 1282390 w 2620537"/>
              <a:gd name="connsiteY1" fmla="*/ 19773 h 688846"/>
              <a:gd name="connsiteX2" fmla="*/ 2620537 w 2620537"/>
              <a:gd name="connsiteY2" fmla="*/ 242797 h 688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20537" h="688846">
                <a:moveTo>
                  <a:pt x="0" y="688846"/>
                </a:moveTo>
                <a:cubicBezTo>
                  <a:pt x="422817" y="391480"/>
                  <a:pt x="845634" y="94114"/>
                  <a:pt x="1282390" y="19773"/>
                </a:cubicBezTo>
                <a:cubicBezTo>
                  <a:pt x="1719146" y="-54568"/>
                  <a:pt x="2169841" y="94114"/>
                  <a:pt x="2620537" y="242797"/>
                </a:cubicBezTo>
              </a:path>
            </a:pathLst>
          </a:custGeom>
          <a:noFill/>
          <a:ln w="57150">
            <a:solidFill>
              <a:schemeClr val="tx1"/>
            </a:solidFill>
            <a:headEnd w="lg" len="lg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3E4E84-8AE9-41CC-A405-FF5D041B5382}"/>
              </a:ext>
            </a:extLst>
          </p:cNvPr>
          <p:cNvSpPr txBox="1"/>
          <p:nvPr/>
        </p:nvSpPr>
        <p:spPr>
          <a:xfrm>
            <a:off x="-395754" y="5193128"/>
            <a:ext cx="396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|Current Velocity|</a:t>
            </a:r>
          </a:p>
          <a:p>
            <a:pPr algn="ctr"/>
            <a:r>
              <a:rPr lang="en-US" b="1" dirty="0"/>
              <a:t>Decreases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B9A2694-0028-476C-AEF3-50555EC1E107}"/>
              </a:ext>
            </a:extLst>
          </p:cNvPr>
          <p:cNvGrpSpPr/>
          <p:nvPr/>
        </p:nvGrpSpPr>
        <p:grpSpPr>
          <a:xfrm>
            <a:off x="36309" y="3442157"/>
            <a:ext cx="3206878" cy="2122384"/>
            <a:chOff x="1017956" y="2071167"/>
            <a:chExt cx="1529814" cy="157602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ACFE901-2838-4655-B9CA-BDD84DC4553D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95889C5-70FA-4E66-9C72-2874A58BA7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DDBEBE9-4B21-40F2-8B8F-0A21767C518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0F7BE1-8249-4C03-9FC9-F64F9E1BCE1F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8065359-58B4-4483-A290-57977E2C4E91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EFFA8A-EA74-4EDD-B801-80EE8AB98A27}"/>
              </a:ext>
            </a:extLst>
          </p:cNvPr>
          <p:cNvCxnSpPr>
            <a:cxnSpLocks/>
          </p:cNvCxnSpPr>
          <p:nvPr/>
        </p:nvCxnSpPr>
        <p:spPr>
          <a:xfrm>
            <a:off x="389712" y="3546095"/>
            <a:ext cx="2307488" cy="160397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8944F7A-ED3A-4FB7-932C-640C74A01252}"/>
              </a:ext>
            </a:extLst>
          </p:cNvPr>
          <p:cNvGrpSpPr/>
          <p:nvPr/>
        </p:nvGrpSpPr>
        <p:grpSpPr>
          <a:xfrm>
            <a:off x="3985253" y="3456272"/>
            <a:ext cx="3206878" cy="2122384"/>
            <a:chOff x="1017956" y="2071167"/>
            <a:chExt cx="1529814" cy="157602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F090AB9-3DAF-4118-9C05-A14211F6C7F7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844668A-C9A4-45FF-8C75-E713ACBD18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649BAFA-6460-4F4B-B001-D3122D877F3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4229ECE-729E-4F29-ADFC-DD4D567C803C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0C608E-79BB-4E11-91F4-FD04AC8A69DF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6228E56-3BEE-4F10-AC9B-39678FAC8713}"/>
                  </a:ext>
                </a:extLst>
              </p:cNvPr>
              <p:cNvSpPr txBox="1"/>
              <p:nvPr/>
            </p:nvSpPr>
            <p:spPr>
              <a:xfrm>
                <a:off x="4276255" y="5211154"/>
                <a:ext cx="2320431" cy="395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b="1" dirty="0"/>
                  <a:t> Increases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6228E56-3BEE-4F10-AC9B-39678FAC8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255" y="5211154"/>
                <a:ext cx="2320431" cy="395621"/>
              </a:xfrm>
              <a:prstGeom prst="rect">
                <a:avLst/>
              </a:prstGeom>
              <a:blipFill>
                <a:blip r:embed="rId4"/>
                <a:stretch>
                  <a:fillRect t="-7692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10DDD7-0D78-45C7-9F96-D7F8510B4555}"/>
              </a:ext>
            </a:extLst>
          </p:cNvPr>
          <p:cNvCxnSpPr/>
          <p:nvPr/>
        </p:nvCxnSpPr>
        <p:spPr>
          <a:xfrm flipV="1">
            <a:off x="4335443" y="4377395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B1FA57-1FDD-4272-9E1C-6AEDE78D2919}"/>
                  </a:ext>
                </a:extLst>
              </p:cNvPr>
              <p:cNvSpPr txBox="1"/>
              <p:nvPr/>
            </p:nvSpPr>
            <p:spPr>
              <a:xfrm>
                <a:off x="5210996" y="3983032"/>
                <a:ext cx="3962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𝑺𝒘𝒊𝒎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B1FA57-1FDD-4272-9E1C-6AEDE78D2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996" y="3983032"/>
                <a:ext cx="396226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268386A-99E4-402D-A0A7-D57C6A958FDE}"/>
              </a:ext>
            </a:extLst>
          </p:cNvPr>
          <p:cNvSpPr/>
          <p:nvPr/>
        </p:nvSpPr>
        <p:spPr>
          <a:xfrm>
            <a:off x="4359040" y="4442573"/>
            <a:ext cx="2553629" cy="674642"/>
          </a:xfrm>
          <a:custGeom>
            <a:avLst/>
            <a:gdLst>
              <a:gd name="connsiteX0" fmla="*/ 0 w 2553629"/>
              <a:gd name="connsiteY0" fmla="*/ 612285 h 674642"/>
              <a:gd name="connsiteX1" fmla="*/ 947853 w 2553629"/>
              <a:gd name="connsiteY1" fmla="*/ 623436 h 674642"/>
              <a:gd name="connsiteX2" fmla="*/ 1393902 w 2553629"/>
              <a:gd name="connsiteY2" fmla="*/ 54724 h 674642"/>
              <a:gd name="connsiteX3" fmla="*/ 2553629 w 2553629"/>
              <a:gd name="connsiteY3" fmla="*/ 54724 h 674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3629" h="674642">
                <a:moveTo>
                  <a:pt x="0" y="612285"/>
                </a:moveTo>
                <a:cubicBezTo>
                  <a:pt x="357768" y="664324"/>
                  <a:pt x="715536" y="716363"/>
                  <a:pt x="947853" y="623436"/>
                </a:cubicBezTo>
                <a:cubicBezTo>
                  <a:pt x="1180170" y="530509"/>
                  <a:pt x="1126273" y="149509"/>
                  <a:pt x="1393902" y="54724"/>
                </a:cubicBezTo>
                <a:cubicBezTo>
                  <a:pt x="1661531" y="-40061"/>
                  <a:pt x="2107580" y="7331"/>
                  <a:pt x="2553629" y="54724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777135-B680-4A3A-B9DD-F29F85A00271}"/>
              </a:ext>
            </a:extLst>
          </p:cNvPr>
          <p:cNvCxnSpPr>
            <a:cxnSpLocks/>
          </p:cNvCxnSpPr>
          <p:nvPr/>
        </p:nvCxnSpPr>
        <p:spPr>
          <a:xfrm flipV="1">
            <a:off x="4359040" y="3865584"/>
            <a:ext cx="2472967" cy="1284485"/>
          </a:xfrm>
          <a:prstGeom prst="straightConnector1">
            <a:avLst/>
          </a:prstGeom>
          <a:ln w="571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488FC84-CF1C-404F-A7FF-A650F20E4C62}"/>
              </a:ext>
            </a:extLst>
          </p:cNvPr>
          <p:cNvSpPr txBox="1"/>
          <p:nvPr/>
        </p:nvSpPr>
        <p:spPr>
          <a:xfrm>
            <a:off x="8653870" y="935777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C67A67-3EAA-4897-919A-F928338BEF45}"/>
              </a:ext>
            </a:extLst>
          </p:cNvPr>
          <p:cNvSpPr txBox="1"/>
          <p:nvPr/>
        </p:nvSpPr>
        <p:spPr>
          <a:xfrm>
            <a:off x="8653870" y="1445748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flow strengthens, fish increase speed to counter resistance, constrained by their max swimming rate and how fast they can accelerate.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1B9E386-F33F-40A0-A0E7-CDA196023D14}"/>
              </a:ext>
            </a:extLst>
          </p:cNvPr>
          <p:cNvCxnSpPr/>
          <p:nvPr/>
        </p:nvCxnSpPr>
        <p:spPr>
          <a:xfrm>
            <a:off x="8726664" y="1375670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B1CB1FFA-E6FC-48F3-B83A-63E692A22D58}"/>
              </a:ext>
            </a:extLst>
          </p:cNvPr>
          <p:cNvSpPr/>
          <p:nvPr/>
        </p:nvSpPr>
        <p:spPr>
          <a:xfrm>
            <a:off x="7927476" y="1666960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EF9B06B7-7730-47D2-96EE-74D7B0EE76C9}"/>
              </a:ext>
            </a:extLst>
          </p:cNvPr>
          <p:cNvSpPr/>
          <p:nvPr/>
        </p:nvSpPr>
        <p:spPr>
          <a:xfrm>
            <a:off x="7927476" y="4112586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AA568F-B5BB-47C2-B3E8-021CC41D6CFA}"/>
              </a:ext>
            </a:extLst>
          </p:cNvPr>
          <p:cNvSpPr txBox="1"/>
          <p:nvPr/>
        </p:nvSpPr>
        <p:spPr>
          <a:xfrm>
            <a:off x="8658924" y="3612212"/>
            <a:ext cx="30792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flow weakens, fish reduce speed to conserve energy unless overcoming velocity is needed for continued migration.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AB6FA0-EBEA-4DE6-BEA2-B12AA70AF222}"/>
                  </a:ext>
                </a:extLst>
              </p:cNvPr>
              <p:cNvSpPr txBox="1"/>
              <p:nvPr/>
            </p:nvSpPr>
            <p:spPr>
              <a:xfrm>
                <a:off x="7192578" y="5057628"/>
                <a:ext cx="1636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Desired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𝐒𝐩𝐞𝐞𝐝</m:t>
                    </m:r>
                  </m:oMath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AB6FA0-EBEA-4DE6-BEA2-B12AA70A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578" y="5057628"/>
                <a:ext cx="1636987" cy="369332"/>
              </a:xfrm>
              <a:prstGeom prst="rect">
                <a:avLst/>
              </a:prstGeom>
              <a:blipFill>
                <a:blip r:embed="rId6"/>
                <a:stretch>
                  <a:fillRect l="-3358" t="-10000" r="-3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1DCEA53-4812-40FF-900C-FBDA854B5F90}"/>
                  </a:ext>
                </a:extLst>
              </p:cNvPr>
              <p:cNvSpPr txBox="1"/>
              <p:nvPr/>
            </p:nvSpPr>
            <p:spPr>
              <a:xfrm>
                <a:off x="7192337" y="5330407"/>
                <a:ext cx="2089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𝐒𝐰𝐢𝐦𝐦𝐢𝐧𝐠</m:t>
                      </m:r>
                      <m:r>
                        <a:rPr lang="en-US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𝐒𝐩𝐞𝐞𝐝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1DCEA53-4812-40FF-900C-FBDA854B5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337" y="5330407"/>
                <a:ext cx="2089033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64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>
            <a:extLst>
              <a:ext uri="{FF2B5EF4-FFF2-40B4-BE49-F238E27FC236}">
                <a16:creationId xmlns:a16="http://schemas.microsoft.com/office/drawing/2014/main" id="{AA58D546-A50A-4BF4-82AC-662FC71A1ECE}"/>
              </a:ext>
            </a:extLst>
          </p:cNvPr>
          <p:cNvSpPr txBox="1">
            <a:spLocks/>
          </p:cNvSpPr>
          <p:nvPr/>
        </p:nvSpPr>
        <p:spPr>
          <a:xfrm>
            <a:off x="439139" y="-1382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Swimming with the 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61" y="5596564"/>
            <a:ext cx="11550078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use favorable currents to move faster with less effort, without being limited by their maximum swimming speed.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308278" y="2696480"/>
            <a:ext cx="396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|Current Velocity|</a:t>
            </a:r>
          </a:p>
          <a:p>
            <a:pPr algn="ctr"/>
            <a:r>
              <a:rPr lang="en-US" b="1" dirty="0"/>
              <a:t>Increases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3985253" y="945509"/>
            <a:ext cx="3206878" cy="2122384"/>
            <a:chOff x="1017956" y="2071167"/>
            <a:chExt cx="1529814" cy="15760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123785" y="945509"/>
            <a:ext cx="3206878" cy="2122384"/>
            <a:chOff x="1017956" y="2071167"/>
            <a:chExt cx="1529814" cy="15760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D1842CE-9AA4-44CC-BA69-A7DC7D47846F}"/>
              </a:ext>
            </a:extLst>
          </p:cNvPr>
          <p:cNvSpPr/>
          <p:nvPr/>
        </p:nvSpPr>
        <p:spPr>
          <a:xfrm>
            <a:off x="3428331" y="1610531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1A0054-BC40-4DDB-A3E8-4EDF67E99336}"/>
                  </a:ext>
                </a:extLst>
              </p:cNvPr>
              <p:cNvSpPr txBox="1"/>
              <p:nvPr/>
            </p:nvSpPr>
            <p:spPr>
              <a:xfrm>
                <a:off x="4276255" y="2700391"/>
                <a:ext cx="2555752" cy="395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b="1" dirty="0"/>
                  <a:t> Increases</a:t>
                </a: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E1A0054-BC40-4DDB-A3E8-4EDF67E99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255" y="2700391"/>
                <a:ext cx="2555752" cy="395621"/>
              </a:xfrm>
              <a:prstGeom prst="rect">
                <a:avLst/>
              </a:prstGeom>
              <a:blipFill>
                <a:blip r:embed="rId2"/>
                <a:stretch>
                  <a:fillRect t="-7692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D099EB3-CE16-4E30-97DA-6BAD260FF644}"/>
              </a:ext>
            </a:extLst>
          </p:cNvPr>
          <p:cNvCxnSpPr>
            <a:cxnSpLocks/>
          </p:cNvCxnSpPr>
          <p:nvPr/>
        </p:nvCxnSpPr>
        <p:spPr>
          <a:xfrm flipV="1">
            <a:off x="477188" y="1049447"/>
            <a:ext cx="2307488" cy="160397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BF09B5-F54D-4BD1-8B12-46495F55AE97}"/>
              </a:ext>
            </a:extLst>
          </p:cNvPr>
          <p:cNvCxnSpPr>
            <a:cxnSpLocks/>
          </p:cNvCxnSpPr>
          <p:nvPr/>
        </p:nvCxnSpPr>
        <p:spPr>
          <a:xfrm flipV="1">
            <a:off x="4366049" y="1107420"/>
            <a:ext cx="1209201" cy="1516541"/>
          </a:xfrm>
          <a:prstGeom prst="straightConnector1">
            <a:avLst/>
          </a:prstGeom>
          <a:ln w="571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F72D08-9E7C-4D3E-8BDF-DFA8410FE95A}"/>
              </a:ext>
            </a:extLst>
          </p:cNvPr>
          <p:cNvCxnSpPr/>
          <p:nvPr/>
        </p:nvCxnSpPr>
        <p:spPr>
          <a:xfrm flipV="1">
            <a:off x="4335443" y="1866632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9ECA19-E0A6-4848-8560-DD1F33D15F26}"/>
                  </a:ext>
                </a:extLst>
              </p:cNvPr>
              <p:cNvSpPr txBox="1"/>
              <p:nvPr/>
            </p:nvSpPr>
            <p:spPr>
              <a:xfrm>
                <a:off x="5077301" y="1462277"/>
                <a:ext cx="3962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𝑺𝒘𝒊𝒎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69ECA19-E0A6-4848-8560-DD1F33D15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301" y="1462277"/>
                <a:ext cx="39622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3D901A36-4993-4AE6-B320-1915D7334815}"/>
              </a:ext>
            </a:extLst>
          </p:cNvPr>
          <p:cNvSpPr txBox="1"/>
          <p:nvPr/>
        </p:nvSpPr>
        <p:spPr>
          <a:xfrm>
            <a:off x="8653870" y="5059432"/>
            <a:ext cx="2034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Swimming Velocity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EA47E0-F6DB-47E6-9C09-8463C5EFB689}"/>
              </a:ext>
            </a:extLst>
          </p:cNvPr>
          <p:cNvSpPr txBox="1"/>
          <p:nvPr/>
        </p:nvSpPr>
        <p:spPr>
          <a:xfrm>
            <a:off x="8653870" y="4846426"/>
            <a:ext cx="2776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Desired Swimming Velocity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C6D21E-E836-4C75-9D00-1CF89AB9BAAF}"/>
              </a:ext>
            </a:extLst>
          </p:cNvPr>
          <p:cNvSpPr txBox="1"/>
          <p:nvPr/>
        </p:nvSpPr>
        <p:spPr>
          <a:xfrm>
            <a:off x="8653870" y="5289699"/>
            <a:ext cx="17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Current Velocity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3E4E84-8AE9-41CC-A405-FF5D041B5382}"/>
              </a:ext>
            </a:extLst>
          </p:cNvPr>
          <p:cNvSpPr txBox="1"/>
          <p:nvPr/>
        </p:nvSpPr>
        <p:spPr>
          <a:xfrm>
            <a:off x="-362646" y="5067188"/>
            <a:ext cx="3962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|Current Velocity|</a:t>
            </a:r>
          </a:p>
          <a:p>
            <a:pPr algn="ctr"/>
            <a:r>
              <a:rPr lang="en-US" b="1" dirty="0"/>
              <a:t>Decreases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B9A2694-0028-476C-AEF3-50555EC1E107}"/>
              </a:ext>
            </a:extLst>
          </p:cNvPr>
          <p:cNvGrpSpPr/>
          <p:nvPr/>
        </p:nvGrpSpPr>
        <p:grpSpPr>
          <a:xfrm>
            <a:off x="69417" y="3316217"/>
            <a:ext cx="3206878" cy="2122384"/>
            <a:chOff x="1017956" y="2071167"/>
            <a:chExt cx="1529814" cy="1576028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ACFE901-2838-4655-B9CA-BDD84DC4553D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95889C5-70FA-4E66-9C72-2874A58BA7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DDBEBE9-4B21-40F2-8B8F-0A21767C518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0F7BE1-8249-4C03-9FC9-F64F9E1BCE1F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8065359-58B4-4483-A290-57977E2C4E91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CEFFA8A-EA74-4EDD-B801-80EE8AB98A27}"/>
              </a:ext>
            </a:extLst>
          </p:cNvPr>
          <p:cNvCxnSpPr>
            <a:cxnSpLocks/>
          </p:cNvCxnSpPr>
          <p:nvPr/>
        </p:nvCxnSpPr>
        <p:spPr>
          <a:xfrm>
            <a:off x="422820" y="3420155"/>
            <a:ext cx="2307488" cy="1603973"/>
          </a:xfrm>
          <a:prstGeom prst="straightConnector1">
            <a:avLst/>
          </a:prstGeom>
          <a:ln w="571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8944F7A-ED3A-4FB7-932C-640C74A01252}"/>
              </a:ext>
            </a:extLst>
          </p:cNvPr>
          <p:cNvGrpSpPr/>
          <p:nvPr/>
        </p:nvGrpSpPr>
        <p:grpSpPr>
          <a:xfrm>
            <a:off x="4018361" y="3330332"/>
            <a:ext cx="3206878" cy="2122384"/>
            <a:chOff x="1017956" y="2071167"/>
            <a:chExt cx="1529814" cy="157602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F090AB9-3DAF-4118-9C05-A14211F6C7F7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4844668A-C9A4-45FF-8C75-E713ACBD18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F649BAFA-6460-4F4B-B001-D3122D877F3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4229ECE-729E-4F29-ADFC-DD4D567C803C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50C608E-79BB-4E11-91F4-FD04AC8A69DF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210DDD7-0D78-45C7-9F96-D7F8510B4555}"/>
              </a:ext>
            </a:extLst>
          </p:cNvPr>
          <p:cNvCxnSpPr/>
          <p:nvPr/>
        </p:nvCxnSpPr>
        <p:spPr>
          <a:xfrm flipV="1">
            <a:off x="4368551" y="4251455"/>
            <a:ext cx="272299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B1FA57-1FDD-4272-9E1C-6AEDE78D2919}"/>
                  </a:ext>
                </a:extLst>
              </p:cNvPr>
              <p:cNvSpPr txBox="1"/>
              <p:nvPr/>
            </p:nvSpPr>
            <p:spPr>
              <a:xfrm>
                <a:off x="5210996" y="3868402"/>
                <a:ext cx="39622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𝑺𝒘𝒊𝒎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𝒎𝒂𝒙</m:t>
                          </m:r>
                        </m:sub>
                      </m:sSub>
                    </m:oMath>
                  </m:oMathPara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B1FA57-1FDD-4272-9E1C-6AEDE78D2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996" y="3868402"/>
                <a:ext cx="396226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268386A-99E4-402D-A0A7-D57C6A958FDE}"/>
              </a:ext>
            </a:extLst>
          </p:cNvPr>
          <p:cNvSpPr/>
          <p:nvPr/>
        </p:nvSpPr>
        <p:spPr>
          <a:xfrm flipV="1">
            <a:off x="4395794" y="3651529"/>
            <a:ext cx="2575874" cy="741612"/>
          </a:xfrm>
          <a:custGeom>
            <a:avLst/>
            <a:gdLst>
              <a:gd name="connsiteX0" fmla="*/ 0 w 2553629"/>
              <a:gd name="connsiteY0" fmla="*/ 612285 h 674642"/>
              <a:gd name="connsiteX1" fmla="*/ 947853 w 2553629"/>
              <a:gd name="connsiteY1" fmla="*/ 623436 h 674642"/>
              <a:gd name="connsiteX2" fmla="*/ 1393902 w 2553629"/>
              <a:gd name="connsiteY2" fmla="*/ 54724 h 674642"/>
              <a:gd name="connsiteX3" fmla="*/ 2553629 w 2553629"/>
              <a:gd name="connsiteY3" fmla="*/ 54724 h 674642"/>
              <a:gd name="connsiteX0" fmla="*/ 0 w 2553629"/>
              <a:gd name="connsiteY0" fmla="*/ 612285 h 619293"/>
              <a:gd name="connsiteX1" fmla="*/ 756163 w 2553629"/>
              <a:gd name="connsiteY1" fmla="*/ 319599 h 619293"/>
              <a:gd name="connsiteX2" fmla="*/ 1393902 w 2553629"/>
              <a:gd name="connsiteY2" fmla="*/ 54724 h 619293"/>
              <a:gd name="connsiteX3" fmla="*/ 2553629 w 2553629"/>
              <a:gd name="connsiteY3" fmla="*/ 54724 h 619293"/>
              <a:gd name="connsiteX0" fmla="*/ 0 w 2591967"/>
              <a:gd name="connsiteY0" fmla="*/ 682401 h 688237"/>
              <a:gd name="connsiteX1" fmla="*/ 794501 w 2591967"/>
              <a:gd name="connsiteY1" fmla="*/ 319599 h 688237"/>
              <a:gd name="connsiteX2" fmla="*/ 1432240 w 2591967"/>
              <a:gd name="connsiteY2" fmla="*/ 54724 h 688237"/>
              <a:gd name="connsiteX3" fmla="*/ 2591967 w 2591967"/>
              <a:gd name="connsiteY3" fmla="*/ 54724 h 688237"/>
              <a:gd name="connsiteX0" fmla="*/ 0 w 2591967"/>
              <a:gd name="connsiteY0" fmla="*/ 682401 h 682401"/>
              <a:gd name="connsiteX1" fmla="*/ 303751 w 2591967"/>
              <a:gd name="connsiteY1" fmla="*/ 640624 h 682401"/>
              <a:gd name="connsiteX2" fmla="*/ 794501 w 2591967"/>
              <a:gd name="connsiteY2" fmla="*/ 319599 h 682401"/>
              <a:gd name="connsiteX3" fmla="*/ 1432240 w 2591967"/>
              <a:gd name="connsiteY3" fmla="*/ 54724 h 682401"/>
              <a:gd name="connsiteX4" fmla="*/ 2591967 w 2591967"/>
              <a:gd name="connsiteY4" fmla="*/ 54724 h 682401"/>
              <a:gd name="connsiteX0" fmla="*/ 0 w 2591967"/>
              <a:gd name="connsiteY0" fmla="*/ 682401 h 682401"/>
              <a:gd name="connsiteX1" fmla="*/ 266499 w 2591967"/>
              <a:gd name="connsiteY1" fmla="*/ 558870 h 682401"/>
              <a:gd name="connsiteX2" fmla="*/ 794501 w 2591967"/>
              <a:gd name="connsiteY2" fmla="*/ 319599 h 682401"/>
              <a:gd name="connsiteX3" fmla="*/ 1432240 w 2591967"/>
              <a:gd name="connsiteY3" fmla="*/ 54724 h 682401"/>
              <a:gd name="connsiteX4" fmla="*/ 2591967 w 2591967"/>
              <a:gd name="connsiteY4" fmla="*/ 54724 h 682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1967" h="682401">
                <a:moveTo>
                  <a:pt x="0" y="682401"/>
                </a:moveTo>
                <a:cubicBezTo>
                  <a:pt x="50625" y="675438"/>
                  <a:pt x="134082" y="619337"/>
                  <a:pt x="266499" y="558870"/>
                </a:cubicBezTo>
                <a:cubicBezTo>
                  <a:pt x="398916" y="498403"/>
                  <a:pt x="600211" y="403623"/>
                  <a:pt x="794501" y="319599"/>
                </a:cubicBezTo>
                <a:cubicBezTo>
                  <a:pt x="988791" y="235575"/>
                  <a:pt x="1164611" y="149509"/>
                  <a:pt x="1432240" y="54724"/>
                </a:cubicBezTo>
                <a:cubicBezTo>
                  <a:pt x="1699869" y="-40061"/>
                  <a:pt x="2145918" y="7331"/>
                  <a:pt x="2591967" y="54724"/>
                </a:cubicBezTo>
              </a:path>
            </a:pathLst>
          </a:custGeom>
          <a:noFill/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777135-B680-4A3A-B9DD-F29F85A00271}"/>
              </a:ext>
            </a:extLst>
          </p:cNvPr>
          <p:cNvCxnSpPr>
            <a:cxnSpLocks/>
          </p:cNvCxnSpPr>
          <p:nvPr/>
        </p:nvCxnSpPr>
        <p:spPr>
          <a:xfrm>
            <a:off x="4399157" y="3663176"/>
            <a:ext cx="2472967" cy="1284485"/>
          </a:xfrm>
          <a:prstGeom prst="straightConnector1">
            <a:avLst/>
          </a:prstGeom>
          <a:ln w="5715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B1CB1FFA-E6FC-48F3-B83A-63E692A22D58}"/>
              </a:ext>
            </a:extLst>
          </p:cNvPr>
          <p:cNvSpPr/>
          <p:nvPr/>
        </p:nvSpPr>
        <p:spPr>
          <a:xfrm>
            <a:off x="7927476" y="145722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EF9B06B7-7730-47D2-96EE-74D7B0EE76C9}"/>
              </a:ext>
            </a:extLst>
          </p:cNvPr>
          <p:cNvSpPr/>
          <p:nvPr/>
        </p:nvSpPr>
        <p:spPr>
          <a:xfrm>
            <a:off x="7923471" y="391048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18024C3-0917-41E3-9DA6-5237E1A863F2}"/>
              </a:ext>
            </a:extLst>
          </p:cNvPr>
          <p:cNvCxnSpPr>
            <a:cxnSpLocks/>
          </p:cNvCxnSpPr>
          <p:nvPr/>
        </p:nvCxnSpPr>
        <p:spPr>
          <a:xfrm flipV="1">
            <a:off x="4379491" y="851208"/>
            <a:ext cx="878363" cy="1795004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452939D-CAC0-4CA4-8221-6EE386BE438C}"/>
                  </a:ext>
                </a:extLst>
              </p:cNvPr>
              <p:cNvSpPr txBox="1"/>
              <p:nvPr/>
            </p:nvSpPr>
            <p:spPr>
              <a:xfrm>
                <a:off x="4309363" y="5085214"/>
                <a:ext cx="2320431" cy="395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b="1" dirty="0"/>
                  <a:t> Decreases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452939D-CAC0-4CA4-8221-6EE386BE4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363" y="5085214"/>
                <a:ext cx="2320431" cy="395621"/>
              </a:xfrm>
              <a:prstGeom prst="rect">
                <a:avLst/>
              </a:prstGeom>
              <a:blipFill>
                <a:blip r:embed="rId5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134D50A9-0981-44C0-88EA-2FC0212C2847}"/>
              </a:ext>
            </a:extLst>
          </p:cNvPr>
          <p:cNvSpPr txBox="1"/>
          <p:nvPr/>
        </p:nvSpPr>
        <p:spPr>
          <a:xfrm>
            <a:off x="8653870" y="870461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CB7577-DD2B-4BC5-888F-5CEF86E2AD62}"/>
              </a:ext>
            </a:extLst>
          </p:cNvPr>
          <p:cNvSpPr txBox="1"/>
          <p:nvPr/>
        </p:nvSpPr>
        <p:spPr>
          <a:xfrm>
            <a:off x="8653870" y="1380432"/>
            <a:ext cx="307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When flow aids migration, fish swim more efficiently but still face constraints from max speed and acceleration.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105517E-7FE5-46BF-981B-7D43734C7115}"/>
              </a:ext>
            </a:extLst>
          </p:cNvPr>
          <p:cNvCxnSpPr/>
          <p:nvPr/>
        </p:nvCxnSpPr>
        <p:spPr>
          <a:xfrm>
            <a:off x="8726664" y="1310354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6EE3CE5-7710-4ACD-85A0-0DC10B58E1E7}"/>
              </a:ext>
            </a:extLst>
          </p:cNvPr>
          <p:cNvSpPr txBox="1"/>
          <p:nvPr/>
        </p:nvSpPr>
        <p:spPr>
          <a:xfrm>
            <a:off x="8653870" y="3592597"/>
            <a:ext cx="307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favorable flow lessens, fish boost effort to maintain progress, using more energy if currents slow too much.</a:t>
            </a:r>
          </a:p>
        </p:txBody>
      </p:sp>
    </p:spTree>
    <p:extLst>
      <p:ext uri="{BB962C8B-B14F-4D97-AF65-F5344CB8AC3E}">
        <p14:creationId xmlns:p14="http://schemas.microsoft.com/office/powerpoint/2010/main" val="390615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D4F51E-0539-435F-A08C-3D004263A878}"/>
              </a:ext>
            </a:extLst>
          </p:cNvPr>
          <p:cNvCxnSpPr>
            <a:cxnSpLocks/>
          </p:cNvCxnSpPr>
          <p:nvPr/>
        </p:nvCxnSpPr>
        <p:spPr>
          <a:xfrm flipV="1">
            <a:off x="14397063" y="369911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E46CE45-5832-4E08-8E23-C96C658459E5}"/>
              </a:ext>
            </a:extLst>
          </p:cNvPr>
          <p:cNvCxnSpPr>
            <a:cxnSpLocks/>
          </p:cNvCxnSpPr>
          <p:nvPr/>
        </p:nvCxnSpPr>
        <p:spPr>
          <a:xfrm rot="5400000" flipV="1">
            <a:off x="15697241" y="322690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6E31921-A974-43B1-9CA4-6F1DDD2120A5}"/>
              </a:ext>
            </a:extLst>
          </p:cNvPr>
          <p:cNvSpPr txBox="1"/>
          <p:nvPr/>
        </p:nvSpPr>
        <p:spPr>
          <a:xfrm>
            <a:off x="16677394" y="4504774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AC4592-B851-4D1C-B3C5-3DDD85D179A7}"/>
              </a:ext>
            </a:extLst>
          </p:cNvPr>
          <p:cNvSpPr txBox="1"/>
          <p:nvPr/>
        </p:nvSpPr>
        <p:spPr>
          <a:xfrm>
            <a:off x="14043660" y="3644356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8FE2B-A337-4C68-A5BC-94B3FEE82D86}"/>
              </a:ext>
            </a:extLst>
          </p:cNvPr>
          <p:cNvSpPr txBox="1"/>
          <p:nvPr/>
        </p:nvSpPr>
        <p:spPr>
          <a:xfrm>
            <a:off x="9830932" y="3330914"/>
            <a:ext cx="1444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 Velocity (</a:t>
            </a:r>
            <a:r>
              <a:rPr lang="en-US" sz="2000" b="1" i="1" dirty="0"/>
              <a:t>u</a:t>
            </a:r>
            <a:r>
              <a:rPr lang="en-US" sz="2000" b="1" dirty="0"/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AA8B3C-FEF4-4C6E-9BF0-6DF0E82DE304}"/>
              </a:ext>
            </a:extLst>
          </p:cNvPr>
          <p:cNvSpPr txBox="1"/>
          <p:nvPr/>
        </p:nvSpPr>
        <p:spPr>
          <a:xfrm>
            <a:off x="9856104" y="294259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Difficulty Factor (Df)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5C7AD5-BB3D-479E-A97F-B8B384C30F6E}"/>
              </a:ext>
            </a:extLst>
          </p:cNvPr>
          <p:cNvCxnSpPr>
            <a:cxnSpLocks/>
          </p:cNvCxnSpPr>
          <p:nvPr/>
        </p:nvCxnSpPr>
        <p:spPr>
          <a:xfrm flipV="1">
            <a:off x="13486473" y="79970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F4B673B-6262-437B-85D1-02EAAA17844A}"/>
              </a:ext>
            </a:extLst>
          </p:cNvPr>
          <p:cNvCxnSpPr>
            <a:cxnSpLocks/>
          </p:cNvCxnSpPr>
          <p:nvPr/>
        </p:nvCxnSpPr>
        <p:spPr>
          <a:xfrm rot="5400000" flipV="1">
            <a:off x="14786651" y="32749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92347-327C-4032-A73D-98CE36DF7034}"/>
              </a:ext>
            </a:extLst>
          </p:cNvPr>
          <p:cNvGrpSpPr/>
          <p:nvPr/>
        </p:nvGrpSpPr>
        <p:grpSpPr>
          <a:xfrm>
            <a:off x="12836112" y="4818096"/>
            <a:ext cx="5121715" cy="849047"/>
            <a:chOff x="477394" y="2541891"/>
            <a:chExt cx="5121715" cy="8490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694671E-D4EC-4F29-B7CF-1726B1D97A69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533B6BF-849F-4AC3-BFB7-1C89B177F6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954502D-D018-4E99-988B-399C7AA4A7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4405CCC-F989-4042-A8A7-B2D9CF177F43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E9D8146-E0F7-4890-B305-7B6A35BA4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659E37C-813C-4EFF-887F-0CA2AF3C7B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080FB36-1CC6-447F-A070-47342A779B5E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A302AA6-6625-4FAC-ACA1-31F7D7C03B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9F35A82-6D25-4FDE-A030-76728AB76A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B42640C-E961-459A-B1EC-08C756BCE759}"/>
              </a:ext>
            </a:extLst>
          </p:cNvPr>
          <p:cNvGrpSpPr/>
          <p:nvPr/>
        </p:nvGrpSpPr>
        <p:grpSpPr>
          <a:xfrm flipV="1">
            <a:off x="12836112" y="3878639"/>
            <a:ext cx="5121715" cy="849047"/>
            <a:chOff x="477394" y="2541891"/>
            <a:chExt cx="5121715" cy="849047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78709A7-5B2F-4BB8-9E14-7B0BC156CBBD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806AA8-1362-4C01-9CBD-CEC9ABFA9C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CB48B8B-9E49-4448-806C-47F4F5F5B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D64D6C-2546-4729-AFE4-8A8B943BF112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DDF4DD5-7A6C-429D-87BD-43D143D8A8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1EDB1D3-904B-4F4E-8D94-E19EC2422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54B8CFA-BCA5-48C4-94D5-305DB0643950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65888DC-AF10-41F8-BB1D-5BE82CF55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6D109907-5691-47D3-8D27-C63201C8A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B761F76-2923-4176-9913-785ED3632972}"/>
              </a:ext>
            </a:extLst>
          </p:cNvPr>
          <p:cNvGrpSpPr/>
          <p:nvPr/>
        </p:nvGrpSpPr>
        <p:grpSpPr>
          <a:xfrm>
            <a:off x="655184" y="3900782"/>
            <a:ext cx="4697379" cy="2031325"/>
            <a:chOff x="762046" y="3972728"/>
            <a:chExt cx="4561251" cy="2031325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F3FFFDC-7C5A-4E7E-8476-C70AD7226ED8}"/>
                </a:ext>
              </a:extLst>
            </p:cNvPr>
            <p:cNvSpPr txBox="1"/>
            <p:nvPr/>
          </p:nvSpPr>
          <p:spPr>
            <a:xfrm>
              <a:off x="762046" y="3972728"/>
              <a:ext cx="4561251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Fish swim against </a:t>
              </a:r>
              <a:r>
                <a:rPr lang="en-US" b="1" dirty="0"/>
                <a:t>seaward</a:t>
              </a:r>
              <a:r>
                <a:rPr lang="en-US" dirty="0"/>
                <a:t> flow (</a:t>
              </a:r>
              <a:r>
                <a:rPr lang="en-US" b="1" dirty="0"/>
                <a:t>– velocity</a:t>
              </a:r>
              <a:r>
                <a:rPr lang="en-US" dirty="0"/>
                <a:t>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increases</a:t>
              </a:r>
              <a:r>
                <a:rPr lang="en-US" dirty="0"/>
                <a:t> with stronger </a:t>
              </a:r>
              <a:r>
                <a:rPr lang="en-US" b="1" dirty="0"/>
                <a:t>seaward flow </a:t>
              </a:r>
              <a:r>
                <a:rPr lang="en-US" dirty="0"/>
                <a:t>(more resistance).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When flow turns landward (</a:t>
              </a:r>
              <a:r>
                <a:rPr lang="en-US" b="1" dirty="0"/>
                <a:t>+</a:t>
              </a:r>
              <a:r>
                <a:rPr lang="en-US" dirty="0"/>
                <a:t> </a:t>
              </a:r>
              <a:r>
                <a:rPr lang="en-US" b="1" dirty="0"/>
                <a:t>velocity</a:t>
              </a:r>
              <a:r>
                <a:rPr lang="en-US" dirty="0"/>
                <a:t>), </a:t>
              </a: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decreases</a:t>
              </a:r>
              <a:r>
                <a:rPr lang="en-US" dirty="0"/>
                <a:t> (less resistance).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445AA98-CB56-425E-BCC0-17F52355F177}"/>
                </a:ext>
              </a:extLst>
            </p:cNvPr>
            <p:cNvSpPr txBox="1"/>
            <p:nvPr/>
          </p:nvSpPr>
          <p:spPr>
            <a:xfrm>
              <a:off x="979834" y="3984920"/>
              <a:ext cx="4125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Landward Migration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11ED8CD-32AF-41CC-B5CF-F9E48FC9AC49}"/>
              </a:ext>
            </a:extLst>
          </p:cNvPr>
          <p:cNvGrpSpPr/>
          <p:nvPr/>
        </p:nvGrpSpPr>
        <p:grpSpPr>
          <a:xfrm>
            <a:off x="6202723" y="3900782"/>
            <a:ext cx="4801751" cy="2031325"/>
            <a:chOff x="6275755" y="3976457"/>
            <a:chExt cx="4801751" cy="2031325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3B5B37F-3D83-4569-813C-9CD655395B45}"/>
                </a:ext>
              </a:extLst>
            </p:cNvPr>
            <p:cNvSpPr txBox="1"/>
            <p:nvPr/>
          </p:nvSpPr>
          <p:spPr>
            <a:xfrm>
              <a:off x="6275755" y="3976457"/>
              <a:ext cx="4801751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Fish swim against </a:t>
              </a:r>
              <a:r>
                <a:rPr lang="en-US" b="1" dirty="0"/>
                <a:t>landward</a:t>
              </a:r>
              <a:r>
                <a:rPr lang="en-US" dirty="0"/>
                <a:t> flow (</a:t>
              </a:r>
              <a:r>
                <a:rPr lang="en-US" b="1" dirty="0"/>
                <a:t>+ velocity</a:t>
              </a:r>
              <a:r>
                <a:rPr lang="en-US" dirty="0"/>
                <a:t>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increases</a:t>
              </a:r>
              <a:r>
                <a:rPr lang="en-US" dirty="0"/>
                <a:t> with stronger </a:t>
              </a:r>
              <a:r>
                <a:rPr lang="en-US" b="1" dirty="0"/>
                <a:t>landward flow </a:t>
              </a:r>
              <a:r>
                <a:rPr lang="en-US" dirty="0"/>
                <a:t>(more resistance).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When flow is seaward (</a:t>
              </a:r>
              <a:r>
                <a:rPr lang="en-US" b="1" dirty="0"/>
                <a:t>-</a:t>
              </a:r>
              <a:r>
                <a:rPr lang="en-US" dirty="0"/>
                <a:t> </a:t>
              </a:r>
              <a:r>
                <a:rPr lang="en-US" b="1" dirty="0"/>
                <a:t>velocity</a:t>
              </a:r>
              <a:r>
                <a:rPr lang="en-US" dirty="0"/>
                <a:t>), </a:t>
              </a: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decreases</a:t>
              </a:r>
              <a:r>
                <a:rPr lang="en-US" dirty="0"/>
                <a:t> (less resistance).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08D41C8-3000-4458-80AE-F9DA9D62114F}"/>
                </a:ext>
              </a:extLst>
            </p:cNvPr>
            <p:cNvSpPr txBox="1"/>
            <p:nvPr/>
          </p:nvSpPr>
          <p:spPr>
            <a:xfrm>
              <a:off x="6613793" y="4039143"/>
              <a:ext cx="4125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Seaward Migration</a:t>
              </a: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D94784FE-283C-47BA-B6FA-01CA0EB880C8}"/>
              </a:ext>
            </a:extLst>
          </p:cNvPr>
          <p:cNvSpPr txBox="1"/>
          <p:nvPr/>
        </p:nvSpPr>
        <p:spPr>
          <a:xfrm>
            <a:off x="340482" y="6023498"/>
            <a:ext cx="5222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(+)</a:t>
            </a:r>
            <a:r>
              <a:rPr lang="en-US" dirty="0"/>
              <a:t> </a:t>
            </a:r>
            <a:r>
              <a:rPr lang="en-US" sz="2000" dirty="0"/>
              <a:t>Velocities are in the Landward direction</a:t>
            </a:r>
            <a:endParaRPr lang="en-US" dirty="0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2FCD66D7-887C-47C0-83CB-2B5E0434E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79" y="1403749"/>
            <a:ext cx="3802087" cy="2121634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28936322-6B08-4F1C-AF0C-FB7B956D0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485" y="1403749"/>
            <a:ext cx="3803904" cy="2127611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7801EC3F-A9F7-4A57-85CD-69FF2F00F821}"/>
              </a:ext>
            </a:extLst>
          </p:cNvPr>
          <p:cNvSpPr txBox="1"/>
          <p:nvPr/>
        </p:nvSpPr>
        <p:spPr>
          <a:xfrm>
            <a:off x="6068232" y="6023498"/>
            <a:ext cx="5070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</a:t>
            </a:r>
            <a:r>
              <a:rPr lang="en-US" sz="2800" b="1" dirty="0"/>
              <a:t>-</a:t>
            </a:r>
            <a:r>
              <a:rPr lang="en-US" sz="2400" b="1" dirty="0"/>
              <a:t>)</a:t>
            </a:r>
            <a:r>
              <a:rPr lang="en-US" dirty="0"/>
              <a:t> </a:t>
            </a:r>
            <a:r>
              <a:rPr lang="en-US" sz="2000" dirty="0"/>
              <a:t>Velocities are in the Seaward direction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3DD3D-DD61-489F-AC3D-E73054E18AF6}"/>
              </a:ext>
            </a:extLst>
          </p:cNvPr>
          <p:cNvSpPr txBox="1"/>
          <p:nvPr/>
        </p:nvSpPr>
        <p:spPr>
          <a:xfrm>
            <a:off x="7027412" y="1338394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Peak Seaward Flow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095E37-0E44-4E9E-A822-8D11BAFA8669}"/>
              </a:ext>
            </a:extLst>
          </p:cNvPr>
          <p:cNvSpPr txBox="1"/>
          <p:nvPr/>
        </p:nvSpPr>
        <p:spPr>
          <a:xfrm>
            <a:off x="1500380" y="1341259"/>
            <a:ext cx="360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Peak Landward Flow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BEDF969A-9ADE-408A-8B91-BC60B6EC3FDC}"/>
              </a:ext>
            </a:extLst>
          </p:cNvPr>
          <p:cNvSpPr txBox="1">
            <a:spLocks/>
          </p:cNvSpPr>
          <p:nvPr/>
        </p:nvSpPr>
        <p:spPr>
          <a:xfrm>
            <a:off x="623364" y="1033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Fish Calculate Swimming Difficulty Factor</a:t>
            </a:r>
          </a:p>
        </p:txBody>
      </p:sp>
    </p:spTree>
    <p:extLst>
      <p:ext uri="{BB962C8B-B14F-4D97-AF65-F5344CB8AC3E}">
        <p14:creationId xmlns:p14="http://schemas.microsoft.com/office/powerpoint/2010/main" val="1270726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39" y="554189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More difficult conditions require more energy to swim, making resistance a key driver of energy use.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695710" y="1656759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1051856" y="1194869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DC62E77-6161-445A-AC62-0125968843FC}"/>
              </a:ext>
            </a:extLst>
          </p:cNvPr>
          <p:cNvSpPr txBox="1"/>
          <p:nvPr/>
        </p:nvSpPr>
        <p:spPr>
          <a:xfrm>
            <a:off x="8390094" y="1265648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C5F02C1-4C8E-4B4E-B889-FFA9B51D14D8}"/>
              </a:ext>
            </a:extLst>
          </p:cNvPr>
          <p:cNvSpPr txBox="1"/>
          <p:nvPr/>
        </p:nvSpPr>
        <p:spPr>
          <a:xfrm>
            <a:off x="8390094" y="1775619"/>
            <a:ext cx="307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Greater difficulty forces fish to use more energy to maintain movement or balance.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CAC799B3-DC0F-4821-B8DC-B474FA186E30}"/>
              </a:ext>
            </a:extLst>
          </p:cNvPr>
          <p:cNvCxnSpPr/>
          <p:nvPr/>
        </p:nvCxnSpPr>
        <p:spPr>
          <a:xfrm>
            <a:off x="8462888" y="1705541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itle 1">
            <a:extLst>
              <a:ext uri="{FF2B5EF4-FFF2-40B4-BE49-F238E27FC236}">
                <a16:creationId xmlns:a16="http://schemas.microsoft.com/office/drawing/2014/main" id="{0B454281-DF0B-48B9-A541-1A08DA23E7F5}"/>
              </a:ext>
            </a:extLst>
          </p:cNvPr>
          <p:cNvSpPr txBox="1">
            <a:spLocks/>
          </p:cNvSpPr>
          <p:nvPr/>
        </p:nvSpPr>
        <p:spPr>
          <a:xfrm>
            <a:off x="439139" y="-51491"/>
            <a:ext cx="113015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Calculating Energy 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220567" y="2754406"/>
            <a:ext cx="396226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Difficulty Increases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7D90D92-A123-49DD-B2BD-EE8A346F6C77}"/>
              </a:ext>
            </a:extLst>
          </p:cNvPr>
          <p:cNvGrpSpPr/>
          <p:nvPr/>
        </p:nvGrpSpPr>
        <p:grpSpPr>
          <a:xfrm>
            <a:off x="4508281" y="991737"/>
            <a:ext cx="3206878" cy="2122384"/>
            <a:chOff x="838200" y="3022686"/>
            <a:chExt cx="3206878" cy="212238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838200" y="3022686"/>
              <a:ext cx="3206878" cy="2122384"/>
              <a:chOff x="1017956" y="2071167"/>
              <a:chExt cx="1529814" cy="157602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1CD6EFE-6388-46FD-B5D9-9F27D743D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1604" y="3257300"/>
              <a:ext cx="2104647" cy="1473296"/>
            </a:xfrm>
            <a:prstGeom prst="line">
              <a:avLst/>
            </a:prstGeom>
            <a:ln w="57150">
              <a:solidFill>
                <a:schemeClr val="tx1"/>
              </a:solidFill>
              <a:prstDash val="dashDot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646813" y="991737"/>
            <a:ext cx="3206878" cy="2122384"/>
            <a:chOff x="1017956" y="2071167"/>
            <a:chExt cx="1529814" cy="15760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C6AB0E-7188-423E-8387-D38453171891}"/>
              </a:ext>
            </a:extLst>
          </p:cNvPr>
          <p:cNvGrpSpPr/>
          <p:nvPr/>
        </p:nvGrpSpPr>
        <p:grpSpPr>
          <a:xfrm>
            <a:off x="646813" y="3392283"/>
            <a:ext cx="3206878" cy="2122384"/>
            <a:chOff x="1017956" y="2071167"/>
            <a:chExt cx="1529814" cy="157602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020587-8EF8-4C95-8791-1A7FBC51CFB0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3C92D6C-B29D-4AFF-9D06-FADCFA2A4D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BCBB532-6A6A-4D1F-B58A-0F0D3C5F0C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AEF06E-E078-4A24-83A6-AAF56CFC1C15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58F3AE-3C60-4BC4-8C7D-AF3E01C0EAE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78BB74E-3BBF-44FE-9679-AE12DB397043}"/>
              </a:ext>
            </a:extLst>
          </p:cNvPr>
          <p:cNvGrpSpPr/>
          <p:nvPr/>
        </p:nvGrpSpPr>
        <p:grpSpPr>
          <a:xfrm>
            <a:off x="4508281" y="3392283"/>
            <a:ext cx="3206878" cy="2122384"/>
            <a:chOff x="838200" y="3022686"/>
            <a:chExt cx="3206878" cy="2122384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C006937-B937-4B81-A299-5CC7CAF49C2B}"/>
                </a:ext>
              </a:extLst>
            </p:cNvPr>
            <p:cNvGrpSpPr/>
            <p:nvPr/>
          </p:nvGrpSpPr>
          <p:grpSpPr>
            <a:xfrm>
              <a:off x="838200" y="3022686"/>
              <a:ext cx="3206878" cy="2122384"/>
              <a:chOff x="1017956" y="2071167"/>
              <a:chExt cx="1529814" cy="157602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D0D43CB-7093-4DB1-BAEB-9862421454A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270BD38B-0785-406A-8340-5C5479059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3ED6467A-F770-4483-BD64-9B51558D0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6E9088-3FEC-4BF4-8540-4D0E59AD546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CD10605-A783-498F-A638-AA71D816BB7C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FE3D02F-73F3-4561-99C5-CFFFC5B94DCD}"/>
                </a:ext>
              </a:extLst>
            </p:cNvPr>
            <p:cNvCxnSpPr>
              <a:cxnSpLocks/>
            </p:cNvCxnSpPr>
            <p:nvPr/>
          </p:nvCxnSpPr>
          <p:spPr>
            <a:xfrm>
              <a:off x="1198904" y="3229922"/>
              <a:ext cx="2104647" cy="1473296"/>
            </a:xfrm>
            <a:prstGeom prst="line">
              <a:avLst/>
            </a:prstGeom>
            <a:ln w="57150">
              <a:solidFill>
                <a:schemeClr val="tx1"/>
              </a:solidFill>
              <a:prstDash val="dashDot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EB7BD89-7CBB-49D2-8591-C4C0327AEF6E}"/>
              </a:ext>
            </a:extLst>
          </p:cNvPr>
          <p:cNvSpPr txBox="1"/>
          <p:nvPr/>
        </p:nvSpPr>
        <p:spPr>
          <a:xfrm>
            <a:off x="220568" y="5142080"/>
            <a:ext cx="396226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Stress Decreases</a:t>
            </a: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D1842CE-9AA4-44CC-BA69-A7DC7D47846F}"/>
              </a:ext>
            </a:extLst>
          </p:cNvPr>
          <p:cNvSpPr/>
          <p:nvPr/>
        </p:nvSpPr>
        <p:spPr>
          <a:xfrm>
            <a:off x="3951359" y="1656759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ECE887C5-5FFC-43D2-B2F6-BF533791B824}"/>
              </a:ext>
            </a:extLst>
          </p:cNvPr>
          <p:cNvSpPr/>
          <p:nvPr/>
        </p:nvSpPr>
        <p:spPr>
          <a:xfrm>
            <a:off x="3951359" y="4032289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833844" y="2757155"/>
            <a:ext cx="2555751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Use Increases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B5BBB-3C2C-4419-9C5D-D1F1C303675D}"/>
              </a:ext>
            </a:extLst>
          </p:cNvPr>
          <p:cNvSpPr txBox="1"/>
          <p:nvPr/>
        </p:nvSpPr>
        <p:spPr>
          <a:xfrm>
            <a:off x="4008895" y="5142080"/>
            <a:ext cx="396226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Use Decreases</a:t>
            </a:r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695710" y="4032289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BA4FA3-8519-4F04-97FD-478963B9B72D}"/>
              </a:ext>
            </a:extLst>
          </p:cNvPr>
          <p:cNvCxnSpPr>
            <a:cxnSpLocks/>
          </p:cNvCxnSpPr>
          <p:nvPr/>
        </p:nvCxnSpPr>
        <p:spPr>
          <a:xfrm>
            <a:off x="1042509" y="3581237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AC4A389-5F91-439F-83EB-BFA817DC39A2}"/>
              </a:ext>
            </a:extLst>
          </p:cNvPr>
          <p:cNvSpPr txBox="1"/>
          <p:nvPr/>
        </p:nvSpPr>
        <p:spPr>
          <a:xfrm>
            <a:off x="8397588" y="3717917"/>
            <a:ext cx="307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As stress or resistance declines, fish reduce energy use, allowing recovery and longer endurance.</a:t>
            </a:r>
          </a:p>
        </p:txBody>
      </p: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55862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55863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45095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49043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use favorable landward currents to boost forward movement, increasing their swimming speed with the flow.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08BB17-8588-4980-8D35-BBB49F2407F4}"/>
              </a:ext>
            </a:extLst>
          </p:cNvPr>
          <p:cNvGrpSpPr/>
          <p:nvPr/>
        </p:nvGrpSpPr>
        <p:grpSpPr>
          <a:xfrm>
            <a:off x="547351" y="53547"/>
            <a:ext cx="3066225" cy="1682665"/>
            <a:chOff x="973581" y="71913"/>
            <a:chExt cx="3066225" cy="1682665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4D0F1D5-0677-4D50-A43E-FF71B6218A7D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9991289-4104-4F29-B442-BCD9EC47FED0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1634560-C4E2-414F-819D-34E947CD6C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3A7FC9-F621-4BDE-9486-75BFFD15E6F3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BACD70D-F224-4B75-8C08-69C4ED2C0302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FFB300E-CE91-46A4-9DE0-A1C47252A24F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CF79487-942D-40F9-9821-2A5C4B3BFF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FC02F02-2F09-4241-9403-6AD4ABACBCFC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CB1E163-85F3-410C-A249-E9E24008736C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B06B9AC0-C04B-406F-9BAC-935842757B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A79247-2499-4BD7-9D52-2C39807D3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8126" y="71913"/>
              <a:ext cx="799776" cy="1121764"/>
            </a:xfrm>
            <a:prstGeom prst="rect">
              <a:avLst/>
            </a:prstGeom>
          </p:spPr>
        </p:pic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99D490B-6E8B-4BA8-BD6B-FE7054A83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D11C94C-1F45-4471-8605-ACF4C791BB97}"/>
              </a:ext>
            </a:extLst>
          </p:cNvPr>
          <p:cNvGrpSpPr/>
          <p:nvPr/>
        </p:nvGrpSpPr>
        <p:grpSpPr>
          <a:xfrm>
            <a:off x="9459950" y="2348949"/>
            <a:ext cx="3080159" cy="988962"/>
            <a:chOff x="9387122" y="5891916"/>
            <a:chExt cx="2566985" cy="988962"/>
          </a:xfrm>
        </p:grpSpPr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6393BB3-5930-45D5-AF83-F935EDA9C2CD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AD69054-CD21-4ADF-BE0A-27330031F705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BB2BD2D-E270-4279-A223-1114AF00C500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784F121-D191-4170-977B-92283FC12128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2CF86732-9677-49E2-9744-C02EE66EB1EA}"/>
              </a:ext>
            </a:extLst>
          </p:cNvPr>
          <p:cNvSpPr/>
          <p:nvPr/>
        </p:nvSpPr>
        <p:spPr>
          <a:xfrm>
            <a:off x="1636548" y="312462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802DA28E-CD5D-44C4-964A-AF0B980D1B9F}"/>
              </a:ext>
            </a:extLst>
          </p:cNvPr>
          <p:cNvSpPr/>
          <p:nvPr/>
        </p:nvSpPr>
        <p:spPr>
          <a:xfrm>
            <a:off x="1620547" y="335239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CB0A5718-ECEB-438D-B810-2B6DCEBC10F4}"/>
              </a:ext>
            </a:extLst>
          </p:cNvPr>
          <p:cNvGrpSpPr/>
          <p:nvPr/>
        </p:nvGrpSpPr>
        <p:grpSpPr>
          <a:xfrm>
            <a:off x="878199" y="1658482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14C5CC2-D92C-48A2-A223-CC7B2FE6DB18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214C5CC2-D92C-48A2-A223-CC7B2FE6D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C4EC188D-7062-46F2-96E4-A214C577EBF0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2C43020F-DDC0-48BF-BDE4-82194293935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66" name="Arrow: Down 165">
                <a:extLst>
                  <a:ext uri="{FF2B5EF4-FFF2-40B4-BE49-F238E27FC236}">
                    <a16:creationId xmlns:a16="http://schemas.microsoft.com/office/drawing/2014/main" id="{61824FC9-3D4A-4704-A444-C73CF49DAEAF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DDC31BC-AFBB-4AD4-881D-FFCFD9CB6388}"/>
              </a:ext>
            </a:extLst>
          </p:cNvPr>
          <p:cNvSpPr txBox="1"/>
          <p:nvPr/>
        </p:nvSpPr>
        <p:spPr>
          <a:xfrm>
            <a:off x="267865" y="3648897"/>
            <a:ext cx="432435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patch tracks how many fish visit and how long they stay.</a:t>
            </a:r>
          </a:p>
        </p:txBody>
      </p:sp>
    </p:spTree>
    <p:extLst>
      <p:ext uri="{BB962C8B-B14F-4D97-AF65-F5344CB8AC3E}">
        <p14:creationId xmlns:p14="http://schemas.microsoft.com/office/powerpoint/2010/main" val="229221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48242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48243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37475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18478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Reduced resistance during favorable flow conditions leads to lower swimming difficulty and improved migration efficiency.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56F737D-51A2-410E-994C-644D2B7E25B6}"/>
              </a:ext>
            </a:extLst>
          </p:cNvPr>
          <p:cNvGrpSpPr/>
          <p:nvPr/>
        </p:nvGrpSpPr>
        <p:grpSpPr>
          <a:xfrm>
            <a:off x="542359" y="208378"/>
            <a:ext cx="3340698" cy="1367942"/>
            <a:chOff x="595095" y="118791"/>
            <a:chExt cx="3340698" cy="1367942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FE9067F-92BB-4396-8459-BA9343F88AE3}"/>
                </a:ext>
              </a:extLst>
            </p:cNvPr>
            <p:cNvGrpSpPr/>
            <p:nvPr/>
          </p:nvGrpSpPr>
          <p:grpSpPr>
            <a:xfrm>
              <a:off x="595095" y="118791"/>
              <a:ext cx="3340698" cy="1367942"/>
              <a:chOff x="5205192" y="5168157"/>
              <a:chExt cx="3340698" cy="1367942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E4D0F1D5-0677-4D50-A43E-FF71B6218A7D}"/>
                  </a:ext>
                </a:extLst>
              </p:cNvPr>
              <p:cNvSpPr/>
              <p:nvPr/>
            </p:nvSpPr>
            <p:spPr>
              <a:xfrm>
                <a:off x="5339439" y="5168157"/>
                <a:ext cx="3115685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D9991289-4104-4F29-B442-BCD9EC47FED0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Difficulty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1634560-C4E2-414F-819D-34E947CD6C39}"/>
                  </a:ext>
                </a:extLst>
              </p:cNvPr>
              <p:cNvSpPr txBox="1"/>
              <p:nvPr/>
            </p:nvSpPr>
            <p:spPr>
              <a:xfrm>
                <a:off x="5205192" y="6085380"/>
                <a:ext cx="1983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C3A7FC9-F621-4BDE-9486-75BFFD15E6F3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855540E4-F774-4B0C-A48D-1799C18C39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883" t="9252" r="55401" b="73628"/>
              <a:stretch/>
            </p:blipFill>
            <p:spPr>
              <a:xfrm>
                <a:off x="7547058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8AA3D0D-122D-4177-8C46-991DE0C635D9}"/>
                  </a:ext>
                </a:extLst>
              </p:cNvPr>
              <p:cNvSpPr/>
              <p:nvPr/>
            </p:nvSpPr>
            <p:spPr>
              <a:xfrm>
                <a:off x="7732610" y="5871146"/>
                <a:ext cx="254405" cy="3657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1767CE1-2B8E-4D20-8DFD-FDFD4AD7C91A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64585A5C-2F86-40D2-BCB4-87ED81280A85}"/>
                </a:ext>
              </a:extLst>
            </p:cNvPr>
            <p:cNvCxnSpPr>
              <a:cxnSpLocks/>
            </p:cNvCxnSpPr>
            <p:nvPr/>
          </p:nvCxnSpPr>
          <p:spPr>
            <a:xfrm>
              <a:off x="924543" y="921854"/>
              <a:ext cx="91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996A5D8-A22B-4CF5-9AA0-260AB26A06F5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A10A379-9888-4387-9EAD-5E799C15576D}"/>
              </a:ext>
            </a:extLst>
          </p:cNvPr>
          <p:cNvGrpSpPr/>
          <p:nvPr/>
        </p:nvGrpSpPr>
        <p:grpSpPr>
          <a:xfrm>
            <a:off x="9459950" y="2272749"/>
            <a:ext cx="3080159" cy="988962"/>
            <a:chOff x="9387122" y="5891916"/>
            <a:chExt cx="2566985" cy="988962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A3827DD9-F4C2-46B2-85F4-1FED77193679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2C0F3BF-B1C8-4ABD-B685-6E79EFF86A76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41A9311-B970-4E7E-9FC8-7A93F4C5F82B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7611A7C-7E7C-414C-9A43-5739B88380D9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34E3945-949A-4ACD-A495-76AB99028BAE}"/>
              </a:ext>
            </a:extLst>
          </p:cNvPr>
          <p:cNvSpPr/>
          <p:nvPr/>
        </p:nvSpPr>
        <p:spPr>
          <a:xfrm>
            <a:off x="1636548" y="30769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DB26FC76-9933-4684-A99D-CBD373158B92}"/>
              </a:ext>
            </a:extLst>
          </p:cNvPr>
          <p:cNvSpPr/>
          <p:nvPr/>
        </p:nvSpPr>
        <p:spPr>
          <a:xfrm>
            <a:off x="1620547" y="33047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1BEBA2FD-8403-41A1-A0DE-48FDFB7F1034}"/>
              </a:ext>
            </a:extLst>
          </p:cNvPr>
          <p:cNvSpPr/>
          <p:nvPr/>
        </p:nvSpPr>
        <p:spPr>
          <a:xfrm>
            <a:off x="1629769" y="353405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8B54E6-4A02-4435-B37E-E1ED6C4F29AB}"/>
              </a:ext>
            </a:extLst>
          </p:cNvPr>
          <p:cNvGrpSpPr/>
          <p:nvPr/>
        </p:nvGrpSpPr>
        <p:grpSpPr>
          <a:xfrm>
            <a:off x="878199" y="1610857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A7B71D7-83D5-43A3-9689-54229F24A6E5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5" name="Arrow: Down 74">
                <a:extLst>
                  <a:ext uri="{FF2B5EF4-FFF2-40B4-BE49-F238E27FC236}">
                    <a16:creationId xmlns:a16="http://schemas.microsoft.com/office/drawing/2014/main" id="{4F2E78A9-7CF8-4D05-9163-86ED0826B870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EAA362A-9755-4CAF-A4BD-3EF020347DB0}"/>
              </a:ext>
            </a:extLst>
          </p:cNvPr>
          <p:cNvSpPr txBox="1"/>
          <p:nvPr/>
        </p:nvSpPr>
        <p:spPr>
          <a:xfrm>
            <a:off x="297976" y="3831924"/>
            <a:ext cx="4324350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patch also tracks the highest difficulty experienced in one location.</a:t>
            </a:r>
          </a:p>
        </p:txBody>
      </p:sp>
    </p:spTree>
    <p:extLst>
      <p:ext uri="{BB962C8B-B14F-4D97-AF65-F5344CB8AC3E}">
        <p14:creationId xmlns:p14="http://schemas.microsoft.com/office/powerpoint/2010/main" val="3865063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51290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51291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40523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03738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Lower swimming difficulty reduces energy expenditure, making favorable currents energetically beneficial.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BEA128-FD0D-4E04-93D4-DF8D1D50DC35}"/>
              </a:ext>
            </a:extLst>
          </p:cNvPr>
          <p:cNvGrpSpPr/>
          <p:nvPr/>
        </p:nvGrpSpPr>
        <p:grpSpPr>
          <a:xfrm>
            <a:off x="151355" y="114778"/>
            <a:ext cx="5478134" cy="1473405"/>
            <a:chOff x="595095" y="37519"/>
            <a:chExt cx="5478134" cy="147340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794AB59-EA4B-404E-9E3E-914A0F5063F7}"/>
                </a:ext>
              </a:extLst>
            </p:cNvPr>
            <p:cNvGrpSpPr/>
            <p:nvPr/>
          </p:nvGrpSpPr>
          <p:grpSpPr>
            <a:xfrm>
              <a:off x="595095" y="37519"/>
              <a:ext cx="5478134" cy="1473405"/>
              <a:chOff x="622438" y="47782"/>
              <a:chExt cx="5478134" cy="147340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FEF1859F-9E5E-4414-A432-E94E498150A7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F5B6AE40-9DF8-40F9-880D-ABB2234145F5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7" name="Arrow: Right 86">
                  <a:extLst>
                    <a:ext uri="{FF2B5EF4-FFF2-40B4-BE49-F238E27FC236}">
                      <a16:creationId xmlns:a16="http://schemas.microsoft.com/office/drawing/2014/main" id="{A516FD00-5F6C-4AB5-B54F-80B5449E0C00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56BCBF6-7DFB-49D7-9C9B-0B56035D2B69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9B42182-04DD-4E62-B3F2-54B6A3947C91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6B0DBB3-C5A2-4E6A-B0C3-ACF028AC134E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C500F76-DDDD-4B6C-8E5D-079767409B80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94" name="Picture 93">
                  <a:extLst>
                    <a:ext uri="{FF2B5EF4-FFF2-40B4-BE49-F238E27FC236}">
                      <a16:creationId xmlns:a16="http://schemas.microsoft.com/office/drawing/2014/main" id="{D7B0B4C2-468D-49AB-B169-66DD9E8B2C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75470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69D9250F-904F-47D6-B1A5-C6056838121D}"/>
                    </a:ext>
                  </a:extLst>
                </p:cNvPr>
                <p:cNvSpPr/>
                <p:nvPr/>
              </p:nvSpPr>
              <p:spPr>
                <a:xfrm>
                  <a:off x="7732610" y="5871146"/>
                  <a:ext cx="254405" cy="3657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447FE9E7-60E5-4169-8B52-0248F4ADE4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86835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9454EB7E-67AF-4185-B9A2-C7DAC91C56EA}"/>
                    </a:ext>
                  </a:extLst>
                </p:cNvPr>
                <p:cNvSpPr/>
                <p:nvPr/>
              </p:nvSpPr>
              <p:spPr>
                <a:xfrm>
                  <a:off x="8865797" y="5871146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1" name="Arrow: Right 80">
                <a:extLst>
                  <a:ext uri="{FF2B5EF4-FFF2-40B4-BE49-F238E27FC236}">
                    <a16:creationId xmlns:a16="http://schemas.microsoft.com/office/drawing/2014/main" id="{4F701087-A372-468C-B9FF-1B6758A391D1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A9EE9787-5F0B-4B62-BD39-1E54F1220181}"/>
                  </a:ext>
                </a:extLst>
              </p:cNvPr>
              <p:cNvGrpSpPr/>
              <p:nvPr/>
            </p:nvGrpSpPr>
            <p:grpSpPr>
              <a:xfrm>
                <a:off x="5093945" y="47782"/>
                <a:ext cx="1006627" cy="1473405"/>
                <a:chOff x="5190610" y="104819"/>
                <a:chExt cx="1006627" cy="1473405"/>
              </a:xfrm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504F8009-4431-4496-A83C-5131AAC6839C}"/>
                    </a:ext>
                  </a:extLst>
                </p:cNvPr>
                <p:cNvSpPr txBox="1"/>
                <p:nvPr/>
              </p:nvSpPr>
              <p:spPr>
                <a:xfrm>
                  <a:off x="5190610" y="993449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Levels</a:t>
                  </a:r>
                </a:p>
              </p:txBody>
            </p:sp>
            <p:pic>
              <p:nvPicPr>
                <p:cNvPr id="84" name="Picture 83">
                  <a:extLst>
                    <a:ext uri="{FF2B5EF4-FFF2-40B4-BE49-F238E27FC236}">
                      <a16:creationId xmlns:a16="http://schemas.microsoft.com/office/drawing/2014/main" id="{670665C2-663B-46D8-8328-B3636628E5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5371977" y="104819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30EB2CBD-A079-4436-BFEA-EA9391904044}"/>
                    </a:ext>
                  </a:extLst>
                </p:cNvPr>
                <p:cNvSpPr/>
                <p:nvPr/>
              </p:nvSpPr>
              <p:spPr>
                <a:xfrm>
                  <a:off x="5564360" y="609403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3C9ADDD-6F2E-43C5-8890-9D49AEA5ABCB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8FF3AD92-CF9B-47D3-B6F3-2A02C1304F02}"/>
                </a:ext>
              </a:extLst>
            </p:cNvPr>
            <p:cNvCxnSpPr>
              <a:cxnSpLocks/>
            </p:cNvCxnSpPr>
            <p:nvPr/>
          </p:nvCxnSpPr>
          <p:spPr>
            <a:xfrm>
              <a:off x="924543" y="921854"/>
              <a:ext cx="9144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EBE3DC33-E6AF-462A-A406-5A5827EB391D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56F0E09E-5F8F-4737-81F7-71EC9A71E7C3}"/>
              </a:ext>
            </a:extLst>
          </p:cNvPr>
          <p:cNvGrpSpPr/>
          <p:nvPr/>
        </p:nvGrpSpPr>
        <p:grpSpPr>
          <a:xfrm>
            <a:off x="9459950" y="2303229"/>
            <a:ext cx="3080159" cy="988962"/>
            <a:chOff x="9387122" y="5891916"/>
            <a:chExt cx="2566985" cy="988962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FE2C692-F13C-487A-80BA-727C194A25F7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D7DC1BC-26AA-4546-811E-5FECAA32C488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DC52DC5-075D-4579-BCB5-A9237F845077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7855E85-D12F-43D3-909F-AFCFEC60D41E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80311A39-3D46-4A8A-AF64-7AEF7C8E47BF}"/>
              </a:ext>
            </a:extLst>
          </p:cNvPr>
          <p:cNvSpPr/>
          <p:nvPr/>
        </p:nvSpPr>
        <p:spPr>
          <a:xfrm>
            <a:off x="1636548" y="30769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275D41A4-715F-4E61-9811-303A954C22EE}"/>
              </a:ext>
            </a:extLst>
          </p:cNvPr>
          <p:cNvSpPr/>
          <p:nvPr/>
        </p:nvSpPr>
        <p:spPr>
          <a:xfrm>
            <a:off x="1620547" y="33047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D6F6149-1D7B-4C9C-B3A1-738C5765F53F}"/>
              </a:ext>
            </a:extLst>
          </p:cNvPr>
          <p:cNvSpPr/>
          <p:nvPr/>
        </p:nvSpPr>
        <p:spPr>
          <a:xfrm>
            <a:off x="1629769" y="353405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85584812-94FC-43EE-8B08-59FC319F6BB5}"/>
              </a:ext>
            </a:extLst>
          </p:cNvPr>
          <p:cNvGrpSpPr/>
          <p:nvPr/>
        </p:nvGrpSpPr>
        <p:grpSpPr>
          <a:xfrm>
            <a:off x="878199" y="1610857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FC61E3-6196-4B35-B9C1-2B32FDFBD5A1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48FC61E3-6196-4B35-B9C1-2B32FDFBD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3AE10AA7-C81D-4880-9A7D-AF3BFD1A66C9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CEDD20DB-7C4A-4468-842D-B2E568B013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Arrow: Down 118">
                <a:extLst>
                  <a:ext uri="{FF2B5EF4-FFF2-40B4-BE49-F238E27FC236}">
                    <a16:creationId xmlns:a16="http://schemas.microsoft.com/office/drawing/2014/main" id="{28B60C98-F6B1-4BB6-8EC3-78DDE475B2B0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374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61958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61959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5119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607561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decrease their swimming speed when supportive currents weaken, compensating to maintain migration progress.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47165" y="2062779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E4C41B4-9B6E-4091-8EF7-E4207166D4F8}"/>
              </a:ext>
            </a:extLst>
          </p:cNvPr>
          <p:cNvGrpSpPr/>
          <p:nvPr/>
        </p:nvGrpSpPr>
        <p:grpSpPr>
          <a:xfrm>
            <a:off x="2839854" y="171286"/>
            <a:ext cx="3066225" cy="1622242"/>
            <a:chOff x="973581" y="132336"/>
            <a:chExt cx="3066225" cy="162224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560FFC-4EAD-4A16-BED6-7E2ADF02BF47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31D937B-4EAA-4741-AE01-BFA314FE0E74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CCB645-85C7-4762-BFA1-2470D5EB62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177B894-E2A9-4843-BF74-D65D09A755B5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692A41A-65C4-4733-849F-5FE4A75BF540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0812AEB-599D-438E-AE62-FB936B95BAED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7C31FE4-3A35-4D58-8C5C-506AC25E7E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FFA0346-AD41-4879-8FF7-EA77CF795C00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752D811-524A-47F9-B353-76004D574987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D956D2A-4246-41BF-9A6B-A482C65A93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CF7B9FC-BD9D-4C10-92AC-82B81201C6B6}"/>
                </a:ext>
              </a:extLst>
            </p:cNvPr>
            <p:cNvCxnSpPr>
              <a:cxnSpLocks/>
            </p:cNvCxnSpPr>
            <p:nvPr/>
          </p:nvCxnSpPr>
          <p:spPr>
            <a:xfrm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C68CEBF-45B2-4E6B-B45F-91748525BD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15"/>
          <a:stretch/>
        </p:blipFill>
        <p:spPr>
          <a:xfrm>
            <a:off x="4799338" y="272142"/>
            <a:ext cx="1001263" cy="772165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01DAF853-7545-43E9-A634-53A004882501}"/>
              </a:ext>
            </a:extLst>
          </p:cNvPr>
          <p:cNvGrpSpPr/>
          <p:nvPr/>
        </p:nvGrpSpPr>
        <p:grpSpPr>
          <a:xfrm>
            <a:off x="9459950" y="2409909"/>
            <a:ext cx="3080159" cy="988962"/>
            <a:chOff x="9387122" y="5891916"/>
            <a:chExt cx="2566985" cy="988962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FAB088B-E437-4C61-A3DC-348A28739834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8B6EA38-460D-41C6-91E0-96A8EFF5EDA6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6F01FC1-8DC2-4837-80E8-A78983AF6413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A9386AC-9BB4-42AD-B27F-7D8AADDBC7A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9" name="Rectangle 1">
            <a:extLst>
              <a:ext uri="{FF2B5EF4-FFF2-40B4-BE49-F238E27FC236}">
                <a16:creationId xmlns:a16="http://schemas.microsoft.com/office/drawing/2014/main" id="{F4AABAF5-44D0-4BFF-A417-6FD375BF6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993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0DF02E9-D277-48C0-AAC2-D8172FFB5113}"/>
              </a:ext>
            </a:extLst>
          </p:cNvPr>
          <p:cNvGrpSpPr/>
          <p:nvPr/>
        </p:nvGrpSpPr>
        <p:grpSpPr>
          <a:xfrm>
            <a:off x="3091065" y="1719937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75585AF-8EAB-452D-BF06-BC8DFB07B0F0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75585AF-8EAB-452D-BF06-BC8DFB07B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3C739CE-8A04-498E-85B8-0B41E241F98E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93" name="Picture 92">
                <a:extLst>
                  <a:ext uri="{FF2B5EF4-FFF2-40B4-BE49-F238E27FC236}">
                    <a16:creationId xmlns:a16="http://schemas.microsoft.com/office/drawing/2014/main" id="{88A172CE-1D82-42D8-8796-E150667BD1E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4" name="Arrow: Down 93">
                <a:extLst>
                  <a:ext uri="{FF2B5EF4-FFF2-40B4-BE49-F238E27FC236}">
                    <a16:creationId xmlns:a16="http://schemas.microsoft.com/office/drawing/2014/main" id="{4737797D-45CF-4A81-9FA1-511E7AC87C7C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8944080-09E4-4616-A87D-18EE9499437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5013" y="1706569"/>
            <a:ext cx="2420322" cy="1554615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5B3B7F1-091C-4822-ABA2-84383D272F34}"/>
              </a:ext>
            </a:extLst>
          </p:cNvPr>
          <p:cNvSpPr/>
          <p:nvPr/>
        </p:nvSpPr>
        <p:spPr>
          <a:xfrm>
            <a:off x="1636548" y="3202164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8B2AE1F4-A047-4C8E-B2F3-AA373EC7F5A0}"/>
              </a:ext>
            </a:extLst>
          </p:cNvPr>
          <p:cNvSpPr/>
          <p:nvPr/>
        </p:nvSpPr>
        <p:spPr>
          <a:xfrm>
            <a:off x="1620547" y="342994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3719BF42-0960-4F64-AD2E-99CC206EFFB8}"/>
              </a:ext>
            </a:extLst>
          </p:cNvPr>
          <p:cNvSpPr/>
          <p:nvPr/>
        </p:nvSpPr>
        <p:spPr>
          <a:xfrm>
            <a:off x="1629769" y="3659227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007E955C-4898-43F1-9E73-D9EC3F25DB8E}"/>
              </a:ext>
            </a:extLst>
          </p:cNvPr>
          <p:cNvSpPr/>
          <p:nvPr/>
        </p:nvSpPr>
        <p:spPr>
          <a:xfrm>
            <a:off x="3927323" y="3202164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FDC0FFE-5124-4341-98A2-AFE826152E4E}"/>
              </a:ext>
            </a:extLst>
          </p:cNvPr>
          <p:cNvSpPr/>
          <p:nvPr/>
        </p:nvSpPr>
        <p:spPr>
          <a:xfrm>
            <a:off x="3911322" y="342994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81526A3-C7AD-4224-9F1F-0166B1724EF0}"/>
              </a:ext>
            </a:extLst>
          </p:cNvPr>
          <p:cNvSpPr txBox="1"/>
          <p:nvPr/>
        </p:nvSpPr>
        <p:spPr>
          <a:xfrm>
            <a:off x="1407937" y="149596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388962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85613" y="1317605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8" y="1317606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75969" y="5209932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48" y="5464485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Reduced flow support raises swimming difficulty, especially when fish must rely more on their own effort.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22400" y="1760795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388F756-BB38-4E2F-BA8C-CFD9B332D4EA}"/>
              </a:ext>
            </a:extLst>
          </p:cNvPr>
          <p:cNvGrpSpPr/>
          <p:nvPr/>
        </p:nvGrpSpPr>
        <p:grpSpPr>
          <a:xfrm>
            <a:off x="2607999" y="129202"/>
            <a:ext cx="3340698" cy="1367942"/>
            <a:chOff x="595095" y="118791"/>
            <a:chExt cx="3340698" cy="1367942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538E818-1AE8-4B96-B2C4-DB84E16B8D61}"/>
                </a:ext>
              </a:extLst>
            </p:cNvPr>
            <p:cNvGrpSpPr/>
            <p:nvPr/>
          </p:nvGrpSpPr>
          <p:grpSpPr>
            <a:xfrm>
              <a:off x="595095" y="118791"/>
              <a:ext cx="3340698" cy="1367942"/>
              <a:chOff x="5205192" y="5168157"/>
              <a:chExt cx="3340698" cy="1367942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ADD016F-2753-4DBD-AB78-15B98982FF39}"/>
                  </a:ext>
                </a:extLst>
              </p:cNvPr>
              <p:cNvSpPr/>
              <p:nvPr/>
            </p:nvSpPr>
            <p:spPr>
              <a:xfrm>
                <a:off x="5339439" y="5168157"/>
                <a:ext cx="3115685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B228683-9FA0-48BE-B95C-94C22E11347D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Difficulty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09564B21-53F0-4538-8157-68EFA4AFE8F7}"/>
                  </a:ext>
                </a:extLst>
              </p:cNvPr>
              <p:cNvSpPr txBox="1"/>
              <p:nvPr/>
            </p:nvSpPr>
            <p:spPr>
              <a:xfrm>
                <a:off x="5205192" y="6085380"/>
                <a:ext cx="1983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B105392-ED21-484B-8863-7FB0B3B57D8E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CF91DD-7734-45F9-9522-264022D43F83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CD99F6F-820F-42BF-8D85-98812E928F3D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044E375-DAE2-4835-A08B-07728B960E50}"/>
              </a:ext>
            </a:extLst>
          </p:cNvPr>
          <p:cNvCxnSpPr>
            <a:cxnSpLocks/>
          </p:cNvCxnSpPr>
          <p:nvPr/>
        </p:nvCxnSpPr>
        <p:spPr>
          <a:xfrm>
            <a:off x="2937447" y="965982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8FA2592B-5082-460A-8C17-91157C4F9E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4980373" y="45527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29941FB0-D299-4B51-8825-9612D1BA530E}"/>
              </a:ext>
            </a:extLst>
          </p:cNvPr>
          <p:cNvSpPr/>
          <p:nvPr/>
        </p:nvSpPr>
        <p:spPr>
          <a:xfrm>
            <a:off x="5168439" y="548859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08E4EA6-8EE0-4BB3-8373-F8A7242AB183}"/>
              </a:ext>
            </a:extLst>
          </p:cNvPr>
          <p:cNvGrpSpPr/>
          <p:nvPr/>
        </p:nvGrpSpPr>
        <p:grpSpPr>
          <a:xfrm>
            <a:off x="9444710" y="2107925"/>
            <a:ext cx="3080159" cy="988962"/>
            <a:chOff x="9387122" y="5891916"/>
            <a:chExt cx="2566985" cy="988962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A819FED-6FCF-43F9-B9BB-7CA89239A00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DE5E902-75B8-4A55-BE44-43A1AE498F3B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A0F932E-9FC3-4F98-943F-08B73CD1493A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7FD48ED-83C9-4B83-9526-10DD1F0B5D47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CEF423C-0280-4C98-B983-3FFB3AE67839}"/>
              </a:ext>
            </a:extLst>
          </p:cNvPr>
          <p:cNvSpPr/>
          <p:nvPr/>
        </p:nvSpPr>
        <p:spPr>
          <a:xfrm>
            <a:off x="3929743" y="289794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26DE3712-6008-4E59-B433-A0370B2464D4}"/>
              </a:ext>
            </a:extLst>
          </p:cNvPr>
          <p:cNvSpPr/>
          <p:nvPr/>
        </p:nvSpPr>
        <p:spPr>
          <a:xfrm>
            <a:off x="3913742" y="312571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43DE628-E877-4AE4-8F4F-B1DC49E3D57F}"/>
              </a:ext>
            </a:extLst>
          </p:cNvPr>
          <p:cNvSpPr/>
          <p:nvPr/>
        </p:nvSpPr>
        <p:spPr>
          <a:xfrm>
            <a:off x="3922964" y="335500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886EAFA-4A8A-48FF-BE76-AAE39647A929}"/>
              </a:ext>
            </a:extLst>
          </p:cNvPr>
          <p:cNvGrpSpPr/>
          <p:nvPr/>
        </p:nvGrpSpPr>
        <p:grpSpPr>
          <a:xfrm>
            <a:off x="3074607" y="1393550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4EA3B33-D7DC-4428-9E70-7E031C78DBB7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14EA3B33-D7DC-4428-9E70-7E031C78D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E0F19E1-13AF-4A1F-8C76-A704B6F7B8F3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08" name="Picture 107">
                <a:extLst>
                  <a:ext uri="{FF2B5EF4-FFF2-40B4-BE49-F238E27FC236}">
                    <a16:creationId xmlns:a16="http://schemas.microsoft.com/office/drawing/2014/main" id="{AC1321A8-5CCE-4126-A30E-9FF5CDACD0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9" name="Arrow: Down 108">
                <a:extLst>
                  <a:ext uri="{FF2B5EF4-FFF2-40B4-BE49-F238E27FC236}">
                    <a16:creationId xmlns:a16="http://schemas.microsoft.com/office/drawing/2014/main" id="{A4D3FE52-0E91-46B2-874C-5A42B57E86BB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6AC76B91-677A-4644-955B-2FAFD91529F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850" y="1418692"/>
            <a:ext cx="2420322" cy="1554615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600A8ED0-285B-4BE6-8366-202528E9775E}"/>
              </a:ext>
            </a:extLst>
          </p:cNvPr>
          <p:cNvSpPr/>
          <p:nvPr/>
        </p:nvSpPr>
        <p:spPr>
          <a:xfrm>
            <a:off x="1558385" y="2914287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4EACA7EC-0FFB-4D52-A458-02D245E24A5F}"/>
              </a:ext>
            </a:extLst>
          </p:cNvPr>
          <p:cNvSpPr/>
          <p:nvPr/>
        </p:nvSpPr>
        <p:spPr>
          <a:xfrm>
            <a:off x="1542384" y="314206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C1ECB82-C4DD-45E2-80EC-87C6F4981445}"/>
              </a:ext>
            </a:extLst>
          </p:cNvPr>
          <p:cNvSpPr/>
          <p:nvPr/>
        </p:nvSpPr>
        <p:spPr>
          <a:xfrm>
            <a:off x="1551606" y="337135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C9F404-4958-4AB5-9D37-CC19D8F27514}"/>
              </a:ext>
            </a:extLst>
          </p:cNvPr>
          <p:cNvSpPr txBox="1"/>
          <p:nvPr/>
        </p:nvSpPr>
        <p:spPr>
          <a:xfrm>
            <a:off x="1292935" y="124941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51126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22">
            <a:extLst>
              <a:ext uri="{FF2B5EF4-FFF2-40B4-BE49-F238E27FC236}">
                <a16:creationId xmlns:a16="http://schemas.microsoft.com/office/drawing/2014/main" id="{08056045-FDC4-4229-A64A-177D77CA4F69}"/>
              </a:ext>
            </a:extLst>
          </p:cNvPr>
          <p:cNvSpPr txBox="1"/>
          <p:nvPr/>
        </p:nvSpPr>
        <p:spPr>
          <a:xfrm>
            <a:off x="1368175" y="144528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24463" y="1520935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308" y="1520936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14819" y="5413262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37" y="5622557"/>
            <a:ext cx="11666774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As difficulty rises, energy demand increases, reducing migration efficiency.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61250" y="1964125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19341E6-70FC-4038-A20E-F93EE2C1C683}"/>
              </a:ext>
            </a:extLst>
          </p:cNvPr>
          <p:cNvGrpSpPr/>
          <p:nvPr/>
        </p:nvGrpSpPr>
        <p:grpSpPr>
          <a:xfrm>
            <a:off x="1504232" y="130434"/>
            <a:ext cx="5478134" cy="1470810"/>
            <a:chOff x="595095" y="40114"/>
            <a:chExt cx="5478134" cy="147081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FFD8764-34F2-4655-AC21-B7F67659B561}"/>
                </a:ext>
              </a:extLst>
            </p:cNvPr>
            <p:cNvGrpSpPr/>
            <p:nvPr/>
          </p:nvGrpSpPr>
          <p:grpSpPr>
            <a:xfrm>
              <a:off x="595095" y="40114"/>
              <a:ext cx="5478134" cy="1470810"/>
              <a:chOff x="622438" y="50377"/>
              <a:chExt cx="5478134" cy="147081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CC6E986A-7EAC-4395-89CA-183678ACF601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6743F077-4282-4851-8242-7A258CF8E3CD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Arrow: Right 85">
                  <a:extLst>
                    <a:ext uri="{FF2B5EF4-FFF2-40B4-BE49-F238E27FC236}">
                      <a16:creationId xmlns:a16="http://schemas.microsoft.com/office/drawing/2014/main" id="{823A65BE-D500-4BAE-B9D1-BC56B3B6623E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D4915E52-144B-4E68-A2F4-4B65475D8B7B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C901E6C4-E867-488D-BC71-55BF90463B41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40A5E4A3-DA0C-4FE3-9F61-6211F8DE4CA9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3172CFA-091B-40D6-8E1D-A7BCC1C61A39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101" name="Picture 100">
                  <a:extLst>
                    <a:ext uri="{FF2B5EF4-FFF2-40B4-BE49-F238E27FC236}">
                      <a16:creationId xmlns:a16="http://schemas.microsoft.com/office/drawing/2014/main" id="{970F7258-511E-4304-BC18-7F6A0573B1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9848209" y="521009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D8692557-9EE3-4C83-B274-854AE2FD69BB}"/>
                    </a:ext>
                  </a:extLst>
                </p:cNvPr>
                <p:cNvSpPr/>
                <p:nvPr/>
              </p:nvSpPr>
              <p:spPr>
                <a:xfrm>
                  <a:off x="10030448" y="5893788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Arrow: Right 77">
                <a:extLst>
                  <a:ext uri="{FF2B5EF4-FFF2-40B4-BE49-F238E27FC236}">
                    <a16:creationId xmlns:a16="http://schemas.microsoft.com/office/drawing/2014/main" id="{60F149D1-7BEC-40A5-9E35-60F1524F59F0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8AD51F43-31ED-4404-A71D-BDD0A65A1932}"/>
                  </a:ext>
                </a:extLst>
              </p:cNvPr>
              <p:cNvGrpSpPr/>
              <p:nvPr/>
            </p:nvGrpSpPr>
            <p:grpSpPr>
              <a:xfrm>
                <a:off x="4089449" y="50377"/>
                <a:ext cx="2011123" cy="1470810"/>
                <a:chOff x="4186114" y="107414"/>
                <a:chExt cx="2011123" cy="1470810"/>
              </a:xfrm>
            </p:grpSpPr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8B970166-B66B-4A55-A6BD-15FD43845B3E}"/>
                    </a:ext>
                  </a:extLst>
                </p:cNvPr>
                <p:cNvSpPr txBox="1"/>
                <p:nvPr/>
              </p:nvSpPr>
              <p:spPr>
                <a:xfrm>
                  <a:off x="5190610" y="993449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Levels</a:t>
                  </a:r>
                </a:p>
              </p:txBody>
            </p:sp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97E60A11-2C0E-4A58-98A3-4BACCD7272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4186114" y="107414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D61A1D5D-F72D-4333-BE7A-0B313E27D179}"/>
                    </a:ext>
                  </a:extLst>
                </p:cNvPr>
                <p:cNvSpPr/>
                <p:nvPr/>
              </p:nvSpPr>
              <p:spPr>
                <a:xfrm>
                  <a:off x="4378497" y="611998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5B2C3EA-B8D5-431D-8DFF-73C138D80E7D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B0D8E88-7B4D-4D2B-A990-7506A050FFD6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" name="Picture 102">
            <a:extLst>
              <a:ext uri="{FF2B5EF4-FFF2-40B4-BE49-F238E27FC236}">
                <a16:creationId xmlns:a16="http://schemas.microsoft.com/office/drawing/2014/main" id="{D2E9E70E-839C-49F7-A60E-25807298A1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3841800" y="121020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CA1832C8-0F09-42EE-8B73-D7882FD129A0}"/>
              </a:ext>
            </a:extLst>
          </p:cNvPr>
          <p:cNvSpPr/>
          <p:nvPr/>
        </p:nvSpPr>
        <p:spPr>
          <a:xfrm>
            <a:off x="4029866" y="624352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BCD515D-8B89-4EB8-859E-694CC434B1C6}"/>
              </a:ext>
            </a:extLst>
          </p:cNvPr>
          <p:cNvCxnSpPr>
            <a:cxnSpLocks/>
          </p:cNvCxnSpPr>
          <p:nvPr/>
        </p:nvCxnSpPr>
        <p:spPr>
          <a:xfrm>
            <a:off x="1833680" y="1049648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D3F7BCF-AF4A-4183-B78A-619FF89B088C}"/>
              </a:ext>
            </a:extLst>
          </p:cNvPr>
          <p:cNvGrpSpPr/>
          <p:nvPr/>
        </p:nvGrpSpPr>
        <p:grpSpPr>
          <a:xfrm>
            <a:off x="9383560" y="2311255"/>
            <a:ext cx="3080159" cy="988962"/>
            <a:chOff x="9387122" y="5891916"/>
            <a:chExt cx="2566985" cy="988962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5FD53AC2-81AA-469B-9321-3999D848E2F6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F470180-993B-4947-9805-5B87818D964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AAB4286-96B2-41AA-A368-D56C7B343C88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9A7330A-1C49-4CA4-A4DD-FACEADD47F0A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pic>
        <p:nvPicPr>
          <p:cNvPr id="111" name="Picture 110">
            <a:extLst>
              <a:ext uri="{FF2B5EF4-FFF2-40B4-BE49-F238E27FC236}">
                <a16:creationId xmlns:a16="http://schemas.microsoft.com/office/drawing/2014/main" id="{8468A8C2-A879-45C7-A355-13EB45A4A94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479" y="1606403"/>
            <a:ext cx="2420322" cy="1554615"/>
          </a:xfrm>
          <a:prstGeom prst="rect">
            <a:avLst/>
          </a:prstGeom>
        </p:spPr>
      </p:pic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1329346-39D4-472D-BB8A-D31944959885}"/>
              </a:ext>
            </a:extLst>
          </p:cNvPr>
          <p:cNvSpPr/>
          <p:nvPr/>
        </p:nvSpPr>
        <p:spPr>
          <a:xfrm>
            <a:off x="1545014" y="3101998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E7D28FD6-0E98-4299-841E-0B233EAF4C98}"/>
              </a:ext>
            </a:extLst>
          </p:cNvPr>
          <p:cNvSpPr/>
          <p:nvPr/>
        </p:nvSpPr>
        <p:spPr>
          <a:xfrm>
            <a:off x="1529013" y="332977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8186D3-480E-48AB-B707-05AA95ED970F}"/>
              </a:ext>
            </a:extLst>
          </p:cNvPr>
          <p:cNvSpPr/>
          <p:nvPr/>
        </p:nvSpPr>
        <p:spPr>
          <a:xfrm>
            <a:off x="1538235" y="355906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B264E1A-6544-4C14-A5E7-060B637114AE}"/>
              </a:ext>
            </a:extLst>
          </p:cNvPr>
          <p:cNvSpPr/>
          <p:nvPr/>
        </p:nvSpPr>
        <p:spPr>
          <a:xfrm>
            <a:off x="3811248" y="310795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5E562818-5F13-466F-98D3-50B6215BEADA}"/>
              </a:ext>
            </a:extLst>
          </p:cNvPr>
          <p:cNvSpPr/>
          <p:nvPr/>
        </p:nvSpPr>
        <p:spPr>
          <a:xfrm>
            <a:off x="3795247" y="333572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F91BB428-2ABD-4867-985D-893CFBA862A6}"/>
              </a:ext>
            </a:extLst>
          </p:cNvPr>
          <p:cNvSpPr/>
          <p:nvPr/>
        </p:nvSpPr>
        <p:spPr>
          <a:xfrm>
            <a:off x="3804469" y="356501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554D8F1-F7A5-4222-A31A-02F3EA1F2B80}"/>
              </a:ext>
            </a:extLst>
          </p:cNvPr>
          <p:cNvGrpSpPr/>
          <p:nvPr/>
        </p:nvGrpSpPr>
        <p:grpSpPr>
          <a:xfrm>
            <a:off x="2956112" y="1603560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82CD01F-D97A-4417-8768-AE7F54CE3F91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82CD01F-D97A-4417-8768-AE7F54CE3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FA8AFD11-8655-4C93-B5E3-19D8C9584223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21" name="Picture 120">
                <a:extLst>
                  <a:ext uri="{FF2B5EF4-FFF2-40B4-BE49-F238E27FC236}">
                    <a16:creationId xmlns:a16="http://schemas.microsoft.com/office/drawing/2014/main" id="{4BE7B150-8308-40EA-BFA9-957FD69513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2" name="Arrow: Down 121">
                <a:extLst>
                  <a:ext uri="{FF2B5EF4-FFF2-40B4-BE49-F238E27FC236}">
                    <a16:creationId xmlns:a16="http://schemas.microsoft.com/office/drawing/2014/main" id="{42963697-A274-4FD9-B2FF-72C078BE94FA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8745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178933" y="1523932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8" y="1523933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69289" y="5416259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38030" y="2314252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16" y="5600925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Opposing currents raise resistance, forcing fish to work harder to maintain progress during migration.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57307" y="1988894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CBFB4F-8CD5-475D-B9AA-DFC7A2C7B4ED}"/>
              </a:ext>
            </a:extLst>
          </p:cNvPr>
          <p:cNvGrpSpPr/>
          <p:nvPr/>
        </p:nvGrpSpPr>
        <p:grpSpPr>
          <a:xfrm>
            <a:off x="6941091" y="77485"/>
            <a:ext cx="3066225" cy="1622242"/>
            <a:chOff x="2839854" y="247486"/>
            <a:chExt cx="3066225" cy="162224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4C41B4-9B6E-4091-8EF7-E4207166D4F8}"/>
                </a:ext>
              </a:extLst>
            </p:cNvPr>
            <p:cNvGrpSpPr/>
            <p:nvPr/>
          </p:nvGrpSpPr>
          <p:grpSpPr>
            <a:xfrm>
              <a:off x="2839854" y="247486"/>
              <a:ext cx="3066225" cy="1622242"/>
              <a:chOff x="973581" y="132336"/>
              <a:chExt cx="3066225" cy="162224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2560FFC-4EAD-4A16-BED6-7E2ADF02BF47}"/>
                  </a:ext>
                </a:extLst>
              </p:cNvPr>
              <p:cNvSpPr/>
              <p:nvPr/>
            </p:nvSpPr>
            <p:spPr>
              <a:xfrm>
                <a:off x="1158466" y="132336"/>
                <a:ext cx="2771277" cy="162224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1D937B-4EAA-4741-AE01-BFA314FE0E74}"/>
                  </a:ext>
                </a:extLst>
              </p:cNvPr>
              <p:cNvSpPr txBox="1"/>
              <p:nvPr/>
            </p:nvSpPr>
            <p:spPr>
              <a:xfrm>
                <a:off x="2688929" y="1149526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Speed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0CCB645-85C7-4762-BFA1-2470D5EB6239}"/>
                  </a:ext>
                </a:extLst>
              </p:cNvPr>
              <p:cNvSpPr txBox="1"/>
              <p:nvPr/>
            </p:nvSpPr>
            <p:spPr>
              <a:xfrm>
                <a:off x="973581" y="1130846"/>
                <a:ext cx="14842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177B894-E2A9-4843-BF74-D65D09A755B5}"/>
                  </a:ext>
                </a:extLst>
              </p:cNvPr>
              <p:cNvSpPr txBox="1"/>
              <p:nvPr/>
            </p:nvSpPr>
            <p:spPr>
              <a:xfrm>
                <a:off x="2286654" y="503553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9692A41A-65C4-4733-849F-5FE4A75BF540}"/>
                  </a:ext>
                </a:extLst>
              </p:cNvPr>
              <p:cNvGrpSpPr/>
              <p:nvPr/>
            </p:nvGrpSpPr>
            <p:grpSpPr>
              <a:xfrm>
                <a:off x="2924709" y="236730"/>
                <a:ext cx="887336" cy="900162"/>
                <a:chOff x="2883533" y="503553"/>
                <a:chExt cx="731520" cy="731520"/>
              </a:xfrm>
            </p:grpSpPr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E0812AEB-599D-438E-AE62-FB936B95BAED}"/>
                    </a:ext>
                  </a:extLst>
                </p:cNvPr>
                <p:cNvCxnSpPr/>
                <p:nvPr/>
              </p:nvCxnSpPr>
              <p:spPr>
                <a:xfrm>
                  <a:off x="2890422" y="503553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E7C31FE4-3A35-4D58-8C5C-506AC25E7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293" y="848215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6FFA0346-AD41-4879-8FF7-EA77CF795C00}"/>
                  </a:ext>
                </a:extLst>
              </p:cNvPr>
              <p:cNvGrpSpPr/>
              <p:nvPr/>
            </p:nvGrpSpPr>
            <p:grpSpPr>
              <a:xfrm>
                <a:off x="1302559" y="247769"/>
                <a:ext cx="887336" cy="900162"/>
                <a:chOff x="2883533" y="503553"/>
                <a:chExt cx="731520" cy="731520"/>
              </a:xfrm>
            </p:grpSpPr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0752D811-524A-47F9-B353-76004D574987}"/>
                    </a:ext>
                  </a:extLst>
                </p:cNvPr>
                <p:cNvCxnSpPr/>
                <p:nvPr/>
              </p:nvCxnSpPr>
              <p:spPr>
                <a:xfrm>
                  <a:off x="2890422" y="503553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8D956D2A-4246-41BF-9A6B-A482C65A9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249293" y="848215"/>
                  <a:ext cx="0" cy="73152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0CF7B9FC-BD9D-4C10-92AC-82B81201C6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25405" y="372207"/>
                <a:ext cx="842824" cy="700735"/>
              </a:xfrm>
              <a:prstGeom prst="straightConnector1">
                <a:avLst/>
              </a:prstGeom>
              <a:ln w="38100"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A16118D4-09C4-4BB5-9C08-531890BF03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5494" y="487357"/>
              <a:ext cx="842824" cy="700735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E56DF5A-324E-4354-A972-0C80DA156B73}"/>
                </a:ext>
              </a:extLst>
            </p:cNvPr>
            <p:cNvSpPr/>
            <p:nvPr/>
          </p:nvSpPr>
          <p:spPr>
            <a:xfrm>
              <a:off x="4865914" y="860546"/>
              <a:ext cx="816429" cy="325997"/>
            </a:xfrm>
            <a:custGeom>
              <a:avLst/>
              <a:gdLst>
                <a:gd name="connsiteX0" fmla="*/ 0 w 816429"/>
                <a:gd name="connsiteY0" fmla="*/ 325997 h 325997"/>
                <a:gd name="connsiteX1" fmla="*/ 446315 w 816429"/>
                <a:gd name="connsiteY1" fmla="*/ 32083 h 325997"/>
                <a:gd name="connsiteX2" fmla="*/ 816429 w 816429"/>
                <a:gd name="connsiteY2" fmla="*/ 21197 h 325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6429" h="325997">
                  <a:moveTo>
                    <a:pt x="0" y="325997"/>
                  </a:moveTo>
                  <a:cubicBezTo>
                    <a:pt x="155122" y="204440"/>
                    <a:pt x="310244" y="82883"/>
                    <a:pt x="446315" y="32083"/>
                  </a:cubicBezTo>
                  <a:cubicBezTo>
                    <a:pt x="582387" y="-18717"/>
                    <a:pt x="699408" y="1240"/>
                    <a:pt x="816429" y="2119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5017188" y="1987063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2326D1C-4B2D-41D6-A08F-EEAC31907FAB}"/>
              </a:ext>
            </a:extLst>
          </p:cNvPr>
          <p:cNvSpPr/>
          <p:nvPr/>
        </p:nvSpPr>
        <p:spPr>
          <a:xfrm>
            <a:off x="3845550" y="3127890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F50AFC8-5CDE-4153-84E2-AC5CCC2D7A84}"/>
              </a:ext>
            </a:extLst>
          </p:cNvPr>
          <p:cNvSpPr/>
          <p:nvPr/>
        </p:nvSpPr>
        <p:spPr>
          <a:xfrm>
            <a:off x="3829549" y="3355668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576D6A9-F8E4-4A5F-A5E8-D88D243EB281}"/>
              </a:ext>
            </a:extLst>
          </p:cNvPr>
          <p:cNvSpPr/>
          <p:nvPr/>
        </p:nvSpPr>
        <p:spPr>
          <a:xfrm>
            <a:off x="3838771" y="358495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C3105F63-D1CC-4768-8674-186A92FEEE51}"/>
              </a:ext>
            </a:extLst>
          </p:cNvPr>
          <p:cNvSpPr/>
          <p:nvPr/>
        </p:nvSpPr>
        <p:spPr>
          <a:xfrm>
            <a:off x="8271400" y="313554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87CADA9-9F38-499A-9949-55E4DE7D58DA}"/>
              </a:ext>
            </a:extLst>
          </p:cNvPr>
          <p:cNvSpPr/>
          <p:nvPr/>
        </p:nvSpPr>
        <p:spPr>
          <a:xfrm>
            <a:off x="8255399" y="336332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2FD717F-7BC9-455B-8742-FA1EE1ACA3EA}"/>
              </a:ext>
            </a:extLst>
          </p:cNvPr>
          <p:cNvGrpSpPr/>
          <p:nvPr/>
        </p:nvGrpSpPr>
        <p:grpSpPr>
          <a:xfrm>
            <a:off x="7416264" y="1631151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B86C0BF-F6C7-4A64-830C-E5693DB36F31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B86C0BF-F6C7-4A64-830C-E5693DB36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18EED1B-645B-47D0-AFDB-32C794EC0082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CC4C19B4-E9CB-4D0C-B44D-3349678239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3" name="Arrow: Down 102">
                <a:extLst>
                  <a:ext uri="{FF2B5EF4-FFF2-40B4-BE49-F238E27FC236}">
                    <a16:creationId xmlns:a16="http://schemas.microsoft.com/office/drawing/2014/main" id="{6906DF0D-A572-463A-AC72-FDE0E8A58E9B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04" name="Picture 103">
            <a:extLst>
              <a:ext uri="{FF2B5EF4-FFF2-40B4-BE49-F238E27FC236}">
                <a16:creationId xmlns:a16="http://schemas.microsoft.com/office/drawing/2014/main" id="{FB51441B-8744-4996-885C-C5786770802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479" y="1606403"/>
            <a:ext cx="2420322" cy="1554615"/>
          </a:xfrm>
          <a:prstGeom prst="rect">
            <a:avLst/>
          </a:prstGeom>
        </p:spPr>
      </p:pic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AB4924A0-33F2-4B16-AA7D-D6DE96684992}"/>
              </a:ext>
            </a:extLst>
          </p:cNvPr>
          <p:cNvSpPr/>
          <p:nvPr/>
        </p:nvSpPr>
        <p:spPr>
          <a:xfrm>
            <a:off x="1545014" y="3101998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367BFC83-BD9D-47F1-A6EA-9112B0ED1CB1}"/>
              </a:ext>
            </a:extLst>
          </p:cNvPr>
          <p:cNvSpPr/>
          <p:nvPr/>
        </p:nvSpPr>
        <p:spPr>
          <a:xfrm>
            <a:off x="1529013" y="332977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B88F543F-9F7D-46CE-A544-E1CA3EC1ABFF}"/>
              </a:ext>
            </a:extLst>
          </p:cNvPr>
          <p:cNvSpPr/>
          <p:nvPr/>
        </p:nvSpPr>
        <p:spPr>
          <a:xfrm>
            <a:off x="1538235" y="355906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EB03AF85-977D-4DB8-8476-395200B60FC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0027" y="1628206"/>
            <a:ext cx="2420322" cy="1554615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BEE42AC9-AAD1-4AB8-8C78-641EA6A83DF7}"/>
              </a:ext>
            </a:extLst>
          </p:cNvPr>
          <p:cNvSpPr txBox="1"/>
          <p:nvPr/>
        </p:nvSpPr>
        <p:spPr>
          <a:xfrm>
            <a:off x="1315219" y="1457861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E4EF0A2-2E6A-48C1-BB66-4F705C3BD3A6}"/>
              </a:ext>
            </a:extLst>
          </p:cNvPr>
          <p:cNvSpPr txBox="1"/>
          <p:nvPr/>
        </p:nvSpPr>
        <p:spPr>
          <a:xfrm>
            <a:off x="3426407" y="145808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44840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70373" y="1334435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218" y="1334436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60729" y="5226762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429470" y="2124755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76" y="5434448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Greater swimming resistance under opposing flow raises difficulty, especially in regions where current direction conflicts with migration movement.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48747" y="1799397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8CE5955-5B77-47B2-A8E1-585B0ADBB78D}"/>
              </a:ext>
            </a:extLst>
          </p:cNvPr>
          <p:cNvGrpSpPr/>
          <p:nvPr/>
        </p:nvGrpSpPr>
        <p:grpSpPr>
          <a:xfrm>
            <a:off x="6895295" y="0"/>
            <a:ext cx="3340698" cy="1462250"/>
            <a:chOff x="4808390" y="221309"/>
            <a:chExt cx="3340698" cy="1462250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CFF30FB-347C-41E1-8DAC-1A7EF2DB1FC3}"/>
                </a:ext>
              </a:extLst>
            </p:cNvPr>
            <p:cNvGrpSpPr/>
            <p:nvPr/>
          </p:nvGrpSpPr>
          <p:grpSpPr>
            <a:xfrm>
              <a:off x="4808390" y="315617"/>
              <a:ext cx="3340698" cy="1367942"/>
              <a:chOff x="595095" y="118791"/>
              <a:chExt cx="3340698" cy="1367942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71A2B24-69F1-4CFF-9FA4-E6397C790EFD}"/>
                  </a:ext>
                </a:extLst>
              </p:cNvPr>
              <p:cNvGrpSpPr/>
              <p:nvPr/>
            </p:nvGrpSpPr>
            <p:grpSpPr>
              <a:xfrm>
                <a:off x="595095" y="118791"/>
                <a:ext cx="3340698" cy="1367942"/>
                <a:chOff x="5205192" y="5168157"/>
                <a:chExt cx="3340698" cy="1367942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975F0AF2-31C7-4E58-8688-FF7DD6C2A3B7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3115685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86A03A63-38F4-46E8-9CEC-7DEB8E461417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543C5308-DBE9-4D7F-A321-F2352B5CFF69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53AE5A15-9069-4E43-BA70-F45D07706B7A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AF48B4F-7D64-4032-8446-FBF086BEA325}"/>
                  </a:ext>
                </a:extLst>
              </p:cNvPr>
              <p:cNvSpPr txBox="1"/>
              <p:nvPr/>
            </p:nvSpPr>
            <p:spPr>
              <a:xfrm>
                <a:off x="798663" y="487153"/>
                <a:ext cx="164468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Swimming Speed</a:t>
                </a:r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D12ABE83-5297-4F9E-8B68-54BDD0BF613C}"/>
                  </a:ext>
                </a:extLst>
              </p:cNvPr>
              <p:cNvCxnSpPr/>
              <p:nvPr/>
            </p:nvCxnSpPr>
            <p:spPr>
              <a:xfrm>
                <a:off x="924543" y="370610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6CA88EB1-7216-4085-9B81-CAFA22638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196" t="6647" r="73027" b="74624"/>
            <a:stretch/>
          </p:blipFill>
          <p:spPr>
            <a:xfrm>
              <a:off x="7168381" y="221309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4546824-9199-4FCF-B269-C6265845E56E}"/>
                </a:ext>
              </a:extLst>
            </p:cNvPr>
            <p:cNvSpPr/>
            <p:nvPr/>
          </p:nvSpPr>
          <p:spPr>
            <a:xfrm>
              <a:off x="7356447" y="724641"/>
              <a:ext cx="254405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16C651F-664B-4F0A-B641-39A731DDF2E9}"/>
              </a:ext>
            </a:extLst>
          </p:cNvPr>
          <p:cNvCxnSpPr>
            <a:cxnSpLocks/>
          </p:cNvCxnSpPr>
          <p:nvPr/>
        </p:nvCxnSpPr>
        <p:spPr>
          <a:xfrm>
            <a:off x="5127678" y="1799397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973A8C5-C74A-4290-9C08-D33E562D4BC4}"/>
              </a:ext>
            </a:extLst>
          </p:cNvPr>
          <p:cNvCxnSpPr>
            <a:cxnSpLocks/>
          </p:cNvCxnSpPr>
          <p:nvPr/>
        </p:nvCxnSpPr>
        <p:spPr>
          <a:xfrm flipH="1">
            <a:off x="7637616" y="888361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BBCF89AB-D01F-466B-B7C3-E4066F587C51}"/>
              </a:ext>
            </a:extLst>
          </p:cNvPr>
          <p:cNvSpPr/>
          <p:nvPr/>
        </p:nvSpPr>
        <p:spPr>
          <a:xfrm>
            <a:off x="8356515" y="2952903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838AA79-7B9C-4102-BA5B-149AFED3F239}"/>
              </a:ext>
            </a:extLst>
          </p:cNvPr>
          <p:cNvSpPr/>
          <p:nvPr/>
        </p:nvSpPr>
        <p:spPr>
          <a:xfrm>
            <a:off x="8340514" y="318068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031FB92-C6EC-4FD3-8DA4-7A4C4A7D14EE}"/>
              </a:ext>
            </a:extLst>
          </p:cNvPr>
          <p:cNvGrpSpPr/>
          <p:nvPr/>
        </p:nvGrpSpPr>
        <p:grpSpPr>
          <a:xfrm>
            <a:off x="7501379" y="1448512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3625BB0-DA42-42A1-8EB1-A7AAECEBDDFD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3625BB0-DA42-42A1-8EB1-A7AAECEBDD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845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E895807-652E-4DB8-A424-9A5E5829BD60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240E5881-1C58-4415-BA22-D7C3E9DAD4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8" name="Arrow: Down 107">
                <a:extLst>
                  <a:ext uri="{FF2B5EF4-FFF2-40B4-BE49-F238E27FC236}">
                    <a16:creationId xmlns:a16="http://schemas.microsoft.com/office/drawing/2014/main" id="{C582FEF3-8A8B-46A6-A422-A5D4EC2E5C10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945F6E4B-ADA0-4E95-9E49-A1F301530E1A}"/>
              </a:ext>
            </a:extLst>
          </p:cNvPr>
          <p:cNvSpPr/>
          <p:nvPr/>
        </p:nvSpPr>
        <p:spPr>
          <a:xfrm>
            <a:off x="8356515" y="340609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431A0FD1-CA80-423B-B594-19832035771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354" y="1424685"/>
            <a:ext cx="2420322" cy="1554615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C8041715-3D6A-411C-BE6B-73799265A26C}"/>
              </a:ext>
            </a:extLst>
          </p:cNvPr>
          <p:cNvSpPr/>
          <p:nvPr/>
        </p:nvSpPr>
        <p:spPr>
          <a:xfrm>
            <a:off x="1622889" y="2920280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23BDAB75-309D-42B3-8E39-2585D53D8171}"/>
              </a:ext>
            </a:extLst>
          </p:cNvPr>
          <p:cNvSpPr/>
          <p:nvPr/>
        </p:nvSpPr>
        <p:spPr>
          <a:xfrm>
            <a:off x="1606888" y="3148058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3CD701CA-E147-4CB0-A936-E46C1952C9D7}"/>
              </a:ext>
            </a:extLst>
          </p:cNvPr>
          <p:cNvSpPr/>
          <p:nvPr/>
        </p:nvSpPr>
        <p:spPr>
          <a:xfrm>
            <a:off x="1616110" y="337734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E0C0B317-E1E5-41D8-B241-AFAD6D7AF0FB}"/>
              </a:ext>
            </a:extLst>
          </p:cNvPr>
          <p:cNvSpPr/>
          <p:nvPr/>
        </p:nvSpPr>
        <p:spPr>
          <a:xfrm>
            <a:off x="3951388" y="2924369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E124577-2ACD-4AD8-982A-C917C089582F}"/>
              </a:ext>
            </a:extLst>
          </p:cNvPr>
          <p:cNvSpPr/>
          <p:nvPr/>
        </p:nvSpPr>
        <p:spPr>
          <a:xfrm>
            <a:off x="3935387" y="3152147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86339AA4-5FF5-45CB-AB73-CB12E1B3CFD0}"/>
              </a:ext>
            </a:extLst>
          </p:cNvPr>
          <p:cNvSpPr/>
          <p:nvPr/>
        </p:nvSpPr>
        <p:spPr>
          <a:xfrm>
            <a:off x="3944609" y="338143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D8398ECA-41C9-474C-98A3-F3B626207D70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5865" y="1424685"/>
            <a:ext cx="2420322" cy="1554615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4D35ADE0-0936-4113-BC71-44113A7DA46E}"/>
              </a:ext>
            </a:extLst>
          </p:cNvPr>
          <p:cNvSpPr txBox="1"/>
          <p:nvPr/>
        </p:nvSpPr>
        <p:spPr>
          <a:xfrm>
            <a:off x="1441992" y="124609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81EF4BA-65B0-476F-8F30-977E5F47AEDA}"/>
              </a:ext>
            </a:extLst>
          </p:cNvPr>
          <p:cNvSpPr txBox="1"/>
          <p:nvPr/>
        </p:nvSpPr>
        <p:spPr>
          <a:xfrm>
            <a:off x="3553180" y="1246327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3197973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178933" y="1475890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778" y="1475891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69289" y="5368217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38030" y="2266210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69" y="5575049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Energetically costly regions emerge when high swimming difficulty drives up energy use, reducing available energy for continued migration.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57307" y="1940852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BE63414-F9AD-47E3-976E-CC77652BC1B8}"/>
              </a:ext>
            </a:extLst>
          </p:cNvPr>
          <p:cNvCxnSpPr>
            <a:cxnSpLocks/>
          </p:cNvCxnSpPr>
          <p:nvPr/>
        </p:nvCxnSpPr>
        <p:spPr>
          <a:xfrm>
            <a:off x="5061757" y="1940852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C31E4AA-2449-4300-BDA4-FD9E538CF13B}"/>
              </a:ext>
            </a:extLst>
          </p:cNvPr>
          <p:cNvGrpSpPr/>
          <p:nvPr/>
        </p:nvGrpSpPr>
        <p:grpSpPr>
          <a:xfrm>
            <a:off x="5716570" y="123995"/>
            <a:ext cx="5478134" cy="1470810"/>
            <a:chOff x="595095" y="40114"/>
            <a:chExt cx="5478134" cy="147081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DB88136-EA7C-4D3B-819A-EA0CEE7D6A7D}"/>
                </a:ext>
              </a:extLst>
            </p:cNvPr>
            <p:cNvGrpSpPr/>
            <p:nvPr/>
          </p:nvGrpSpPr>
          <p:grpSpPr>
            <a:xfrm>
              <a:off x="595095" y="40114"/>
              <a:ext cx="5478134" cy="1470810"/>
              <a:chOff x="622438" y="50377"/>
              <a:chExt cx="5478134" cy="1470810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9457263-302E-460D-A719-E0F91E57107D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F01B884B-7F6B-4CD6-B65B-A39D0B774295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Arrow: Right 83">
                  <a:extLst>
                    <a:ext uri="{FF2B5EF4-FFF2-40B4-BE49-F238E27FC236}">
                      <a16:creationId xmlns:a16="http://schemas.microsoft.com/office/drawing/2014/main" id="{A07BE382-3394-4A81-BC6B-C5FA84ECB2B6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41284071-AFF1-4099-B77E-722CF179EC1E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3DBF8D84-AD5A-4777-81D4-D45C6E26DC7C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B9D0F4C-8D2F-49E6-AD09-66091405959B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BA5D9122-88A2-44AD-B341-1A649D773E23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103" name="Picture 102">
                  <a:extLst>
                    <a:ext uri="{FF2B5EF4-FFF2-40B4-BE49-F238E27FC236}">
                      <a16:creationId xmlns:a16="http://schemas.microsoft.com/office/drawing/2014/main" id="{946C4ABD-980D-4931-8EC3-F189C7652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36883" t="9252" r="55401" b="73628"/>
                <a:stretch/>
              </p:blipFill>
              <p:spPr>
                <a:xfrm>
                  <a:off x="9848209" y="5210096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0412E259-C1BE-4F0C-B5E3-09EF1FD60F3F}"/>
                    </a:ext>
                  </a:extLst>
                </p:cNvPr>
                <p:cNvSpPr/>
                <p:nvPr/>
              </p:nvSpPr>
              <p:spPr>
                <a:xfrm>
                  <a:off x="10030448" y="5893788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7" name="Arrow: Right 76">
                <a:extLst>
                  <a:ext uri="{FF2B5EF4-FFF2-40B4-BE49-F238E27FC236}">
                    <a16:creationId xmlns:a16="http://schemas.microsoft.com/office/drawing/2014/main" id="{D3451700-F484-42E7-A8EC-381D10DE6575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D37F946D-E8C6-47AE-BC8B-FD9C65CEA289}"/>
                  </a:ext>
                </a:extLst>
              </p:cNvPr>
              <p:cNvGrpSpPr/>
              <p:nvPr/>
            </p:nvGrpSpPr>
            <p:grpSpPr>
              <a:xfrm>
                <a:off x="4089449" y="50377"/>
                <a:ext cx="2011123" cy="1470810"/>
                <a:chOff x="4186114" y="107414"/>
                <a:chExt cx="2011123" cy="1470810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8AA573FB-1201-4186-A012-FD90B008279E}"/>
                    </a:ext>
                  </a:extLst>
                </p:cNvPr>
                <p:cNvSpPr txBox="1"/>
                <p:nvPr/>
              </p:nvSpPr>
              <p:spPr>
                <a:xfrm>
                  <a:off x="5190610" y="993449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Levels</a:t>
                  </a:r>
                </a:p>
              </p:txBody>
            </p:sp>
            <p:pic>
              <p:nvPicPr>
                <p:cNvPr id="81" name="Picture 80">
                  <a:extLst>
                    <a:ext uri="{FF2B5EF4-FFF2-40B4-BE49-F238E27FC236}">
                      <a16:creationId xmlns:a16="http://schemas.microsoft.com/office/drawing/2014/main" id="{9CF02B88-3726-42A2-A233-E87C1D3BDD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7196" t="6647" r="73027" b="74624"/>
                <a:stretch/>
              </p:blipFill>
              <p:spPr>
                <a:xfrm>
                  <a:off x="4186114" y="107414"/>
                  <a:ext cx="738732" cy="9863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5D9EF4D8-5793-4E46-A301-A38E45132DA0}"/>
                    </a:ext>
                  </a:extLst>
                </p:cNvPr>
                <p:cNvSpPr/>
                <p:nvPr/>
              </p:nvSpPr>
              <p:spPr>
                <a:xfrm>
                  <a:off x="4378497" y="611998"/>
                  <a:ext cx="243672" cy="334983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F10E355-A75C-4812-8479-E979F6AD9EFD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0B77A6E0-0F22-4FF2-A9EA-B2C26FCCD5A3}"/>
                </a:ext>
              </a:extLst>
            </p:cNvPr>
            <p:cNvCxnSpPr/>
            <p:nvPr/>
          </p:nvCxnSpPr>
          <p:spPr>
            <a:xfrm>
              <a:off x="924543" y="37061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5" name="Picture 104">
            <a:extLst>
              <a:ext uri="{FF2B5EF4-FFF2-40B4-BE49-F238E27FC236}">
                <a16:creationId xmlns:a16="http://schemas.microsoft.com/office/drawing/2014/main" id="{03B9F96F-54AC-4E46-A035-1AE59E06EB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96" t="6647" r="73027" b="74624"/>
          <a:stretch/>
        </p:blipFill>
        <p:spPr>
          <a:xfrm>
            <a:off x="8069054" y="107570"/>
            <a:ext cx="738732" cy="986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E8D3BD49-B727-4FCF-944D-4C5382EB9884}"/>
              </a:ext>
            </a:extLst>
          </p:cNvPr>
          <p:cNvSpPr/>
          <p:nvPr/>
        </p:nvSpPr>
        <p:spPr>
          <a:xfrm>
            <a:off x="8257120" y="610902"/>
            <a:ext cx="254405" cy="334983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36A7FE9-9579-49F4-B170-840ECB29ABA1}"/>
              </a:ext>
            </a:extLst>
          </p:cNvPr>
          <p:cNvCxnSpPr>
            <a:cxnSpLocks/>
          </p:cNvCxnSpPr>
          <p:nvPr/>
        </p:nvCxnSpPr>
        <p:spPr>
          <a:xfrm flipH="1">
            <a:off x="6433357" y="1022797"/>
            <a:ext cx="9144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2532E0A-7FF4-4BAF-9ACA-0D53C179C119}"/>
              </a:ext>
            </a:extLst>
          </p:cNvPr>
          <p:cNvSpPr/>
          <p:nvPr/>
        </p:nvSpPr>
        <p:spPr>
          <a:xfrm>
            <a:off x="8303461" y="30968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8091C8BD-5CFE-4E61-965A-8245AB1F7C03}"/>
              </a:ext>
            </a:extLst>
          </p:cNvPr>
          <p:cNvSpPr/>
          <p:nvPr/>
        </p:nvSpPr>
        <p:spPr>
          <a:xfrm>
            <a:off x="8287460" y="33246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A8E4464-38CF-4FCB-B4AC-CE4F787EBBF5}"/>
              </a:ext>
            </a:extLst>
          </p:cNvPr>
          <p:cNvGrpSpPr/>
          <p:nvPr/>
        </p:nvGrpSpPr>
        <p:grpSpPr>
          <a:xfrm>
            <a:off x="7448325" y="1592505"/>
            <a:ext cx="2419815" cy="1439128"/>
            <a:chOff x="878199" y="1610857"/>
            <a:chExt cx="2419815" cy="14391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36B93BE-A3A0-453A-953A-B8F53908AE77}"/>
                    </a:ext>
                  </a:extLst>
                </p:cNvPr>
                <p:cNvSpPr txBox="1"/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B36B93BE-A3A0-453A-953A-B8F53908AE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99" y="2054484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08E44397-9F9D-4DAB-8DE8-E70127D940B2}"/>
                </a:ext>
              </a:extLst>
            </p:cNvPr>
            <p:cNvGrpSpPr/>
            <p:nvPr/>
          </p:nvGrpSpPr>
          <p:grpSpPr>
            <a:xfrm>
              <a:off x="1356369" y="1610857"/>
              <a:ext cx="1438648" cy="1439128"/>
              <a:chOff x="1356369" y="1824217"/>
              <a:chExt cx="1438648" cy="1439128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275B7CEF-A81F-41DE-A466-44E6F611BF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b="29629"/>
              <a:stretch/>
            </p:blipFill>
            <p:spPr>
              <a:xfrm flipH="1">
                <a:off x="1356369" y="1824217"/>
                <a:ext cx="1438648" cy="584776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Down 114">
                <a:extLst>
                  <a:ext uri="{FF2B5EF4-FFF2-40B4-BE49-F238E27FC236}">
                    <a16:creationId xmlns:a16="http://schemas.microsoft.com/office/drawing/2014/main" id="{B8083443-BDEB-444C-A0D5-08143466B80D}"/>
                  </a:ext>
                </a:extLst>
              </p:cNvPr>
              <p:cNvSpPr/>
              <p:nvPr/>
            </p:nvSpPr>
            <p:spPr>
              <a:xfrm>
                <a:off x="1853880" y="2714705"/>
                <a:ext cx="358828" cy="54864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76D4FA6C-FD3C-4EC8-A0AE-F89367CBCBF0}"/>
              </a:ext>
            </a:extLst>
          </p:cNvPr>
          <p:cNvSpPr/>
          <p:nvPr/>
        </p:nvSpPr>
        <p:spPr>
          <a:xfrm>
            <a:off x="8303461" y="355008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3B005D72-9BC0-46D8-8E31-AEBDD33DBE3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479" y="1606403"/>
            <a:ext cx="2420322" cy="1554615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6E81CA49-F101-492A-8E2D-306FF22D32FE}"/>
              </a:ext>
            </a:extLst>
          </p:cNvPr>
          <p:cNvSpPr/>
          <p:nvPr/>
        </p:nvSpPr>
        <p:spPr>
          <a:xfrm>
            <a:off x="1545014" y="3101998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F701086-DAA0-45D6-B541-93453C9D78D3}"/>
              </a:ext>
            </a:extLst>
          </p:cNvPr>
          <p:cNvSpPr/>
          <p:nvPr/>
        </p:nvSpPr>
        <p:spPr>
          <a:xfrm>
            <a:off x="1529013" y="332977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037BC4A-648E-498F-8A31-5342CFFA4F58}"/>
              </a:ext>
            </a:extLst>
          </p:cNvPr>
          <p:cNvSpPr/>
          <p:nvPr/>
        </p:nvSpPr>
        <p:spPr>
          <a:xfrm>
            <a:off x="1538235" y="355906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ADB9E380-E35A-46A0-AB28-5B6114FC9989}"/>
              </a:ext>
            </a:extLst>
          </p:cNvPr>
          <p:cNvSpPr/>
          <p:nvPr/>
        </p:nvSpPr>
        <p:spPr>
          <a:xfrm>
            <a:off x="3894785" y="3092189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7B1D98D-AB9C-47CE-8F00-EAC965EB596C}"/>
              </a:ext>
            </a:extLst>
          </p:cNvPr>
          <p:cNvSpPr/>
          <p:nvPr/>
        </p:nvSpPr>
        <p:spPr>
          <a:xfrm>
            <a:off x="3878784" y="3319967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6BF6B31E-4C0E-4FFD-A5B4-94A99C3084C6}"/>
              </a:ext>
            </a:extLst>
          </p:cNvPr>
          <p:cNvSpPr/>
          <p:nvPr/>
        </p:nvSpPr>
        <p:spPr>
          <a:xfrm>
            <a:off x="3888006" y="3549252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A1DD4A9A-0A3F-4A3E-A682-9E3575C20A8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9262" y="1592505"/>
            <a:ext cx="2420322" cy="1554615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B851B34A-0667-4DE4-A073-E06C4F9AAAA5}"/>
              </a:ext>
            </a:extLst>
          </p:cNvPr>
          <p:cNvSpPr txBox="1"/>
          <p:nvPr/>
        </p:nvSpPr>
        <p:spPr>
          <a:xfrm>
            <a:off x="1418304" y="142983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F89FA26-3DCA-4C9C-8EFA-089DA958EAA1}"/>
              </a:ext>
            </a:extLst>
          </p:cNvPr>
          <p:cNvSpPr txBox="1"/>
          <p:nvPr/>
        </p:nvSpPr>
        <p:spPr>
          <a:xfrm>
            <a:off x="3529492" y="1430063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965862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151963" y="1144693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80" y="11345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53481" y="502349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22222" y="1921487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43277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dynamically adjust swimming speed based on current direction and migration direction.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41499" y="1596129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4925180" y="1596129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E4C41B4-9B6E-4091-8EF7-E4207166D4F8}"/>
              </a:ext>
            </a:extLst>
          </p:cNvPr>
          <p:cNvGrpSpPr/>
          <p:nvPr/>
        </p:nvGrpSpPr>
        <p:grpSpPr>
          <a:xfrm>
            <a:off x="4940691" y="1751681"/>
            <a:ext cx="3066225" cy="1622242"/>
            <a:chOff x="973581" y="132336"/>
            <a:chExt cx="3066225" cy="162224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560FFC-4EAD-4A16-BED6-7E2ADF02BF47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31D937B-4EAA-4741-AE01-BFA314FE0E74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CCB645-85C7-4762-BFA1-2470D5EB62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177B894-E2A9-4843-BF74-D65D09A755B5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692A41A-65C4-4733-849F-5FE4A75BF540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0812AEB-599D-438E-AE62-FB936B95BAED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7C31FE4-3A35-4D58-8C5C-506AC25E7E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FFA0346-AD41-4879-8FF7-EA77CF795C00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752D811-524A-47F9-B353-76004D574987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D956D2A-4246-41BF-9A6B-A482C65A93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CF7B9FC-BD9D-4C10-92AC-82B81201C6B6}"/>
                </a:ext>
              </a:extLst>
            </p:cNvPr>
            <p:cNvCxnSpPr>
              <a:cxnSpLocks/>
            </p:cNvCxnSpPr>
            <p:nvPr/>
          </p:nvCxnSpPr>
          <p:spPr>
            <a:xfrm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7" name="Picture 86">
            <a:extLst>
              <a:ext uri="{FF2B5EF4-FFF2-40B4-BE49-F238E27FC236}">
                <a16:creationId xmlns:a16="http://schemas.microsoft.com/office/drawing/2014/main" id="{0BC4DD8E-A4C3-4144-B88B-488A0127AA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15"/>
          <a:stretch/>
        </p:blipFill>
        <p:spPr>
          <a:xfrm>
            <a:off x="6918301" y="1888473"/>
            <a:ext cx="1001263" cy="772165"/>
          </a:xfrm>
          <a:prstGeom prst="rect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35BF17E-A0F8-457E-BE0B-42956B0292BD}"/>
              </a:ext>
            </a:extLst>
          </p:cNvPr>
          <p:cNvSpPr/>
          <p:nvPr/>
        </p:nvSpPr>
        <p:spPr>
          <a:xfrm>
            <a:off x="3817110" y="274657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3BFECDD-1A13-4DB1-A490-22F541B32563}"/>
              </a:ext>
            </a:extLst>
          </p:cNvPr>
          <p:cNvSpPr/>
          <p:nvPr/>
        </p:nvSpPr>
        <p:spPr>
          <a:xfrm>
            <a:off x="3801109" y="297435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0E654AC-E9DE-4C8C-8762-8006E859382B}"/>
              </a:ext>
            </a:extLst>
          </p:cNvPr>
          <p:cNvSpPr/>
          <p:nvPr/>
        </p:nvSpPr>
        <p:spPr>
          <a:xfrm>
            <a:off x="3810331" y="320363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4AC3493-54BB-4172-9CCE-DF9638A7CE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587" y="1246892"/>
            <a:ext cx="2420322" cy="1554615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6286AFA-8378-493F-BCF6-FD9643DDD58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694" y="1233457"/>
            <a:ext cx="2420322" cy="1554615"/>
          </a:xfrm>
          <a:prstGeom prst="rect">
            <a:avLst/>
          </a:prstGeom>
        </p:spPr>
      </p:pic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363D76B-0339-4B11-911D-0DCF81B2A0C5}"/>
              </a:ext>
            </a:extLst>
          </p:cNvPr>
          <p:cNvSpPr/>
          <p:nvPr/>
        </p:nvSpPr>
        <p:spPr>
          <a:xfrm>
            <a:off x="1484229" y="272905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1B8416F-16B1-4EA6-AF3D-975F0757A159}"/>
              </a:ext>
            </a:extLst>
          </p:cNvPr>
          <p:cNvSpPr/>
          <p:nvPr/>
        </p:nvSpPr>
        <p:spPr>
          <a:xfrm>
            <a:off x="1468228" y="295683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9AB1236-30E3-43E0-AAD3-13A2DB78EB2F}"/>
              </a:ext>
            </a:extLst>
          </p:cNvPr>
          <p:cNvSpPr/>
          <p:nvPr/>
        </p:nvSpPr>
        <p:spPr>
          <a:xfrm>
            <a:off x="1477450" y="318611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5EA3C0D-624B-43A0-B0CB-E4D186389EBE}"/>
              </a:ext>
            </a:extLst>
          </p:cNvPr>
          <p:cNvSpPr/>
          <p:nvPr/>
        </p:nvSpPr>
        <p:spPr>
          <a:xfrm>
            <a:off x="8297654" y="2754845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D0EED3F-D6D4-424C-9395-660F699AD91C}"/>
              </a:ext>
            </a:extLst>
          </p:cNvPr>
          <p:cNvSpPr/>
          <p:nvPr/>
        </p:nvSpPr>
        <p:spPr>
          <a:xfrm>
            <a:off x="8281653" y="298262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F2B148A-9A6A-4DE5-91CC-B59114627439}"/>
              </a:ext>
            </a:extLst>
          </p:cNvPr>
          <p:cNvGrpSpPr/>
          <p:nvPr/>
        </p:nvGrpSpPr>
        <p:grpSpPr>
          <a:xfrm>
            <a:off x="5307098" y="3326830"/>
            <a:ext cx="2419815" cy="1043991"/>
            <a:chOff x="-3235428" y="1356554"/>
            <a:chExt cx="2419815" cy="1043991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F7CC910-565F-492F-8D9D-AF6160D9F825}"/>
                </a:ext>
              </a:extLst>
            </p:cNvPr>
            <p:cNvGrpSpPr/>
            <p:nvPr/>
          </p:nvGrpSpPr>
          <p:grpSpPr>
            <a:xfrm>
              <a:off x="-2757258" y="1356554"/>
              <a:ext cx="1438648" cy="1043991"/>
              <a:chOff x="-2757258" y="1356554"/>
              <a:chExt cx="1438648" cy="1043991"/>
            </a:xfrm>
          </p:grpSpPr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40A2C885-9391-4442-8E6A-5E2412DD8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757258" y="135655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5" name="Arrow: Down 104">
                <a:extLst>
                  <a:ext uri="{FF2B5EF4-FFF2-40B4-BE49-F238E27FC236}">
                    <a16:creationId xmlns:a16="http://schemas.microsoft.com/office/drawing/2014/main" id="{8BCDC99C-59AF-4B69-8CC2-920713E7347E}"/>
                  </a:ext>
                </a:extLst>
              </p:cNvPr>
              <p:cNvSpPr/>
              <p:nvPr/>
            </p:nvSpPr>
            <p:spPr>
              <a:xfrm>
                <a:off x="-2202494" y="2217665"/>
                <a:ext cx="358828" cy="18288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0D2A42-1353-4850-B0A7-15F4D8ABE5D3}"/>
                    </a:ext>
                  </a:extLst>
                </p:cNvPr>
                <p:cNvSpPr txBox="1"/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0D2A42-1353-4850-B0A7-15F4D8ABE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B7833E4-930E-42AE-A701-8372B044F881}"/>
              </a:ext>
            </a:extLst>
          </p:cNvPr>
          <p:cNvCxnSpPr>
            <a:cxnSpLocks/>
          </p:cNvCxnSpPr>
          <p:nvPr/>
        </p:nvCxnSpPr>
        <p:spPr>
          <a:xfrm flipH="1">
            <a:off x="7122048" y="1621636"/>
            <a:ext cx="2151444" cy="2749185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64DAD3C-EB40-47D1-877F-3EACD7A3C2B4}"/>
              </a:ext>
            </a:extLst>
          </p:cNvPr>
          <p:cNvSpPr/>
          <p:nvPr/>
        </p:nvSpPr>
        <p:spPr>
          <a:xfrm>
            <a:off x="6138944" y="441272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F6EC9C97-0967-4DC3-AD34-9FEA72A27E3E}"/>
              </a:ext>
            </a:extLst>
          </p:cNvPr>
          <p:cNvSpPr/>
          <p:nvPr/>
        </p:nvSpPr>
        <p:spPr>
          <a:xfrm>
            <a:off x="6122943" y="464049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5B2F4D1C-2E3A-4AA9-A3B4-9F7F3AAF3E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93038" y="1246892"/>
            <a:ext cx="2420322" cy="1554615"/>
          </a:xfrm>
          <a:prstGeom prst="rect">
            <a:avLst/>
          </a:prstGeom>
        </p:spPr>
      </p:pic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38451E7-60D0-4B2D-99D7-1227CEE67387}"/>
              </a:ext>
            </a:extLst>
          </p:cNvPr>
          <p:cNvSpPr/>
          <p:nvPr/>
        </p:nvSpPr>
        <p:spPr>
          <a:xfrm>
            <a:off x="8263126" y="321648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385B241-8605-445B-AD55-71294C0CD88C}"/>
              </a:ext>
            </a:extLst>
          </p:cNvPr>
          <p:cNvSpPr txBox="1"/>
          <p:nvPr/>
        </p:nvSpPr>
        <p:spPr>
          <a:xfrm>
            <a:off x="1350072" y="1057898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8230A37-9D3D-4DD3-AB07-755ACF73E3E2}"/>
              </a:ext>
            </a:extLst>
          </p:cNvPr>
          <p:cNvSpPr txBox="1"/>
          <p:nvPr/>
        </p:nvSpPr>
        <p:spPr>
          <a:xfrm>
            <a:off x="3461260" y="1058126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BEF003F-B114-400D-961C-6CB297302CD6}"/>
              </a:ext>
            </a:extLst>
          </p:cNvPr>
          <p:cNvSpPr txBox="1"/>
          <p:nvPr/>
        </p:nvSpPr>
        <p:spPr>
          <a:xfrm>
            <a:off x="7705760" y="1057898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4177356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55133" y="91854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78" y="9185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45489" y="481087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414230" y="1708869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04" y="529545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Swimming becomes more difficult when fish can no longer rely on the current to support migration movement.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33507" y="1383511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5017188" y="1383511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6FA87B6-4A09-475F-87D1-85A0BD10884F}"/>
              </a:ext>
            </a:extLst>
          </p:cNvPr>
          <p:cNvGrpSpPr/>
          <p:nvPr/>
        </p:nvGrpSpPr>
        <p:grpSpPr>
          <a:xfrm>
            <a:off x="4731485" y="1843004"/>
            <a:ext cx="3340698" cy="1367942"/>
            <a:chOff x="595095" y="118791"/>
            <a:chExt cx="3340698" cy="136794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6872473-44E8-4AEF-8D07-6B0FF01CD8A2}"/>
                </a:ext>
              </a:extLst>
            </p:cNvPr>
            <p:cNvGrpSpPr/>
            <p:nvPr/>
          </p:nvGrpSpPr>
          <p:grpSpPr>
            <a:xfrm>
              <a:off x="595095" y="118791"/>
              <a:ext cx="3340698" cy="1367942"/>
              <a:chOff x="5205192" y="5168157"/>
              <a:chExt cx="3340698" cy="1367942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389C711-598B-477B-A0F8-F65A31CB098A}"/>
                  </a:ext>
                </a:extLst>
              </p:cNvPr>
              <p:cNvSpPr/>
              <p:nvPr/>
            </p:nvSpPr>
            <p:spPr>
              <a:xfrm>
                <a:off x="5339439" y="5168157"/>
                <a:ext cx="3115685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585ED9C-3F9F-4F80-886C-5988F68C11A8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Difficulty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5858AA6-1CA5-48A7-86F3-F56F778741C5}"/>
                  </a:ext>
                </a:extLst>
              </p:cNvPr>
              <p:cNvSpPr txBox="1"/>
              <p:nvPr/>
            </p:nvSpPr>
            <p:spPr>
              <a:xfrm>
                <a:off x="5205192" y="6085380"/>
                <a:ext cx="1983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4206E16-0EAF-4860-BA1D-F9ADFC7F143B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717FF3D0-5E99-4FFC-B609-595269FF9B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883" t="9252" r="55401" b="73628"/>
              <a:stretch/>
            </p:blipFill>
            <p:spPr>
              <a:xfrm>
                <a:off x="7547058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ECDF7FD-9747-4789-A946-B3FE7C86E594}"/>
                  </a:ext>
                </a:extLst>
              </p:cNvPr>
              <p:cNvSpPr/>
              <p:nvPr/>
            </p:nvSpPr>
            <p:spPr>
              <a:xfrm>
                <a:off x="7732610" y="5871146"/>
                <a:ext cx="254405" cy="3657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81E503-10B1-418E-844F-878C8BD9DE80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FAC0BF4-FDA0-4C4A-AFB7-603DBBFEDB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238" y="36987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4A8C7C6-E0BE-4006-8328-727C2C86EC92}"/>
              </a:ext>
            </a:extLst>
          </p:cNvPr>
          <p:cNvCxnSpPr>
            <a:cxnSpLocks/>
          </p:cNvCxnSpPr>
          <p:nvPr/>
        </p:nvCxnSpPr>
        <p:spPr>
          <a:xfrm flipH="1">
            <a:off x="6021053" y="2651760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B63E0D6-0CF5-4BAE-B621-8052014A0E3E}"/>
              </a:ext>
            </a:extLst>
          </p:cNvPr>
          <p:cNvSpPr/>
          <p:nvPr/>
        </p:nvSpPr>
        <p:spPr>
          <a:xfrm>
            <a:off x="3921889" y="251727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414CAB9-AB0F-404C-8339-F6B4ABBD75AB}"/>
              </a:ext>
            </a:extLst>
          </p:cNvPr>
          <p:cNvSpPr/>
          <p:nvPr/>
        </p:nvSpPr>
        <p:spPr>
          <a:xfrm>
            <a:off x="3905888" y="274505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F146820C-6DB2-4C4F-B675-B480D780C678}"/>
              </a:ext>
            </a:extLst>
          </p:cNvPr>
          <p:cNvSpPr/>
          <p:nvPr/>
        </p:nvSpPr>
        <p:spPr>
          <a:xfrm>
            <a:off x="3915110" y="297433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D3FC071E-B826-4792-8559-EE6DFDA60BD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6366" y="1017592"/>
            <a:ext cx="2420322" cy="155461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8F1CE65-842D-4CD0-8B9A-5EDE2A6A6A2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006" y="1026707"/>
            <a:ext cx="2420322" cy="1554615"/>
          </a:xfrm>
          <a:prstGeom prst="rect">
            <a:avLst/>
          </a:prstGeom>
        </p:spPr>
      </p:pic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7C604D4D-D904-4145-859F-D86E73EFA280}"/>
              </a:ext>
            </a:extLst>
          </p:cNvPr>
          <p:cNvSpPr/>
          <p:nvPr/>
        </p:nvSpPr>
        <p:spPr>
          <a:xfrm>
            <a:off x="1544541" y="252230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06C0234-5B33-42E3-94A5-76176D1C7E27}"/>
              </a:ext>
            </a:extLst>
          </p:cNvPr>
          <p:cNvSpPr/>
          <p:nvPr/>
        </p:nvSpPr>
        <p:spPr>
          <a:xfrm>
            <a:off x="1528540" y="275008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45CFB282-CEE2-4DD6-8ADF-59E2C7F7A0A3}"/>
              </a:ext>
            </a:extLst>
          </p:cNvPr>
          <p:cNvSpPr/>
          <p:nvPr/>
        </p:nvSpPr>
        <p:spPr>
          <a:xfrm>
            <a:off x="1537762" y="297936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8DE028F-2423-47C0-BB88-E95CE1AA7CF9}"/>
              </a:ext>
            </a:extLst>
          </p:cNvPr>
          <p:cNvSpPr/>
          <p:nvPr/>
        </p:nvSpPr>
        <p:spPr>
          <a:xfrm>
            <a:off x="8419148" y="251495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D0CA9D6-20B9-4A95-A776-970A2EBB4064}"/>
              </a:ext>
            </a:extLst>
          </p:cNvPr>
          <p:cNvSpPr/>
          <p:nvPr/>
        </p:nvSpPr>
        <p:spPr>
          <a:xfrm>
            <a:off x="8403147" y="274272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1423ABAC-2A80-48B2-A6C5-3F5253998FFB}"/>
              </a:ext>
            </a:extLst>
          </p:cNvPr>
          <p:cNvSpPr/>
          <p:nvPr/>
        </p:nvSpPr>
        <p:spPr>
          <a:xfrm>
            <a:off x="8419148" y="296814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FBC1F30E-6FCD-4A95-8921-4E2D73AF15F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1070" y="1008075"/>
            <a:ext cx="2420322" cy="1554615"/>
          </a:xfrm>
          <a:prstGeom prst="rect">
            <a:avLst/>
          </a:prstGeom>
        </p:spPr>
      </p:pic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F90B83F-3F15-4A19-A012-49BFCFBD3F66}"/>
              </a:ext>
            </a:extLst>
          </p:cNvPr>
          <p:cNvGrpSpPr/>
          <p:nvPr/>
        </p:nvGrpSpPr>
        <p:grpSpPr>
          <a:xfrm>
            <a:off x="5411873" y="3098230"/>
            <a:ext cx="2419815" cy="1043991"/>
            <a:chOff x="-3235428" y="1356554"/>
            <a:chExt cx="2419815" cy="104399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543A6F7-CF35-4BAC-AFD4-B029EBDA9C58}"/>
                </a:ext>
              </a:extLst>
            </p:cNvPr>
            <p:cNvGrpSpPr/>
            <p:nvPr/>
          </p:nvGrpSpPr>
          <p:grpSpPr>
            <a:xfrm>
              <a:off x="-2757258" y="1356554"/>
              <a:ext cx="1438648" cy="1043991"/>
              <a:chOff x="-2757258" y="1356554"/>
              <a:chExt cx="1438648" cy="1043991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9419EB9B-92D9-4CF8-B86B-A3CAB0BDC1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757258" y="135655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Down 114">
                <a:extLst>
                  <a:ext uri="{FF2B5EF4-FFF2-40B4-BE49-F238E27FC236}">
                    <a16:creationId xmlns:a16="http://schemas.microsoft.com/office/drawing/2014/main" id="{47D9AE83-1E16-4B5E-A9EC-5964CBFE91FF}"/>
                  </a:ext>
                </a:extLst>
              </p:cNvPr>
              <p:cNvSpPr/>
              <p:nvPr/>
            </p:nvSpPr>
            <p:spPr>
              <a:xfrm>
                <a:off x="-2202494" y="2217665"/>
                <a:ext cx="358828" cy="18288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5229A9F-752C-4383-B007-409C1E35E415}"/>
                    </a:ext>
                  </a:extLst>
                </p:cNvPr>
                <p:cNvSpPr txBox="1"/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5229A9F-752C-4383-B007-409C1E35E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92BE5AF-9DDD-4306-9BE8-1DEB0F8B70E8}"/>
              </a:ext>
            </a:extLst>
          </p:cNvPr>
          <p:cNvCxnSpPr>
            <a:cxnSpLocks/>
          </p:cNvCxnSpPr>
          <p:nvPr/>
        </p:nvCxnSpPr>
        <p:spPr>
          <a:xfrm flipH="1">
            <a:off x="7226823" y="1393036"/>
            <a:ext cx="2151444" cy="2749185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A54B0F9-C734-468A-95F8-B83D670031F2}"/>
              </a:ext>
            </a:extLst>
          </p:cNvPr>
          <p:cNvSpPr/>
          <p:nvPr/>
        </p:nvSpPr>
        <p:spPr>
          <a:xfrm>
            <a:off x="6243719" y="418412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1C64415-9288-4CD9-BBF9-EFF77D533BBD}"/>
              </a:ext>
            </a:extLst>
          </p:cNvPr>
          <p:cNvSpPr/>
          <p:nvPr/>
        </p:nvSpPr>
        <p:spPr>
          <a:xfrm>
            <a:off x="6227718" y="441189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842A5FF3-6462-4D48-9B07-F2F03B20831F}"/>
              </a:ext>
            </a:extLst>
          </p:cNvPr>
          <p:cNvSpPr/>
          <p:nvPr/>
        </p:nvSpPr>
        <p:spPr>
          <a:xfrm>
            <a:off x="6227718" y="464396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73E2474-53B1-4B1C-9BFA-89CD9BFADFBC}"/>
              </a:ext>
            </a:extLst>
          </p:cNvPr>
          <p:cNvSpPr txBox="1"/>
          <p:nvPr/>
        </p:nvSpPr>
        <p:spPr>
          <a:xfrm>
            <a:off x="1484069" y="847991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F45E8CC-3944-4CB7-975E-C381E6C53407}"/>
              </a:ext>
            </a:extLst>
          </p:cNvPr>
          <p:cNvSpPr txBox="1"/>
          <p:nvPr/>
        </p:nvSpPr>
        <p:spPr>
          <a:xfrm>
            <a:off x="3595257" y="84821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0853A83-6FEE-46CD-A4B0-BE6480E3DA9C}"/>
              </a:ext>
            </a:extLst>
          </p:cNvPr>
          <p:cNvSpPr txBox="1"/>
          <p:nvPr/>
        </p:nvSpPr>
        <p:spPr>
          <a:xfrm>
            <a:off x="7779046" y="847991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1389364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09413" y="99474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8" y="994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99769" y="488707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77388C-B30A-441F-90D5-D2A0E347A1D6}"/>
              </a:ext>
            </a:extLst>
          </p:cNvPr>
          <p:cNvGrpSpPr/>
          <p:nvPr/>
        </p:nvGrpSpPr>
        <p:grpSpPr>
          <a:xfrm>
            <a:off x="5411873" y="3164905"/>
            <a:ext cx="2419815" cy="1043991"/>
            <a:chOff x="-3235428" y="1356554"/>
            <a:chExt cx="2419815" cy="104399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A7B71D7-83D5-43A3-9689-54229F24A6E5}"/>
                </a:ext>
              </a:extLst>
            </p:cNvPr>
            <p:cNvGrpSpPr/>
            <p:nvPr/>
          </p:nvGrpSpPr>
          <p:grpSpPr>
            <a:xfrm>
              <a:off x="-2757258" y="1356554"/>
              <a:ext cx="1438648" cy="1043991"/>
              <a:chOff x="-2757258" y="1356554"/>
              <a:chExt cx="1438648" cy="104399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757258" y="135655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5" name="Arrow: Down 74">
                <a:extLst>
                  <a:ext uri="{FF2B5EF4-FFF2-40B4-BE49-F238E27FC236}">
                    <a16:creationId xmlns:a16="http://schemas.microsoft.com/office/drawing/2014/main" id="{4F2E78A9-7CF8-4D05-9163-86ED0826B870}"/>
                  </a:ext>
                </a:extLst>
              </p:cNvPr>
              <p:cNvSpPr/>
              <p:nvPr/>
            </p:nvSpPr>
            <p:spPr>
              <a:xfrm>
                <a:off x="-2202494" y="2217665"/>
                <a:ext cx="358828" cy="18288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68510" y="1785069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94" y="5264017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Reduced flow support raises swimming effort and energy use, even when fish move in the same direction as the current.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87787" y="1459711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E43C6710-D574-4409-9C42-42166082C13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9918" y="1085000"/>
            <a:ext cx="2420322" cy="1963082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4971468" y="1459711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80F8641-07CE-4873-AF78-C942116B2850}"/>
              </a:ext>
            </a:extLst>
          </p:cNvPr>
          <p:cNvCxnSpPr>
            <a:cxnSpLocks/>
          </p:cNvCxnSpPr>
          <p:nvPr/>
        </p:nvCxnSpPr>
        <p:spPr>
          <a:xfrm flipH="1">
            <a:off x="7226823" y="1459711"/>
            <a:ext cx="2151444" cy="2749185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B7D7229-6624-4462-ACC8-19AF0E28AD9A}"/>
              </a:ext>
            </a:extLst>
          </p:cNvPr>
          <p:cNvGrpSpPr/>
          <p:nvPr/>
        </p:nvGrpSpPr>
        <p:grpSpPr>
          <a:xfrm>
            <a:off x="2764386" y="1887992"/>
            <a:ext cx="5478134" cy="1392133"/>
            <a:chOff x="595095" y="118791"/>
            <a:chExt cx="5478134" cy="139213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8843630-3275-4131-88D1-8EFD2CC6237A}"/>
                </a:ext>
              </a:extLst>
            </p:cNvPr>
            <p:cNvGrpSpPr/>
            <p:nvPr/>
          </p:nvGrpSpPr>
          <p:grpSpPr>
            <a:xfrm>
              <a:off x="595095" y="118791"/>
              <a:ext cx="5478134" cy="1392133"/>
              <a:chOff x="622438" y="129054"/>
              <a:chExt cx="5478134" cy="139213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5D118727-8373-4E66-81B8-8AC2C61E92BA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82A9A729-3185-424D-97BF-F8AD8B3AA438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" name="Arrow: Right 98">
                  <a:extLst>
                    <a:ext uri="{FF2B5EF4-FFF2-40B4-BE49-F238E27FC236}">
                      <a16:creationId xmlns:a16="http://schemas.microsoft.com/office/drawing/2014/main" id="{F57B1D08-E049-4EEC-ABBA-5F681BC93892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509C8C3-D6DA-41C4-B1BA-06763CFF266D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BA46436-0DC0-46AB-B93F-4FD29F51F17B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846DA23-EC12-4312-9F6E-239C573EC7DE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569279-0F5A-49DA-A038-022374EF7A79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4FE2A9D6-73BC-4135-A782-A4B819C8F8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36883" t="9252" r="55401" b="73628"/>
                <a:stretch/>
              </p:blipFill>
              <p:spPr>
                <a:xfrm>
                  <a:off x="75470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CEE0B5E3-A0C1-4E8D-9034-4B87BFB969AD}"/>
                    </a:ext>
                  </a:extLst>
                </p:cNvPr>
                <p:cNvSpPr/>
                <p:nvPr/>
              </p:nvSpPr>
              <p:spPr>
                <a:xfrm>
                  <a:off x="7732610" y="5871146"/>
                  <a:ext cx="254405" cy="3657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C6F9E622-E44C-4725-9AC4-588C12E06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36883" t="9252" r="55401" b="73628"/>
                <a:stretch/>
              </p:blipFill>
              <p:spPr>
                <a:xfrm>
                  <a:off x="86835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DE3E4E43-1684-4847-86BD-33A073947117}"/>
                    </a:ext>
                  </a:extLst>
                </p:cNvPr>
                <p:cNvSpPr/>
                <p:nvPr/>
              </p:nvSpPr>
              <p:spPr>
                <a:xfrm>
                  <a:off x="8865797" y="5871146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2" name="Arrow: Right 91">
                <a:extLst>
                  <a:ext uri="{FF2B5EF4-FFF2-40B4-BE49-F238E27FC236}">
                    <a16:creationId xmlns:a16="http://schemas.microsoft.com/office/drawing/2014/main" id="{B8D30586-A42D-42D8-AAE5-16B252097FE4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E0BEBF7-CBAC-4BE2-BEAE-B23B50458448}"/>
                  </a:ext>
                </a:extLst>
              </p:cNvPr>
              <p:cNvSpPr txBox="1"/>
              <p:nvPr/>
            </p:nvSpPr>
            <p:spPr>
              <a:xfrm>
                <a:off x="5093945" y="936412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2287B5E-FFA0-459D-ABF6-C60999E4DDEA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04C80D44-808D-458E-B372-534324CF3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340" y="369385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8B72991-67F3-4B28-BAFC-C2C950BF883D}"/>
              </a:ext>
            </a:extLst>
          </p:cNvPr>
          <p:cNvCxnSpPr>
            <a:cxnSpLocks/>
          </p:cNvCxnSpPr>
          <p:nvPr/>
        </p:nvCxnSpPr>
        <p:spPr>
          <a:xfrm flipH="1">
            <a:off x="4117800" y="2727960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>
            <a:extLst>
              <a:ext uri="{FF2B5EF4-FFF2-40B4-BE49-F238E27FC236}">
                <a16:creationId xmlns:a16="http://schemas.microsoft.com/office/drawing/2014/main" id="{179497CC-6353-4042-A3F0-EBE1142052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555" y="1954767"/>
            <a:ext cx="495369" cy="81926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7EC32636-7F72-472A-9BCE-D3D592CDD75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4143" y="1095836"/>
            <a:ext cx="2420322" cy="1554615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04884F4C-726A-4A9E-820A-12E191AAF7A8}"/>
              </a:ext>
            </a:extLst>
          </p:cNvPr>
          <p:cNvSpPr/>
          <p:nvPr/>
        </p:nvSpPr>
        <p:spPr>
          <a:xfrm>
            <a:off x="1545678" y="259143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FF3FBD42-D9A3-4A01-BBB5-CDDA7780A9AB}"/>
              </a:ext>
            </a:extLst>
          </p:cNvPr>
          <p:cNvSpPr/>
          <p:nvPr/>
        </p:nvSpPr>
        <p:spPr>
          <a:xfrm>
            <a:off x="1529677" y="281920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56BB6DF7-4207-47E7-9678-DDC93AB8359B}"/>
              </a:ext>
            </a:extLst>
          </p:cNvPr>
          <p:cNvSpPr/>
          <p:nvPr/>
        </p:nvSpPr>
        <p:spPr>
          <a:xfrm>
            <a:off x="1538899" y="304849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C47390B-CCE7-4210-B448-508131D49201}"/>
              </a:ext>
            </a:extLst>
          </p:cNvPr>
          <p:cNvSpPr/>
          <p:nvPr/>
        </p:nvSpPr>
        <p:spPr>
          <a:xfrm>
            <a:off x="8390955" y="257501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5C5658DE-A6A9-4D43-954B-300BC6378DB7}"/>
              </a:ext>
            </a:extLst>
          </p:cNvPr>
          <p:cNvSpPr/>
          <p:nvPr/>
        </p:nvSpPr>
        <p:spPr>
          <a:xfrm>
            <a:off x="8374954" y="280279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C1E09910-3685-458A-9368-13FDF49B339D}"/>
              </a:ext>
            </a:extLst>
          </p:cNvPr>
          <p:cNvSpPr/>
          <p:nvPr/>
        </p:nvSpPr>
        <p:spPr>
          <a:xfrm>
            <a:off x="8390955" y="302820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6529A205-E4AE-4019-B9E5-6FAF27BE7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8506" y="1083971"/>
            <a:ext cx="2420322" cy="1554615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4BFEA26-8A32-4D8F-9986-DDBB39D01C3C}"/>
              </a:ext>
            </a:extLst>
          </p:cNvPr>
          <p:cNvSpPr/>
          <p:nvPr/>
        </p:nvSpPr>
        <p:spPr>
          <a:xfrm>
            <a:off x="6243719" y="42507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9F84264C-49AA-4180-B9D2-A1C5E95AE007}"/>
              </a:ext>
            </a:extLst>
          </p:cNvPr>
          <p:cNvSpPr/>
          <p:nvPr/>
        </p:nvSpPr>
        <p:spPr>
          <a:xfrm>
            <a:off x="6227718" y="44785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C64BB40-7AE5-4694-B10E-D6EE0BEE3D52}"/>
              </a:ext>
            </a:extLst>
          </p:cNvPr>
          <p:cNvSpPr/>
          <p:nvPr/>
        </p:nvSpPr>
        <p:spPr>
          <a:xfrm>
            <a:off x="6227718" y="470189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4DAA716-AE08-4409-A532-B73D82D570EB}"/>
              </a:ext>
            </a:extLst>
          </p:cNvPr>
          <p:cNvSpPr txBox="1"/>
          <p:nvPr/>
        </p:nvSpPr>
        <p:spPr>
          <a:xfrm>
            <a:off x="1430116" y="944377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731213-A29B-43C6-B5F7-F48F5B0D1522}"/>
              </a:ext>
            </a:extLst>
          </p:cNvPr>
          <p:cNvSpPr txBox="1"/>
          <p:nvPr/>
        </p:nvSpPr>
        <p:spPr>
          <a:xfrm>
            <a:off x="3541304" y="94460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9173EA5-AEF5-4D63-8627-BDB15D00798D}"/>
              </a:ext>
            </a:extLst>
          </p:cNvPr>
          <p:cNvSpPr txBox="1"/>
          <p:nvPr/>
        </p:nvSpPr>
        <p:spPr>
          <a:xfrm>
            <a:off x="7725093" y="944377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152623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834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562114"/>
              </p:ext>
            </p:extLst>
          </p:nvPr>
        </p:nvGraphicFramePr>
        <p:xfrm>
          <a:off x="1054958" y="1673906"/>
          <a:ext cx="10082082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41041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5041041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062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52347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Energy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Internal reserves used for movement and recovery.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589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Swimming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How fast a fish can move and if they can overcome current velocity.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057301"/>
                  </a:ext>
                </a:extLst>
              </a:tr>
              <a:tr h="4589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Maximum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upper limit of a fish’s swimming ability, constrained by size, age, and species.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773319"/>
                  </a:ext>
                </a:extLst>
              </a:tr>
              <a:tr h="45891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Swimming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Energy cost of swimming, scaled by flow difficulty and swimming resistance.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1580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0804A7D-871E-466F-8580-C582F33F4AD2}"/>
              </a:ext>
            </a:extLst>
          </p:cNvPr>
          <p:cNvSpPr txBox="1"/>
          <p:nvPr/>
        </p:nvSpPr>
        <p:spPr>
          <a:xfrm>
            <a:off x="414336" y="5184094"/>
            <a:ext cx="113633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Individual traits like size, age, and species influence a fish’s swimming capacity, energy use, and ability to navigate changing flow conditions.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39042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022485"/>
              </p:ext>
            </p:extLst>
          </p:nvPr>
        </p:nvGraphicFramePr>
        <p:xfrm>
          <a:off x="701005" y="1645920"/>
          <a:ext cx="10789979" cy="35661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31534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217189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522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Measures total energy use over time, reflecting migration effort and recovery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Swimming Difficulty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difficulty from swimming against or with the current, influencing energy expenditure.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63053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Patch-Difficulty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Maps areas with highest swimming difficulty and periods where fish struggle to migrate.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Shows where fish spend the most time, which may indicate resting zones or movement delays.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Fish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Visualizes fish distribution by location, helping assess habitat use and crowding.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9263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E83D88-3640-4EA1-9733-90F27CE7D2E9}"/>
              </a:ext>
            </a:extLst>
          </p:cNvPr>
          <p:cNvSpPr txBox="1"/>
          <p:nvPr/>
        </p:nvSpPr>
        <p:spPr>
          <a:xfrm>
            <a:off x="506038" y="5440015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Model outputs identify where and when swimming becomes most difficult, highlighting zones of high energy demand during fish migration.</a:t>
            </a:r>
          </a:p>
        </p:txBody>
      </p:sp>
    </p:spTree>
    <p:extLst>
      <p:ext uri="{BB962C8B-B14F-4D97-AF65-F5344CB8AC3E}">
        <p14:creationId xmlns:p14="http://schemas.microsoft.com/office/powerpoint/2010/main" val="206925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590550" y="1427956"/>
            <a:ext cx="110109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Accuracy &amp;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the swimming patterns and difficulty levels reflect your understanding of how fish move with or against the current?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 it make sense that fish would adjust speed based on current direction and strength?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en-US" sz="2000" b="1" dirty="0"/>
              <a:t>Missing Variables, Traits, or Parameters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other traits (like homing, spawning condition, or feeding behavior) that could influence swimming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environmental drivers (e.g., lunar phase, temperature, salinity) missing that could affect swimming difficulty or route selection?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sz="20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outputs would help us understand where or when fish struggle most during migration?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time-based outputs (e.g., time spent in high-difficulty zones) or spatial outputs (e.g., maps of swimming effort or resistance) more useful for understanding migration efficiency?</a:t>
            </a:r>
          </a:p>
        </p:txBody>
      </p:sp>
    </p:spTree>
    <p:extLst>
      <p:ext uri="{BB962C8B-B14F-4D97-AF65-F5344CB8AC3E}">
        <p14:creationId xmlns:p14="http://schemas.microsoft.com/office/powerpoint/2010/main" val="588720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420" y="5510807"/>
            <a:ext cx="1013916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can increase swimming speed to maximum levels as long as there is energy available, but higher difficulty leads to more energy expended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77150" y="2468223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Difficulty Increases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4370681" y="717252"/>
            <a:ext cx="3206878" cy="2122384"/>
            <a:chOff x="1017956" y="2071167"/>
            <a:chExt cx="1529814" cy="15760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509213" y="717252"/>
            <a:ext cx="3206878" cy="2122384"/>
            <a:chOff x="1017956" y="2071167"/>
            <a:chExt cx="1529814" cy="157602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D1842CE-9AA4-44CC-BA69-A7DC7D47846F}"/>
              </a:ext>
            </a:extLst>
          </p:cNvPr>
          <p:cNvSpPr/>
          <p:nvPr/>
        </p:nvSpPr>
        <p:spPr>
          <a:xfrm>
            <a:off x="3813759" y="138227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039419" y="2484084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Increases</a:t>
            </a:r>
          </a:p>
        </p:txBody>
      </p:sp>
    </p:spTree>
    <p:extLst>
      <p:ext uri="{BB962C8B-B14F-4D97-AF65-F5344CB8AC3E}">
        <p14:creationId xmlns:p14="http://schemas.microsoft.com/office/powerpoint/2010/main" val="1425602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>
            <a:extLst>
              <a:ext uri="{FF2B5EF4-FFF2-40B4-BE49-F238E27FC236}">
                <a16:creationId xmlns:a16="http://schemas.microsoft.com/office/drawing/2014/main" id="{7A13A02D-8D65-4159-A9CF-942313CA9563}"/>
              </a:ext>
            </a:extLst>
          </p:cNvPr>
          <p:cNvGrpSpPr/>
          <p:nvPr/>
        </p:nvGrpSpPr>
        <p:grpSpPr>
          <a:xfrm>
            <a:off x="-371708" y="3146116"/>
            <a:ext cx="6988708" cy="851113"/>
            <a:chOff x="-371708" y="3146116"/>
            <a:chExt cx="6988708" cy="851113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9096B796-597D-4295-9A95-4281A790360F}"/>
                </a:ext>
              </a:extLst>
            </p:cNvPr>
            <p:cNvSpPr txBox="1"/>
            <p:nvPr/>
          </p:nvSpPr>
          <p:spPr>
            <a:xfrm>
              <a:off x="506132" y="3412454"/>
              <a:ext cx="61108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/>
                <a:t>🧠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EB26263-910F-49E9-8226-E06BAEFC523D}"/>
                </a:ext>
              </a:extLst>
            </p:cNvPr>
            <p:cNvSpPr txBox="1"/>
            <p:nvPr/>
          </p:nvSpPr>
          <p:spPr>
            <a:xfrm>
              <a:off x="-371708" y="3146116"/>
              <a:ext cx="2419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Level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FEF7F4E-C8F9-4D6A-94E9-9E52E240B280}"/>
              </a:ext>
            </a:extLst>
          </p:cNvPr>
          <p:cNvGrpSpPr/>
          <p:nvPr/>
        </p:nvGrpSpPr>
        <p:grpSpPr>
          <a:xfrm>
            <a:off x="-361369" y="1863263"/>
            <a:ext cx="2533334" cy="972678"/>
            <a:chOff x="-59235" y="2143514"/>
            <a:chExt cx="2533334" cy="97267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29DD8C0-7C45-4EE1-A491-66BBE2458BC5}"/>
                </a:ext>
              </a:extLst>
            </p:cNvPr>
            <p:cNvSpPr txBox="1"/>
            <p:nvPr/>
          </p:nvSpPr>
          <p:spPr>
            <a:xfrm>
              <a:off x="710746" y="2408306"/>
              <a:ext cx="176335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dirty="0"/>
                <a:t>🔋</a:t>
              </a:r>
              <a:r>
                <a:rPr lang="en-US" sz="700" dirty="0"/>
                <a:t> 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5ECF635-08E8-4B33-804D-34A8E834A32A}"/>
                </a:ext>
              </a:extLst>
            </p:cNvPr>
            <p:cNvSpPr txBox="1"/>
            <p:nvPr/>
          </p:nvSpPr>
          <p:spPr>
            <a:xfrm>
              <a:off x="-59235" y="2143514"/>
              <a:ext cx="2419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Level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6E184-65EF-4E7B-BF05-5F6676CDF53C}"/>
              </a:ext>
            </a:extLst>
          </p:cNvPr>
          <p:cNvGrpSpPr/>
          <p:nvPr/>
        </p:nvGrpSpPr>
        <p:grpSpPr>
          <a:xfrm>
            <a:off x="1642734" y="1484174"/>
            <a:ext cx="8918945" cy="4529601"/>
            <a:chOff x="1631199" y="1952123"/>
            <a:chExt cx="8918945" cy="4529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DCC76E-82E4-489B-B111-88676FC9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369" y="1952123"/>
              <a:ext cx="8235639" cy="4529601"/>
            </a:xfrm>
            <a:prstGeom prst="rect">
              <a:avLst/>
            </a:prstGeom>
            <a:scene3d>
              <a:camera prst="perspectiveRelaxed"/>
              <a:lightRig rig="threePt" dir="t"/>
            </a:scene3d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1631199" y="4145198"/>
                  <a:ext cx="2419815" cy="429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1199" y="4145198"/>
                  <a:ext cx="2419815" cy="429220"/>
                </a:xfrm>
                <a:prstGeom prst="rect">
                  <a:avLst/>
                </a:prstGeom>
                <a:blipFill>
                  <a:blip r:embed="rId4"/>
                  <a:stretch>
                    <a:fillRect b="-84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F67821-0371-4DFE-A091-17B83DA69D25}"/>
                </a:ext>
              </a:extLst>
            </p:cNvPr>
            <p:cNvGrpSpPr/>
            <p:nvPr/>
          </p:nvGrpSpPr>
          <p:grpSpPr>
            <a:xfrm>
              <a:off x="1891845" y="3231495"/>
              <a:ext cx="8658299" cy="2225347"/>
              <a:chOff x="1891845" y="3231495"/>
              <a:chExt cx="8658299" cy="222534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276A888-2ECE-4AB8-B3F1-7FAA0C246190}"/>
                  </a:ext>
                </a:extLst>
              </p:cNvPr>
              <p:cNvGrpSpPr/>
              <p:nvPr/>
            </p:nvGrpSpPr>
            <p:grpSpPr>
              <a:xfrm>
                <a:off x="6130892" y="3260052"/>
                <a:ext cx="4419252" cy="2196790"/>
                <a:chOff x="6130892" y="3260052"/>
                <a:chExt cx="4419252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236376D9-59D6-43C3-A016-4189B80E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2775" y="3260052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A6A18C-73F4-401D-82EE-666BB3B0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CBF7041-5B86-4EE7-B4DD-8FCDC3337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E9D3B5-52CB-4EF8-90FC-755ABBC51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8FB62C-34AF-4D50-A582-835C2B68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172C09B0-38AE-4298-87F2-CEBDE777A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86F7CDD-CE4B-4F06-B4D3-ED79669E6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2A4542D-33A8-48CB-96B9-A3CB23BA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55B17BF-6755-4D69-B4A3-66188C691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EF482C0-DD48-49B4-B9AC-0DF016227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D0C8BAC-6E08-490F-A4E1-2171D3E41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F6AEC572-70B1-4668-82BD-C5CEE72BB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B921A53-B0CB-45B0-8E81-8C3204D1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89CFF4B-C07B-49FF-833D-BEE781EC0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0892" y="3876078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1F5CF2D4-DE71-4EBD-B571-001BA271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8278" y="4626276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D2362C5E-F9F0-4F7E-B59D-F1674DE0A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4512" y="5417361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A28C2BD-3438-4DD0-9510-71B97A3AA584}"/>
                  </a:ext>
                </a:extLst>
              </p:cNvPr>
              <p:cNvGrpSpPr/>
              <p:nvPr/>
            </p:nvGrpSpPr>
            <p:grpSpPr>
              <a:xfrm flipH="1">
                <a:off x="1891845" y="3231495"/>
                <a:ext cx="3371386" cy="2196790"/>
                <a:chOff x="7178758" y="3260052"/>
                <a:chExt cx="3371386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A4429FD-2F8B-4756-BC73-88AC77BB5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5BDA1ABD-5F75-4F9D-A705-8225B8EC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4612499-76E3-4012-B764-2EABB649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563BBC51-E788-421A-9D78-C0AF97458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C8B67D9-5F75-4548-AF92-72DA0E5D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6FBFC15B-92B7-4397-AC9C-D5A1E4A5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8C2C415F-32F1-4E09-A2F8-D62A5EC5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9D4B07B-BE0D-4D53-8815-B8A7F05FD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1FF8A1B-4116-45F8-8D80-0626EE9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9D47ED2-974A-4EA7-A8F6-33ABA327F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14A5F04-FF65-4F4A-8FE6-2BDC7479A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DCDBFF-DDED-4721-8523-4FFB745B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93D1E53-69A2-4A21-954D-B8C9542A3B97}"/>
                </a:ext>
              </a:extLst>
            </p:cNvPr>
            <p:cNvGrpSpPr/>
            <p:nvPr/>
          </p:nvGrpSpPr>
          <p:grpSpPr>
            <a:xfrm>
              <a:off x="2109369" y="3538280"/>
              <a:ext cx="1438648" cy="830997"/>
              <a:chOff x="2142823" y="3694397"/>
              <a:chExt cx="1438648" cy="83099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142823" y="3694397"/>
                <a:ext cx="1438648" cy="830997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FBFD2C57-24A4-49D5-9CD4-89FB2A8FDE51}"/>
                  </a:ext>
                </a:extLst>
              </p:cNvPr>
              <p:cNvCxnSpPr/>
              <p:nvPr/>
            </p:nvCxnSpPr>
            <p:spPr>
              <a:xfrm>
                <a:off x="2360342" y="4342069"/>
                <a:ext cx="109728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8794581" y="939061"/>
            <a:ext cx="3369484" cy="1293534"/>
            <a:chOff x="9267696" y="5389514"/>
            <a:chExt cx="3369484" cy="1293534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0010F9-677F-4723-8A7B-CDD386509001}"/>
                </a:ext>
              </a:extLst>
            </p:cNvPr>
            <p:cNvSpPr/>
            <p:nvPr/>
          </p:nvSpPr>
          <p:spPr>
            <a:xfrm>
              <a:off x="9267696" y="5787731"/>
              <a:ext cx="3274253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22031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 Velocity (</a:t>
              </a:r>
              <a:r>
                <a:rPr lang="en-US" b="1" i="1" dirty="0"/>
                <a:t>u</a:t>
              </a:r>
              <a:r>
                <a:rPr lang="en-US" dirty="0"/>
                <a:t>)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37F2E4-C7C9-4346-97C1-0B99606FB975}"/>
                    </a:ext>
                  </a:extLst>
                </p:cNvPr>
                <p:cNvSpPr txBox="1"/>
                <p:nvPr/>
              </p:nvSpPr>
              <p:spPr>
                <a:xfrm>
                  <a:off x="9743224" y="6234547"/>
                  <a:ext cx="2893956" cy="3956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Swimming Velocity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𝒂𝒈𝒆𝒏𝒕</m:t>
                          </m:r>
                        </m:sub>
                      </m:sSub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37F2E4-C7C9-4346-97C1-0B99606FB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43224" y="6234547"/>
                  <a:ext cx="2893956" cy="395621"/>
                </a:xfrm>
                <a:prstGeom prst="rect">
                  <a:avLst/>
                </a:prstGeom>
                <a:blipFill>
                  <a:blip r:embed="rId6"/>
                  <a:stretch>
                    <a:fillRect l="-1899" t="-7692" b="-1846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C585B2-0C18-4BB8-BA51-58F6C0F59181}"/>
                </a:ext>
              </a:extLst>
            </p:cNvPr>
            <p:cNvSpPr txBox="1"/>
            <p:nvPr/>
          </p:nvSpPr>
          <p:spPr>
            <a:xfrm>
              <a:off x="10186979" y="5389514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838200" y="1134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3. Fish Determine if Resting is Needed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3251312" y="5379729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C379B21-2CF5-4012-B73B-C20C90B58BA4}"/>
              </a:ext>
            </a:extLst>
          </p:cNvPr>
          <p:cNvSpPr txBox="1"/>
          <p:nvPr/>
        </p:nvSpPr>
        <p:spPr>
          <a:xfrm>
            <a:off x="7234897" y="5723956"/>
            <a:ext cx="4327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energy is ≤ 25% or stress &gt; 50%:</a:t>
            </a:r>
          </a:p>
          <a:p>
            <a:r>
              <a:rPr lang="en-US" b="1" dirty="0"/>
              <a:t>	Staging? = True</a:t>
            </a:r>
          </a:p>
          <a:p>
            <a:r>
              <a:rPr lang="en-US" b="1" i="1" dirty="0"/>
              <a:t>	</a:t>
            </a:r>
            <a:r>
              <a:rPr lang="en-US" b="1" dirty="0"/>
              <a:t>Time-in-STST = Time-in-STST + 1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4A2A430-86ED-4249-85F8-F917B66234A6}"/>
              </a:ext>
            </a:extLst>
          </p:cNvPr>
          <p:cNvCxnSpPr>
            <a:cxnSpLocks/>
          </p:cNvCxnSpPr>
          <p:nvPr/>
        </p:nvCxnSpPr>
        <p:spPr>
          <a:xfrm flipV="1">
            <a:off x="1190555" y="3229972"/>
            <a:ext cx="712825" cy="4112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A2D8DAA-A91E-4E28-87A2-E58E97EC705C}"/>
              </a:ext>
            </a:extLst>
          </p:cNvPr>
          <p:cNvCxnSpPr>
            <a:cxnSpLocks/>
          </p:cNvCxnSpPr>
          <p:nvPr/>
        </p:nvCxnSpPr>
        <p:spPr>
          <a:xfrm flipH="1" flipV="1">
            <a:off x="1188196" y="2503559"/>
            <a:ext cx="712825" cy="4112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9C1B584-C28D-4724-AAF2-DA7BA77FE190}"/>
                  </a:ext>
                </a:extLst>
              </p:cNvPr>
              <p:cNvSpPr txBox="1"/>
              <p:nvPr/>
            </p:nvSpPr>
            <p:spPr>
              <a:xfrm>
                <a:off x="313382" y="5727927"/>
                <a:ext cx="6239676" cy="949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If energy is ≥ 25%  and |</a:t>
                </a:r>
                <a:r>
                  <a:rPr lang="en-US" b="1" i="1" dirty="0"/>
                  <a:t>u</a:t>
                </a:r>
                <a:r>
                  <a:rPr lang="en-US" b="1" dirty="0"/>
                  <a:t>| in the opposite direction is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:</a:t>
                </a:r>
              </a:p>
              <a:p>
                <a:r>
                  <a:rPr lang="en-US" b="1" dirty="0"/>
                  <a:t>	In-STST? = True</a:t>
                </a:r>
              </a:p>
              <a:p>
                <a:r>
                  <a:rPr lang="en-US" b="1" dirty="0"/>
                  <a:t>	Time-in-Staging = Time-in-Staging + 1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C9C1B584-C28D-4724-AAF2-DA7BA77FE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82" y="5727927"/>
                <a:ext cx="6239676" cy="949619"/>
              </a:xfrm>
              <a:prstGeom prst="rect">
                <a:avLst/>
              </a:prstGeom>
              <a:blipFill>
                <a:blip r:embed="rId7"/>
                <a:stretch>
                  <a:fillRect l="-781" t="-3226" r="-684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TextBox 94">
            <a:extLst>
              <a:ext uri="{FF2B5EF4-FFF2-40B4-BE49-F238E27FC236}">
                <a16:creationId xmlns:a16="http://schemas.microsoft.com/office/drawing/2014/main" id="{53C9ADDD-6F2E-43C5-8890-9D49AEA5ABCB}"/>
              </a:ext>
            </a:extLst>
          </p:cNvPr>
          <p:cNvSpPr txBox="1"/>
          <p:nvPr/>
        </p:nvSpPr>
        <p:spPr>
          <a:xfrm>
            <a:off x="2000455" y="2885665"/>
            <a:ext cx="182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Swimming Speed</a:t>
            </a:r>
          </a:p>
        </p:txBody>
      </p:sp>
    </p:spTree>
    <p:extLst>
      <p:ext uri="{BB962C8B-B14F-4D97-AF65-F5344CB8AC3E}">
        <p14:creationId xmlns:p14="http://schemas.microsoft.com/office/powerpoint/2010/main" val="3472309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DA7D9-9FF1-4A15-B039-B2EC7456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081" y="33022"/>
            <a:ext cx="10515600" cy="1325563"/>
          </a:xfrm>
        </p:spPr>
        <p:txBody>
          <a:bodyPr/>
          <a:lstStyle/>
          <a:p>
            <a:pPr algn="ctr"/>
            <a:r>
              <a:rPr lang="en-US" sz="4400" dirty="0"/>
              <a:t>4. Fish Move to Conserve Energy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A0284-540C-4BD4-8A79-4FD6CA929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2560" y="3893732"/>
            <a:ext cx="5157787" cy="823912"/>
          </a:xfrm>
        </p:spPr>
        <p:txBody>
          <a:bodyPr/>
          <a:lstStyle/>
          <a:p>
            <a:pPr algn="ctr"/>
            <a:r>
              <a:rPr lang="en-US" dirty="0"/>
              <a:t>Selective Tidal Stream Transport (STST)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55F1D-6843-4DCB-8528-A11E2A7CD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018" y="4764455"/>
            <a:ext cx="5157787" cy="39705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Fish attempt to remain in place, move lower in the water column, and drift passively with the current to conserve energy use.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4B66F-3E4D-4F7E-87CA-B59C66EE5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77917" y="3872210"/>
            <a:ext cx="5183188" cy="823912"/>
          </a:xfrm>
        </p:spPr>
        <p:txBody>
          <a:bodyPr/>
          <a:lstStyle/>
          <a:p>
            <a:pPr algn="ctr"/>
            <a:r>
              <a:rPr lang="en-US" dirty="0"/>
              <a:t>Staging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7CA8F4D-3958-48DA-99AC-D0C1585981D1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374096" y="4763013"/>
                <a:ext cx="5933790" cy="39705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Fish identify and move to the most energy-efficient neighboring patches to rest</a:t>
                </a:r>
              </a:p>
              <a:p>
                <a:pPr marL="0" indent="0">
                  <a:buNone/>
                </a:pPr>
                <a:r>
                  <a:rPr lang="en-US" sz="2400" dirty="0"/>
                  <a:t>	where:</a:t>
                </a:r>
              </a:p>
              <a:p>
                <a:pPr marL="0" indent="0">
                  <a:buNone/>
                </a:pPr>
                <a:r>
                  <a:rPr lang="en-US" sz="2400" dirty="0"/>
                  <a:t> 		|</a:t>
                </a:r>
                <a:r>
                  <a:rPr lang="en-US" sz="2400" i="1" dirty="0"/>
                  <a:t>u</a:t>
                </a:r>
                <a:r>
                  <a:rPr lang="en-US" sz="2400" dirty="0"/>
                  <a:t>|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7CA8F4D-3958-48DA-99AC-D0C1585981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374096" y="4763013"/>
                <a:ext cx="5933790" cy="3970570"/>
              </a:xfrm>
              <a:blipFill>
                <a:blip r:embed="rId2"/>
                <a:stretch>
                  <a:fillRect l="-1644" t="-2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1AA5BD90-414C-43D6-979A-566E067CA691}"/>
              </a:ext>
            </a:extLst>
          </p:cNvPr>
          <p:cNvGrpSpPr/>
          <p:nvPr/>
        </p:nvGrpSpPr>
        <p:grpSpPr>
          <a:xfrm>
            <a:off x="6238952" y="1293131"/>
            <a:ext cx="5230727" cy="3469882"/>
            <a:chOff x="5997575" y="1539666"/>
            <a:chExt cx="5230727" cy="34698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1012ACD-B33C-47C6-BF65-E14C1A0AB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7177" y="1539666"/>
              <a:ext cx="4811125" cy="3469882"/>
            </a:xfrm>
            <a:prstGeom prst="rect">
              <a:avLst/>
            </a:prstGeom>
            <a:scene3d>
              <a:camera prst="perspectiveRelaxed"/>
              <a:lightRig rig="threePt" dir="t"/>
            </a:scene3d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F1C0615-5251-4805-BC4E-55EBF03B5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71423" y="1921220"/>
              <a:ext cx="672122" cy="672122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03E1C5-EB06-4566-A1EC-954FFAB3C5BD}"/>
                </a:ext>
              </a:extLst>
            </p:cNvPr>
            <p:cNvSpPr txBox="1"/>
            <p:nvPr/>
          </p:nvSpPr>
          <p:spPr>
            <a:xfrm>
              <a:off x="5997575" y="1652272"/>
              <a:ext cx="2419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Low Energy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0CB3D0E-9C03-475F-8347-59726E7ED4E8}"/>
                </a:ext>
              </a:extLst>
            </p:cNvPr>
            <p:cNvGrpSpPr/>
            <p:nvPr/>
          </p:nvGrpSpPr>
          <p:grpSpPr>
            <a:xfrm>
              <a:off x="6163198" y="2859964"/>
              <a:ext cx="3017070" cy="884955"/>
              <a:chOff x="5605549" y="2866559"/>
              <a:chExt cx="7690460" cy="884955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71BC935-15C9-41FA-8578-06B5F64555CF}"/>
                  </a:ext>
                </a:extLst>
              </p:cNvPr>
              <p:cNvSpPr txBox="1"/>
              <p:nvPr/>
            </p:nvSpPr>
            <p:spPr>
              <a:xfrm>
                <a:off x="6841239" y="3105183"/>
                <a:ext cx="113309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🧠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48C19B1-7A76-4E84-88E8-5A22CCF10C43}"/>
                  </a:ext>
                </a:extLst>
              </p:cNvPr>
              <p:cNvSpPr txBox="1"/>
              <p:nvPr/>
            </p:nvSpPr>
            <p:spPr>
              <a:xfrm>
                <a:off x="7201870" y="3171528"/>
                <a:ext cx="6094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⚠️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8F5FE81-BBEF-4743-ACB3-A0D686F9A8D7}"/>
                  </a:ext>
                </a:extLst>
              </p:cNvPr>
              <p:cNvSpPr txBox="1"/>
              <p:nvPr/>
            </p:nvSpPr>
            <p:spPr>
              <a:xfrm>
                <a:off x="5605549" y="2866559"/>
                <a:ext cx="45947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High Stress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EF36B36-4FFF-4BAB-904C-CFA1349E8A7E}"/>
                </a:ext>
              </a:extLst>
            </p:cNvPr>
            <p:cNvGrpSpPr/>
            <p:nvPr/>
          </p:nvGrpSpPr>
          <p:grpSpPr>
            <a:xfrm>
              <a:off x="6859148" y="2514198"/>
              <a:ext cx="3896980" cy="1363648"/>
              <a:chOff x="6736484" y="3166429"/>
              <a:chExt cx="3896980" cy="136364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03AF90E5-0694-49CF-91C4-30D0654EE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5764" y="316642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13B9124-82F5-4485-8D21-3ECA049D4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60057" y="3831785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FE244AF-6283-4DF3-AEC5-4E4A86FC2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0584" y="4519443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A071050-E093-4E25-91E6-501372BFD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316642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B0412FE-F26D-45CD-95AE-BC1BD04072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3816399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01C60AA-FEB5-43A5-ABC4-046A8F6D1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463" y="4530077"/>
                <a:ext cx="18288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5B965D1-CA95-4443-878F-F3A90DCAB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0170" y="3166429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3243C90-191B-42BE-98B4-3A813EA44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47868" y="3809483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9CF7506E-22A0-4507-BCD2-61A632B90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6717" y="4530077"/>
                <a:ext cx="36576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00CF0BF-F2CF-4342-8213-285D6A422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6484" y="4530077"/>
                <a:ext cx="548640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5B28AF8-487B-48D2-B305-8FE7EB268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830319" y="2886184"/>
              <a:ext cx="1207040" cy="6972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0C852BA-2119-4A0A-877D-E91521983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9908624" y="2164726"/>
              <a:ext cx="878053" cy="50718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7EECFC9-2CF1-4E39-9DC7-897F9B6AB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9998032" y="2518636"/>
              <a:ext cx="699235" cy="40389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7EA95D5-D015-4BB9-B694-454019F3C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10461901" y="2426868"/>
              <a:ext cx="500299" cy="28898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DA721E-05C2-4010-8729-6A2CDA95D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035987" flipH="1">
              <a:off x="9940210" y="2842201"/>
              <a:ext cx="878053" cy="50718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382099E-106C-4D1B-8912-63E689667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035987" flipH="1">
              <a:off x="10029618" y="3196111"/>
              <a:ext cx="699235" cy="40389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3BB9247-31D8-470C-A95B-99C943811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035987" flipH="1">
              <a:off x="10493487" y="3104343"/>
              <a:ext cx="500299" cy="28898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D2468AB-D0DC-42BE-A619-70A877876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908143" flipH="1">
              <a:off x="9244814" y="2495153"/>
              <a:ext cx="878053" cy="50718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B77F304-A47B-4552-A229-05E51DBF0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908143" flipH="1">
              <a:off x="9334222" y="2849063"/>
              <a:ext cx="699235" cy="40389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202619B9-7356-4F4A-8602-0BB66D4F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0908143" flipH="1">
              <a:off x="9798091" y="2757295"/>
              <a:ext cx="500299" cy="28898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C617D5E-A550-486D-A42A-6D441E6A9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8134" y="3020791"/>
              <a:ext cx="354189" cy="1011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2119549-3E7B-48FE-9488-F0BE4F335F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6200" y="2589455"/>
              <a:ext cx="460717" cy="312332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2CE093A-EE2C-4BC0-AA42-7BFC5E111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3374" y="3208668"/>
              <a:ext cx="356508" cy="3393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E10A1DDA-0DAC-4023-AC9E-7F78264A1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077688" y="2754133"/>
            <a:ext cx="1207040" cy="6972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063A030-C59F-4D02-B8A0-0AF055CAE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81" y="1290777"/>
            <a:ext cx="4811125" cy="3469882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FE35DD1-7F28-4D13-A7A8-CD3B7DD501CD}"/>
              </a:ext>
            </a:extLst>
          </p:cNvPr>
          <p:cNvCxnSpPr>
            <a:cxnSpLocks/>
          </p:cNvCxnSpPr>
          <p:nvPr/>
        </p:nvCxnSpPr>
        <p:spPr>
          <a:xfrm flipH="1">
            <a:off x="2578285" y="2340566"/>
            <a:ext cx="3657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3A321D2-1283-4DA2-9DC8-D132929E0079}"/>
              </a:ext>
            </a:extLst>
          </p:cNvPr>
          <p:cNvCxnSpPr>
            <a:cxnSpLocks/>
          </p:cNvCxnSpPr>
          <p:nvPr/>
        </p:nvCxnSpPr>
        <p:spPr>
          <a:xfrm flipH="1">
            <a:off x="2489076" y="3773923"/>
            <a:ext cx="36576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35F5AAE-2901-4C33-ACD4-C784EB55121F}"/>
              </a:ext>
            </a:extLst>
          </p:cNvPr>
          <p:cNvCxnSpPr>
            <a:cxnSpLocks/>
          </p:cNvCxnSpPr>
          <p:nvPr/>
        </p:nvCxnSpPr>
        <p:spPr>
          <a:xfrm flipH="1">
            <a:off x="1188843" y="3773923"/>
            <a:ext cx="27432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3109A8-F478-4790-BF46-10FC4B1E8C66}"/>
              </a:ext>
            </a:extLst>
          </p:cNvPr>
          <p:cNvCxnSpPr>
            <a:cxnSpLocks/>
          </p:cNvCxnSpPr>
          <p:nvPr/>
        </p:nvCxnSpPr>
        <p:spPr>
          <a:xfrm flipH="1">
            <a:off x="3549183" y="3013860"/>
            <a:ext cx="640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B613FC-B07F-4A82-A596-4C7098A43CAE}"/>
              </a:ext>
            </a:extLst>
          </p:cNvPr>
          <p:cNvCxnSpPr>
            <a:cxnSpLocks/>
          </p:cNvCxnSpPr>
          <p:nvPr/>
        </p:nvCxnSpPr>
        <p:spPr>
          <a:xfrm flipH="1">
            <a:off x="3593787" y="3810921"/>
            <a:ext cx="640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BAA4AA0-02A9-4A01-BE2C-927629F2B447}"/>
              </a:ext>
            </a:extLst>
          </p:cNvPr>
          <p:cNvCxnSpPr>
            <a:cxnSpLocks/>
          </p:cNvCxnSpPr>
          <p:nvPr/>
        </p:nvCxnSpPr>
        <p:spPr>
          <a:xfrm flipH="1">
            <a:off x="3526881" y="2340566"/>
            <a:ext cx="64008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FE04B44-0358-44D7-8DB7-5CCB35E005FB}"/>
              </a:ext>
            </a:extLst>
          </p:cNvPr>
          <p:cNvCxnSpPr>
            <a:cxnSpLocks/>
          </p:cNvCxnSpPr>
          <p:nvPr/>
        </p:nvCxnSpPr>
        <p:spPr>
          <a:xfrm flipH="1">
            <a:off x="4459865" y="2340566"/>
            <a:ext cx="9144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FECBB08-027D-48DC-9700-253529E8DF8F}"/>
              </a:ext>
            </a:extLst>
          </p:cNvPr>
          <p:cNvCxnSpPr>
            <a:cxnSpLocks/>
          </p:cNvCxnSpPr>
          <p:nvPr/>
        </p:nvCxnSpPr>
        <p:spPr>
          <a:xfrm flipH="1">
            <a:off x="4567660" y="3013860"/>
            <a:ext cx="9144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2EAF577-965C-4A79-AEE3-7656DE0F4021}"/>
              </a:ext>
            </a:extLst>
          </p:cNvPr>
          <p:cNvCxnSpPr>
            <a:cxnSpLocks/>
          </p:cNvCxnSpPr>
          <p:nvPr/>
        </p:nvCxnSpPr>
        <p:spPr>
          <a:xfrm flipH="1">
            <a:off x="4732806" y="3833222"/>
            <a:ext cx="9144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8A0F712-F770-452B-91AB-C310B14CC680}"/>
              </a:ext>
            </a:extLst>
          </p:cNvPr>
          <p:cNvSpPr txBox="1"/>
          <p:nvPr/>
        </p:nvSpPr>
        <p:spPr>
          <a:xfrm>
            <a:off x="337763" y="1487665"/>
            <a:ext cx="2419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Sufficient Energy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5309B0-B6C5-4816-9740-1F72074BE59B}"/>
              </a:ext>
            </a:extLst>
          </p:cNvPr>
          <p:cNvSpPr txBox="1"/>
          <p:nvPr/>
        </p:nvSpPr>
        <p:spPr>
          <a:xfrm>
            <a:off x="951914" y="2954636"/>
            <a:ext cx="444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🧠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3758CB-BDD3-4580-B364-8A525426985C}"/>
              </a:ext>
            </a:extLst>
          </p:cNvPr>
          <p:cNvSpPr txBox="1"/>
          <p:nvPr/>
        </p:nvSpPr>
        <p:spPr>
          <a:xfrm>
            <a:off x="467136" y="2716012"/>
            <a:ext cx="1802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Low Stress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63DBFDF-C2F6-4BE7-8110-20AEABCA543D}"/>
              </a:ext>
            </a:extLst>
          </p:cNvPr>
          <p:cNvCxnSpPr>
            <a:cxnSpLocks/>
          </p:cNvCxnSpPr>
          <p:nvPr/>
        </p:nvCxnSpPr>
        <p:spPr>
          <a:xfrm flipH="1" flipV="1">
            <a:off x="1810138" y="2445503"/>
            <a:ext cx="460717" cy="312332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5E8C823-7C8D-4C32-8022-3B5243A8A36E}"/>
              </a:ext>
            </a:extLst>
          </p:cNvPr>
          <p:cNvCxnSpPr>
            <a:cxnSpLocks/>
          </p:cNvCxnSpPr>
          <p:nvPr/>
        </p:nvCxnSpPr>
        <p:spPr>
          <a:xfrm flipV="1">
            <a:off x="1827312" y="3064716"/>
            <a:ext cx="356508" cy="3393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20E6E72-673C-4C47-B77C-79BECD4FC2C9}"/>
              </a:ext>
            </a:extLst>
          </p:cNvPr>
          <p:cNvSpPr txBox="1"/>
          <p:nvPr/>
        </p:nvSpPr>
        <p:spPr>
          <a:xfrm>
            <a:off x="1004967" y="1778901"/>
            <a:ext cx="5213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🔋</a:t>
            </a:r>
          </a:p>
        </p:txBody>
      </p:sp>
    </p:spTree>
    <p:extLst>
      <p:ext uri="{BB962C8B-B14F-4D97-AF65-F5344CB8AC3E}">
        <p14:creationId xmlns:p14="http://schemas.microsoft.com/office/powerpoint/2010/main" val="1562270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6E184-65EF-4E7B-BF05-5F6676CDF53C}"/>
              </a:ext>
            </a:extLst>
          </p:cNvPr>
          <p:cNvGrpSpPr/>
          <p:nvPr/>
        </p:nvGrpSpPr>
        <p:grpSpPr>
          <a:xfrm>
            <a:off x="1691507" y="1796408"/>
            <a:ext cx="8658299" cy="4529601"/>
            <a:chOff x="1891845" y="1952123"/>
            <a:chExt cx="8658299" cy="45296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2DCC76E-82E4-489B-B111-88676FC9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369" y="1952123"/>
              <a:ext cx="8235639" cy="4529601"/>
            </a:xfrm>
            <a:prstGeom prst="rect">
              <a:avLst/>
            </a:prstGeom>
            <a:scene3d>
              <a:camera prst="perspectiveRelaxed"/>
              <a:lightRig rig="threePt" dir="t"/>
            </a:scene3d>
          </p:spPr>
        </p:pic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E6F67821-0371-4DFE-A091-17B83DA69D25}"/>
                </a:ext>
              </a:extLst>
            </p:cNvPr>
            <p:cNvGrpSpPr/>
            <p:nvPr/>
          </p:nvGrpSpPr>
          <p:grpSpPr>
            <a:xfrm>
              <a:off x="1891845" y="3231495"/>
              <a:ext cx="8658299" cy="2225347"/>
              <a:chOff x="1891845" y="3231495"/>
              <a:chExt cx="8658299" cy="2225347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276A888-2ECE-4AB8-B3F1-7FAA0C246190}"/>
                  </a:ext>
                </a:extLst>
              </p:cNvPr>
              <p:cNvGrpSpPr/>
              <p:nvPr/>
            </p:nvGrpSpPr>
            <p:grpSpPr>
              <a:xfrm>
                <a:off x="6130892" y="3260052"/>
                <a:ext cx="4419252" cy="2196790"/>
                <a:chOff x="6130892" y="3260052"/>
                <a:chExt cx="4419252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236376D9-59D6-43C3-A016-4189B80E1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2775" y="3260052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1AA6A18C-73F4-401D-82EE-666BB3B07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ACBF7041-5B86-4EE7-B4DD-8FCDC3337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01E9D3B5-52CB-4EF8-90FC-755ABBC515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88FB62C-34AF-4D50-A582-835C2B68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178544" y="386474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172C09B0-38AE-4298-87F2-CEBDE777AC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86F7CDD-CE4B-4F06-B4D3-ED79669E61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42A4542D-33A8-48CB-96B9-A3CB23BA9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F55B17BF-6755-4D69-B4A3-66188C6913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EF482C0-DD48-49B4-B9AC-0DF016227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1D0C8BAC-6E08-490F-A4E1-2171D3E41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F6AEC572-70B1-4668-82BD-C5CEE72BB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FB921A53-B0CB-45B0-8E81-8C3204D12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889CFF4B-C07B-49FF-833D-BEE781EC0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0892" y="3876078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1F5CF2D4-DE71-4EBD-B571-001BA27144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8278" y="4626276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D2362C5E-F9F0-4F7E-B59D-F1674DE0A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34512" y="5417361"/>
                  <a:ext cx="18288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A28C2BD-3438-4DD0-9510-71B97A3AA584}"/>
                  </a:ext>
                </a:extLst>
              </p:cNvPr>
              <p:cNvGrpSpPr/>
              <p:nvPr/>
            </p:nvGrpSpPr>
            <p:grpSpPr>
              <a:xfrm flipH="1">
                <a:off x="1891845" y="3231495"/>
                <a:ext cx="3371386" cy="2196790"/>
                <a:chOff x="7178758" y="3260052"/>
                <a:chExt cx="3371386" cy="2196790"/>
              </a:xfr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6A4429FD-2F8B-4756-BC73-88AC77BB5A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981539" y="3260052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5BDA1ABD-5F75-4F9D-A705-8225B8ECAA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178758" y="3261937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84612499-76E3-4012-B764-2EABB64907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082007" y="326005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1C8B67D9-5F75-4548-AF92-72DA0E5D9C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30608" y="4623388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6FBFC15B-92B7-4397-AC9C-D5A1E4A59F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635744" y="5428285"/>
                  <a:ext cx="91440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8C2C415F-32F1-4E09-A2F8-D62A5EC58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3256" y="3864748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C9D4B07B-BE0D-4D53-8815-B8A7F05FD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356327" y="4599549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31FF8A1B-4116-45F8-8D80-0626EE9CD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08727" y="5456842"/>
                  <a:ext cx="54864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49D47ED2-974A-4EA7-A8F6-33ABA327F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23362" y="386474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B14A5F04-FF65-4F4A-8FE6-2BDC7479A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60509" y="4599549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8CDCDBFF-DDED-4721-8523-4FFB745B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2629" y="5422558"/>
                  <a:ext cx="274320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2100546" y="3562988"/>
              <a:ext cx="1438648" cy="830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68120" y="1182183"/>
            <a:ext cx="2686410" cy="1272279"/>
            <a:chOff x="9267697" y="5410769"/>
            <a:chExt cx="2686410" cy="1272279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0010F9-677F-4723-8A7B-CDD386509001}"/>
                </a:ext>
              </a:extLst>
            </p:cNvPr>
            <p:cNvSpPr/>
            <p:nvPr/>
          </p:nvSpPr>
          <p:spPr>
            <a:xfrm>
              <a:off x="9267697" y="5787731"/>
              <a:ext cx="2474537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Current Velocity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Swimming Velocity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C585B2-0C18-4BB8-BA51-58F6C0F59181}"/>
                </a:ext>
              </a:extLst>
            </p:cNvPr>
            <p:cNvSpPr txBox="1"/>
            <p:nvPr/>
          </p:nvSpPr>
          <p:spPr>
            <a:xfrm>
              <a:off x="9661189" y="5410769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70" name="Title 1">
            <a:extLst>
              <a:ext uri="{FF2B5EF4-FFF2-40B4-BE49-F238E27FC236}">
                <a16:creationId xmlns:a16="http://schemas.microsoft.com/office/drawing/2014/main" id="{38C10F88-8A97-48BF-B3A9-22755239630E}"/>
              </a:ext>
            </a:extLst>
          </p:cNvPr>
          <p:cNvSpPr txBox="1">
            <a:spLocks/>
          </p:cNvSpPr>
          <p:nvPr/>
        </p:nvSpPr>
        <p:spPr>
          <a:xfrm>
            <a:off x="838200" y="11344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5. Track the Location where Fish are Resting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E710CF-B969-498C-B300-294BFDFF2C70}"/>
              </a:ext>
            </a:extLst>
          </p:cNvPr>
          <p:cNvGrpSpPr/>
          <p:nvPr/>
        </p:nvGrpSpPr>
        <p:grpSpPr>
          <a:xfrm>
            <a:off x="2357170" y="2060692"/>
            <a:ext cx="5022572" cy="1234095"/>
            <a:chOff x="2732895" y="1492305"/>
            <a:chExt cx="5022572" cy="1234095"/>
          </a:xfrm>
        </p:grpSpPr>
        <p:sp>
          <p:nvSpPr>
            <p:cNvPr id="9" name="Callout: Double Bent Line 8">
              <a:extLst>
                <a:ext uri="{FF2B5EF4-FFF2-40B4-BE49-F238E27FC236}">
                  <a16:creationId xmlns:a16="http://schemas.microsoft.com/office/drawing/2014/main" id="{203CB93E-8741-4B6F-91E2-F09C3B0BBAC5}"/>
                </a:ext>
              </a:extLst>
            </p:cNvPr>
            <p:cNvSpPr/>
            <p:nvPr/>
          </p:nvSpPr>
          <p:spPr>
            <a:xfrm>
              <a:off x="2732895" y="1492305"/>
              <a:ext cx="4494248" cy="1234095"/>
            </a:xfrm>
            <a:prstGeom prst="borderCallout3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44AC48E-BEA8-4E39-9396-12AA13C9A1C9}"/>
                </a:ext>
              </a:extLst>
            </p:cNvPr>
            <p:cNvSpPr txBox="1"/>
            <p:nvPr/>
          </p:nvSpPr>
          <p:spPr>
            <a:xfrm>
              <a:off x="2798996" y="1642489"/>
              <a:ext cx="4956471" cy="949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If STST? = True:</a:t>
              </a:r>
            </a:p>
            <a:p>
              <a:r>
                <a:rPr lang="en-US" b="1" dirty="0"/>
                <a:t>	</a:t>
              </a:r>
              <a:r>
                <a:rPr lang="en-US" sz="1800" b="1" i="1" dirty="0"/>
                <a:t> </a:t>
              </a:r>
              <a:r>
                <a:rPr lang="en-US" sz="1800" b="1" dirty="0"/>
                <a:t>STST-in-Patch</a:t>
              </a:r>
              <a:r>
                <a:rPr lang="en-US" b="1" dirty="0"/>
                <a:t> = </a:t>
              </a:r>
              <a:r>
                <a:rPr lang="en-US" sz="1800" b="1" dirty="0"/>
                <a:t>STST-in-Patch</a:t>
              </a:r>
              <a:r>
                <a:rPr lang="en-US" sz="1800" b="1" i="1" dirty="0"/>
                <a:t> </a:t>
              </a:r>
              <a:r>
                <a:rPr lang="en-US" sz="1800" b="1" dirty="0"/>
                <a:t>+</a:t>
              </a:r>
              <a:r>
                <a:rPr lang="en-US" sz="1800" b="1" i="1" dirty="0"/>
                <a:t> 1</a:t>
              </a:r>
              <a:endParaRPr lang="en-US" b="1" dirty="0"/>
            </a:p>
            <a:p>
              <a:r>
                <a:rPr lang="en-US" b="1" dirty="0"/>
                <a:t>	</a:t>
              </a:r>
              <a:r>
                <a:rPr lang="en-US" sz="1800" b="1" i="1" dirty="0"/>
                <a:t> </a:t>
              </a:r>
              <a:r>
                <a:rPr lang="en-US" sz="1800" b="1" dirty="0"/>
                <a:t>STST-time</a:t>
              </a:r>
              <a:r>
                <a:rPr lang="en-US" b="1" dirty="0"/>
                <a:t> = </a:t>
              </a:r>
              <a:r>
                <a:rPr lang="en-US" sz="1800" b="1" dirty="0"/>
                <a:t>STST-time</a:t>
              </a:r>
              <a:r>
                <a:rPr lang="en-US" b="1" dirty="0"/>
                <a:t> + 1</a:t>
              </a:r>
            </a:p>
          </p:txBody>
        </p:sp>
      </p:grpSp>
      <p:sp>
        <p:nvSpPr>
          <p:cNvPr id="69" name="Callout: Double Bent Line 68">
            <a:extLst>
              <a:ext uri="{FF2B5EF4-FFF2-40B4-BE49-F238E27FC236}">
                <a16:creationId xmlns:a16="http://schemas.microsoft.com/office/drawing/2014/main" id="{4C2262EB-25DA-46F5-8BB7-96E19522F3CF}"/>
              </a:ext>
            </a:extLst>
          </p:cNvPr>
          <p:cNvSpPr/>
          <p:nvPr/>
        </p:nvSpPr>
        <p:spPr>
          <a:xfrm flipV="1">
            <a:off x="2353842" y="4187294"/>
            <a:ext cx="5025899" cy="1234095"/>
          </a:xfrm>
          <a:prstGeom prst="borderCallout3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2E31EA-0EBA-4352-9B95-82EA0FD982A2}"/>
              </a:ext>
            </a:extLst>
          </p:cNvPr>
          <p:cNvSpPr txBox="1"/>
          <p:nvPr/>
        </p:nvSpPr>
        <p:spPr>
          <a:xfrm>
            <a:off x="2423271" y="4338316"/>
            <a:ext cx="48294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/>
              <a:t>Staging? = True:</a:t>
            </a:r>
          </a:p>
          <a:p>
            <a:r>
              <a:rPr lang="en-US" b="1" dirty="0"/>
              <a:t>	</a:t>
            </a:r>
            <a:r>
              <a:rPr lang="en-US" sz="1800" b="1" i="1" dirty="0"/>
              <a:t> </a:t>
            </a:r>
            <a:r>
              <a:rPr lang="en-US" sz="1800" b="1" dirty="0"/>
              <a:t>Staging-in-Patch = Staging-in-Patch + 1</a:t>
            </a:r>
            <a:endParaRPr lang="en-US" b="1" dirty="0"/>
          </a:p>
          <a:p>
            <a:r>
              <a:rPr lang="en-US" b="1" i="1" dirty="0"/>
              <a:t>	</a:t>
            </a:r>
            <a:r>
              <a:rPr lang="en-US" sz="1800" b="1" i="1" dirty="0"/>
              <a:t> </a:t>
            </a:r>
            <a:r>
              <a:rPr lang="en-US" sz="1800" b="1" dirty="0"/>
              <a:t>Staging-time</a:t>
            </a:r>
            <a:r>
              <a:rPr lang="en-US" b="1" dirty="0"/>
              <a:t> = </a:t>
            </a:r>
            <a:r>
              <a:rPr lang="en-US" sz="1800" b="1" dirty="0"/>
              <a:t>Staging-time</a:t>
            </a:r>
            <a:r>
              <a:rPr lang="en-US" b="1" dirty="0"/>
              <a:t> + 1</a:t>
            </a:r>
          </a:p>
        </p:txBody>
      </p:sp>
    </p:spTree>
    <p:extLst>
      <p:ext uri="{BB962C8B-B14F-4D97-AF65-F5344CB8AC3E}">
        <p14:creationId xmlns:p14="http://schemas.microsoft.com/office/powerpoint/2010/main" val="23076019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82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6. Check for Better Conditions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70965-C2DC-4D96-A963-F82D8595F4C9}"/>
              </a:ext>
            </a:extLst>
          </p:cNvPr>
          <p:cNvSpPr txBox="1"/>
          <p:nvPr/>
        </p:nvSpPr>
        <p:spPr>
          <a:xfrm>
            <a:off x="3166533" y="1841186"/>
            <a:ext cx="779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Fish remain in STST until swimming difficulty is 10%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3166533" y="2855396"/>
            <a:ext cx="759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Fish remain Staging until stress is &lt;= 10% and Energy &gt;= 75%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473A3-5F1B-4EA0-8959-745DDC452545}"/>
              </a:ext>
            </a:extLst>
          </p:cNvPr>
          <p:cNvSpPr txBox="1"/>
          <p:nvPr/>
        </p:nvSpPr>
        <p:spPr>
          <a:xfrm>
            <a:off x="1653533" y="4389927"/>
            <a:ext cx="931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Highlights areas where fish expend the most energy just to regulate salinity.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detect environmental stress zones.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used to guide restoration efforts by identifying energy-intensive “pinch points” during migration.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3B3F5-5284-49D7-BF69-984A77F2553E}"/>
              </a:ext>
            </a:extLst>
          </p:cNvPr>
          <p:cNvSpPr txBox="1"/>
          <p:nvPr/>
        </p:nvSpPr>
        <p:spPr>
          <a:xfrm>
            <a:off x="1653534" y="3989817"/>
            <a:ext cx="2664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Why it Matters: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CABA6-87AF-42E8-8745-D6688CA0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633" y="1657742"/>
            <a:ext cx="766999" cy="7669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90F76-9440-459E-957E-A53FDAC9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632" y="2685384"/>
            <a:ext cx="766999" cy="7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54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644E97-2C58-45C4-AF3F-FC40F4B0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641" y="1207348"/>
            <a:ext cx="4147971" cy="2518483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27E8E18-46E0-469E-A1AF-8FDA66BF2856}"/>
              </a:ext>
            </a:extLst>
          </p:cNvPr>
          <p:cNvSpPr/>
          <p:nvPr/>
        </p:nvSpPr>
        <p:spPr>
          <a:xfrm>
            <a:off x="7186805" y="1673761"/>
            <a:ext cx="4080510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2E18E-CCCC-4900-BC6B-673440F0A892}"/>
              </a:ext>
            </a:extLst>
          </p:cNvPr>
          <p:cNvSpPr txBox="1"/>
          <p:nvPr/>
        </p:nvSpPr>
        <p:spPr>
          <a:xfrm>
            <a:off x="6814448" y="114666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47AA3-CEB5-4D7A-9D78-C9B73F2D7BB2}"/>
              </a:ext>
            </a:extLst>
          </p:cNvPr>
          <p:cNvSpPr txBox="1"/>
          <p:nvPr/>
        </p:nvSpPr>
        <p:spPr>
          <a:xfrm>
            <a:off x="11099020" y="2456715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</a:t>
            </a:r>
            <a:endParaRPr lang="en-US" sz="14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86251-0B1F-464C-94BD-02B3FFD849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77" r="7513"/>
          <a:stretch/>
        </p:blipFill>
        <p:spPr>
          <a:xfrm>
            <a:off x="7209102" y="1584916"/>
            <a:ext cx="4080510" cy="883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514D9-338F-4D9E-9C59-DC762E424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851" y="3720425"/>
            <a:ext cx="3579521" cy="19974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05D18C-C223-4FB3-9D6C-CCFBE848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643" y="2274816"/>
            <a:ext cx="4147971" cy="2518483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CDA6835-1978-4968-AA00-BEDAB9E314F6}"/>
              </a:ext>
            </a:extLst>
          </p:cNvPr>
          <p:cNvSpPr/>
          <p:nvPr/>
        </p:nvSpPr>
        <p:spPr>
          <a:xfrm>
            <a:off x="2015490" y="1312783"/>
            <a:ext cx="4080510" cy="1634499"/>
          </a:xfrm>
          <a:custGeom>
            <a:avLst/>
            <a:gdLst>
              <a:gd name="connsiteX0" fmla="*/ 0 w 4080510"/>
              <a:gd name="connsiteY0" fmla="*/ 777245 h 1634499"/>
              <a:gd name="connsiteX1" fmla="*/ 434340 w 4080510"/>
              <a:gd name="connsiteY1" fmla="*/ 5 h 1634499"/>
              <a:gd name="connsiteX2" fmla="*/ 914400 w 4080510"/>
              <a:gd name="connsiteY2" fmla="*/ 765815 h 1634499"/>
              <a:gd name="connsiteX3" fmla="*/ 1497330 w 4080510"/>
              <a:gd name="connsiteY3" fmla="*/ 1634495 h 1634499"/>
              <a:gd name="connsiteX4" fmla="*/ 1805940 w 4080510"/>
              <a:gd name="connsiteY4" fmla="*/ 777245 h 1634499"/>
              <a:gd name="connsiteX5" fmla="*/ 2240280 w 4080510"/>
              <a:gd name="connsiteY5" fmla="*/ 5 h 1634499"/>
              <a:gd name="connsiteX6" fmla="*/ 2686050 w 4080510"/>
              <a:gd name="connsiteY6" fmla="*/ 788675 h 1634499"/>
              <a:gd name="connsiteX7" fmla="*/ 3166110 w 4080510"/>
              <a:gd name="connsiteY7" fmla="*/ 1634495 h 1634499"/>
              <a:gd name="connsiteX8" fmla="*/ 3440430 w 4080510"/>
              <a:gd name="connsiteY8" fmla="*/ 777245 h 1634499"/>
              <a:gd name="connsiteX9" fmla="*/ 3760470 w 4080510"/>
              <a:gd name="connsiteY9" fmla="*/ 5 h 1634499"/>
              <a:gd name="connsiteX10" fmla="*/ 4080510 w 4080510"/>
              <a:gd name="connsiteY10" fmla="*/ 777245 h 16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80510" h="1634499">
                <a:moveTo>
                  <a:pt x="0" y="777245"/>
                </a:moveTo>
                <a:cubicBezTo>
                  <a:pt x="140970" y="389577"/>
                  <a:pt x="281940" y="1910"/>
                  <a:pt x="434340" y="5"/>
                </a:cubicBezTo>
                <a:cubicBezTo>
                  <a:pt x="586740" y="-1900"/>
                  <a:pt x="737235" y="493400"/>
                  <a:pt x="914400" y="765815"/>
                </a:cubicBezTo>
                <a:cubicBezTo>
                  <a:pt x="1091565" y="1038230"/>
                  <a:pt x="1348740" y="1632590"/>
                  <a:pt x="1497330" y="1634495"/>
                </a:cubicBezTo>
                <a:cubicBezTo>
                  <a:pt x="1645920" y="1636400"/>
                  <a:pt x="1682115" y="1049660"/>
                  <a:pt x="1805940" y="777245"/>
                </a:cubicBezTo>
                <a:cubicBezTo>
                  <a:pt x="1929765" y="504830"/>
                  <a:pt x="2093595" y="-1900"/>
                  <a:pt x="2240280" y="5"/>
                </a:cubicBezTo>
                <a:cubicBezTo>
                  <a:pt x="2386965" y="1910"/>
                  <a:pt x="2531745" y="516260"/>
                  <a:pt x="2686050" y="788675"/>
                </a:cubicBezTo>
                <a:cubicBezTo>
                  <a:pt x="2840355" y="1061090"/>
                  <a:pt x="3040380" y="1636400"/>
                  <a:pt x="3166110" y="1634495"/>
                </a:cubicBezTo>
                <a:cubicBezTo>
                  <a:pt x="3291840" y="1632590"/>
                  <a:pt x="3341370" y="1049660"/>
                  <a:pt x="3440430" y="777245"/>
                </a:cubicBezTo>
                <a:cubicBezTo>
                  <a:pt x="3539490" y="504830"/>
                  <a:pt x="3653790" y="5"/>
                  <a:pt x="3760470" y="5"/>
                </a:cubicBezTo>
                <a:cubicBezTo>
                  <a:pt x="3867150" y="5"/>
                  <a:pt x="3973830" y="388625"/>
                  <a:pt x="4080510" y="777245"/>
                </a:cubicBezTo>
              </a:path>
            </a:pathLst>
          </a:cu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A0526A-ED83-4D0D-B1A8-B5A66517340E}"/>
              </a:ext>
            </a:extLst>
          </p:cNvPr>
          <p:cNvSpPr txBox="1"/>
          <p:nvPr/>
        </p:nvSpPr>
        <p:spPr>
          <a:xfrm>
            <a:off x="950210" y="118608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B1574-5C74-4784-8376-964DA1AF2789}"/>
              </a:ext>
            </a:extLst>
          </p:cNvPr>
          <p:cNvSpPr txBox="1"/>
          <p:nvPr/>
        </p:nvSpPr>
        <p:spPr>
          <a:xfrm>
            <a:off x="5234782" y="2496144"/>
            <a:ext cx="2728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</a:t>
            </a:r>
            <a:endParaRPr lang="en-US" sz="1400" b="1" i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3DABED-42AE-479C-B17E-AEA2D774BA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542" r="8969"/>
          <a:stretch/>
        </p:blipFill>
        <p:spPr>
          <a:xfrm>
            <a:off x="1102656" y="343579"/>
            <a:ext cx="4043434" cy="890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7C1A86-6E89-4BBA-B28F-C3A2A25DA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6894" y="4342946"/>
            <a:ext cx="4676037" cy="26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16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33287AF2-A938-48C3-A676-555ADF455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460587"/>
              </p:ext>
            </p:extLst>
          </p:nvPr>
        </p:nvGraphicFramePr>
        <p:xfrm>
          <a:off x="-1321136" y="1020889"/>
          <a:ext cx="7654066" cy="419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52358378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32195985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3029820615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667338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935C1DA-FF5E-45AC-A25B-BCFD6BB69D5C}"/>
              </a:ext>
            </a:extLst>
          </p:cNvPr>
          <p:cNvGrpSpPr/>
          <p:nvPr/>
        </p:nvGrpSpPr>
        <p:grpSpPr>
          <a:xfrm>
            <a:off x="2335689" y="1383020"/>
            <a:ext cx="7539387" cy="4180704"/>
            <a:chOff x="2335689" y="1383020"/>
            <a:chExt cx="7539387" cy="41807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040C17-43C3-4664-A185-8624EC051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138621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E86FD4E-8371-4D8F-9099-9926BAA6CF70}"/>
                </a:ext>
              </a:extLst>
            </p:cNvPr>
            <p:cNvGrpSpPr/>
            <p:nvPr/>
          </p:nvGrpSpPr>
          <p:grpSpPr>
            <a:xfrm>
              <a:off x="2813440" y="1827966"/>
              <a:ext cx="460094" cy="522908"/>
              <a:chOff x="4627659" y="2411124"/>
              <a:chExt cx="3729162" cy="393623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6C7E14C-38E6-43F6-B073-EFDB65D839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90B70E52-9864-40F7-B8C1-F818148A8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74A2D920-5A15-4010-B55D-0C951DAAF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71523" y="247753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B2ED24D-2237-4130-AD5B-A8E6D7DBAF29}"/>
                </a:ext>
              </a:extLst>
            </p:cNvPr>
            <p:cNvGrpSpPr/>
            <p:nvPr/>
          </p:nvGrpSpPr>
          <p:grpSpPr>
            <a:xfrm>
              <a:off x="2849274" y="2919283"/>
              <a:ext cx="460094" cy="522908"/>
              <a:chOff x="4627659" y="2411124"/>
              <a:chExt cx="3729162" cy="3936234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D8EEFFD-BE0A-4F67-8509-45899EE92F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680E041-6729-4AAC-B095-208C071A9C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CB5FA1D-3B95-4086-A55A-AFCF1A0CA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349521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D3DE27D-F007-4A5B-8F0A-98C2F8463F69}"/>
                </a:ext>
              </a:extLst>
            </p:cNvPr>
            <p:cNvGrpSpPr/>
            <p:nvPr/>
          </p:nvGrpSpPr>
          <p:grpSpPr>
            <a:xfrm>
              <a:off x="2813440" y="3936958"/>
              <a:ext cx="460094" cy="522908"/>
              <a:chOff x="4627659" y="2411124"/>
              <a:chExt cx="3729162" cy="3936234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720E4732-DC20-4D2F-9213-F706ED66F4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8FA7567-A5AD-49A6-94F6-E67ACC06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5CCC5D-34A6-4FBD-AF1A-2ABF66D06F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5689" y="454913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847B52-3100-4866-AC6B-8B1D26032F84}"/>
                </a:ext>
              </a:extLst>
            </p:cNvPr>
            <p:cNvGrpSpPr/>
            <p:nvPr/>
          </p:nvGrpSpPr>
          <p:grpSpPr>
            <a:xfrm>
              <a:off x="2813440" y="4990884"/>
              <a:ext cx="460094" cy="522908"/>
              <a:chOff x="4627659" y="2411124"/>
              <a:chExt cx="3729162" cy="3936234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7972385-886E-4F3C-8CA1-FC193EF98A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7B1879C-B7B8-49DB-882D-A5578B49B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8BBFB88-9D8B-4E0A-82BD-A599EB5F6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0197" y="138621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51711EF-DD85-423F-8D41-B3E377FCC995}"/>
                </a:ext>
              </a:extLst>
            </p:cNvPr>
            <p:cNvGrpSpPr/>
            <p:nvPr/>
          </p:nvGrpSpPr>
          <p:grpSpPr>
            <a:xfrm>
              <a:off x="3927948" y="1827966"/>
              <a:ext cx="460094" cy="522908"/>
              <a:chOff x="4627659" y="2411124"/>
              <a:chExt cx="3729162" cy="3936234"/>
            </a:xfrm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4243C73E-1952-4548-944B-EA87F21422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25B09AAC-7272-437B-939E-DEB82F44FF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C091AF45-0A81-4D0B-BD92-B231C25FD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855" y="2434819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A222A85-D498-4BE8-8444-AEA633204396}"/>
                </a:ext>
              </a:extLst>
            </p:cNvPr>
            <p:cNvGrpSpPr/>
            <p:nvPr/>
          </p:nvGrpSpPr>
          <p:grpSpPr>
            <a:xfrm>
              <a:off x="3945606" y="2876567"/>
              <a:ext cx="460094" cy="522908"/>
              <a:chOff x="4627659" y="2411124"/>
              <a:chExt cx="3729162" cy="3936234"/>
            </a:xfrm>
          </p:grpSpPr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81C87293-8898-4901-9ACF-F79B6CF214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F2AA8C81-B5EB-4671-89C7-425AC123C5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76550F2F-087C-44E5-9918-6EF09D6C1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7855" y="352210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C9D153D-BBD9-48A7-ADBF-A4278817BFD2}"/>
                </a:ext>
              </a:extLst>
            </p:cNvPr>
            <p:cNvGrpSpPr/>
            <p:nvPr/>
          </p:nvGrpSpPr>
          <p:grpSpPr>
            <a:xfrm>
              <a:off x="3945606" y="3963854"/>
              <a:ext cx="460094" cy="522908"/>
              <a:chOff x="4627659" y="2411124"/>
              <a:chExt cx="3729162" cy="3936234"/>
            </a:xfrm>
          </p:grpSpPr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ADCD544C-8057-477D-974A-B3D24D2DF5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DA306D9E-6C98-458E-AAE8-E3D422385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6621D17F-8237-43B6-B334-8AB463FB8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7724" y="456334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DF9D09C-FABC-4E34-91AA-78C954D33567}"/>
                </a:ext>
              </a:extLst>
            </p:cNvPr>
            <p:cNvGrpSpPr/>
            <p:nvPr/>
          </p:nvGrpSpPr>
          <p:grpSpPr>
            <a:xfrm>
              <a:off x="3905475" y="5005091"/>
              <a:ext cx="460094" cy="522908"/>
              <a:chOff x="4627659" y="2411124"/>
              <a:chExt cx="3729162" cy="3936234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C7DEC88D-341E-46A4-B928-D19E1D29E01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CD7A39FE-4C33-4AF8-8D85-A3D15FD795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3DF2D058-0F0B-4526-B573-A4C5A4B1D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24056" y="142194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93E7E8E-FF10-4586-A619-DA44BBA485E0}"/>
                </a:ext>
              </a:extLst>
            </p:cNvPr>
            <p:cNvGrpSpPr/>
            <p:nvPr/>
          </p:nvGrpSpPr>
          <p:grpSpPr>
            <a:xfrm>
              <a:off x="5001807" y="1863691"/>
              <a:ext cx="460094" cy="522908"/>
              <a:chOff x="4627659" y="2411124"/>
              <a:chExt cx="3729162" cy="3936234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27964433-6842-4D6A-ADFE-5859BD33448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9BC4909D-F3B2-464C-AFC3-88286E8FD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221C9D39-CE59-4CF9-A9D5-B77C701C2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714" y="2470544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D35D886-AF96-45D8-8225-72AD11E31A64}"/>
                </a:ext>
              </a:extLst>
            </p:cNvPr>
            <p:cNvGrpSpPr/>
            <p:nvPr/>
          </p:nvGrpSpPr>
          <p:grpSpPr>
            <a:xfrm>
              <a:off x="5019465" y="2912292"/>
              <a:ext cx="460094" cy="522908"/>
              <a:chOff x="4627659" y="2411124"/>
              <a:chExt cx="3729162" cy="3936234"/>
            </a:xfrm>
          </p:grpSpPr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F8FE7078-50B0-48DE-B1FC-BE7110E96E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39828C9C-0151-4096-88CF-155F9E91C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5E1274A1-2025-4763-9A41-ADB0B4F64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1714" y="355783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7E90E1C-20AA-454B-8AE1-022B65401AB4}"/>
                </a:ext>
              </a:extLst>
            </p:cNvPr>
            <p:cNvGrpSpPr/>
            <p:nvPr/>
          </p:nvGrpSpPr>
          <p:grpSpPr>
            <a:xfrm>
              <a:off x="5019465" y="3999579"/>
              <a:ext cx="460094" cy="522908"/>
              <a:chOff x="4627659" y="2411124"/>
              <a:chExt cx="3729162" cy="393623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5B6BFEEB-D73B-4F49-B4A2-104F64D06A0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C0DFC2EE-4C9E-4F2D-A534-900AEF6FCD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7F265E3-3BDA-4F5D-BFC3-5F1C77898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01583" y="459906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484983C-E863-4670-A356-49903EBAA6FB}"/>
                </a:ext>
              </a:extLst>
            </p:cNvPr>
            <p:cNvGrpSpPr/>
            <p:nvPr/>
          </p:nvGrpSpPr>
          <p:grpSpPr>
            <a:xfrm>
              <a:off x="4979334" y="5040816"/>
              <a:ext cx="460094" cy="522908"/>
              <a:chOff x="4627659" y="2411124"/>
              <a:chExt cx="3729162" cy="3936234"/>
            </a:xfrm>
          </p:grpSpPr>
          <p:pic>
            <p:nvPicPr>
              <p:cNvPr id="66" name="Picture 65">
                <a:extLst>
                  <a:ext uri="{FF2B5EF4-FFF2-40B4-BE49-F238E27FC236}">
                    <a16:creationId xmlns:a16="http://schemas.microsoft.com/office/drawing/2014/main" id="{B16864D8-751C-4831-9F51-49F261A891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8B481179-3FB5-4165-A6E3-275A1D7260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A256131-BC26-4A0F-A619-937B588BA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46573" y="138708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20C9AEC-1BEC-4EE1-9027-18535C4B59C3}"/>
                </a:ext>
              </a:extLst>
            </p:cNvPr>
            <p:cNvGrpSpPr/>
            <p:nvPr/>
          </p:nvGrpSpPr>
          <p:grpSpPr>
            <a:xfrm>
              <a:off x="6124324" y="1828828"/>
              <a:ext cx="460094" cy="522908"/>
              <a:chOff x="4627659" y="2411124"/>
              <a:chExt cx="3729162" cy="3936234"/>
            </a:xfrm>
          </p:grpSpPr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28D24D86-3CC9-461A-9E59-214CE60A79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E1B00549-DE41-4014-A142-60AD28F5C3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D5A9162-2422-45B9-9C7A-8C7E8978E3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4231" y="243568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3AEE6CE-34C2-44E5-B7E0-B5DF6CF19048}"/>
                </a:ext>
              </a:extLst>
            </p:cNvPr>
            <p:cNvGrpSpPr/>
            <p:nvPr/>
          </p:nvGrpSpPr>
          <p:grpSpPr>
            <a:xfrm>
              <a:off x="6141982" y="2877429"/>
              <a:ext cx="460094" cy="522908"/>
              <a:chOff x="4627659" y="2411124"/>
              <a:chExt cx="3729162" cy="3936234"/>
            </a:xfrm>
          </p:grpSpPr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C3CBD5FF-CA33-4C89-8706-6E19C80122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ECEF049A-2837-40A5-B36B-F09A5B380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C2C0198-2CB3-435D-AF93-B9413AA9D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64231" y="352296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869D3C39-2440-4262-ADA7-77D0898026CB}"/>
                </a:ext>
              </a:extLst>
            </p:cNvPr>
            <p:cNvGrpSpPr/>
            <p:nvPr/>
          </p:nvGrpSpPr>
          <p:grpSpPr>
            <a:xfrm>
              <a:off x="6141982" y="3964716"/>
              <a:ext cx="460094" cy="522908"/>
              <a:chOff x="4627659" y="2411124"/>
              <a:chExt cx="3729162" cy="3936234"/>
            </a:xfrm>
          </p:grpSpPr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0035CCAD-0C0B-4855-946A-C2DB1DD0A0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B23BBFF8-8682-45F5-B8F1-D1734A81D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7F98FC0-FC70-42B5-B3D9-0B157ED1D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4100" y="456420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F35B58A-001B-4EE6-87B1-BFC741EDE53C}"/>
                </a:ext>
              </a:extLst>
            </p:cNvPr>
            <p:cNvGrpSpPr/>
            <p:nvPr/>
          </p:nvGrpSpPr>
          <p:grpSpPr>
            <a:xfrm>
              <a:off x="6101851" y="5005953"/>
              <a:ext cx="460094" cy="522908"/>
              <a:chOff x="4627659" y="2411124"/>
              <a:chExt cx="3729162" cy="3936234"/>
            </a:xfrm>
          </p:grpSpPr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470F787-5F28-44DF-9D2A-1DC6943794E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9DC3D6DF-4443-4933-8A59-BE8C73CB5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0A60233-5DA3-4288-853D-2AE49FE4F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5670" y="138302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9757570B-305A-4E91-A213-3B5E662A83D5}"/>
                </a:ext>
              </a:extLst>
            </p:cNvPr>
            <p:cNvGrpSpPr/>
            <p:nvPr/>
          </p:nvGrpSpPr>
          <p:grpSpPr>
            <a:xfrm>
              <a:off x="7223421" y="1824768"/>
              <a:ext cx="460094" cy="522908"/>
              <a:chOff x="4627659" y="2411124"/>
              <a:chExt cx="3729162" cy="3936234"/>
            </a:xfrm>
          </p:grpSpPr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EC5226C3-D67C-4C05-8633-4665FBA1F9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DCBE17F0-214A-4E88-9AEB-81146BC18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EEC9A9C-FEDC-4D35-8576-9F06495DC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3328" y="243162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EE8E429-A02F-41EB-8608-2AEE70B3D112}"/>
                </a:ext>
              </a:extLst>
            </p:cNvPr>
            <p:cNvGrpSpPr/>
            <p:nvPr/>
          </p:nvGrpSpPr>
          <p:grpSpPr>
            <a:xfrm>
              <a:off x="7241079" y="2873369"/>
              <a:ext cx="460094" cy="522908"/>
              <a:chOff x="4627659" y="2411124"/>
              <a:chExt cx="3729162" cy="3936234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5A900C8F-8E71-406C-990D-3051CB3B2F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D9C08CC3-1F2F-45B4-AB76-81476AB09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8424BC1-A534-4F81-82BA-C030A8F37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3328" y="351890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3331113-4C4F-4EF5-89AC-FB46245345A9}"/>
                </a:ext>
              </a:extLst>
            </p:cNvPr>
            <p:cNvGrpSpPr/>
            <p:nvPr/>
          </p:nvGrpSpPr>
          <p:grpSpPr>
            <a:xfrm>
              <a:off x="7241079" y="3960656"/>
              <a:ext cx="460094" cy="522908"/>
              <a:chOff x="4627659" y="2411124"/>
              <a:chExt cx="3729162" cy="393623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C5D0BBBC-118A-4332-8EF3-6A4229975F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5" name="Picture 94">
                <a:extLst>
                  <a:ext uri="{FF2B5EF4-FFF2-40B4-BE49-F238E27FC236}">
                    <a16:creationId xmlns:a16="http://schemas.microsoft.com/office/drawing/2014/main" id="{F1EC1A08-9B03-4F60-9DC0-ED244EB719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D1383EE-CCE7-4A30-A046-5CD7F5EFE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23197" y="456014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808E287-8376-495B-921F-884028905E1F}"/>
                </a:ext>
              </a:extLst>
            </p:cNvPr>
            <p:cNvGrpSpPr/>
            <p:nvPr/>
          </p:nvGrpSpPr>
          <p:grpSpPr>
            <a:xfrm>
              <a:off x="7200948" y="5001893"/>
              <a:ext cx="460094" cy="522908"/>
              <a:chOff x="4627659" y="2411124"/>
              <a:chExt cx="3729162" cy="3936234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5C2D0E57-B93A-40D5-B4CA-6510099D97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252F2685-91EB-47A5-B8BB-338CA0E22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47DD7733-83A3-4C13-A9E0-AFD38C0DE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5363" y="1383020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EECBAFF-7A65-43BE-8571-70A40694FFF1}"/>
                </a:ext>
              </a:extLst>
            </p:cNvPr>
            <p:cNvGrpSpPr/>
            <p:nvPr/>
          </p:nvGrpSpPr>
          <p:grpSpPr>
            <a:xfrm>
              <a:off x="8323114" y="1824768"/>
              <a:ext cx="460094" cy="522908"/>
              <a:chOff x="4627659" y="2411124"/>
              <a:chExt cx="3729162" cy="3936234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CBB04A22-83E4-4CFB-BD0D-7D4DF74349E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FD97DA47-FC6C-42A7-897D-0E03DF423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EDA7CC7F-F930-4D7C-9828-5F562681C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3021" y="2431621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3475CB9-DFEC-4F51-8DD5-18DA1A14AE55}"/>
                </a:ext>
              </a:extLst>
            </p:cNvPr>
            <p:cNvGrpSpPr/>
            <p:nvPr/>
          </p:nvGrpSpPr>
          <p:grpSpPr>
            <a:xfrm>
              <a:off x="8340772" y="2873369"/>
              <a:ext cx="460094" cy="522908"/>
              <a:chOff x="4627659" y="2411124"/>
              <a:chExt cx="3729162" cy="3936234"/>
            </a:xfrm>
          </p:grpSpPr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0FE615D2-0AB5-4605-A60F-E9DD2A11CCD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7830EED-4F7E-48CA-8418-BBB95F9BEB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A36F4E48-F385-46BC-8784-071F4F8C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63021" y="351890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1BF76AF-7DF6-4C70-A7A3-045CFA6A1459}"/>
                </a:ext>
              </a:extLst>
            </p:cNvPr>
            <p:cNvGrpSpPr/>
            <p:nvPr/>
          </p:nvGrpSpPr>
          <p:grpSpPr>
            <a:xfrm>
              <a:off x="8340772" y="3960656"/>
              <a:ext cx="460094" cy="522908"/>
              <a:chOff x="4627659" y="2411124"/>
              <a:chExt cx="3729162" cy="3936234"/>
            </a:xfrm>
          </p:grpSpPr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4F5985A2-573A-44F9-B5D3-FBA2F7B503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4E5F3E90-C919-4391-9B8C-AB5568641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C73652C0-BA62-4B42-B96C-2B2D8E51A8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2890" y="4560145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ECDF9658-A68D-4642-85A0-B4B1D86B9D97}"/>
                </a:ext>
              </a:extLst>
            </p:cNvPr>
            <p:cNvGrpSpPr/>
            <p:nvPr/>
          </p:nvGrpSpPr>
          <p:grpSpPr>
            <a:xfrm>
              <a:off x="8300641" y="5001893"/>
              <a:ext cx="460094" cy="522908"/>
              <a:chOff x="4627659" y="2411124"/>
              <a:chExt cx="3729162" cy="3936234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CD62DC7C-FC06-4C68-8503-B88313BF7F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5" name="Picture 114">
                <a:extLst>
                  <a:ext uri="{FF2B5EF4-FFF2-40B4-BE49-F238E27FC236}">
                    <a16:creationId xmlns:a16="http://schemas.microsoft.com/office/drawing/2014/main" id="{E2F6EA4D-3D5C-4D52-9909-B1F7EC8CC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7E324470-7CBF-4D31-8968-809FD29D6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9573" y="1403598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F00B982-A48E-4217-9CAA-F3D5547A2645}"/>
                </a:ext>
              </a:extLst>
            </p:cNvPr>
            <p:cNvGrpSpPr/>
            <p:nvPr/>
          </p:nvGrpSpPr>
          <p:grpSpPr>
            <a:xfrm>
              <a:off x="9397324" y="1845346"/>
              <a:ext cx="460094" cy="522908"/>
              <a:chOff x="4627659" y="2411124"/>
              <a:chExt cx="3729162" cy="3936234"/>
            </a:xfrm>
          </p:grpSpPr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933BEDDE-50D9-4DB4-8531-FDFB231B11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19" name="Picture 118">
                <a:extLst>
                  <a:ext uri="{FF2B5EF4-FFF2-40B4-BE49-F238E27FC236}">
                    <a16:creationId xmlns:a16="http://schemas.microsoft.com/office/drawing/2014/main" id="{54ABB287-7494-4C7C-88E9-393D9470C1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DCBF1F2B-9463-44FE-9E0B-0B0DC2CFF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7231" y="2452199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7FBFDAE-ACC5-41E4-A79C-DAF20684E583}"/>
                </a:ext>
              </a:extLst>
            </p:cNvPr>
            <p:cNvGrpSpPr/>
            <p:nvPr/>
          </p:nvGrpSpPr>
          <p:grpSpPr>
            <a:xfrm>
              <a:off x="9414982" y="2893947"/>
              <a:ext cx="460094" cy="522908"/>
              <a:chOff x="4627659" y="2411124"/>
              <a:chExt cx="3729162" cy="3936234"/>
            </a:xfrm>
          </p:grpSpPr>
          <p:pic>
            <p:nvPicPr>
              <p:cNvPr id="122" name="Picture 121">
                <a:extLst>
                  <a:ext uri="{FF2B5EF4-FFF2-40B4-BE49-F238E27FC236}">
                    <a16:creationId xmlns:a16="http://schemas.microsoft.com/office/drawing/2014/main" id="{2258C680-3DC3-4702-BD02-ECF468182F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7FBC0355-5F35-4C28-B4C1-21010A3D9E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94AEBFF-60F0-4E43-BA5C-B69D6B878F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37231" y="3539486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E2B28FF3-F6E4-44E7-97BD-6DE5627BFECD}"/>
                </a:ext>
              </a:extLst>
            </p:cNvPr>
            <p:cNvGrpSpPr/>
            <p:nvPr/>
          </p:nvGrpSpPr>
          <p:grpSpPr>
            <a:xfrm>
              <a:off x="9414982" y="3981234"/>
              <a:ext cx="460094" cy="522908"/>
              <a:chOff x="4627659" y="2411124"/>
              <a:chExt cx="3729162" cy="3936234"/>
            </a:xfrm>
          </p:grpSpPr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606D6559-1F33-4CF7-8418-57D9F2216D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33919BAA-883F-4BFD-A511-4AC59D0915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BB501C07-BF6E-402E-9E40-026C446F2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7100" y="4580723"/>
              <a:ext cx="460093" cy="46009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8205BB37-85C9-4C63-B078-DCF9361781DD}"/>
                </a:ext>
              </a:extLst>
            </p:cNvPr>
            <p:cNvGrpSpPr/>
            <p:nvPr/>
          </p:nvGrpSpPr>
          <p:grpSpPr>
            <a:xfrm>
              <a:off x="9374851" y="5022471"/>
              <a:ext cx="460094" cy="522908"/>
              <a:chOff x="4627659" y="2411124"/>
              <a:chExt cx="3729162" cy="3936234"/>
            </a:xfrm>
          </p:grpSpPr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EC3C14C2-A663-4BC4-89D5-38FD28046A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883" b="94727" l="3711" r="93848">
                            <a14:foregroundMark x1="7422" y1="8789" x2="35352" y2="4297"/>
                            <a14:foregroundMark x1="35352" y1="4297" x2="71973" y2="4395"/>
                            <a14:foregroundMark x1="71973" y1="4395" x2="94727" y2="16211"/>
                            <a14:foregroundMark x1="94727" y1="16211" x2="6836" y2="27441"/>
                            <a14:foregroundMark x1="6836" y1="27441" x2="59570" y2="10645"/>
                            <a14:foregroundMark x1="59570" y1="10645" x2="84766" y2="18848"/>
                            <a14:foregroundMark x1="84766" y1="18848" x2="25488" y2="24219"/>
                            <a14:foregroundMark x1="25488" y1="24219" x2="92383" y2="16992"/>
                            <a14:foregroundMark x1="92383" y1="16992" x2="32129" y2="18945"/>
                            <a14:foregroundMark x1="32129" y1="18945" x2="67969" y2="10840"/>
                            <a14:foregroundMark x1="67969" y1="10840" x2="35742" y2="9180"/>
                            <a14:foregroundMark x1="35742" y1="9180" x2="65625" y2="13672"/>
                            <a14:foregroundMark x1="65625" y1="13672" x2="33301" y2="15527"/>
                            <a14:foregroundMark x1="33301" y1="15527" x2="12012" y2="35156"/>
                            <a14:foregroundMark x1="12012" y1="35156" x2="42773" y2="34863"/>
                            <a14:foregroundMark x1="42773" y1="34863" x2="71582" y2="40625"/>
                            <a14:foregroundMark x1="71582" y1="40625" x2="13086" y2="36914"/>
                            <a14:foregroundMark x1="13086" y1="36914" x2="4688" y2="63574"/>
                            <a14:foregroundMark x1="5245" y1="72415" x2="6348" y2="89941"/>
                            <a14:foregroundMark x1="4688" y1="63574" x2="5194" y2="71618"/>
                            <a14:foregroundMark x1="6348" y1="89941" x2="31348" y2="95215"/>
                            <a14:foregroundMark x1="31348" y1="95215" x2="86816" y2="94727"/>
                            <a14:foregroundMark x1="86816" y1="94727" x2="95605" y2="67871"/>
                            <a14:foregroundMark x1="95605" y1="67871" x2="94629" y2="39844"/>
                            <a14:foregroundMark x1="94629" y1="39844" x2="73828" y2="76563"/>
                            <a14:foregroundMark x1="73828" y1="76563" x2="40039" y2="93066"/>
                            <a14:foregroundMark x1="40039" y1="93066" x2="11914" y2="91016"/>
                            <a14:foregroundMark x1="11914" y1="91016" x2="47168" y2="87305"/>
                            <a14:foregroundMark x1="47168" y1="87305" x2="74805" y2="90527"/>
                            <a14:foregroundMark x1="74805" y1="90527" x2="93848" y2="70801"/>
                            <a14:foregroundMark x1="93848" y1="70801" x2="15430" y2="62500"/>
                            <a14:foregroundMark x1="15430" y1="62500" x2="18750" y2="58887"/>
                            <a14:foregroundMark x1="14648" y1="55176" x2="27441" y2="63379"/>
                            <a14:foregroundMark x1="20801" y1="39746" x2="73633" y2="57324"/>
                            <a14:foregroundMark x1="73633" y1="57324" x2="60352" y2="80078"/>
                            <a14:foregroundMark x1="60352" y1="80078" x2="24023" y2="92188"/>
                            <a14:foregroundMark x1="24023" y1="92188" x2="3954" y2="71735"/>
                            <a14:foregroundMark x1="3856" y1="67447" x2="8984" y2="9473"/>
                            <a14:foregroundMark x1="8984" y1="9473" x2="79395" y2="4883"/>
                            <a14:foregroundMark x1="79395" y1="4883" x2="93457" y2="30566"/>
                            <a14:foregroundMark x1="93457" y1="30566" x2="91309" y2="88672"/>
                            <a14:foregroundMark x1="91309" y1="88672" x2="30176" y2="95020"/>
                            <a14:foregroundMark x1="30176" y1="95020" x2="68066" y2="91992"/>
                            <a14:foregroundMark x1="68066" y1="91992" x2="38379" y2="87305"/>
                            <a14:foregroundMark x1="38379" y1="87305" x2="73535" y2="89941"/>
                            <a14:foregroundMark x1="73535" y1="89941" x2="41895" y2="87793"/>
                            <a14:foregroundMark x1="41895" y1="87793" x2="11816" y2="76270"/>
                            <a14:foregroundMark x1="11816" y1="76270" x2="5371" y2="48438"/>
                            <a14:foregroundMark x1="5371" y1="48438" x2="30566" y2="57422"/>
                            <a14:foregroundMark x1="30566" y1="57422" x2="56543" y2="58789"/>
                            <a14:foregroundMark x1="56543" y1="58789" x2="69238" y2="37207"/>
                            <a14:foregroundMark x1="69238" y1="37207" x2="93945" y2="28906"/>
                            <a14:foregroundMark x1="93945" y1="28906" x2="66016" y2="34766"/>
                            <a14:foregroundMark x1="66016" y1="34766" x2="91016" y2="33496"/>
                            <a14:foregroundMark x1="91016" y1="33496" x2="74023" y2="12793"/>
                            <a14:foregroundMark x1="74023" y1="12793" x2="36328" y2="14648"/>
                            <a14:foregroundMark x1="36328" y1="14648" x2="12402" y2="29883"/>
                            <a14:foregroundMark x1="12402" y1="29883" x2="37500" y2="45313"/>
                            <a14:foregroundMark x1="37500" y1="45313" x2="56055" y2="44727"/>
                            <a14:foregroundMark x1="79688" y1="41992" x2="83105" y2="44922"/>
                            <a14:foregroundMark x1="86816" y1="6738" x2="13086" y2="8301"/>
                            <a14:foregroundMark x1="13086" y1="8301" x2="41309" y2="4004"/>
                            <a14:foregroundMark x1="41309" y1="4004" x2="70117" y2="4883"/>
                            <a14:foregroundMark x1="70117" y1="4883" x2="72266" y2="10156"/>
                            <a14:foregroundMark x1="6934" y1="10645" x2="7129" y2="74805"/>
                            <a14:foregroundMark x1="7129" y1="74805" x2="24219" y2="94434"/>
                            <a14:foregroundMark x1="24219" y1="94434" x2="53809" y2="95117"/>
                            <a14:foregroundMark x1="53809" y1="95117" x2="83594" y2="94824"/>
                            <a14:foregroundMark x1="83594" y1="94824" x2="43555" y2="92969"/>
                            <a14:foregroundMark x1="8105" y1="90234" x2="6055" y2="12012"/>
                            <a14:foregroundMark x1="16699" y1="74121" x2="45020" y2="75098"/>
                            <a14:foregroundMark x1="45020" y1="75098" x2="13379" y2="69141"/>
                            <a14:foregroundMark x1="13379" y1="69141" x2="55859" y2="71191"/>
                            <a14:foregroundMark x1="55859" y1="71191" x2="65820" y2="75000"/>
                            <a14:foregroundMark x1="3711" y1="67383" x2="4492" y2="70215"/>
                            <a14:foregroundMark x1="70215" y1="71582" x2="67578" y2="72266"/>
                            <a14:foregroundMark x1="63770" y1="70508" x2="72656" y2="75098"/>
                            <a14:backgroundMark x1="3395" y1="70510" x2="3516" y2="71777"/>
                          </a14:backgroundRemoval>
                        </a14:imgEffect>
                      </a14:imgLayer>
                    </a14:imgProps>
                  </a:ext>
                </a:extLst>
              </a:blip>
              <a:srcRect l="3438" t="3696" r="3856" b="4021"/>
              <a:stretch/>
            </p:blipFill>
            <p:spPr>
              <a:xfrm>
                <a:off x="4774978" y="2549221"/>
                <a:ext cx="3438719" cy="342301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8225C682-30F8-4D9D-8EFF-D1E3C5F14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27659" y="2411124"/>
                <a:ext cx="3729162" cy="3936234"/>
              </a:xfrm>
              <a:prstGeom prst="rect">
                <a:avLst/>
              </a:prstGeom>
            </p:spPr>
          </p:pic>
        </p:grpSp>
      </p:grpSp>
      <p:graphicFrame>
        <p:nvGraphicFramePr>
          <p:cNvPr id="134" name="Table 4">
            <a:extLst>
              <a:ext uri="{FF2B5EF4-FFF2-40B4-BE49-F238E27FC236}">
                <a16:creationId xmlns:a16="http://schemas.microsoft.com/office/drawing/2014/main" id="{EFA03101-FA30-42F9-9B41-4DAC4E912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753232"/>
              </p:ext>
            </p:extLst>
          </p:nvPr>
        </p:nvGraphicFramePr>
        <p:xfrm>
          <a:off x="3708388" y="2452199"/>
          <a:ext cx="4373752" cy="3147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438">
                  <a:extLst>
                    <a:ext uri="{9D8B030D-6E8A-4147-A177-3AD203B41FA5}">
                      <a16:colId xmlns:a16="http://schemas.microsoft.com/office/drawing/2014/main" val="3805666822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782083904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1810248975"/>
                    </a:ext>
                  </a:extLst>
                </a:gridCol>
                <a:gridCol w="1093438">
                  <a:extLst>
                    <a:ext uri="{9D8B030D-6E8A-4147-A177-3AD203B41FA5}">
                      <a16:colId xmlns:a16="http://schemas.microsoft.com/office/drawing/2014/main" val="548327721"/>
                    </a:ext>
                  </a:extLst>
                </a:gridCol>
              </a:tblGrid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6285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80412"/>
                  </a:ext>
                </a:extLst>
              </a:tr>
              <a:tr h="1049095"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2085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8F380BA-377D-4073-B15A-7502DDB76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92" y="1062505"/>
            <a:ext cx="4395597" cy="3170195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41608577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017593" y="1893716"/>
                <a:ext cx="5881670" cy="3774513"/>
              </a:xfrm>
            </p:spPr>
            <p:txBody>
              <a:bodyPr>
                <a:noAutofit/>
              </a:bodyPr>
              <a:lstStyle/>
              <a:p>
                <a:r>
                  <a:rPr lang="en-US" sz="1400" dirty="0"/>
                  <a:t>🧠 </a:t>
                </a:r>
                <a:r>
                  <a:rPr lang="en-US" sz="1400" b="1" dirty="0"/>
                  <a:t>Stress</a:t>
                </a:r>
                <a:br>
                  <a:rPr lang="en-US" sz="1400" dirty="0"/>
                </a:br>
                <a:r>
                  <a:rPr lang="en-US" sz="1400" dirty="0"/>
                  <a:t>The level of stress experienced by the fish due to salinity or temperature mismatch.</a:t>
                </a:r>
              </a:p>
              <a:p>
                <a:r>
                  <a:rPr lang="en-US" sz="1600" dirty="0"/>
                  <a:t>🔋</a:t>
                </a:r>
                <a:r>
                  <a:rPr lang="en-US" sz="1400" dirty="0"/>
                  <a:t> </a:t>
                </a:r>
                <a:r>
                  <a:rPr lang="en-US" sz="1400" b="1" dirty="0"/>
                  <a:t>Energy</a:t>
                </a:r>
                <a:br>
                  <a:rPr lang="en-US" sz="1400" dirty="0"/>
                </a:br>
                <a:r>
                  <a:rPr lang="en-US" sz="1400" dirty="0"/>
                  <a:t>The amount energy the fish uses to swim, recover, and regulate bodily functions. </a:t>
                </a:r>
              </a:p>
              <a:p>
                <a:r>
                  <a:rPr lang="en-US" sz="1600" dirty="0"/>
                  <a:t>🏊</a:t>
                </a:r>
                <a:r>
                  <a:rPr lang="en-US" sz="1400" dirty="0"/>
                  <a:t> </a:t>
                </a:r>
                <a:r>
                  <a:rPr lang="en-US" sz="1400" b="1" dirty="0"/>
                  <a:t>Swimming Speed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𝒂𝒈𝒆𝒏𝒕</m:t>
                        </m:r>
                      </m:sub>
                    </m:sSub>
                  </m:oMath>
                </a14:m>
                <a:r>
                  <a:rPr lang="en-US" sz="1400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swimming speed of a fish, which determines whether it can resist the current or must drift.</a:t>
                </a:r>
              </a:p>
              <a:p>
                <a:r>
                  <a:rPr lang="en-US" sz="1600" dirty="0"/>
                  <a:t>💤</a:t>
                </a:r>
                <a:r>
                  <a:rPr lang="en-US" sz="1400" dirty="0"/>
                  <a:t> </a:t>
                </a:r>
                <a:r>
                  <a:rPr lang="en-US" sz="1400" b="1" dirty="0"/>
                  <a:t>Staging?</a:t>
                </a:r>
                <a:br>
                  <a:rPr lang="en-US" sz="1400" dirty="0"/>
                </a:br>
                <a:r>
                  <a:rPr lang="en-US" sz="1400" dirty="0"/>
                  <a:t>Boolean value indicating whether the fish is currently in a recovery (staging) state.</a:t>
                </a:r>
              </a:p>
              <a:p>
                <a:r>
                  <a:rPr lang="en-US" sz="1600" dirty="0"/>
                  <a:t>⏳</a:t>
                </a:r>
                <a:r>
                  <a:rPr lang="en-US" sz="1400" b="1" dirty="0"/>
                  <a:t>Time in Staging (</a:t>
                </a:r>
                <a:r>
                  <a:rPr lang="en-US" sz="1400" b="1" i="1" dirty="0"/>
                  <a:t>Time-in-Staging</a:t>
                </a:r>
                <a:r>
                  <a:rPr lang="en-US" sz="1400" b="1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cumulative time a fish spends staging throughout migration.</a:t>
                </a:r>
              </a:p>
              <a:p>
                <a:r>
                  <a:rPr lang="en-US" sz="1600" dirty="0"/>
                  <a:t>🔄</a:t>
                </a:r>
                <a:r>
                  <a:rPr lang="en-US" sz="1400" dirty="0"/>
                  <a:t> </a:t>
                </a:r>
                <a:r>
                  <a:rPr lang="en-US" sz="1400" b="1" dirty="0"/>
                  <a:t>In-STST?</a:t>
                </a:r>
                <a:br>
                  <a:rPr lang="en-US" sz="1400" dirty="0"/>
                </a:br>
                <a:r>
                  <a:rPr lang="en-US" sz="1400" dirty="0"/>
                  <a:t>Boolean value indicating whether the fish is currently passively resting with the flow.</a:t>
                </a:r>
              </a:p>
              <a:p>
                <a:r>
                  <a:rPr lang="en-US" sz="1600" dirty="0"/>
                  <a:t>⏳</a:t>
                </a:r>
                <a:r>
                  <a:rPr lang="en-US" sz="1400" b="1" dirty="0"/>
                  <a:t>Time in Selective Tidal Stream Transport (</a:t>
                </a:r>
                <a:r>
                  <a:rPr lang="en-US" sz="1400" b="1" i="1" dirty="0"/>
                  <a:t>Time-in-STST</a:t>
                </a:r>
                <a:r>
                  <a:rPr lang="en-US" sz="1400" b="1" dirty="0"/>
                  <a:t>)</a:t>
                </a:r>
                <a:br>
                  <a:rPr lang="en-US" sz="1400" dirty="0"/>
                </a:br>
                <a:r>
                  <a:rPr lang="en-US" sz="1400" dirty="0"/>
                  <a:t>The cumulative time a fish spends passively resting throughout migration.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A322524-FA0B-4B09-A398-76A25CDC9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017593" y="1893716"/>
                <a:ext cx="5881670" cy="3774513"/>
              </a:xfrm>
              <a:blipFill>
                <a:blip r:embed="rId3"/>
                <a:stretch>
                  <a:fillRect l="-415" t="-1131" r="-725" b="-25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80" y="7805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 Variables for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B2B7-15C1-49A6-A7ED-4E49B9774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706" y="991666"/>
            <a:ext cx="5157787" cy="823912"/>
          </a:xfrm>
        </p:spPr>
        <p:txBody>
          <a:bodyPr>
            <a:normAutofit fontScale="92500"/>
          </a:bodyPr>
          <a:lstStyle/>
          <a:p>
            <a:r>
              <a:rPr lang="en-US" sz="3600" b="1" dirty="0"/>
              <a:t>🌍 Environmental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9CC2B-FAA2-48DC-9330-CC91B6EC7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3706" y="1858469"/>
            <a:ext cx="5703887" cy="3684588"/>
          </a:xfrm>
        </p:spPr>
        <p:txBody>
          <a:bodyPr>
            <a:noAutofit/>
          </a:bodyPr>
          <a:lstStyle/>
          <a:p>
            <a:r>
              <a:rPr lang="en-US" sz="1600" dirty="0"/>
              <a:t>🌀</a:t>
            </a:r>
            <a:r>
              <a:rPr lang="en-US" sz="1400" dirty="0"/>
              <a:t> </a:t>
            </a:r>
            <a:r>
              <a:rPr lang="en-US" sz="1400" b="1" dirty="0"/>
              <a:t>Velocity (</a:t>
            </a:r>
            <a:r>
              <a:rPr lang="en-US" sz="1400" b="1" i="1" dirty="0"/>
              <a:t>u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along-channel flow velocity in a patch, influencing whether fish swim or drift.</a:t>
            </a:r>
          </a:p>
          <a:p>
            <a:r>
              <a:rPr lang="en-US" sz="1600" dirty="0"/>
              <a:t>🛑</a:t>
            </a:r>
            <a:r>
              <a:rPr lang="en-US" sz="1400" dirty="0"/>
              <a:t> </a:t>
            </a:r>
            <a:r>
              <a:rPr lang="en-US" sz="1400" b="1" dirty="0"/>
              <a:t>Staging Location (</a:t>
            </a:r>
            <a:r>
              <a:rPr lang="en-US" sz="1400" b="1" i="1" dirty="0"/>
              <a:t>Staging-in-Patch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number of agents currently resting (staging) in a patch, useful for identifying recovery zones.</a:t>
            </a:r>
          </a:p>
          <a:p>
            <a:r>
              <a:rPr lang="en-US" sz="1600" dirty="0"/>
              <a:t>🌊</a:t>
            </a:r>
            <a:r>
              <a:rPr lang="en-US" sz="1400" dirty="0"/>
              <a:t> </a:t>
            </a:r>
            <a:r>
              <a:rPr lang="en-US" sz="1400" b="1" dirty="0"/>
              <a:t>Selective Tidal Stream Transport Location (</a:t>
            </a:r>
            <a:r>
              <a:rPr lang="en-US" sz="1400" b="1" i="1" dirty="0"/>
              <a:t>STST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number of agents currently drifting via STST in a patch, highlighting passive transport zones</a:t>
            </a:r>
          </a:p>
          <a:p>
            <a:r>
              <a:rPr lang="en-US" sz="1600" dirty="0"/>
              <a:t>⏳</a:t>
            </a:r>
            <a:r>
              <a:rPr lang="en-US" sz="1400" dirty="0"/>
              <a:t> </a:t>
            </a:r>
            <a:r>
              <a:rPr lang="en-US" sz="1400" b="1" dirty="0"/>
              <a:t>Time Spent Selective Tidal Stream Transport (</a:t>
            </a:r>
            <a:r>
              <a:rPr lang="en-US" sz="1400" b="1" i="1" dirty="0"/>
              <a:t>STST-time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cumulative time fish spend resting in one location.</a:t>
            </a:r>
          </a:p>
          <a:p>
            <a:r>
              <a:rPr lang="en-US" sz="1600" dirty="0"/>
              <a:t>💤</a:t>
            </a:r>
            <a:r>
              <a:rPr lang="en-US" sz="1400" dirty="0"/>
              <a:t> </a:t>
            </a:r>
            <a:r>
              <a:rPr lang="en-US" sz="1400" b="1" dirty="0"/>
              <a:t>Time Spent Staging (</a:t>
            </a:r>
            <a:r>
              <a:rPr lang="en-US" sz="1400" b="1" i="1" dirty="0"/>
              <a:t>Staging-time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The cumulative time fish spend staging in one location.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2DAC-2722-455D-BB2B-1F05A3E62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17580" y="991666"/>
            <a:ext cx="5703887" cy="8239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600" b="1" dirty="0"/>
              <a:t>🐟 Individual (Fish) Variables</a:t>
            </a:r>
          </a:p>
        </p:txBody>
      </p:sp>
    </p:spTree>
    <p:extLst>
      <p:ext uri="{BB962C8B-B14F-4D97-AF65-F5344CB8AC3E}">
        <p14:creationId xmlns:p14="http://schemas.microsoft.com/office/powerpoint/2010/main" val="3341627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300853" y="169578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98" y="169579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E6F67821-0371-4DFE-A091-17B83DA69D25}"/>
              </a:ext>
            </a:extLst>
          </p:cNvPr>
          <p:cNvGrpSpPr/>
          <p:nvPr/>
        </p:nvGrpSpPr>
        <p:grpSpPr>
          <a:xfrm>
            <a:off x="1112174" y="2888074"/>
            <a:ext cx="8658299" cy="2225347"/>
            <a:chOff x="1891845" y="3231495"/>
            <a:chExt cx="8658299" cy="22253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276A888-2ECE-4AB8-B3F1-7FAA0C246190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36376D9-59D6-43C3-A016-4189B80E1B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1AA6A18C-73F4-401D-82EE-666BB3B07B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CBF7041-5B86-4EE7-B4DD-8FCDC33371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1E9D3B5-52CB-4EF8-90FC-755ABBC51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88FB62C-34AF-4D50-A582-835C2B68A3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72C09B0-38AE-4298-87F2-CEBDE777AC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A86F7CDD-CE4B-4F06-B4D3-ED79669E614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42A4542D-33A8-48CB-96B9-A3CB23BA9B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F55B17BF-6755-4D69-B4A3-66188C6913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EF482C0-DD48-49B4-B9AC-0DF016227C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1D0C8BAC-6E08-490F-A4E1-2171D3E417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F6AEC572-70B1-4668-82BD-C5CEE72BBB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B921A53-B0CB-45B0-8E81-8C3204D12F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889CFF4B-C07B-49FF-833D-BEE781EC0B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1F5CF2D4-DE71-4EBD-B571-001BA27144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2362C5E-F9F0-4F7E-B59D-F1674DE0A2B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BA28C2BD-3438-4DD0-9510-71B97A3AA58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6A4429FD-2F8B-4756-BC73-88AC77BB5A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5BDA1ABD-5F75-4F9D-A705-8225B8ECAA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84612499-76E3-4012-B764-2EABB649070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563BBC51-E788-421A-9D78-C0AF97458B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C8B67D9-5F75-4548-AF92-72DA0E5D9C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FBFC15B-92B7-4397-AC9C-D5A1E4A59F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8C2C415F-32F1-4E09-A2F8-D62A5EC584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9D4B07B-BE0D-4D53-8815-B8A7F05FD4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1FF8A1B-4116-45F8-8D80-0626EE9CD0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49D47ED2-974A-4EA7-A8F6-33ABA327FC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B14A5F04-FF65-4F4A-8FE6-2BDC7479A1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CDCDBFF-DDED-4721-8523-4FFB745BAF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91209" y="558811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EA09A-2BF2-442A-A7CE-1F49802B0E9E}"/>
                  </a:ext>
                </a:extLst>
              </p:cNvPr>
              <p:cNvSpPr txBox="1"/>
              <p:nvPr/>
            </p:nvSpPr>
            <p:spPr>
              <a:xfrm>
                <a:off x="878199" y="2267844"/>
                <a:ext cx="2419815" cy="429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𝒂𝒈𝒆𝒏𝒕</m:t>
                          </m:r>
                        </m:sub>
                      </m:sSub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3EA09A-2BF2-442A-A7CE-1F49802B0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199" y="2267844"/>
                <a:ext cx="2419815" cy="42922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A7B71D7-83D5-43A3-9689-54229F24A6E5}"/>
              </a:ext>
            </a:extLst>
          </p:cNvPr>
          <p:cNvGrpSpPr/>
          <p:nvPr/>
        </p:nvGrpSpPr>
        <p:grpSpPr>
          <a:xfrm>
            <a:off x="1356369" y="1824216"/>
            <a:ext cx="1438648" cy="1859564"/>
            <a:chOff x="1356369" y="1824216"/>
            <a:chExt cx="1438648" cy="185956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CD7E2-905A-405C-9594-ACACE159E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1356369" y="1824216"/>
              <a:ext cx="1438648" cy="830997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5" name="Arrow: Down 74">
              <a:extLst>
                <a:ext uri="{FF2B5EF4-FFF2-40B4-BE49-F238E27FC236}">
                  <a16:creationId xmlns:a16="http://schemas.microsoft.com/office/drawing/2014/main" id="{4F2E78A9-7CF8-4D05-9163-86ED0826B870}"/>
                </a:ext>
              </a:extLst>
            </p:cNvPr>
            <p:cNvSpPr/>
            <p:nvPr/>
          </p:nvSpPr>
          <p:spPr>
            <a:xfrm>
              <a:off x="1853880" y="2714705"/>
              <a:ext cx="358828" cy="96907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013518" y="1037624"/>
            <a:ext cx="3223459" cy="1469722"/>
            <a:chOff x="9267697" y="5411156"/>
            <a:chExt cx="2686410" cy="146972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B0010F9-677F-4723-8A7B-CDD386509001}"/>
                </a:ext>
              </a:extLst>
            </p:cNvPr>
            <p:cNvSpPr/>
            <p:nvPr/>
          </p:nvSpPr>
          <p:spPr>
            <a:xfrm>
              <a:off x="9267697" y="5787731"/>
              <a:ext cx="2474537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2C585B2-0C18-4BB8-BA51-58F6C0F59181}"/>
                </a:ext>
              </a:extLst>
            </p:cNvPr>
            <p:cNvSpPr txBox="1"/>
            <p:nvPr/>
          </p:nvSpPr>
          <p:spPr>
            <a:xfrm>
              <a:off x="9743224" y="5411156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676" y="5643814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vv</a:t>
            </a:r>
            <a:endParaRPr lang="en-US" sz="2800" dirty="0"/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BF40664F-260A-4823-B897-374B49C292E5}"/>
              </a:ext>
            </a:extLst>
          </p:cNvPr>
          <p:cNvSpPr txBox="1">
            <a:spLocks/>
          </p:cNvSpPr>
          <p:nvPr/>
        </p:nvSpPr>
        <p:spPr>
          <a:xfrm rot="16200000">
            <a:off x="-1850922" y="2858545"/>
            <a:ext cx="43954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3200" b="1" dirty="0">
                <a:latin typeface="+mn-lt"/>
              </a:rPr>
              <a:t>Landward Migration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208BB17-8588-4980-8D35-BBB49F2407F4}"/>
              </a:ext>
            </a:extLst>
          </p:cNvPr>
          <p:cNvGrpSpPr/>
          <p:nvPr/>
        </p:nvGrpSpPr>
        <p:grpSpPr>
          <a:xfrm>
            <a:off x="547351" y="190707"/>
            <a:ext cx="3066225" cy="1682665"/>
            <a:chOff x="973581" y="71913"/>
            <a:chExt cx="3066225" cy="1682665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E4D0F1D5-0677-4D50-A43E-FF71B6218A7D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9991289-4104-4F29-B442-BCD9EC47FED0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1634560-C4E2-414F-819D-34E947CD6C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C3A7FC9-F621-4BDE-9486-75BFFD15E6F3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BACD70D-F224-4B75-8C08-69C4ED2C0302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FFB300E-CE91-46A4-9DE0-A1C47252A24F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ECF79487-942D-40F9-9821-2A5C4B3BFFBF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FC02F02-2F09-4241-9403-6AD4ABACBCFC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CB1E163-85F3-410C-A249-E9E24008736C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B06B9AC0-C04B-406F-9BAC-935842757B7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8A79247-2499-4BD7-9D52-2C39807D3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98126" y="71913"/>
              <a:ext cx="799776" cy="1121764"/>
            </a:xfrm>
            <a:prstGeom prst="rect">
              <a:avLst/>
            </a:prstGeom>
          </p:spPr>
        </p:pic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99D490B-6E8B-4BA8-BD6B-FE7054A83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6771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D4F51E-0539-435F-A08C-3D004263A878}"/>
              </a:ext>
            </a:extLst>
          </p:cNvPr>
          <p:cNvCxnSpPr>
            <a:cxnSpLocks/>
          </p:cNvCxnSpPr>
          <p:nvPr/>
        </p:nvCxnSpPr>
        <p:spPr>
          <a:xfrm flipV="1">
            <a:off x="14397063" y="369911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E46CE45-5832-4E08-8E23-C96C658459E5}"/>
              </a:ext>
            </a:extLst>
          </p:cNvPr>
          <p:cNvCxnSpPr>
            <a:cxnSpLocks/>
          </p:cNvCxnSpPr>
          <p:nvPr/>
        </p:nvCxnSpPr>
        <p:spPr>
          <a:xfrm rot="5400000" flipV="1">
            <a:off x="15697241" y="322690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6E31921-A974-43B1-9CA4-6F1DDD2120A5}"/>
              </a:ext>
            </a:extLst>
          </p:cNvPr>
          <p:cNvSpPr txBox="1"/>
          <p:nvPr/>
        </p:nvSpPr>
        <p:spPr>
          <a:xfrm>
            <a:off x="16677394" y="4504774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AC4592-B851-4D1C-B3C5-3DDD85D179A7}"/>
              </a:ext>
            </a:extLst>
          </p:cNvPr>
          <p:cNvSpPr txBox="1"/>
          <p:nvPr/>
        </p:nvSpPr>
        <p:spPr>
          <a:xfrm>
            <a:off x="14043660" y="3644356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8FE2B-A337-4C68-A5BC-94B3FEE82D86}"/>
              </a:ext>
            </a:extLst>
          </p:cNvPr>
          <p:cNvSpPr txBox="1"/>
          <p:nvPr/>
        </p:nvSpPr>
        <p:spPr>
          <a:xfrm>
            <a:off x="9830932" y="3330914"/>
            <a:ext cx="1444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 Velocity (</a:t>
            </a:r>
            <a:r>
              <a:rPr lang="en-US" sz="2000" b="1" i="1" dirty="0"/>
              <a:t>u</a:t>
            </a:r>
            <a:r>
              <a:rPr lang="en-US" sz="2000" b="1" dirty="0"/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AA8B3C-FEF4-4C6E-9BF0-6DF0E82DE304}"/>
              </a:ext>
            </a:extLst>
          </p:cNvPr>
          <p:cNvSpPr txBox="1"/>
          <p:nvPr/>
        </p:nvSpPr>
        <p:spPr>
          <a:xfrm>
            <a:off x="9856104" y="2942597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rgbClr val="C00000"/>
                </a:solidFill>
              </a:rPr>
              <a:t>Difficulty Factor (Df)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5C7AD5-BB3D-479E-A97F-B8B384C30F6E}"/>
              </a:ext>
            </a:extLst>
          </p:cNvPr>
          <p:cNvCxnSpPr>
            <a:cxnSpLocks/>
          </p:cNvCxnSpPr>
          <p:nvPr/>
        </p:nvCxnSpPr>
        <p:spPr>
          <a:xfrm flipV="1">
            <a:off x="13486473" y="79970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F4B673B-6262-437B-85D1-02EAAA17844A}"/>
              </a:ext>
            </a:extLst>
          </p:cNvPr>
          <p:cNvCxnSpPr>
            <a:cxnSpLocks/>
          </p:cNvCxnSpPr>
          <p:nvPr/>
        </p:nvCxnSpPr>
        <p:spPr>
          <a:xfrm rot="5400000" flipV="1">
            <a:off x="14786651" y="32749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92347-327C-4032-A73D-98CE36DF7034}"/>
              </a:ext>
            </a:extLst>
          </p:cNvPr>
          <p:cNvGrpSpPr/>
          <p:nvPr/>
        </p:nvGrpSpPr>
        <p:grpSpPr>
          <a:xfrm>
            <a:off x="12836112" y="4818096"/>
            <a:ext cx="5121715" cy="849047"/>
            <a:chOff x="477394" y="2541891"/>
            <a:chExt cx="5121715" cy="8490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694671E-D4EC-4F29-B7CF-1726B1D97A69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533B6BF-849F-4AC3-BFB7-1C89B177F6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954502D-D018-4E99-988B-399C7AA4A7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4405CCC-F989-4042-A8A7-B2D9CF177F43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E9D8146-E0F7-4890-B305-7B6A35BA4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659E37C-813C-4EFF-887F-0CA2AF3C7B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080FB36-1CC6-447F-A070-47342A779B5E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A302AA6-6625-4FAC-ACA1-31F7D7C03B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9F35A82-6D25-4FDE-A030-76728AB76A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B42640C-E961-459A-B1EC-08C756BCE759}"/>
              </a:ext>
            </a:extLst>
          </p:cNvPr>
          <p:cNvGrpSpPr/>
          <p:nvPr/>
        </p:nvGrpSpPr>
        <p:grpSpPr>
          <a:xfrm flipV="1">
            <a:off x="12836112" y="3878639"/>
            <a:ext cx="5121715" cy="849047"/>
            <a:chOff x="477394" y="2541891"/>
            <a:chExt cx="5121715" cy="849047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78709A7-5B2F-4BB8-9E14-7B0BC156CBBD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806AA8-1362-4C01-9CBD-CEC9ABFA9C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CB48B8B-9E49-4448-806C-47F4F5F5B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D64D6C-2546-4729-AFE4-8A8B943BF112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DDF4DD5-7A6C-429D-87BD-43D143D8A8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1EDB1D3-904B-4F4E-8D94-E19EC2422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54B8CFA-BCA5-48C4-94D5-305DB0643950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65888DC-AF10-41F8-BB1D-5BE82CF55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6D109907-5691-47D3-8D27-C63201C8A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B761F76-2923-4176-9913-785ED3632972}"/>
              </a:ext>
            </a:extLst>
          </p:cNvPr>
          <p:cNvGrpSpPr/>
          <p:nvPr/>
        </p:nvGrpSpPr>
        <p:grpSpPr>
          <a:xfrm>
            <a:off x="655184" y="3900782"/>
            <a:ext cx="4697379" cy="2031325"/>
            <a:chOff x="762046" y="3972728"/>
            <a:chExt cx="4561251" cy="2031325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F3FFFDC-7C5A-4E7E-8476-C70AD7226ED8}"/>
                </a:ext>
              </a:extLst>
            </p:cNvPr>
            <p:cNvSpPr txBox="1"/>
            <p:nvPr/>
          </p:nvSpPr>
          <p:spPr>
            <a:xfrm>
              <a:off x="762046" y="3972728"/>
              <a:ext cx="4561251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Fish swim against </a:t>
              </a:r>
              <a:r>
                <a:rPr lang="en-US" b="1" dirty="0"/>
                <a:t>seaward</a:t>
              </a:r>
              <a:r>
                <a:rPr lang="en-US" dirty="0"/>
                <a:t> flow (</a:t>
              </a:r>
              <a:r>
                <a:rPr lang="en-US" b="1" dirty="0"/>
                <a:t>– velocity</a:t>
              </a:r>
              <a:r>
                <a:rPr lang="en-US" dirty="0"/>
                <a:t>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increases</a:t>
              </a:r>
              <a:r>
                <a:rPr lang="en-US" dirty="0"/>
                <a:t> with stronger </a:t>
              </a:r>
              <a:r>
                <a:rPr lang="en-US" b="1" dirty="0"/>
                <a:t>seaward flow </a:t>
              </a:r>
              <a:r>
                <a:rPr lang="en-US" dirty="0"/>
                <a:t>(more resistance).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When flow turns landward (</a:t>
              </a:r>
              <a:r>
                <a:rPr lang="en-US" b="1" dirty="0"/>
                <a:t>+</a:t>
              </a:r>
              <a:r>
                <a:rPr lang="en-US" dirty="0"/>
                <a:t> </a:t>
              </a:r>
              <a:r>
                <a:rPr lang="en-US" b="1" dirty="0"/>
                <a:t>velocity</a:t>
              </a:r>
              <a:r>
                <a:rPr lang="en-US" dirty="0"/>
                <a:t>), </a:t>
              </a: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decreases</a:t>
              </a:r>
              <a:r>
                <a:rPr lang="en-US" dirty="0"/>
                <a:t> (less resistance).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D445AA98-CB56-425E-BCC0-17F52355F177}"/>
                </a:ext>
              </a:extLst>
            </p:cNvPr>
            <p:cNvSpPr txBox="1"/>
            <p:nvPr/>
          </p:nvSpPr>
          <p:spPr>
            <a:xfrm>
              <a:off x="979834" y="3984920"/>
              <a:ext cx="4125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Landward Migration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11ED8CD-32AF-41CC-B5CF-F9E48FC9AC49}"/>
              </a:ext>
            </a:extLst>
          </p:cNvPr>
          <p:cNvGrpSpPr/>
          <p:nvPr/>
        </p:nvGrpSpPr>
        <p:grpSpPr>
          <a:xfrm>
            <a:off x="6202723" y="3900782"/>
            <a:ext cx="4801751" cy="2031325"/>
            <a:chOff x="6275755" y="3976457"/>
            <a:chExt cx="4801751" cy="2031325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3B5B37F-3D83-4569-813C-9CD655395B45}"/>
                </a:ext>
              </a:extLst>
            </p:cNvPr>
            <p:cNvSpPr txBox="1"/>
            <p:nvPr/>
          </p:nvSpPr>
          <p:spPr>
            <a:xfrm>
              <a:off x="6275755" y="3976457"/>
              <a:ext cx="4801751" cy="20313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Fish swim against </a:t>
              </a:r>
              <a:r>
                <a:rPr lang="en-US" b="1" dirty="0"/>
                <a:t>landward</a:t>
              </a:r>
              <a:r>
                <a:rPr lang="en-US" dirty="0"/>
                <a:t> flow (</a:t>
              </a:r>
              <a:r>
                <a:rPr lang="en-US" b="1" dirty="0"/>
                <a:t>+ velocity</a:t>
              </a:r>
              <a:r>
                <a:rPr lang="en-US" dirty="0"/>
                <a:t>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increases</a:t>
              </a:r>
              <a:r>
                <a:rPr lang="en-US" dirty="0"/>
                <a:t> with stronger </a:t>
              </a:r>
              <a:r>
                <a:rPr lang="en-US" b="1" dirty="0"/>
                <a:t>landward flow </a:t>
              </a:r>
              <a:r>
                <a:rPr lang="en-US" dirty="0"/>
                <a:t>(more resistance).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When flow is seaward (</a:t>
              </a:r>
              <a:r>
                <a:rPr lang="en-US" b="1" dirty="0"/>
                <a:t>-</a:t>
              </a:r>
              <a:r>
                <a:rPr lang="en-US" dirty="0"/>
                <a:t> </a:t>
              </a:r>
              <a:r>
                <a:rPr lang="en-US" b="1" dirty="0"/>
                <a:t>velocity</a:t>
              </a:r>
              <a:r>
                <a:rPr lang="en-US" dirty="0"/>
                <a:t>), </a:t>
              </a:r>
              <a:r>
                <a:rPr lang="en-US" b="1" i="1" dirty="0"/>
                <a:t>Df</a:t>
              </a:r>
              <a:r>
                <a:rPr lang="en-US" dirty="0"/>
                <a:t> </a:t>
              </a:r>
              <a:r>
                <a:rPr lang="en-US" b="1" dirty="0"/>
                <a:t>decreases</a:t>
              </a:r>
              <a:r>
                <a:rPr lang="en-US" dirty="0"/>
                <a:t> (less resistance).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08D41C8-3000-4458-80AE-F9DA9D62114F}"/>
                </a:ext>
              </a:extLst>
            </p:cNvPr>
            <p:cNvSpPr txBox="1"/>
            <p:nvPr/>
          </p:nvSpPr>
          <p:spPr>
            <a:xfrm>
              <a:off x="6613793" y="4039143"/>
              <a:ext cx="41256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Seaward Migration</a:t>
              </a:r>
            </a:p>
          </p:txBody>
        </p:sp>
      </p:grpSp>
      <p:sp>
        <p:nvSpPr>
          <p:cNvPr id="137" name="TextBox 136">
            <a:extLst>
              <a:ext uri="{FF2B5EF4-FFF2-40B4-BE49-F238E27FC236}">
                <a16:creationId xmlns:a16="http://schemas.microsoft.com/office/drawing/2014/main" id="{D94784FE-283C-47BA-B6FA-01CA0EB880C8}"/>
              </a:ext>
            </a:extLst>
          </p:cNvPr>
          <p:cNvSpPr txBox="1"/>
          <p:nvPr/>
        </p:nvSpPr>
        <p:spPr>
          <a:xfrm>
            <a:off x="340482" y="6023498"/>
            <a:ext cx="5222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(+)</a:t>
            </a:r>
            <a:r>
              <a:rPr lang="en-US" dirty="0"/>
              <a:t> </a:t>
            </a:r>
            <a:r>
              <a:rPr lang="en-US" sz="2000" dirty="0"/>
              <a:t>Velocities are in the Landward direction</a:t>
            </a:r>
            <a:endParaRPr lang="en-US" dirty="0"/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2FCD66D7-887C-47C0-83CB-2B5E0434E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79" y="1403749"/>
            <a:ext cx="3802087" cy="2121634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28936322-6B08-4F1C-AF0C-FB7B956D0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485" y="1403749"/>
            <a:ext cx="3803904" cy="2127611"/>
          </a:xfrm>
          <a:prstGeom prst="rect">
            <a:avLst/>
          </a:prstGeom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7801EC3F-A9F7-4A57-85CD-69FF2F00F821}"/>
              </a:ext>
            </a:extLst>
          </p:cNvPr>
          <p:cNvSpPr txBox="1"/>
          <p:nvPr/>
        </p:nvSpPr>
        <p:spPr>
          <a:xfrm>
            <a:off x="6068232" y="6023498"/>
            <a:ext cx="5070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(</a:t>
            </a:r>
            <a:r>
              <a:rPr lang="en-US" sz="2800" b="1" dirty="0"/>
              <a:t>-</a:t>
            </a:r>
            <a:r>
              <a:rPr lang="en-US" sz="2400" b="1" dirty="0"/>
              <a:t>)</a:t>
            </a:r>
            <a:r>
              <a:rPr lang="en-US" dirty="0"/>
              <a:t> </a:t>
            </a:r>
            <a:r>
              <a:rPr lang="en-US" sz="2000" dirty="0"/>
              <a:t>Velocities are in the Seaward direction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3DD3D-DD61-489F-AC3D-E73054E18AF6}"/>
              </a:ext>
            </a:extLst>
          </p:cNvPr>
          <p:cNvSpPr txBox="1"/>
          <p:nvPr/>
        </p:nvSpPr>
        <p:spPr>
          <a:xfrm>
            <a:off x="7027412" y="1338394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Peak Seaward Flow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095E37-0E44-4E9E-A822-8D11BAFA8669}"/>
              </a:ext>
            </a:extLst>
          </p:cNvPr>
          <p:cNvSpPr txBox="1"/>
          <p:nvPr/>
        </p:nvSpPr>
        <p:spPr>
          <a:xfrm>
            <a:off x="1500380" y="1341259"/>
            <a:ext cx="360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Peak Landward Flow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BEDF969A-9ADE-408A-8B91-BC60B6EC3FDC}"/>
              </a:ext>
            </a:extLst>
          </p:cNvPr>
          <p:cNvSpPr txBox="1">
            <a:spLocks/>
          </p:cNvSpPr>
          <p:nvPr/>
        </p:nvSpPr>
        <p:spPr>
          <a:xfrm>
            <a:off x="623364" y="1033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Fish Calculate Swimming Difficulty Factor</a:t>
            </a:r>
          </a:p>
        </p:txBody>
      </p:sp>
    </p:spTree>
    <p:extLst>
      <p:ext uri="{BB962C8B-B14F-4D97-AF65-F5344CB8AC3E}">
        <p14:creationId xmlns:p14="http://schemas.microsoft.com/office/powerpoint/2010/main" val="22057903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151963" y="1144693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080" y="1134565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2FED7E7A-9B09-4D03-A4C6-050DD0D9EFB5}"/>
              </a:ext>
            </a:extLst>
          </p:cNvPr>
          <p:cNvGrpSpPr/>
          <p:nvPr/>
        </p:nvGrpSpPr>
        <p:grpSpPr>
          <a:xfrm>
            <a:off x="883363" y="2443784"/>
            <a:ext cx="8658299" cy="2225347"/>
            <a:chOff x="1891845" y="3231495"/>
            <a:chExt cx="8658299" cy="222534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0B63A3C-17D2-40B2-9879-A195511C7B6F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19A3F7EC-FEF0-4B15-BFDE-09A80C3ED4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6E579EAE-616B-4028-8B2B-64A005F01E5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192F1085-3CBC-4A0E-BD82-8F31618C61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129629C3-362C-4BD8-BC00-EEB6A55E0A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0833C81-1810-41EE-AA7D-3EAAC601FD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A1A7B430-162F-4018-9634-4F51116054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BCB9EE49-278A-4424-ACCD-E7CDBC94A5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5B13F74-9436-448E-A87F-076A31F74B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2F5F9628-FDDD-4E2A-BD8D-601A958AC5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6258C6BA-6E90-42EE-A65D-EE21F9F39F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331E067E-61A5-4434-B876-EC2D578D35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62886B63-E4AE-4884-87B0-FF7E99C3BD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EEF3AEF9-C6C3-41DE-9E82-A97DCEE1F5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476CF060-E08F-4F1D-A2F5-3ED3E3D9E8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C77A6F36-6116-4E3A-A31E-C3B58259E4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A08F14A8-7E0A-4F32-BC3F-DA01A7CD6D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53BB8D2-E04D-48AE-B08B-787BB9EB4060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CFEB1DBC-2F1D-4235-98CE-88A47BB77A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B185A7F-F1B1-4649-ABA4-B70864962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E12FF885-5ABA-4DD6-A4E9-AC6E8AB29C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149F1A34-A5BA-460F-AE45-E466397AE2C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AB848361-2B96-4455-8660-2EEBF08229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75E545D-9A75-4634-82D9-CD34FF7F14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A607390-1350-4574-825E-9A145BF11B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03BB9E16-BF86-41B3-8E47-6D36373EF33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32D0ABA6-88F3-4444-B27A-54A40E1B15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FA0246EE-A6DC-43E8-834E-41AEAE3BAE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46D6D0D2-9B74-45D6-95DB-3CBC7147153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0A6245F9-33D6-4F7D-83C2-2CE96E6B25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53481" y="502349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22222" y="1921487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51" y="543277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dynamically adjust swimming speed based on current direction and migration direction.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41499" y="1596129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4925180" y="1596129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E4C41B4-9B6E-4091-8EF7-E4207166D4F8}"/>
              </a:ext>
            </a:extLst>
          </p:cNvPr>
          <p:cNvGrpSpPr/>
          <p:nvPr/>
        </p:nvGrpSpPr>
        <p:grpSpPr>
          <a:xfrm>
            <a:off x="4940691" y="1751681"/>
            <a:ext cx="3066225" cy="1622242"/>
            <a:chOff x="973581" y="132336"/>
            <a:chExt cx="3066225" cy="162224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560FFC-4EAD-4A16-BED6-7E2ADF02BF47}"/>
                </a:ext>
              </a:extLst>
            </p:cNvPr>
            <p:cNvSpPr/>
            <p:nvPr/>
          </p:nvSpPr>
          <p:spPr>
            <a:xfrm>
              <a:off x="1158466" y="132336"/>
              <a:ext cx="2771277" cy="16222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31D937B-4EAA-4741-AE01-BFA314FE0E74}"/>
                </a:ext>
              </a:extLst>
            </p:cNvPr>
            <p:cNvSpPr txBox="1"/>
            <p:nvPr/>
          </p:nvSpPr>
          <p:spPr>
            <a:xfrm>
              <a:off x="2688929" y="1149526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Swimming Speed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0CCB645-85C7-4762-BFA1-2470D5EB6239}"/>
                </a:ext>
              </a:extLst>
            </p:cNvPr>
            <p:cNvSpPr txBox="1"/>
            <p:nvPr/>
          </p:nvSpPr>
          <p:spPr>
            <a:xfrm>
              <a:off x="973581" y="1130846"/>
              <a:ext cx="14842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Current Velocity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177B894-E2A9-4843-BF74-D65D09A755B5}"/>
                </a:ext>
              </a:extLst>
            </p:cNvPr>
            <p:cNvSpPr txBox="1"/>
            <p:nvPr/>
          </p:nvSpPr>
          <p:spPr>
            <a:xfrm>
              <a:off x="2286654" y="503553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692A41A-65C4-4733-849F-5FE4A75BF540}"/>
                </a:ext>
              </a:extLst>
            </p:cNvPr>
            <p:cNvGrpSpPr/>
            <p:nvPr/>
          </p:nvGrpSpPr>
          <p:grpSpPr>
            <a:xfrm>
              <a:off x="2924709" y="236730"/>
              <a:ext cx="887336" cy="900162"/>
              <a:chOff x="2883533" y="503553"/>
              <a:chExt cx="731520" cy="731520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E0812AEB-599D-438E-AE62-FB936B95BAED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7C31FE4-3A35-4D58-8C5C-506AC25E7E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FFA0346-AD41-4879-8FF7-EA77CF795C00}"/>
                </a:ext>
              </a:extLst>
            </p:cNvPr>
            <p:cNvGrpSpPr/>
            <p:nvPr/>
          </p:nvGrpSpPr>
          <p:grpSpPr>
            <a:xfrm>
              <a:off x="1302559" y="247769"/>
              <a:ext cx="887336" cy="900162"/>
              <a:chOff x="2883533" y="503553"/>
              <a:chExt cx="731520" cy="731520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0752D811-524A-47F9-B353-76004D574987}"/>
                  </a:ext>
                </a:extLst>
              </p:cNvPr>
              <p:cNvCxnSpPr/>
              <p:nvPr/>
            </p:nvCxnSpPr>
            <p:spPr>
              <a:xfrm>
                <a:off x="2890422" y="503553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D956D2A-4246-41BF-9A6B-A482C65A930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249293" y="848215"/>
                <a:ext cx="0" cy="7315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0CF7B9FC-BD9D-4C10-92AC-82B81201C6B6}"/>
                </a:ext>
              </a:extLst>
            </p:cNvPr>
            <p:cNvCxnSpPr>
              <a:cxnSpLocks/>
            </p:cNvCxnSpPr>
            <p:nvPr/>
          </p:nvCxnSpPr>
          <p:spPr>
            <a:xfrm>
              <a:off x="1325405" y="372207"/>
              <a:ext cx="842824" cy="700735"/>
            </a:xfrm>
            <a:prstGeom prst="straightConnector1">
              <a:avLst/>
            </a:prstGeom>
            <a:ln w="38100"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7" name="Picture 86">
            <a:extLst>
              <a:ext uri="{FF2B5EF4-FFF2-40B4-BE49-F238E27FC236}">
                <a16:creationId xmlns:a16="http://schemas.microsoft.com/office/drawing/2014/main" id="{0BC4DD8E-A4C3-4144-B88B-488A0127AA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15"/>
          <a:stretch/>
        </p:blipFill>
        <p:spPr>
          <a:xfrm>
            <a:off x="6918301" y="1888473"/>
            <a:ext cx="1001263" cy="772165"/>
          </a:xfrm>
          <a:prstGeom prst="rect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735BF17E-A0F8-457E-BE0B-42956B0292BD}"/>
              </a:ext>
            </a:extLst>
          </p:cNvPr>
          <p:cNvSpPr/>
          <p:nvPr/>
        </p:nvSpPr>
        <p:spPr>
          <a:xfrm>
            <a:off x="3817110" y="274657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B3BFECDD-1A13-4DB1-A490-22F541B32563}"/>
              </a:ext>
            </a:extLst>
          </p:cNvPr>
          <p:cNvSpPr/>
          <p:nvPr/>
        </p:nvSpPr>
        <p:spPr>
          <a:xfrm>
            <a:off x="3801109" y="297435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E0E654AC-E9DE-4C8C-8762-8006E859382B}"/>
              </a:ext>
            </a:extLst>
          </p:cNvPr>
          <p:cNvSpPr/>
          <p:nvPr/>
        </p:nvSpPr>
        <p:spPr>
          <a:xfrm>
            <a:off x="3810331" y="320363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44AC3493-54BB-4172-9CCE-DF9638A7CE6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1587" y="1246892"/>
            <a:ext cx="2420322" cy="1554615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56286AFA-8378-493F-BCF6-FD9643DDD58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694" y="1233457"/>
            <a:ext cx="2420322" cy="1554615"/>
          </a:xfrm>
          <a:prstGeom prst="rect">
            <a:avLst/>
          </a:prstGeom>
        </p:spPr>
      </p:pic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D363D76B-0339-4B11-911D-0DCF81B2A0C5}"/>
              </a:ext>
            </a:extLst>
          </p:cNvPr>
          <p:cNvSpPr/>
          <p:nvPr/>
        </p:nvSpPr>
        <p:spPr>
          <a:xfrm>
            <a:off x="1484229" y="272905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61B8416F-16B1-4EA6-AF3D-975F0757A159}"/>
              </a:ext>
            </a:extLst>
          </p:cNvPr>
          <p:cNvSpPr/>
          <p:nvPr/>
        </p:nvSpPr>
        <p:spPr>
          <a:xfrm>
            <a:off x="1468228" y="295683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99AB1236-30E3-43E0-AAD3-13A2DB78EB2F}"/>
              </a:ext>
            </a:extLst>
          </p:cNvPr>
          <p:cNvSpPr/>
          <p:nvPr/>
        </p:nvSpPr>
        <p:spPr>
          <a:xfrm>
            <a:off x="1477450" y="318611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75EA3C0D-624B-43A0-B0CB-E4D186389EBE}"/>
              </a:ext>
            </a:extLst>
          </p:cNvPr>
          <p:cNvSpPr/>
          <p:nvPr/>
        </p:nvSpPr>
        <p:spPr>
          <a:xfrm>
            <a:off x="8297654" y="2754845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D0EED3F-D6D4-424C-9395-660F699AD91C}"/>
              </a:ext>
            </a:extLst>
          </p:cNvPr>
          <p:cNvSpPr/>
          <p:nvPr/>
        </p:nvSpPr>
        <p:spPr>
          <a:xfrm>
            <a:off x="8281653" y="298262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F2B148A-9A6A-4DE5-91CC-B59114627439}"/>
              </a:ext>
            </a:extLst>
          </p:cNvPr>
          <p:cNvGrpSpPr/>
          <p:nvPr/>
        </p:nvGrpSpPr>
        <p:grpSpPr>
          <a:xfrm>
            <a:off x="5307098" y="3326830"/>
            <a:ext cx="2419815" cy="1043991"/>
            <a:chOff x="-3235428" y="1356554"/>
            <a:chExt cx="2419815" cy="1043991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F7CC910-565F-492F-8D9D-AF6160D9F825}"/>
                </a:ext>
              </a:extLst>
            </p:cNvPr>
            <p:cNvGrpSpPr/>
            <p:nvPr/>
          </p:nvGrpSpPr>
          <p:grpSpPr>
            <a:xfrm>
              <a:off x="-2757258" y="1356554"/>
              <a:ext cx="1438648" cy="1043991"/>
              <a:chOff x="-2757258" y="1356554"/>
              <a:chExt cx="1438648" cy="1043991"/>
            </a:xfrm>
          </p:grpSpPr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40A2C885-9391-4442-8E6A-5E2412DD8E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757258" y="135655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05" name="Arrow: Down 104">
                <a:extLst>
                  <a:ext uri="{FF2B5EF4-FFF2-40B4-BE49-F238E27FC236}">
                    <a16:creationId xmlns:a16="http://schemas.microsoft.com/office/drawing/2014/main" id="{8BCDC99C-59AF-4B69-8CC2-920713E7347E}"/>
                  </a:ext>
                </a:extLst>
              </p:cNvPr>
              <p:cNvSpPr/>
              <p:nvPr/>
            </p:nvSpPr>
            <p:spPr>
              <a:xfrm>
                <a:off x="-2202494" y="2217665"/>
                <a:ext cx="358828" cy="18288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0D2A42-1353-4850-B0A7-15F4D8ABE5D3}"/>
                    </a:ext>
                  </a:extLst>
                </p:cNvPr>
                <p:cNvSpPr txBox="1"/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7D0D2A42-1353-4850-B0A7-15F4D8ABE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0B7833E4-930E-42AE-A701-8372B044F881}"/>
              </a:ext>
            </a:extLst>
          </p:cNvPr>
          <p:cNvCxnSpPr>
            <a:cxnSpLocks/>
          </p:cNvCxnSpPr>
          <p:nvPr/>
        </p:nvCxnSpPr>
        <p:spPr>
          <a:xfrm flipH="1">
            <a:off x="7122048" y="1621636"/>
            <a:ext cx="2151444" cy="2749185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964DAD3C-EB40-47D1-877F-3EACD7A3C2B4}"/>
              </a:ext>
            </a:extLst>
          </p:cNvPr>
          <p:cNvSpPr/>
          <p:nvPr/>
        </p:nvSpPr>
        <p:spPr>
          <a:xfrm>
            <a:off x="6138944" y="441272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F6EC9C97-0967-4DC3-AD34-9FEA72A27E3E}"/>
              </a:ext>
            </a:extLst>
          </p:cNvPr>
          <p:cNvSpPr/>
          <p:nvPr/>
        </p:nvSpPr>
        <p:spPr>
          <a:xfrm>
            <a:off x="6122943" y="464049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5B2F4D1C-2E3A-4AA9-A3B4-9F7F3AAF3E9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93038" y="1246892"/>
            <a:ext cx="2420322" cy="1554615"/>
          </a:xfrm>
          <a:prstGeom prst="rect">
            <a:avLst/>
          </a:prstGeom>
        </p:spPr>
      </p:pic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38451E7-60D0-4B2D-99D7-1227CEE67387}"/>
              </a:ext>
            </a:extLst>
          </p:cNvPr>
          <p:cNvSpPr/>
          <p:nvPr/>
        </p:nvSpPr>
        <p:spPr>
          <a:xfrm>
            <a:off x="8263126" y="321648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385B241-8605-445B-AD55-71294C0CD88C}"/>
              </a:ext>
            </a:extLst>
          </p:cNvPr>
          <p:cNvSpPr txBox="1"/>
          <p:nvPr/>
        </p:nvSpPr>
        <p:spPr>
          <a:xfrm>
            <a:off x="1350072" y="1057898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8230A37-9D3D-4DD3-AB07-755ACF73E3E2}"/>
              </a:ext>
            </a:extLst>
          </p:cNvPr>
          <p:cNvSpPr txBox="1"/>
          <p:nvPr/>
        </p:nvSpPr>
        <p:spPr>
          <a:xfrm>
            <a:off x="3461260" y="1058126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BEF003F-B114-400D-961C-6CB297302CD6}"/>
              </a:ext>
            </a:extLst>
          </p:cNvPr>
          <p:cNvSpPr txBox="1"/>
          <p:nvPr/>
        </p:nvSpPr>
        <p:spPr>
          <a:xfrm>
            <a:off x="7705760" y="1057898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289461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55133" y="91854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78" y="9185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4138E180-A355-4CCA-B630-8D7A7D362F1A}"/>
              </a:ext>
            </a:extLst>
          </p:cNvPr>
          <p:cNvGrpSpPr/>
          <p:nvPr/>
        </p:nvGrpSpPr>
        <p:grpSpPr>
          <a:xfrm>
            <a:off x="1039222" y="2236225"/>
            <a:ext cx="8658299" cy="2225347"/>
            <a:chOff x="1891845" y="3231495"/>
            <a:chExt cx="8658299" cy="2225347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4FC5B6E-BBC1-4B1E-AB4C-A8D9D2605EB1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3FDC22AB-BECE-484F-BFB0-62FD85281E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9146B8CA-B785-46CB-9104-B15124B42C7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457F7FEA-440C-46E4-B82E-0BECE1F842A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554FFE0F-7F87-4ED3-A1E6-2A43BAEF3D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10B118FF-E51D-4BF7-BDE4-E5DFB9C121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0ED4AD61-9543-432E-8341-0CC2EC10D1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345F484A-A206-4EEE-973E-16C8FF3072D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61BA10C3-50F7-4ACE-8133-177B164F8B1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747603B2-4BB8-4837-AF94-DFE9454AB7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AAE4DB10-7388-49ED-9C7F-E55C2837FF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37E0AFA8-EE91-4D03-A114-AC909D20AC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EA3AAFC1-A7B7-4069-8BB7-E058C0AF80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B9F0F09-2570-47C9-835F-FD629A79D99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A387F18F-03FC-427A-929F-3D28287AA9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13495E3-1303-4434-BD64-8ED26055FC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DA7306BC-F4E2-44DE-A1CF-6DB378818B0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15C152A-659E-479C-9289-89BFD2F20B90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35CD83EC-919A-4741-8A87-BB0EFE57A5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A5A08C04-A913-4401-826D-97D1445481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5AC6692-80B5-46BE-A435-D49A5EF0A8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D41A086-92C4-4855-AA55-1DE48C81D0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5E0CD89F-1F23-4F91-A2EB-745662D9B2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6A0941BD-FF52-49D6-A093-3AE5E1A173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AFBAAC65-ABE3-4BD5-B03E-B5395A8035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5915D94C-CDFB-4F79-A4A4-EDF1BC04A4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CD93032-05B3-4CA5-9AE6-ACECDE8C79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972B7298-D0A2-4875-B109-37462C22E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D1E6CE11-2236-4565-8B3C-452B6C4691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562B8020-4E41-4AC8-85DB-990AD410A8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545489" y="481087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414230" y="1708869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04" y="5295452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Swimming becomes more difficult when fish can no longer rely on the current to support migration movement.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833507" y="1383511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5017188" y="1383511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6FA87B6-4A09-475F-87D1-85A0BD10884F}"/>
              </a:ext>
            </a:extLst>
          </p:cNvPr>
          <p:cNvGrpSpPr/>
          <p:nvPr/>
        </p:nvGrpSpPr>
        <p:grpSpPr>
          <a:xfrm>
            <a:off x="4731485" y="1843004"/>
            <a:ext cx="3340698" cy="1367942"/>
            <a:chOff x="595095" y="118791"/>
            <a:chExt cx="3340698" cy="136794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6872473-44E8-4AEF-8D07-6B0FF01CD8A2}"/>
                </a:ext>
              </a:extLst>
            </p:cNvPr>
            <p:cNvGrpSpPr/>
            <p:nvPr/>
          </p:nvGrpSpPr>
          <p:grpSpPr>
            <a:xfrm>
              <a:off x="595095" y="118791"/>
              <a:ext cx="3340698" cy="1367942"/>
              <a:chOff x="5205192" y="5168157"/>
              <a:chExt cx="3340698" cy="1367942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7389C711-598B-477B-A0F8-F65A31CB098A}"/>
                  </a:ext>
                </a:extLst>
              </p:cNvPr>
              <p:cNvSpPr/>
              <p:nvPr/>
            </p:nvSpPr>
            <p:spPr>
              <a:xfrm>
                <a:off x="5339439" y="5168157"/>
                <a:ext cx="3115685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585ED9C-3F9F-4F80-886C-5988F68C11A8}"/>
                  </a:ext>
                </a:extLst>
              </p:cNvPr>
              <p:cNvSpPr txBox="1"/>
              <p:nvPr/>
            </p:nvSpPr>
            <p:spPr>
              <a:xfrm>
                <a:off x="7195013" y="5951324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Swimming Difficulty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5858AA6-1CA5-48A7-86F3-F56F778741C5}"/>
                  </a:ext>
                </a:extLst>
              </p:cNvPr>
              <p:cNvSpPr txBox="1"/>
              <p:nvPr/>
            </p:nvSpPr>
            <p:spPr>
              <a:xfrm>
                <a:off x="5205192" y="6085380"/>
                <a:ext cx="1983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Current Velocity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4206E16-0EAF-4860-BA1D-F9ADFC7F143B}"/>
                  </a:ext>
                </a:extLst>
              </p:cNvPr>
              <p:cNvSpPr txBox="1"/>
              <p:nvPr/>
            </p:nvSpPr>
            <p:spPr>
              <a:xfrm>
                <a:off x="7032555" y="5250946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pic>
            <p:nvPicPr>
              <p:cNvPr id="96" name="Picture 95">
                <a:extLst>
                  <a:ext uri="{FF2B5EF4-FFF2-40B4-BE49-F238E27FC236}">
                    <a16:creationId xmlns:a16="http://schemas.microsoft.com/office/drawing/2014/main" id="{717FF3D0-5E99-4FFC-B609-595269FF9B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883" t="9252" r="55401" b="73628"/>
              <a:stretch/>
            </p:blipFill>
            <p:spPr>
              <a:xfrm>
                <a:off x="7547058" y="5187454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ECDF7FD-9747-4789-A946-B3FE7C86E594}"/>
                  </a:ext>
                </a:extLst>
              </p:cNvPr>
              <p:cNvSpPr/>
              <p:nvPr/>
            </p:nvSpPr>
            <p:spPr>
              <a:xfrm>
                <a:off x="7732610" y="5871146"/>
                <a:ext cx="254405" cy="36576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81E503-10B1-418E-844F-878C8BD9DE80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8FAC0BF4-FDA0-4C4A-AFB7-603DBBFEDB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238" y="369870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4A8C7C6-E0BE-4006-8328-727C2C86EC92}"/>
              </a:ext>
            </a:extLst>
          </p:cNvPr>
          <p:cNvCxnSpPr>
            <a:cxnSpLocks/>
          </p:cNvCxnSpPr>
          <p:nvPr/>
        </p:nvCxnSpPr>
        <p:spPr>
          <a:xfrm flipH="1">
            <a:off x="6021053" y="2651760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6B63E0D6-0CF5-4BAE-B621-8052014A0E3E}"/>
              </a:ext>
            </a:extLst>
          </p:cNvPr>
          <p:cNvSpPr/>
          <p:nvPr/>
        </p:nvSpPr>
        <p:spPr>
          <a:xfrm>
            <a:off x="3921889" y="251727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4414CAB9-AB0F-404C-8339-F6B4ABBD75AB}"/>
              </a:ext>
            </a:extLst>
          </p:cNvPr>
          <p:cNvSpPr/>
          <p:nvPr/>
        </p:nvSpPr>
        <p:spPr>
          <a:xfrm>
            <a:off x="3905888" y="274505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F146820C-6DB2-4C4F-B675-B480D780C678}"/>
              </a:ext>
            </a:extLst>
          </p:cNvPr>
          <p:cNvSpPr/>
          <p:nvPr/>
        </p:nvSpPr>
        <p:spPr>
          <a:xfrm>
            <a:off x="3915110" y="297433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8 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D3FC071E-B826-4792-8559-EE6DFDA60BD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6366" y="1017592"/>
            <a:ext cx="2420322" cy="155461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8F1CE65-842D-4CD0-8B9A-5EDE2A6A6A2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006" y="1026707"/>
            <a:ext cx="2420322" cy="1554615"/>
          </a:xfrm>
          <a:prstGeom prst="rect">
            <a:avLst/>
          </a:prstGeom>
        </p:spPr>
      </p:pic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7C604D4D-D904-4145-859F-D86E73EFA280}"/>
              </a:ext>
            </a:extLst>
          </p:cNvPr>
          <p:cNvSpPr/>
          <p:nvPr/>
        </p:nvSpPr>
        <p:spPr>
          <a:xfrm>
            <a:off x="1544541" y="252230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F06C0234-5B33-42E3-94A5-76176D1C7E27}"/>
              </a:ext>
            </a:extLst>
          </p:cNvPr>
          <p:cNvSpPr/>
          <p:nvPr/>
        </p:nvSpPr>
        <p:spPr>
          <a:xfrm>
            <a:off x="1528540" y="275008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45CFB282-CEE2-4DD6-8ADF-59E2C7F7A0A3}"/>
              </a:ext>
            </a:extLst>
          </p:cNvPr>
          <p:cNvSpPr/>
          <p:nvPr/>
        </p:nvSpPr>
        <p:spPr>
          <a:xfrm>
            <a:off x="1537762" y="2979365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A8DE028F-2423-47C0-BB88-E95CE1AA7CF9}"/>
              </a:ext>
            </a:extLst>
          </p:cNvPr>
          <p:cNvSpPr/>
          <p:nvPr/>
        </p:nvSpPr>
        <p:spPr>
          <a:xfrm>
            <a:off x="8419148" y="251495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0D0CA9D6-20B9-4A95-A776-970A2EBB4064}"/>
              </a:ext>
            </a:extLst>
          </p:cNvPr>
          <p:cNvSpPr/>
          <p:nvPr/>
        </p:nvSpPr>
        <p:spPr>
          <a:xfrm>
            <a:off x="8403147" y="274272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1423ABAC-2A80-48B2-A6C5-3F5253998FFB}"/>
              </a:ext>
            </a:extLst>
          </p:cNvPr>
          <p:cNvSpPr/>
          <p:nvPr/>
        </p:nvSpPr>
        <p:spPr>
          <a:xfrm>
            <a:off x="8419148" y="296814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FBC1F30E-6FCD-4A95-8921-4E2D73AF15F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1070" y="1008075"/>
            <a:ext cx="2420322" cy="1554615"/>
          </a:xfrm>
          <a:prstGeom prst="rect">
            <a:avLst/>
          </a:prstGeom>
        </p:spPr>
      </p:pic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F90B83F-3F15-4A19-A012-49BFCFBD3F66}"/>
              </a:ext>
            </a:extLst>
          </p:cNvPr>
          <p:cNvGrpSpPr/>
          <p:nvPr/>
        </p:nvGrpSpPr>
        <p:grpSpPr>
          <a:xfrm>
            <a:off x="5411873" y="3098230"/>
            <a:ext cx="2419815" cy="1043991"/>
            <a:chOff x="-3235428" y="1356554"/>
            <a:chExt cx="2419815" cy="1043991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543A6F7-CF35-4BAC-AFD4-B029EBDA9C58}"/>
                </a:ext>
              </a:extLst>
            </p:cNvPr>
            <p:cNvGrpSpPr/>
            <p:nvPr/>
          </p:nvGrpSpPr>
          <p:grpSpPr>
            <a:xfrm>
              <a:off x="-2757258" y="1356554"/>
              <a:ext cx="1438648" cy="1043991"/>
              <a:chOff x="-2757258" y="1356554"/>
              <a:chExt cx="1438648" cy="1043991"/>
            </a:xfrm>
          </p:grpSpPr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9419EB9B-92D9-4CF8-B86B-A3CAB0BDC1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2757258" y="135655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Down 114">
                <a:extLst>
                  <a:ext uri="{FF2B5EF4-FFF2-40B4-BE49-F238E27FC236}">
                    <a16:creationId xmlns:a16="http://schemas.microsoft.com/office/drawing/2014/main" id="{47D9AE83-1E16-4B5E-A9EC-5964CBFE91FF}"/>
                  </a:ext>
                </a:extLst>
              </p:cNvPr>
              <p:cNvSpPr/>
              <p:nvPr/>
            </p:nvSpPr>
            <p:spPr>
              <a:xfrm>
                <a:off x="-2202494" y="2217665"/>
                <a:ext cx="358828" cy="18288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5229A9F-752C-4383-B007-409C1E35E415}"/>
                    </a:ext>
                  </a:extLst>
                </p:cNvPr>
                <p:cNvSpPr txBox="1"/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5229A9F-752C-4383-B007-409C1E35E4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blipFill>
                  <a:blip r:embed="rId8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492BE5AF-9DDD-4306-9BE8-1DEB0F8B70E8}"/>
              </a:ext>
            </a:extLst>
          </p:cNvPr>
          <p:cNvCxnSpPr>
            <a:cxnSpLocks/>
          </p:cNvCxnSpPr>
          <p:nvPr/>
        </p:nvCxnSpPr>
        <p:spPr>
          <a:xfrm flipH="1">
            <a:off x="7226823" y="1393036"/>
            <a:ext cx="2151444" cy="2749185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6A54B0F9-C734-468A-95F8-B83D670031F2}"/>
              </a:ext>
            </a:extLst>
          </p:cNvPr>
          <p:cNvSpPr/>
          <p:nvPr/>
        </p:nvSpPr>
        <p:spPr>
          <a:xfrm>
            <a:off x="6243719" y="418412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1C64415-9288-4CD9-BBF9-EFF77D533BBD}"/>
              </a:ext>
            </a:extLst>
          </p:cNvPr>
          <p:cNvSpPr/>
          <p:nvPr/>
        </p:nvSpPr>
        <p:spPr>
          <a:xfrm>
            <a:off x="6227718" y="441189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842A5FF3-6462-4D48-9B07-F2F03B20831F}"/>
              </a:ext>
            </a:extLst>
          </p:cNvPr>
          <p:cNvSpPr/>
          <p:nvPr/>
        </p:nvSpPr>
        <p:spPr>
          <a:xfrm>
            <a:off x="6227718" y="4643966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73E2474-53B1-4B1C-9BFA-89CD9BFADFBC}"/>
              </a:ext>
            </a:extLst>
          </p:cNvPr>
          <p:cNvSpPr txBox="1"/>
          <p:nvPr/>
        </p:nvSpPr>
        <p:spPr>
          <a:xfrm>
            <a:off x="1484069" y="847991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F45E8CC-3944-4CB7-975E-C381E6C53407}"/>
              </a:ext>
            </a:extLst>
          </p:cNvPr>
          <p:cNvSpPr txBox="1"/>
          <p:nvPr/>
        </p:nvSpPr>
        <p:spPr>
          <a:xfrm>
            <a:off x="3595257" y="848219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0853A83-6FEE-46CD-A4B0-BE6480E3DA9C}"/>
              </a:ext>
            </a:extLst>
          </p:cNvPr>
          <p:cNvSpPr txBox="1"/>
          <p:nvPr/>
        </p:nvSpPr>
        <p:spPr>
          <a:xfrm>
            <a:off x="7779046" y="847991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23356352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54244705-39AB-487A-8559-4B143B398530}"/>
              </a:ext>
            </a:extLst>
          </p:cNvPr>
          <p:cNvSpPr/>
          <p:nvPr/>
        </p:nvSpPr>
        <p:spPr>
          <a:xfrm>
            <a:off x="1209413" y="994749"/>
            <a:ext cx="8298388" cy="4529601"/>
          </a:xfrm>
          <a:prstGeom prst="rect">
            <a:avLst/>
          </a:prstGeom>
          <a:gradFill flip="none" rotWithShape="1">
            <a:gsLst>
              <a:gs pos="42900">
                <a:srgbClr val="9AA6BB"/>
              </a:gs>
              <a:gs pos="0">
                <a:srgbClr val="FF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DCC76E-82E4-489B-B111-88676FC99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8" y="994750"/>
            <a:ext cx="8235639" cy="4529601"/>
          </a:xfrm>
          <a:prstGeom prst="rect">
            <a:avLst/>
          </a:prstGeom>
          <a:ln>
            <a:solidFill>
              <a:schemeClr val="tx1"/>
            </a:solidFill>
          </a:ln>
          <a:scene3d>
            <a:camera prst="perspectiveRelaxed"/>
            <a:lightRig rig="threePt" dir="t"/>
          </a:scene3d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3BDFA0B5-80F7-43D6-B365-A4C968EC1528}"/>
              </a:ext>
            </a:extLst>
          </p:cNvPr>
          <p:cNvGrpSpPr/>
          <p:nvPr/>
        </p:nvGrpSpPr>
        <p:grpSpPr>
          <a:xfrm>
            <a:off x="1071837" y="2227593"/>
            <a:ext cx="8658299" cy="2225347"/>
            <a:chOff x="1891845" y="3231495"/>
            <a:chExt cx="8658299" cy="2225347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BB96720-9F9C-44E2-9B33-83834F63CB6B}"/>
                </a:ext>
              </a:extLst>
            </p:cNvPr>
            <p:cNvGrpSpPr/>
            <p:nvPr/>
          </p:nvGrpSpPr>
          <p:grpSpPr>
            <a:xfrm>
              <a:off x="6130892" y="3260052"/>
              <a:ext cx="4419252" cy="2196790"/>
              <a:chOff x="6130892" y="3260052"/>
              <a:chExt cx="4419252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8297D4DE-8A81-4116-80C6-E5532C40E6D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2775" y="3260052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7FF73829-18BD-4FF9-A257-26DE9D9AE7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8EF6A7F3-1A46-4645-8063-9E0774ACF2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ED1CDC5B-4923-4F3C-B5D6-E9675EE4CD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979835F3-D410-48B0-9641-180D59AE11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12525660-C858-437C-A6FF-8A6E3C5D0E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C26A1466-A355-421D-B92E-F9297BD35D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37093CA-695E-4372-8EAD-F0B0C4BE80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2EA4BB40-CE1C-4E33-A21A-BAB1438C4D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7CE7ADA-A113-4750-B1AB-A3BA0B5522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8A796050-D57D-4998-BE29-084200FCBA5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8BD24AF9-5E08-4439-A347-9959FA1942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4502BCB1-123F-4ABA-ACB8-047D885C61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Arrow Connector 126">
                <a:extLst>
                  <a:ext uri="{FF2B5EF4-FFF2-40B4-BE49-F238E27FC236}">
                    <a16:creationId xmlns:a16="http://schemas.microsoft.com/office/drawing/2014/main" id="{B8C47982-3C3C-4A35-A9B1-13751647B8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0892" y="3876078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7F9220E1-1D1F-4678-BA05-C4A371B19D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8278" y="4626276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6C901B20-78C3-4D38-B04D-E7A0E073C82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34512" y="5417361"/>
                <a:ext cx="18288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BF00E34-15E2-4B30-8993-AD601C7A5DF4}"/>
                </a:ext>
              </a:extLst>
            </p:cNvPr>
            <p:cNvGrpSpPr/>
            <p:nvPr/>
          </p:nvGrpSpPr>
          <p:grpSpPr>
            <a:xfrm flipH="1">
              <a:off x="1891845" y="3231495"/>
              <a:ext cx="3371386" cy="2196790"/>
              <a:chOff x="7178758" y="3260052"/>
              <a:chExt cx="3371386" cy="2196790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73396F41-C0E0-4242-93E6-B6026C546E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81539" y="3260052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69FB8E5C-DDF8-414E-A211-CDC330908F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78758" y="3261937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BC74153C-E41E-4B32-8559-B93DD79287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82007" y="326005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256C12D8-0517-4F33-BB57-2B5688B94DE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8544" y="386474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F7739E1D-02C7-479E-88CD-E35044E6C3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30608" y="4623388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2FE3029C-E164-4468-94BD-DC8D4F084D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35744" y="5428285"/>
                <a:ext cx="91440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5B71B81-1085-4C75-9822-A7090950D3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23256" y="3864748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D1644E9-15EC-435F-A20F-A3D8795B01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356327" y="4599549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8C7ABE9-D316-46AD-831D-60FE11E70A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8727" y="5456842"/>
                <a:ext cx="54864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9CD10053-A0D0-419D-95C0-C0C468B269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362" y="386474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9AD7E44D-CE54-4D06-8DCF-6A52266643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60509" y="4599549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45C3A410-BA81-4BDF-9B16-4FA78F81AB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342629" y="5422558"/>
                <a:ext cx="27432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BCC2901-79AD-49D8-B086-BB11C3C60490}"/>
              </a:ext>
            </a:extLst>
          </p:cNvPr>
          <p:cNvSpPr txBox="1"/>
          <p:nvPr/>
        </p:nvSpPr>
        <p:spPr>
          <a:xfrm>
            <a:off x="2499769" y="4887076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Velocity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77388C-B30A-441F-90D5-D2A0E347A1D6}"/>
              </a:ext>
            </a:extLst>
          </p:cNvPr>
          <p:cNvGrpSpPr/>
          <p:nvPr/>
        </p:nvGrpSpPr>
        <p:grpSpPr>
          <a:xfrm>
            <a:off x="5411873" y="3164905"/>
            <a:ext cx="2419815" cy="1043991"/>
            <a:chOff x="-3235428" y="1356554"/>
            <a:chExt cx="2419815" cy="104399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A7B71D7-83D5-43A3-9689-54229F24A6E5}"/>
                </a:ext>
              </a:extLst>
            </p:cNvPr>
            <p:cNvGrpSpPr/>
            <p:nvPr/>
          </p:nvGrpSpPr>
          <p:grpSpPr>
            <a:xfrm>
              <a:off x="-2757258" y="1356554"/>
              <a:ext cx="1438648" cy="1043991"/>
              <a:chOff x="-2757258" y="1356554"/>
              <a:chExt cx="1438648" cy="1043991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94CD7E2-905A-405C-9594-ACACE159E8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757258" y="1356554"/>
                <a:ext cx="1438648" cy="830997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75" name="Arrow: Down 74">
                <a:extLst>
                  <a:ext uri="{FF2B5EF4-FFF2-40B4-BE49-F238E27FC236}">
                    <a16:creationId xmlns:a16="http://schemas.microsoft.com/office/drawing/2014/main" id="{4F2E78A9-7CF8-4D05-9163-86ED0826B870}"/>
                  </a:ext>
                </a:extLst>
              </p:cNvPr>
              <p:cNvSpPr/>
              <p:nvPr/>
            </p:nvSpPr>
            <p:spPr>
              <a:xfrm>
                <a:off x="-2202494" y="2217665"/>
                <a:ext cx="358828" cy="182880"/>
              </a:xfrm>
              <a:prstGeom prst="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/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𝒂𝒈𝒆𝒏𝒕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3EA09A-2BF2-442A-A7CE-1F49802B0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35428" y="1800182"/>
                  <a:ext cx="2419815" cy="429220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EECB654-6E6D-4554-A70E-866DF0A529A5}"/>
              </a:ext>
            </a:extLst>
          </p:cNvPr>
          <p:cNvGrpSpPr/>
          <p:nvPr/>
        </p:nvGrpSpPr>
        <p:grpSpPr>
          <a:xfrm>
            <a:off x="9368510" y="1785069"/>
            <a:ext cx="3080159" cy="988962"/>
            <a:chOff x="9387122" y="5891916"/>
            <a:chExt cx="2566985" cy="98896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96A2BEB-4A43-460C-B0B4-588801EE2B92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945B01-F86C-4C05-A8AF-0ECEC6345A82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054B2CD-CD8E-4B18-AF1E-8E2C2EE362DC}"/>
                </a:ext>
              </a:extLst>
            </p:cNvPr>
            <p:cNvSpPr txBox="1"/>
            <p:nvPr/>
          </p:nvSpPr>
          <p:spPr>
            <a:xfrm>
              <a:off x="9743225" y="5891916"/>
              <a:ext cx="19990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Seaward Direction (-)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F37F2E4-C7C9-4346-97C1-0B99606FB975}"/>
                </a:ext>
              </a:extLst>
            </p:cNvPr>
            <p:cNvSpPr txBox="1"/>
            <p:nvPr/>
          </p:nvSpPr>
          <p:spPr>
            <a:xfrm>
              <a:off x="9743224" y="6234547"/>
              <a:ext cx="22108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Landward Direction (+)</a:t>
              </a:r>
            </a:p>
          </p:txBody>
        </p:sp>
      </p:grpSp>
      <p:sp>
        <p:nvSpPr>
          <p:cNvPr id="57" name="Title 1">
            <a:extLst>
              <a:ext uri="{FF2B5EF4-FFF2-40B4-BE49-F238E27FC236}">
                <a16:creationId xmlns:a16="http://schemas.microsoft.com/office/drawing/2014/main" id="{43739185-880C-47DA-B7A8-753F8966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94" y="5264017"/>
            <a:ext cx="11240098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Reduced flow support raises swimming effort and energy use, even when fish move in the same direction as the current.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E1339DC-3706-44D0-A1EA-C3B7050AEDB7}"/>
              </a:ext>
            </a:extLst>
          </p:cNvPr>
          <p:cNvCxnSpPr>
            <a:cxnSpLocks/>
          </p:cNvCxnSpPr>
          <p:nvPr/>
        </p:nvCxnSpPr>
        <p:spPr>
          <a:xfrm>
            <a:off x="2787787" y="1459711"/>
            <a:ext cx="73152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>
            <a:extLst>
              <a:ext uri="{FF2B5EF4-FFF2-40B4-BE49-F238E27FC236}">
                <a16:creationId xmlns:a16="http://schemas.microsoft.com/office/drawing/2014/main" id="{E43C6710-D574-4409-9C42-42166082C13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9918" y="1085000"/>
            <a:ext cx="2420322" cy="1963082"/>
          </a:xfrm>
          <a:prstGeom prst="rect">
            <a:avLst/>
          </a:prstGeom>
        </p:spPr>
      </p:pic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29D69B0-D4F6-4096-AEB8-73034A9CB18C}"/>
              </a:ext>
            </a:extLst>
          </p:cNvPr>
          <p:cNvCxnSpPr>
            <a:cxnSpLocks/>
          </p:cNvCxnSpPr>
          <p:nvPr/>
        </p:nvCxnSpPr>
        <p:spPr>
          <a:xfrm>
            <a:off x="4971468" y="1459711"/>
            <a:ext cx="2743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80F8641-07CE-4873-AF78-C942116B2850}"/>
              </a:ext>
            </a:extLst>
          </p:cNvPr>
          <p:cNvCxnSpPr>
            <a:cxnSpLocks/>
          </p:cNvCxnSpPr>
          <p:nvPr/>
        </p:nvCxnSpPr>
        <p:spPr>
          <a:xfrm flipH="1">
            <a:off x="7226823" y="1459711"/>
            <a:ext cx="2151444" cy="2749185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B7D7229-6624-4462-ACC8-19AF0E28AD9A}"/>
              </a:ext>
            </a:extLst>
          </p:cNvPr>
          <p:cNvGrpSpPr/>
          <p:nvPr/>
        </p:nvGrpSpPr>
        <p:grpSpPr>
          <a:xfrm>
            <a:off x="2764386" y="1887992"/>
            <a:ext cx="5478134" cy="1392133"/>
            <a:chOff x="595095" y="118791"/>
            <a:chExt cx="5478134" cy="1392133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8843630-3275-4131-88D1-8EFD2CC6237A}"/>
                </a:ext>
              </a:extLst>
            </p:cNvPr>
            <p:cNvGrpSpPr/>
            <p:nvPr/>
          </p:nvGrpSpPr>
          <p:grpSpPr>
            <a:xfrm>
              <a:off x="595095" y="118791"/>
              <a:ext cx="5478134" cy="1392133"/>
              <a:chOff x="622438" y="129054"/>
              <a:chExt cx="5478134" cy="1392133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5D118727-8373-4E66-81B8-8AC2C61E92BA}"/>
                  </a:ext>
                </a:extLst>
              </p:cNvPr>
              <p:cNvGrpSpPr/>
              <p:nvPr/>
            </p:nvGrpSpPr>
            <p:grpSpPr>
              <a:xfrm>
                <a:off x="622438" y="129054"/>
                <a:ext cx="5391606" cy="1379016"/>
                <a:chOff x="5205192" y="5168157"/>
                <a:chExt cx="5391606" cy="1379016"/>
              </a:xfrm>
            </p:grpSpPr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82A9A729-3185-424D-97BF-F8AD8B3AA438}"/>
                    </a:ext>
                  </a:extLst>
                </p:cNvPr>
                <p:cNvSpPr/>
                <p:nvPr/>
              </p:nvSpPr>
              <p:spPr>
                <a:xfrm>
                  <a:off x="5339439" y="5168157"/>
                  <a:ext cx="5257359" cy="1332839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9" name="Arrow: Right 98">
                  <a:extLst>
                    <a:ext uri="{FF2B5EF4-FFF2-40B4-BE49-F238E27FC236}">
                      <a16:creationId xmlns:a16="http://schemas.microsoft.com/office/drawing/2014/main" id="{F57B1D08-E049-4EEC-ABBA-5F681BC93892}"/>
                    </a:ext>
                  </a:extLst>
                </p:cNvPr>
                <p:cNvSpPr/>
                <p:nvPr/>
              </p:nvSpPr>
              <p:spPr>
                <a:xfrm>
                  <a:off x="8207803" y="5639754"/>
                  <a:ext cx="432639" cy="182880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0509C8C3-D6DA-41C4-B1BA-06763CFF266D}"/>
                    </a:ext>
                  </a:extLst>
                </p:cNvPr>
                <p:cNvSpPr txBox="1"/>
                <p:nvPr/>
              </p:nvSpPr>
              <p:spPr>
                <a:xfrm>
                  <a:off x="8487435" y="5962398"/>
                  <a:ext cx="100662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Energy Use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BA46436-0DC0-46AB-B93F-4FD29F51F17B}"/>
                    </a:ext>
                  </a:extLst>
                </p:cNvPr>
                <p:cNvSpPr txBox="1"/>
                <p:nvPr/>
              </p:nvSpPr>
              <p:spPr>
                <a:xfrm>
                  <a:off x="7195013" y="5951324"/>
                  <a:ext cx="13508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Swimming Difficulty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846DA23-EC12-4312-9F6E-239C573EC7DE}"/>
                    </a:ext>
                  </a:extLst>
                </p:cNvPr>
                <p:cNvSpPr txBox="1"/>
                <p:nvPr/>
              </p:nvSpPr>
              <p:spPr>
                <a:xfrm>
                  <a:off x="5205192" y="6085380"/>
                  <a:ext cx="198356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/>
                    <a:t>Current Velocity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0569279-0F5A-49DA-A038-022374EF7A79}"/>
                    </a:ext>
                  </a:extLst>
                </p:cNvPr>
                <p:cNvSpPr txBox="1"/>
                <p:nvPr/>
              </p:nvSpPr>
              <p:spPr>
                <a:xfrm>
                  <a:off x="7032555" y="5250946"/>
                  <a:ext cx="457200" cy="92333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5400" b="1" dirty="0"/>
                    <a:t>=</a:t>
                  </a:r>
                </a:p>
              </p:txBody>
            </p:sp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4FE2A9D6-73BC-4135-A782-A4B819C8F8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36883" t="9252" r="55401" b="73628"/>
                <a:stretch/>
              </p:blipFill>
              <p:spPr>
                <a:xfrm>
                  <a:off x="75470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CEE0B5E3-A0C1-4E8D-9034-4B87BFB969AD}"/>
                    </a:ext>
                  </a:extLst>
                </p:cNvPr>
                <p:cNvSpPr/>
                <p:nvPr/>
              </p:nvSpPr>
              <p:spPr>
                <a:xfrm>
                  <a:off x="7732610" y="5871146"/>
                  <a:ext cx="254405" cy="3657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06" name="Picture 105">
                  <a:extLst>
                    <a:ext uri="{FF2B5EF4-FFF2-40B4-BE49-F238E27FC236}">
                      <a16:creationId xmlns:a16="http://schemas.microsoft.com/office/drawing/2014/main" id="{C6F9E622-E44C-4725-9AC4-588C12E066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l="36883" t="9252" r="55401" b="73628"/>
                <a:stretch/>
              </p:blipFill>
              <p:spPr>
                <a:xfrm>
                  <a:off x="8683558" y="5187454"/>
                  <a:ext cx="561821" cy="896009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DE3E4E43-1684-4847-86BD-33A073947117}"/>
                    </a:ext>
                  </a:extLst>
                </p:cNvPr>
                <p:cNvSpPr/>
                <p:nvPr/>
              </p:nvSpPr>
              <p:spPr>
                <a:xfrm>
                  <a:off x="8865797" y="5871146"/>
                  <a:ext cx="254405" cy="36576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2" name="Arrow: Right 91">
                <a:extLst>
                  <a:ext uri="{FF2B5EF4-FFF2-40B4-BE49-F238E27FC236}">
                    <a16:creationId xmlns:a16="http://schemas.microsoft.com/office/drawing/2014/main" id="{B8D30586-A42D-42D8-AAE5-16B252097FE4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E0BEBF7-CBAC-4BE2-BEAE-B23B50458448}"/>
                  </a:ext>
                </a:extLst>
              </p:cNvPr>
              <p:cNvSpPr txBox="1"/>
              <p:nvPr/>
            </p:nvSpPr>
            <p:spPr>
              <a:xfrm>
                <a:off x="5093945" y="936412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2287B5E-FFA0-459D-ABF6-C60999E4DDEA}"/>
                </a:ext>
              </a:extLst>
            </p:cNvPr>
            <p:cNvSpPr txBox="1"/>
            <p:nvPr/>
          </p:nvSpPr>
          <p:spPr>
            <a:xfrm>
              <a:off x="798663" y="487153"/>
              <a:ext cx="16446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/>
                <a:t>Swimming Speed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04C80D44-808D-458E-B372-534324CF30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340" y="369385"/>
              <a:ext cx="10972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8B72991-67F3-4B28-BAFC-C2C950BF883D}"/>
              </a:ext>
            </a:extLst>
          </p:cNvPr>
          <p:cNvCxnSpPr>
            <a:cxnSpLocks/>
          </p:cNvCxnSpPr>
          <p:nvPr/>
        </p:nvCxnSpPr>
        <p:spPr>
          <a:xfrm flipH="1">
            <a:off x="4117800" y="2727960"/>
            <a:ext cx="2743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>
            <a:extLst>
              <a:ext uri="{FF2B5EF4-FFF2-40B4-BE49-F238E27FC236}">
                <a16:creationId xmlns:a16="http://schemas.microsoft.com/office/drawing/2014/main" id="{179497CC-6353-4042-A3F0-EBE1142052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555" y="1954767"/>
            <a:ext cx="495369" cy="819264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7EC32636-7F72-472A-9BCE-D3D592CDD75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4143" y="1095836"/>
            <a:ext cx="2420322" cy="1554615"/>
          </a:xfrm>
          <a:prstGeom prst="rect">
            <a:avLst/>
          </a:prstGeom>
        </p:spPr>
      </p:pic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04884F4C-726A-4A9E-820A-12E191AAF7A8}"/>
              </a:ext>
            </a:extLst>
          </p:cNvPr>
          <p:cNvSpPr/>
          <p:nvPr/>
        </p:nvSpPr>
        <p:spPr>
          <a:xfrm>
            <a:off x="1545678" y="2591431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FF3FBD42-D9A3-4A01-BBB5-CDDA7780A9AB}"/>
              </a:ext>
            </a:extLst>
          </p:cNvPr>
          <p:cNvSpPr/>
          <p:nvPr/>
        </p:nvSpPr>
        <p:spPr>
          <a:xfrm>
            <a:off x="1529677" y="2819209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56BB6DF7-4207-47E7-9678-DDC93AB8359B}"/>
              </a:ext>
            </a:extLst>
          </p:cNvPr>
          <p:cNvSpPr/>
          <p:nvPr/>
        </p:nvSpPr>
        <p:spPr>
          <a:xfrm>
            <a:off x="1538899" y="304849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4C47390B-CCE7-4210-B448-508131D49201}"/>
              </a:ext>
            </a:extLst>
          </p:cNvPr>
          <p:cNvSpPr/>
          <p:nvPr/>
        </p:nvSpPr>
        <p:spPr>
          <a:xfrm>
            <a:off x="8390955" y="2575012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5C5658DE-A6A9-4D43-954B-300BC6378DB7}"/>
              </a:ext>
            </a:extLst>
          </p:cNvPr>
          <p:cNvSpPr/>
          <p:nvPr/>
        </p:nvSpPr>
        <p:spPr>
          <a:xfrm>
            <a:off x="8374954" y="2802790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C1E09910-3685-458A-9368-13FDF49B339D}"/>
              </a:ext>
            </a:extLst>
          </p:cNvPr>
          <p:cNvSpPr/>
          <p:nvPr/>
        </p:nvSpPr>
        <p:spPr>
          <a:xfrm>
            <a:off x="8390955" y="3028201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6529A205-E4AE-4019-B9E5-6FAF27BE7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70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8506" y="1083971"/>
            <a:ext cx="2420322" cy="1554615"/>
          </a:xfrm>
          <a:prstGeom prst="rect">
            <a:avLst/>
          </a:prstGeom>
        </p:spPr>
      </p:pic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94BFEA26-8A32-4D8F-9986-DDBB39D01C3C}"/>
              </a:ext>
            </a:extLst>
          </p:cNvPr>
          <p:cNvSpPr/>
          <p:nvPr/>
        </p:nvSpPr>
        <p:spPr>
          <a:xfrm>
            <a:off x="6243719" y="4250796"/>
            <a:ext cx="793492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Time: 1 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9F84264C-49AA-4180-B9D2-A1C5E95AE007}"/>
              </a:ext>
            </a:extLst>
          </p:cNvPr>
          <p:cNvSpPr/>
          <p:nvPr/>
        </p:nvSpPr>
        <p:spPr>
          <a:xfrm>
            <a:off x="6227718" y="4478574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Fish: 1 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4C64BB40-7AE5-4694-B10E-D6EE0BEE3D52}"/>
              </a:ext>
            </a:extLst>
          </p:cNvPr>
          <p:cNvSpPr/>
          <p:nvPr/>
        </p:nvSpPr>
        <p:spPr>
          <a:xfrm>
            <a:off x="6227718" y="4701893"/>
            <a:ext cx="839604" cy="18288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/>
              <a:t>Df</a:t>
            </a:r>
            <a:r>
              <a:rPr lang="en-US" sz="1400" dirty="0"/>
              <a:t>: 1 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4DAA716-AE08-4409-A532-B73D82D570EB}"/>
              </a:ext>
            </a:extLst>
          </p:cNvPr>
          <p:cNvSpPr txBox="1"/>
          <p:nvPr/>
        </p:nvSpPr>
        <p:spPr>
          <a:xfrm>
            <a:off x="1430116" y="944377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731213-A29B-43C6-B5F7-F48F5B0D1522}"/>
              </a:ext>
            </a:extLst>
          </p:cNvPr>
          <p:cNvSpPr txBox="1"/>
          <p:nvPr/>
        </p:nvSpPr>
        <p:spPr>
          <a:xfrm>
            <a:off x="3541304" y="944605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9173EA5-AEF5-4D63-8627-BDB15D00798D}"/>
              </a:ext>
            </a:extLst>
          </p:cNvPr>
          <p:cNvSpPr txBox="1"/>
          <p:nvPr/>
        </p:nvSpPr>
        <p:spPr>
          <a:xfrm>
            <a:off x="7725093" y="944377"/>
            <a:ext cx="15744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Difficulty</a:t>
            </a:r>
            <a:r>
              <a:rPr lang="en-US" sz="1600" dirty="0"/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4012436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3302</Words>
  <Application>Microsoft Office PowerPoint</Application>
  <PresentationFormat>Widescreen</PresentationFormat>
  <Paragraphs>614</Paragraphs>
  <Slides>37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Helvetica Neue</vt:lpstr>
      <vt:lpstr>MJXc-TeX-main-R</vt:lpstr>
      <vt:lpstr>MJXc-TeX-math-I</vt:lpstr>
      <vt:lpstr>Office Theme</vt:lpstr>
      <vt:lpstr>Migration</vt:lpstr>
      <vt:lpstr>Relevant Background Information</vt:lpstr>
      <vt:lpstr>Model Objectives</vt:lpstr>
      <vt:lpstr>Key Variables for the Model</vt:lpstr>
      <vt:lpstr>PowerPoint Presentation</vt:lpstr>
      <vt:lpstr>Fish adjust their speed to overcome opposing currents, constrained by maximum velocity and rate of change.</vt:lpstr>
      <vt:lpstr>Fish use favorable currents to move faster with less effort, without being limited by their maximum swimming speed.</vt:lpstr>
      <vt:lpstr>PowerPoint Presentation</vt:lpstr>
      <vt:lpstr>More difficult conditions require more energy to swim, making resistance a key driver of energy use.</vt:lpstr>
      <vt:lpstr>Fish use favorable landward currents to boost forward movement, increasing their swimming speed with the flow.</vt:lpstr>
      <vt:lpstr>Reduced resistance during favorable flow conditions leads to lower swimming difficulty and improved migration efficiency.</vt:lpstr>
      <vt:lpstr>Lower swimming difficulty reduces energy expenditure, making favorable currents energetically beneficial.</vt:lpstr>
      <vt:lpstr>Fish decrease their swimming speed when supportive currents weaken, compensating to maintain migration progress.</vt:lpstr>
      <vt:lpstr>Reduced flow support raises swimming difficulty, especially when fish must rely more on their own effort.</vt:lpstr>
      <vt:lpstr>As difficulty rises, energy demand increases, reducing migration efficiency.</vt:lpstr>
      <vt:lpstr>Opposing currents raise resistance, forcing fish to work harder to maintain progress during migration.</vt:lpstr>
      <vt:lpstr>Greater swimming resistance under opposing flow raises difficulty, especially in regions where current direction conflicts with migration movement.</vt:lpstr>
      <vt:lpstr>Energetically costly regions emerge when high swimming difficulty drives up energy use, reducing available energy for continued migration.</vt:lpstr>
      <vt:lpstr>Fish dynamically adjust swimming speed based on current direction and migration direction.</vt:lpstr>
      <vt:lpstr>Swimming becomes more difficult when fish can no longer rely on the current to support migration movement.</vt:lpstr>
      <vt:lpstr>Reduced flow support raises swimming effort and energy use, even when fish move in the same direction as the current.</vt:lpstr>
      <vt:lpstr>Individual-Specific Traits</vt:lpstr>
      <vt:lpstr>Outputs of Interest</vt:lpstr>
      <vt:lpstr>Discussion Prompts</vt:lpstr>
      <vt:lpstr>Fish can increase swimming speed to maximum levels as long as there is energy available, but higher difficulty leads to more energy expended</vt:lpstr>
      <vt:lpstr>PowerPoint Presentation</vt:lpstr>
      <vt:lpstr>4. Fish Move to Conserve Energy</vt:lpstr>
      <vt:lpstr>PowerPoint Presentation</vt:lpstr>
      <vt:lpstr>6. Check for Better Conditions</vt:lpstr>
      <vt:lpstr>PowerPoint Presentation</vt:lpstr>
      <vt:lpstr>PowerPoint Presentation</vt:lpstr>
      <vt:lpstr>Key Variables for the Model</vt:lpstr>
      <vt:lpstr>vv</vt:lpstr>
      <vt:lpstr>PowerPoint Presentation</vt:lpstr>
      <vt:lpstr>Fish dynamically adjust swimming speed based on current direction and migration direction.</vt:lpstr>
      <vt:lpstr>Swimming becomes more difficult when fish can no longer rely on the current to support migration movement.</vt:lpstr>
      <vt:lpstr>Reduced flow support raises swimming effort and energy use, even when fish move in the same direction as the current.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Bioaccumulation Dynamics</dc:title>
  <dc:creator>Quintana, Vanessa M ERDC-RDE-EL-MS Contractor</dc:creator>
  <cp:lastModifiedBy>Quintana, Vanessa M ERDC-RDE-EL-MS Contractor</cp:lastModifiedBy>
  <cp:revision>182</cp:revision>
  <dcterms:created xsi:type="dcterms:W3CDTF">2025-06-04T12:52:07Z</dcterms:created>
  <dcterms:modified xsi:type="dcterms:W3CDTF">2025-07-06T23:46:42Z</dcterms:modified>
</cp:coreProperties>
</file>