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59" r:id="rId4"/>
    <p:sldId id="323" r:id="rId5"/>
    <p:sldId id="326" r:id="rId6"/>
    <p:sldId id="329" r:id="rId7"/>
    <p:sldId id="327" r:id="rId8"/>
    <p:sldId id="285" r:id="rId9"/>
    <p:sldId id="267" r:id="rId10"/>
    <p:sldId id="333" r:id="rId11"/>
    <p:sldId id="320" r:id="rId12"/>
    <p:sldId id="332" r:id="rId13"/>
    <p:sldId id="278" r:id="rId14"/>
    <p:sldId id="279" r:id="rId15"/>
    <p:sldId id="284" r:id="rId16"/>
    <p:sldId id="330" r:id="rId17"/>
    <p:sldId id="331" r:id="rId18"/>
    <p:sldId id="29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3C3C"/>
    <a:srgbClr val="C01616"/>
    <a:srgbClr val="57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8" autoAdjust="0"/>
    <p:restoredTop sz="82061" autoAdjust="0"/>
  </p:normalViewPr>
  <p:slideViewPr>
    <p:cSldViewPr snapToGrid="0">
      <p:cViewPr varScale="1">
        <p:scale>
          <a:sx n="69" d="100"/>
          <a:sy n="69" d="100"/>
        </p:scale>
        <p:origin x="10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1F60-1629-46FF-849D-2D3415030A6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77F5A-AE78-413A-BB36-995AB637D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Reduce energy cost during high-flow events</a:t>
            </a:r>
            <a:br>
              <a:rPr lang="en-US" dirty="0"/>
            </a:br>
            <a:r>
              <a:rPr lang="en-US" dirty="0"/>
              <a:t>Enable fish to passively drift with the current when swimming is inefficient, conserving energy for critical behaviors like spawning.</a:t>
            </a:r>
          </a:p>
          <a:p>
            <a:r>
              <a:rPr lang="en-US" b="1" dirty="0"/>
              <a:t>Allow recovery during periods of physiological stress</a:t>
            </a:r>
            <a:br>
              <a:rPr lang="en-US" dirty="0"/>
            </a:br>
            <a:r>
              <a:rPr lang="en-US" dirty="0"/>
              <a:t>Let fish temporarily stop migrating to restore energy and acclimate to environmental changes such as salinity shifts or elevated flow resistance.</a:t>
            </a:r>
          </a:p>
          <a:p>
            <a:r>
              <a:rPr lang="en-US" b="1" dirty="0"/>
              <a:t>Track when and where resting occurs</a:t>
            </a:r>
            <a:br>
              <a:rPr lang="en-US" dirty="0"/>
            </a:br>
            <a:r>
              <a:rPr lang="en-US" dirty="0"/>
              <a:t>Identify the spatial and temporal patterns of resting behaviors, including staging hotspots and zones of selective tidal stream transport, to inform habitat quality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2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45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9F1F-8141-4FBF-BF5A-6A38ACA86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38B69-8D7B-4DA7-9337-3BE471C8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FE0F-94D3-4F8E-A4DE-97501900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D481-E5EA-4687-978B-FA850B5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B777-9386-4463-A30C-497BE15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0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CDC8-7090-4978-91A5-2FFEBBB1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9FE4-26DD-46E4-8496-6A77EA25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86A0-8F04-4274-9A55-717320B6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88EE-862C-4763-AE35-0BEB7745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F349-ADA4-4681-9205-90C3EE82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2BB6-E14D-493D-8215-85735409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EC6B-C50C-4FCA-B757-F6EB4722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34AB-5657-4FA9-A713-57AD0FB9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4655-D8AC-4D2F-A311-5C6AEAA6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6D47-5368-44C7-A8C9-C9BE063A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CBA0-3B5B-4213-977B-7590AAC3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7316-4E26-46C9-91D8-78645979D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1ED28-73DC-410B-92F6-0F90B939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E3D4A-2AED-4748-815A-6AEA9D7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CDD8-CBFE-4E2A-AFB3-1855F335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F412-CD08-4121-AE61-D622E47F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8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5E8C-9770-47EF-BE24-0CD790C8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F71F-4584-4952-8321-07DF5D2D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56E1-E548-4E06-8BC6-92137637E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7B174-900E-4640-A7E1-2B78677A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1DF5-BE54-4C82-A296-531259EC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EB407-9898-4885-9476-4D6ADF53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BCBBA-F113-4B54-A181-9002B6BD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572C-0F75-4D3E-961E-4064457A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617E-EE61-427E-8F6D-220DBCB1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408A6-1A7F-451E-A9F0-0C839E02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02C96-FD98-485E-83B7-8B61F80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36F9-5781-4EC0-A444-B6D8E85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D3773-774D-451E-8E4B-ED5ABBAF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8E68-3C83-4AF7-BD5A-473AAE51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74D8-3075-40ED-862F-4303D904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D163-F5D6-4A6D-97C7-18570C67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4CE2-FB4A-42C4-B7E6-10A8797A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8B50-533D-455F-BB36-B2EB8A35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D6CC-782D-4765-ABF1-E08E1519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7E591-3EF1-4A94-B121-DB3D972A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FA53D-CAD1-45B1-BFD7-2C11EA66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FF04-BF4B-4111-AE7D-3029DA70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73707-16F0-4F11-8306-97951C67A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7999A-313F-4F07-AAA6-B3EF5170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5979-0696-40F2-B42E-A65D0E9E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09B80-A602-4242-BAAF-68E06ADC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5C82-8559-4F05-AC95-A387EF5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3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110E-3C70-4265-92E6-27B0FDB1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7A9C3-D90F-472E-9108-14D174C6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90E2-107E-44F4-BD1E-35A09CD8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9C65-8A3F-4A51-AD07-F209CD9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10AB-2249-47EA-BF4D-167B5894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832A5-A46F-4F31-9488-F79ECFD1F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EC43-A4F3-467F-80CD-340A69338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54CA-E3BA-450F-9EA7-C79E0500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E605-E5B3-4E7E-986F-70A74EA2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C332C-A5DA-4B60-A1D3-C1E4F82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4DA64-F61E-4BD4-9CB2-73E7A387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1272D-920A-414C-B438-BA35DB0D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C9D2-5604-4DC6-AEA5-610E5C79E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4731-B686-4222-965A-52EEC418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1F3C-613F-4941-BA95-6BA12D21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1AD-A261-4D81-829A-6B677B848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Predation Behavior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55772-D1B0-42C5-ACE9-FC72D03E3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69B74-8514-4808-99AD-42DBF8EE9940}"/>
              </a:ext>
            </a:extLst>
          </p:cNvPr>
          <p:cNvSpPr txBox="1"/>
          <p:nvPr/>
        </p:nvSpPr>
        <p:spPr>
          <a:xfrm>
            <a:off x="6934200" y="106958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Foraging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6578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38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478062"/>
              </p:ext>
            </p:extLst>
          </p:nvPr>
        </p:nvGraphicFramePr>
        <p:xfrm>
          <a:off x="628253" y="1520662"/>
          <a:ext cx="10935494" cy="373713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42801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8092693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37955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Term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Definition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6715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Optimal Foraging Theory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The idea that animals balance energy gain with effort and risk, choosing to forage only when the benefits outweigh the costs.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6715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Suspended Particulate Matter (SPM)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Fine particles in water that reduce visibility and affect predator-prey detection.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6715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Gape Limit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Maximum prey size a predator can consume, based on its own size.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77928"/>
                  </a:ext>
                </a:extLst>
              </a:tr>
              <a:tr h="6715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Predator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An agent that detects, selects, and consumes prey to gain energy.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552739"/>
                  </a:ext>
                </a:extLst>
              </a:tr>
              <a:tr h="6715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Agents that avoid predators using fleeing behaviors based on visual detection and social cues.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807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70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9239" y="1471120"/>
            <a:ext cx="11173521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This module simulates predator-prey interactions between migratory fish species (predators like striped bass and prey like alewife) during migration.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Link predator-prey interactions to environmental conditions</a:t>
            </a:r>
            <a:br>
              <a:rPr lang="en-US" sz="2200" dirty="0"/>
            </a:br>
            <a:r>
              <a:rPr lang="en-US" sz="2200" dirty="0"/>
              <a:t>Allow predators and prey to evaluate nearby environmental conditions, and adjust their behaviors accordingly.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Simulate optimal predation behavior</a:t>
            </a:r>
            <a:br>
              <a:rPr lang="en-US" sz="2200" dirty="0"/>
            </a:br>
            <a:r>
              <a:rPr lang="en-US" sz="2200" dirty="0"/>
              <a:t>Enable predators to prey on other agents based on the optimal foraging theory, and prey to flee from predators.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Link energy gain and depletion predator-prey behavior</a:t>
            </a:r>
            <a:br>
              <a:rPr lang="en-US" sz="2200" dirty="0"/>
            </a:br>
            <a:r>
              <a:rPr lang="en-US" sz="2200" dirty="0"/>
              <a:t>Predators gain energy from consuming prey, while prey lose energy when fleeing. 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446672-6040-42E7-A12A-F1560EE859F4}"/>
              </a:ext>
            </a:extLst>
          </p:cNvPr>
          <p:cNvSpPr/>
          <p:nvPr/>
        </p:nvSpPr>
        <p:spPr>
          <a:xfrm>
            <a:off x="1946805" y="1341394"/>
            <a:ext cx="8298388" cy="4529601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48000">
                <a:srgbClr val="A18484"/>
              </a:gs>
              <a:gs pos="0">
                <a:schemeClr val="bg1">
                  <a:lumMod val="95000"/>
                </a:schemeClr>
              </a:gs>
              <a:gs pos="95918">
                <a:schemeClr val="bg1"/>
              </a:gs>
              <a:gs pos="85000">
                <a:srgbClr val="6C3C3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296F40-A39C-4A73-86D7-A91ABC5E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180" y="134139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173A82-78E7-4D21-BAE8-C45DBE56B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40916" y="334499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775C3-F97C-44D1-9EBA-20F7C1188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04132" y="321320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E9E84-61F3-440C-B5C6-D119B5880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328927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2D6519-ECF1-4DFB-8E17-6A13D93D0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24947" y="305221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8F6B29-E3F0-4949-BB7D-8D3E1B1FC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88163" y="292042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C0F373-5576-4FBE-8077-2B7488A11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04340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6E5AD3-EA2D-4095-8355-45D64BC3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7214651" y="4497509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C3768B-4C80-4CA1-9FF6-9E91867D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6700341" y="4633986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B50893D-D961-4CF7-A90F-5327659F9580}"/>
              </a:ext>
            </a:extLst>
          </p:cNvPr>
          <p:cNvGrpSpPr/>
          <p:nvPr/>
        </p:nvGrpSpPr>
        <p:grpSpPr>
          <a:xfrm>
            <a:off x="207591" y="289357"/>
            <a:ext cx="2517628" cy="1395294"/>
            <a:chOff x="105226" y="171864"/>
            <a:chExt cx="2517628" cy="139529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CDF4C81-A46A-4468-9FE7-0DB3B676E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25905" y="195809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42D16D-BD24-4F3C-AF84-3497D820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42290" y="880670"/>
              <a:ext cx="505989" cy="29227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C82F4B-87BE-4912-81FE-7C67BCA6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63403" flipH="1">
              <a:off x="412800" y="1059173"/>
              <a:ext cx="864857" cy="499562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E90A61-E5F5-432E-8027-22CC2C82FD2E}"/>
                </a:ext>
              </a:extLst>
            </p:cNvPr>
            <p:cNvSpPr txBox="1"/>
            <p:nvPr/>
          </p:nvSpPr>
          <p:spPr>
            <a:xfrm>
              <a:off x="1333505" y="389071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Predator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B0FA65-E48E-42DF-B42F-CB503A1EF387}"/>
                </a:ext>
              </a:extLst>
            </p:cNvPr>
            <p:cNvSpPr txBox="1"/>
            <p:nvPr/>
          </p:nvSpPr>
          <p:spPr>
            <a:xfrm>
              <a:off x="1333505" y="1026805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DC73D6-97F2-4F80-BD0D-689E55B07A10}"/>
                </a:ext>
              </a:extLst>
            </p:cNvPr>
            <p:cNvSpPr/>
            <p:nvPr/>
          </p:nvSpPr>
          <p:spPr>
            <a:xfrm>
              <a:off x="105226" y="171864"/>
              <a:ext cx="2380564" cy="13952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B328AFE9-9F21-4BF5-A5BB-2920A4412908}"/>
              </a:ext>
            </a:extLst>
          </p:cNvPr>
          <p:cNvSpPr txBox="1">
            <a:spLocks/>
          </p:cNvSpPr>
          <p:nvPr/>
        </p:nvSpPr>
        <p:spPr>
          <a:xfrm>
            <a:off x="271352" y="5449099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Agents visually detect other agents based on turbidity, size, and proximity.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6F3A9D-7FF1-433C-BF3B-DFEF42102915}"/>
              </a:ext>
            </a:extLst>
          </p:cNvPr>
          <p:cNvGrpSpPr/>
          <p:nvPr/>
        </p:nvGrpSpPr>
        <p:grpSpPr>
          <a:xfrm rot="340456">
            <a:off x="-4945771" y="4156395"/>
            <a:ext cx="3537517" cy="1543500"/>
            <a:chOff x="2920116" y="1688764"/>
            <a:chExt cx="3537517" cy="15435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735586-D7DF-40FC-924F-E9312753E255}"/>
                </a:ext>
              </a:extLst>
            </p:cNvPr>
            <p:cNvGrpSpPr/>
            <p:nvPr/>
          </p:nvGrpSpPr>
          <p:grpSpPr>
            <a:xfrm>
              <a:off x="2920116" y="1688764"/>
              <a:ext cx="3440029" cy="1543500"/>
              <a:chOff x="2938703" y="2191377"/>
              <a:chExt cx="3440029" cy="1543500"/>
            </a:xfrm>
          </p:grpSpPr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553C710F-5257-4EFD-8BA8-1BCAC28D0F24}"/>
                  </a:ext>
                </a:extLst>
              </p:cNvPr>
              <p:cNvSpPr/>
              <p:nvPr/>
            </p:nvSpPr>
            <p:spPr>
              <a:xfrm rot="15798849">
                <a:off x="3990398" y="1346542"/>
                <a:ext cx="1336640" cy="3440029"/>
              </a:xfrm>
              <a:prstGeom prst="triangle">
                <a:avLst/>
              </a:prstGeom>
              <a:solidFill>
                <a:schemeClr val="bg2">
                  <a:lumMod val="75000"/>
                  <a:alpha val="53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F887E66-E557-4272-B027-F3EA93E874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50401" y="2191377"/>
                <a:ext cx="3338825" cy="10642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A2961D4-8F44-4795-BB48-37364BB7A396}"/>
                </a:ext>
              </a:extLst>
            </p:cNvPr>
            <p:cNvCxnSpPr>
              <a:cxnSpLocks/>
            </p:cNvCxnSpPr>
            <p:nvPr/>
          </p:nvCxnSpPr>
          <p:spPr>
            <a:xfrm>
              <a:off x="2963189" y="2740549"/>
              <a:ext cx="3494444" cy="3005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3C3BBC-F314-41FA-9E78-B6505B3D9619}"/>
              </a:ext>
            </a:extLst>
          </p:cNvPr>
          <p:cNvGrpSpPr/>
          <p:nvPr/>
        </p:nvGrpSpPr>
        <p:grpSpPr>
          <a:xfrm>
            <a:off x="10169610" y="1571035"/>
            <a:ext cx="1687551" cy="982694"/>
            <a:chOff x="9621580" y="1536768"/>
            <a:chExt cx="1687551" cy="98269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171FD0B-F6B0-44FC-BC45-38FE71F91237}"/>
                </a:ext>
              </a:extLst>
            </p:cNvPr>
            <p:cNvGrpSpPr/>
            <p:nvPr/>
          </p:nvGrpSpPr>
          <p:grpSpPr>
            <a:xfrm>
              <a:off x="9621580" y="1536768"/>
              <a:ext cx="1687551" cy="982694"/>
              <a:chOff x="8971952" y="5755154"/>
              <a:chExt cx="1687551" cy="9826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B14332-3DA2-442F-B628-8D1E1257F02C}"/>
                  </a:ext>
                </a:extLst>
              </p:cNvPr>
              <p:cNvSpPr/>
              <p:nvPr/>
            </p:nvSpPr>
            <p:spPr>
              <a:xfrm>
                <a:off x="9267697" y="6154291"/>
                <a:ext cx="1096062" cy="5835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97470C-2512-40C2-82AF-3B3BCA28B252}"/>
                  </a:ext>
                </a:extLst>
              </p:cNvPr>
              <p:cNvSpPr txBox="1"/>
              <p:nvPr/>
            </p:nvSpPr>
            <p:spPr>
              <a:xfrm>
                <a:off x="8971952" y="575515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D9C87F-F4BD-4446-AA1C-708EDBADC6EE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7DF2B5-55DB-41B9-B79D-1ADF18C9E373}"/>
                </a:ext>
              </a:extLst>
            </p:cNvPr>
            <p:cNvSpPr txBox="1"/>
            <p:nvPr/>
          </p:nvSpPr>
          <p:spPr>
            <a:xfrm>
              <a:off x="10392853" y="2027209"/>
              <a:ext cx="843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6665DAB1-F87A-4CF3-9815-EA414B524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887" y="3702181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2D086AA-DAED-4FAD-A523-0CC758796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674" y="3802054"/>
            <a:ext cx="775505" cy="29993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65D0F63-0925-4C7C-AFC8-204E50779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80266" y="3851618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8220157-DDB0-4D8B-8693-6DA554DF1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357" y="2579254"/>
            <a:ext cx="3523793" cy="260186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7FB2D5-D2BA-4FFE-BFF2-3195697B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932318" y="3617257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7186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446672-6040-42E7-A12A-F1560EE859F4}"/>
              </a:ext>
            </a:extLst>
          </p:cNvPr>
          <p:cNvSpPr/>
          <p:nvPr/>
        </p:nvSpPr>
        <p:spPr>
          <a:xfrm>
            <a:off x="1946805" y="1341394"/>
            <a:ext cx="8298388" cy="4529601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48000">
                <a:srgbClr val="A18484"/>
              </a:gs>
              <a:gs pos="0">
                <a:schemeClr val="bg1">
                  <a:lumMod val="95000"/>
                </a:schemeClr>
              </a:gs>
              <a:gs pos="95918">
                <a:schemeClr val="bg1"/>
              </a:gs>
              <a:gs pos="85000">
                <a:srgbClr val="6C3C3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296F40-A39C-4A73-86D7-A91ABC5E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180" y="134139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173A82-78E7-4D21-BAE8-C45DBE56B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40916" y="334499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775C3-F97C-44D1-9EBA-20F7C1188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04132" y="321320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E9E84-61F3-440C-B5C6-D119B5880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328927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2D6519-ECF1-4DFB-8E17-6A13D93D0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24947" y="305221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8F6B29-E3F0-4949-BB7D-8D3E1B1FC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88163" y="292042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C0F373-5576-4FBE-8077-2B7488A11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04340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6E5AD3-EA2D-4095-8355-45D64BC3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7214651" y="4497509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C3768B-4C80-4CA1-9FF6-9E91867D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6700341" y="4633986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B50893D-D961-4CF7-A90F-5327659F9580}"/>
              </a:ext>
            </a:extLst>
          </p:cNvPr>
          <p:cNvGrpSpPr/>
          <p:nvPr/>
        </p:nvGrpSpPr>
        <p:grpSpPr>
          <a:xfrm>
            <a:off x="207591" y="289357"/>
            <a:ext cx="2517628" cy="1395294"/>
            <a:chOff x="105226" y="171864"/>
            <a:chExt cx="2517628" cy="139529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CDF4C81-A46A-4468-9FE7-0DB3B676E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25905" y="195809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42D16D-BD24-4F3C-AF84-3497D820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42290" y="880670"/>
              <a:ext cx="505989" cy="29227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C82F4B-87BE-4912-81FE-7C67BCA6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63403" flipH="1">
              <a:off x="412800" y="1059173"/>
              <a:ext cx="864857" cy="499562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E90A61-E5F5-432E-8027-22CC2C82FD2E}"/>
                </a:ext>
              </a:extLst>
            </p:cNvPr>
            <p:cNvSpPr txBox="1"/>
            <p:nvPr/>
          </p:nvSpPr>
          <p:spPr>
            <a:xfrm>
              <a:off x="1333505" y="389071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Predator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B0FA65-E48E-42DF-B42F-CB503A1EF387}"/>
                </a:ext>
              </a:extLst>
            </p:cNvPr>
            <p:cNvSpPr txBox="1"/>
            <p:nvPr/>
          </p:nvSpPr>
          <p:spPr>
            <a:xfrm>
              <a:off x="1333505" y="1026805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DC73D6-97F2-4F80-BD0D-689E55B07A10}"/>
                </a:ext>
              </a:extLst>
            </p:cNvPr>
            <p:cNvSpPr/>
            <p:nvPr/>
          </p:nvSpPr>
          <p:spPr>
            <a:xfrm>
              <a:off x="105226" y="171864"/>
              <a:ext cx="2380564" cy="13952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B328AFE9-9F21-4BF5-A5BB-2920A4412908}"/>
              </a:ext>
            </a:extLst>
          </p:cNvPr>
          <p:cNvSpPr txBox="1">
            <a:spLocks/>
          </p:cNvSpPr>
          <p:nvPr/>
        </p:nvSpPr>
        <p:spPr>
          <a:xfrm>
            <a:off x="271352" y="5449099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High SPM levels can decrease vision radius and make prey harder to find, and predators harder to recognize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6F3A9D-7FF1-433C-BF3B-DFEF42102915}"/>
              </a:ext>
            </a:extLst>
          </p:cNvPr>
          <p:cNvGrpSpPr/>
          <p:nvPr/>
        </p:nvGrpSpPr>
        <p:grpSpPr>
          <a:xfrm rot="340456">
            <a:off x="-4945771" y="4156395"/>
            <a:ext cx="3537517" cy="1543500"/>
            <a:chOff x="2920116" y="1688764"/>
            <a:chExt cx="3537517" cy="15435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735586-D7DF-40FC-924F-E9312753E255}"/>
                </a:ext>
              </a:extLst>
            </p:cNvPr>
            <p:cNvGrpSpPr/>
            <p:nvPr/>
          </p:nvGrpSpPr>
          <p:grpSpPr>
            <a:xfrm>
              <a:off x="2920116" y="1688764"/>
              <a:ext cx="3440029" cy="1543500"/>
              <a:chOff x="2938703" y="2191377"/>
              <a:chExt cx="3440029" cy="1543500"/>
            </a:xfrm>
          </p:grpSpPr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553C710F-5257-4EFD-8BA8-1BCAC28D0F24}"/>
                  </a:ext>
                </a:extLst>
              </p:cNvPr>
              <p:cNvSpPr/>
              <p:nvPr/>
            </p:nvSpPr>
            <p:spPr>
              <a:xfrm rot="15798849">
                <a:off x="3990398" y="1346542"/>
                <a:ext cx="1336640" cy="3440029"/>
              </a:xfrm>
              <a:prstGeom prst="triangle">
                <a:avLst/>
              </a:prstGeom>
              <a:solidFill>
                <a:schemeClr val="bg2">
                  <a:lumMod val="75000"/>
                  <a:alpha val="53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F887E66-E557-4272-B027-F3EA93E874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50401" y="2191377"/>
                <a:ext cx="3338825" cy="10642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A2961D4-8F44-4795-BB48-37364BB7A396}"/>
                </a:ext>
              </a:extLst>
            </p:cNvPr>
            <p:cNvCxnSpPr>
              <a:cxnSpLocks/>
            </p:cNvCxnSpPr>
            <p:nvPr/>
          </p:nvCxnSpPr>
          <p:spPr>
            <a:xfrm>
              <a:off x="2963189" y="2740549"/>
              <a:ext cx="3494444" cy="3005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3C3BBC-F314-41FA-9E78-B6505B3D9619}"/>
              </a:ext>
            </a:extLst>
          </p:cNvPr>
          <p:cNvGrpSpPr/>
          <p:nvPr/>
        </p:nvGrpSpPr>
        <p:grpSpPr>
          <a:xfrm>
            <a:off x="10169610" y="1571035"/>
            <a:ext cx="1687551" cy="982694"/>
            <a:chOff x="9621580" y="1536768"/>
            <a:chExt cx="1687551" cy="98269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171FD0B-F6B0-44FC-BC45-38FE71F91237}"/>
                </a:ext>
              </a:extLst>
            </p:cNvPr>
            <p:cNvGrpSpPr/>
            <p:nvPr/>
          </p:nvGrpSpPr>
          <p:grpSpPr>
            <a:xfrm>
              <a:off x="9621580" y="1536768"/>
              <a:ext cx="1687551" cy="982694"/>
              <a:chOff x="8971952" y="5755154"/>
              <a:chExt cx="1687551" cy="9826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B14332-3DA2-442F-B628-8D1E1257F02C}"/>
                  </a:ext>
                </a:extLst>
              </p:cNvPr>
              <p:cNvSpPr/>
              <p:nvPr/>
            </p:nvSpPr>
            <p:spPr>
              <a:xfrm>
                <a:off x="9267697" y="6154291"/>
                <a:ext cx="1096062" cy="5835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97470C-2512-40C2-82AF-3B3BCA28B252}"/>
                  </a:ext>
                </a:extLst>
              </p:cNvPr>
              <p:cNvSpPr txBox="1"/>
              <p:nvPr/>
            </p:nvSpPr>
            <p:spPr>
              <a:xfrm>
                <a:off x="8971952" y="575515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D9C87F-F4BD-4446-AA1C-708EDBADC6EE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7DF2B5-55DB-41B9-B79D-1ADF18C9E373}"/>
                </a:ext>
              </a:extLst>
            </p:cNvPr>
            <p:cNvSpPr txBox="1"/>
            <p:nvPr/>
          </p:nvSpPr>
          <p:spPr>
            <a:xfrm>
              <a:off x="10392853" y="2027209"/>
              <a:ext cx="843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3D744222-295C-4757-B49F-3C6E83A45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162462" y="3502919"/>
            <a:ext cx="1350259" cy="99699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82EC7B3-D57D-42DC-9E05-273D856E8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887" y="3702181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7FB2D5-D2BA-4FFE-BFF2-3195697B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932318" y="3617257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9D24F6C-6779-41D1-B6DE-BDFDB03D1836}"/>
              </a:ext>
            </a:extLst>
          </p:cNvPr>
          <p:cNvGrpSpPr/>
          <p:nvPr/>
        </p:nvGrpSpPr>
        <p:grpSpPr>
          <a:xfrm rot="340456">
            <a:off x="-4673208" y="2123527"/>
            <a:ext cx="3535124" cy="3543579"/>
            <a:chOff x="2922509" y="-502459"/>
            <a:chExt cx="3535124" cy="3543579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183F149-3012-43EA-A4B9-1B0E63EE1C2A}"/>
                </a:ext>
              </a:extLst>
            </p:cNvPr>
            <p:cNvGrpSpPr/>
            <p:nvPr/>
          </p:nvGrpSpPr>
          <p:grpSpPr>
            <a:xfrm>
              <a:off x="2922509" y="-502459"/>
              <a:ext cx="3440029" cy="3255505"/>
              <a:chOff x="2941096" y="154"/>
              <a:chExt cx="3440029" cy="3255505"/>
            </a:xfrm>
          </p:grpSpPr>
          <p:sp>
            <p:nvSpPr>
              <p:cNvPr id="47" name="Isosceles Triangle 46">
                <a:extLst>
                  <a:ext uri="{FF2B5EF4-FFF2-40B4-BE49-F238E27FC236}">
                    <a16:creationId xmlns:a16="http://schemas.microsoft.com/office/drawing/2014/main" id="{07EFC5BD-A0C6-4913-84DB-EBA5DA5635C8}"/>
                  </a:ext>
                </a:extLst>
              </p:cNvPr>
              <p:cNvSpPr/>
              <p:nvPr/>
            </p:nvSpPr>
            <p:spPr>
              <a:xfrm rot="15798849">
                <a:off x="3992791" y="-1051541"/>
                <a:ext cx="1336640" cy="3440029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3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7A64123-2138-40C5-9789-24B14E9F2F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50401" y="2191377"/>
                <a:ext cx="3338825" cy="10642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B16512A-133D-4CF9-8325-15963C5E34F1}"/>
                </a:ext>
              </a:extLst>
            </p:cNvPr>
            <p:cNvCxnSpPr>
              <a:cxnSpLocks/>
            </p:cNvCxnSpPr>
            <p:nvPr/>
          </p:nvCxnSpPr>
          <p:spPr>
            <a:xfrm>
              <a:off x="2963189" y="2740549"/>
              <a:ext cx="3494444" cy="3005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762B65C-8749-42F6-B3CA-BF59020B7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674" y="3802054"/>
            <a:ext cx="775505" cy="29993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3182FD5-CD44-4C75-AC41-253BC1B8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80266" y="3851618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85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E0419-F6FD-43EE-B1BD-2A7CA27B2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59371">
            <a:off x="1358597" y="2100165"/>
            <a:ext cx="3523793" cy="2601861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A6B2407F-0D1D-46C4-A5CD-D25E0BAB7BE7}"/>
              </a:ext>
            </a:extLst>
          </p:cNvPr>
          <p:cNvSpPr/>
          <p:nvPr/>
        </p:nvSpPr>
        <p:spPr>
          <a:xfrm>
            <a:off x="5922745" y="2751033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4E5AE1-5728-44E8-B460-799F6D889E81}"/>
              </a:ext>
            </a:extLst>
          </p:cNvPr>
          <p:cNvGrpSpPr/>
          <p:nvPr/>
        </p:nvGrpSpPr>
        <p:grpSpPr>
          <a:xfrm>
            <a:off x="6416526" y="1282074"/>
            <a:ext cx="5780947" cy="3962269"/>
            <a:chOff x="6844803" y="1587607"/>
            <a:chExt cx="5780947" cy="396226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DBB4EEC-AF02-44EB-8FFF-399AE544E301}"/>
                </a:ext>
              </a:extLst>
            </p:cNvPr>
            <p:cNvSpPr txBox="1"/>
            <p:nvPr/>
          </p:nvSpPr>
          <p:spPr>
            <a:xfrm rot="16200000">
              <a:off x="5083257" y="3368687"/>
              <a:ext cx="39622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Swimming Speed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92CD2F7-A58B-4528-916C-313F7EBBC9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3055" y="3293966"/>
              <a:ext cx="3180115" cy="1166696"/>
            </a:xfrm>
            <a:prstGeom prst="line">
              <a:avLst/>
            </a:prstGeom>
            <a:ln w="57150">
              <a:solidFill>
                <a:schemeClr val="accent2"/>
              </a:solidFill>
              <a:prstDash val="sysDot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A938D47-2B0A-42C3-8F55-A2042E9B7C7E}"/>
                </a:ext>
              </a:extLst>
            </p:cNvPr>
            <p:cNvSpPr txBox="1"/>
            <p:nvPr/>
          </p:nvSpPr>
          <p:spPr>
            <a:xfrm>
              <a:off x="7025082" y="4781499"/>
              <a:ext cx="39622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time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89CB696-D177-4ED8-9C88-747C53B2579E}"/>
                </a:ext>
              </a:extLst>
            </p:cNvPr>
            <p:cNvCxnSpPr/>
            <p:nvPr/>
          </p:nvCxnSpPr>
          <p:spPr>
            <a:xfrm flipV="1">
              <a:off x="7313055" y="3145539"/>
              <a:ext cx="318011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FA46968-6787-40F6-A7B6-E9E0DD62DB9B}"/>
                </a:ext>
              </a:extLst>
            </p:cNvPr>
            <p:cNvGrpSpPr/>
            <p:nvPr/>
          </p:nvGrpSpPr>
          <p:grpSpPr>
            <a:xfrm>
              <a:off x="6844803" y="1876583"/>
              <a:ext cx="3854574" cy="3122453"/>
              <a:chOff x="838200" y="3022686"/>
              <a:chExt cx="2909155" cy="1894667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383FA8B-D455-4061-8074-E0D18CD45AF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1894667"/>
                <a:chOff x="1017956" y="2071167"/>
                <a:chExt cx="1387788" cy="1406931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9B28C66D-F1C6-449B-8CE6-500B186EF974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53" name="Straight Arrow Connector 52">
                    <a:extLst>
                      <a:ext uri="{FF2B5EF4-FFF2-40B4-BE49-F238E27FC236}">
                        <a16:creationId xmlns:a16="http://schemas.microsoft.com/office/drawing/2014/main" id="{07117CC0-7F91-44BD-9688-B953C678FB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Arrow Connector 53">
                    <a:extLst>
                      <a:ext uri="{FF2B5EF4-FFF2-40B4-BE49-F238E27FC236}">
                        <a16:creationId xmlns:a16="http://schemas.microsoft.com/office/drawing/2014/main" id="{A6C83332-6860-45BC-9400-CD7494A2A9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47B8513-F2DA-4345-9384-FEE4BE9E4439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88995" cy="1386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t</a:t>
                  </a:r>
                  <a:endParaRPr lang="en-US" sz="1200" b="1" dirty="0"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B75433D-2995-40A2-A1B7-7AC41309E594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02266C0F-07DB-4C16-85D7-D975B66C28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4067703"/>
                <a:ext cx="2400122" cy="662893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1B69403C-F4C7-4984-A1FC-A796F0E57F5D}"/>
                    </a:ext>
                  </a:extLst>
                </p:cNvPr>
                <p:cNvSpPr txBox="1"/>
                <p:nvPr/>
              </p:nvSpPr>
              <p:spPr>
                <a:xfrm>
                  <a:off x="8663481" y="2788055"/>
                  <a:ext cx="3962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𝑺𝒘𝒊𝒎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en-US" sz="1800" b="1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1B69403C-F4C7-4984-A1FC-A796F0E57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481" y="2788055"/>
                  <a:ext cx="396226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2DC713C-76DB-4F6A-B35A-D1EE7E69BFF0}"/>
              </a:ext>
            </a:extLst>
          </p:cNvPr>
          <p:cNvGrpSpPr/>
          <p:nvPr/>
        </p:nvGrpSpPr>
        <p:grpSpPr>
          <a:xfrm>
            <a:off x="12755622" y="450654"/>
            <a:ext cx="3080197" cy="970765"/>
            <a:chOff x="8914000" y="357542"/>
            <a:chExt cx="3080197" cy="970765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B5D2A5C-50BF-49BC-8904-8C4AF4941885}"/>
                </a:ext>
              </a:extLst>
            </p:cNvPr>
            <p:cNvCxnSpPr/>
            <p:nvPr/>
          </p:nvCxnSpPr>
          <p:spPr>
            <a:xfrm>
              <a:off x="8914000" y="847036"/>
              <a:ext cx="591951" cy="0"/>
            </a:xfrm>
            <a:prstGeom prst="line">
              <a:avLst/>
            </a:prstGeom>
            <a:ln w="76200">
              <a:solidFill>
                <a:schemeClr val="accent2"/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E766A4E-82FC-4E2E-AB38-9FCE2A91057D}"/>
                </a:ext>
              </a:extLst>
            </p:cNvPr>
            <p:cNvSpPr txBox="1"/>
            <p:nvPr/>
          </p:nvSpPr>
          <p:spPr>
            <a:xfrm>
              <a:off x="9505951" y="662370"/>
              <a:ext cx="24882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Max Rate Speed Change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92FB92F-F2BA-48F6-8F5C-65F4D683D0CA}"/>
                </a:ext>
              </a:extLst>
            </p:cNvPr>
            <p:cNvSpPr txBox="1"/>
            <p:nvPr/>
          </p:nvSpPr>
          <p:spPr>
            <a:xfrm>
              <a:off x="9517280" y="958975"/>
              <a:ext cx="1822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Swimming Speed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C83767A-9231-4F48-B1F2-C30643696EA6}"/>
                </a:ext>
              </a:extLst>
            </p:cNvPr>
            <p:cNvCxnSpPr/>
            <p:nvPr/>
          </p:nvCxnSpPr>
          <p:spPr>
            <a:xfrm>
              <a:off x="8921609" y="1143641"/>
              <a:ext cx="591951" cy="0"/>
            </a:xfrm>
            <a:prstGeom prst="line">
              <a:avLst/>
            </a:prstGeom>
            <a:ln w="76200">
              <a:solidFill>
                <a:schemeClr val="tx1"/>
              </a:solidFill>
              <a:prstDash val="dash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F0793A-0EFC-46EB-A917-7735C3894296}"/>
                </a:ext>
              </a:extLst>
            </p:cNvPr>
            <p:cNvCxnSpPr/>
            <p:nvPr/>
          </p:nvCxnSpPr>
          <p:spPr>
            <a:xfrm>
              <a:off x="8914000" y="552073"/>
              <a:ext cx="591951" cy="0"/>
            </a:xfrm>
            <a:prstGeom prst="line">
              <a:avLst/>
            </a:prstGeom>
            <a:ln w="76200">
              <a:solidFill>
                <a:schemeClr val="accent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A6DC888-EE25-4BEE-8BBF-3083C454D0E3}"/>
                </a:ext>
              </a:extLst>
            </p:cNvPr>
            <p:cNvSpPr txBox="1"/>
            <p:nvPr/>
          </p:nvSpPr>
          <p:spPr>
            <a:xfrm>
              <a:off x="9513560" y="357542"/>
              <a:ext cx="2298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Max Swimming Speed</a:t>
              </a:r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6A4F70-F115-4A49-91FB-8E26C80EA5A4}"/>
              </a:ext>
            </a:extLst>
          </p:cNvPr>
          <p:cNvCxnSpPr/>
          <p:nvPr/>
        </p:nvCxnSpPr>
        <p:spPr>
          <a:xfrm flipV="1">
            <a:off x="4349642" y="2905940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27208DB-44BF-4EA2-8504-AF67E3DEE0E4}"/>
              </a:ext>
            </a:extLst>
          </p:cNvPr>
          <p:cNvCxnSpPr/>
          <p:nvPr/>
        </p:nvCxnSpPr>
        <p:spPr>
          <a:xfrm flipV="1">
            <a:off x="4090046" y="3038751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7891FD-B5E7-446B-8965-D8B83B2EB7B3}"/>
              </a:ext>
            </a:extLst>
          </p:cNvPr>
          <p:cNvCxnSpPr/>
          <p:nvPr/>
        </p:nvCxnSpPr>
        <p:spPr>
          <a:xfrm flipV="1">
            <a:off x="4084032" y="3349711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7C85A3-FC39-49A2-8F67-C97665452A27}"/>
              </a:ext>
            </a:extLst>
          </p:cNvPr>
          <p:cNvCxnSpPr/>
          <p:nvPr/>
        </p:nvCxnSpPr>
        <p:spPr>
          <a:xfrm flipV="1">
            <a:off x="4681126" y="3030999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F40BAF-20A8-44CA-9017-426BD687092F}"/>
              </a:ext>
            </a:extLst>
          </p:cNvPr>
          <p:cNvCxnSpPr/>
          <p:nvPr/>
        </p:nvCxnSpPr>
        <p:spPr>
          <a:xfrm flipV="1">
            <a:off x="4396569" y="3193494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396DC7C-F9BB-41B5-B018-B2A0C2FEBDA3}"/>
              </a:ext>
            </a:extLst>
          </p:cNvPr>
          <p:cNvCxnSpPr/>
          <p:nvPr/>
        </p:nvCxnSpPr>
        <p:spPr>
          <a:xfrm flipV="1">
            <a:off x="4690021" y="3309599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C424C9C-B87B-4854-8493-4E9D9DDF4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265" y="2992361"/>
            <a:ext cx="1194920" cy="82303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6E0A9EE-AEEB-4F3A-9B4B-BDF592E150FE}"/>
              </a:ext>
            </a:extLst>
          </p:cNvPr>
          <p:cNvSpPr txBox="1">
            <a:spLocks/>
          </p:cNvSpPr>
          <p:nvPr/>
        </p:nvSpPr>
        <p:spPr>
          <a:xfrm>
            <a:off x="1427355" y="4889966"/>
            <a:ext cx="9448670" cy="2112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Speed increases from fleeing and pursuit consume energy and are constrained by maximum velocity and rate of change.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Energy-depleted agents cannot flee or pursue.</a:t>
            </a:r>
          </a:p>
          <a:p>
            <a:pPr algn="ctr"/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032EC4-312F-4E1F-9B06-7C4C33F40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907" y="1408581"/>
            <a:ext cx="2408887" cy="843344"/>
          </a:xfrm>
          <a:prstGeom prst="rect">
            <a:avLst/>
          </a:prstGeom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4020B395-333C-4735-AE63-10710F5938C8}"/>
              </a:ext>
            </a:extLst>
          </p:cNvPr>
          <p:cNvSpPr/>
          <p:nvPr/>
        </p:nvSpPr>
        <p:spPr>
          <a:xfrm rot="21090761">
            <a:off x="1754954" y="3488597"/>
            <a:ext cx="1836103" cy="16636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275ABE-83FE-4448-AA39-8F6846D9B1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1773" y="3266062"/>
            <a:ext cx="1929640" cy="11146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64FADA6D-0F3D-4EC8-91FA-0730029D5707}"/>
              </a:ext>
            </a:extLst>
          </p:cNvPr>
          <p:cNvSpPr txBox="1">
            <a:spLocks/>
          </p:cNvSpPr>
          <p:nvPr/>
        </p:nvSpPr>
        <p:spPr>
          <a:xfrm>
            <a:off x="893890" y="46944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Fleeing and Pursuit Limits</a:t>
            </a:r>
          </a:p>
        </p:txBody>
      </p:sp>
    </p:spTree>
    <p:extLst>
      <p:ext uri="{BB962C8B-B14F-4D97-AF65-F5344CB8AC3E}">
        <p14:creationId xmlns:p14="http://schemas.microsoft.com/office/powerpoint/2010/main" val="209466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446672-6040-42E7-A12A-F1560EE859F4}"/>
              </a:ext>
            </a:extLst>
          </p:cNvPr>
          <p:cNvSpPr/>
          <p:nvPr/>
        </p:nvSpPr>
        <p:spPr>
          <a:xfrm>
            <a:off x="1946805" y="1341394"/>
            <a:ext cx="8298388" cy="4529601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48000">
                <a:srgbClr val="A18484"/>
              </a:gs>
              <a:gs pos="0">
                <a:schemeClr val="bg1">
                  <a:lumMod val="95000"/>
                </a:schemeClr>
              </a:gs>
              <a:gs pos="95918">
                <a:schemeClr val="bg1"/>
              </a:gs>
              <a:gs pos="85000">
                <a:srgbClr val="6C3C3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296F40-A39C-4A73-86D7-A91ABC5E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026" y="135639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173A82-78E7-4D21-BAE8-C45DBE56B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40916" y="334499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775C3-F97C-44D1-9EBA-20F7C1188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04132" y="321320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E9E84-61F3-440C-B5C6-D119B5880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328927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2D6519-ECF1-4DFB-8E17-6A13D93D0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24947" y="305221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8F6B29-E3F0-4949-BB7D-8D3E1B1FC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88163" y="2920423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C0F373-5576-4FBE-8077-2B7488A11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07151" y="3043409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6E5AD3-EA2D-4095-8355-45D64BC3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7214651" y="4497509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C3768B-4C80-4CA1-9FF6-9E91867D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1355" flipH="1">
            <a:off x="6700341" y="4633986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B50893D-D961-4CF7-A90F-5327659F9580}"/>
              </a:ext>
            </a:extLst>
          </p:cNvPr>
          <p:cNvGrpSpPr/>
          <p:nvPr/>
        </p:nvGrpSpPr>
        <p:grpSpPr>
          <a:xfrm>
            <a:off x="207591" y="289357"/>
            <a:ext cx="2517628" cy="1395294"/>
            <a:chOff x="105226" y="171864"/>
            <a:chExt cx="2517628" cy="139529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CDF4C81-A46A-4468-9FE7-0DB3B676E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25905" y="195809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42D16D-BD24-4F3C-AF84-3497D820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42290" y="880670"/>
              <a:ext cx="505989" cy="29227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C82F4B-87BE-4912-81FE-7C67BCA6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63403" flipH="1">
              <a:off x="412800" y="1059173"/>
              <a:ext cx="864857" cy="499562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E90A61-E5F5-432E-8027-22CC2C82FD2E}"/>
                </a:ext>
              </a:extLst>
            </p:cNvPr>
            <p:cNvSpPr txBox="1"/>
            <p:nvPr/>
          </p:nvSpPr>
          <p:spPr>
            <a:xfrm>
              <a:off x="1333505" y="389071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Predator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B0FA65-E48E-42DF-B42F-CB503A1EF387}"/>
                </a:ext>
              </a:extLst>
            </p:cNvPr>
            <p:cNvSpPr txBox="1"/>
            <p:nvPr/>
          </p:nvSpPr>
          <p:spPr>
            <a:xfrm>
              <a:off x="1333505" y="1026805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DC73D6-97F2-4F80-BD0D-689E55B07A10}"/>
                </a:ext>
              </a:extLst>
            </p:cNvPr>
            <p:cNvSpPr/>
            <p:nvPr/>
          </p:nvSpPr>
          <p:spPr>
            <a:xfrm>
              <a:off x="105226" y="171864"/>
              <a:ext cx="2380564" cy="13952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B328AFE9-9F21-4BF5-A5BB-2920A4412908}"/>
              </a:ext>
            </a:extLst>
          </p:cNvPr>
          <p:cNvSpPr txBox="1">
            <a:spLocks/>
          </p:cNvSpPr>
          <p:nvPr/>
        </p:nvSpPr>
        <p:spPr>
          <a:xfrm>
            <a:off x="271352" y="5449099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Predators calculate the cost of pursuing and consuming prey using the prey’s size, prey density, proximity, and gape limit to define catch effort.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6F3A9D-7FF1-433C-BF3B-DFEF42102915}"/>
              </a:ext>
            </a:extLst>
          </p:cNvPr>
          <p:cNvGrpSpPr/>
          <p:nvPr/>
        </p:nvGrpSpPr>
        <p:grpSpPr>
          <a:xfrm rot="340456">
            <a:off x="-4945771" y="4156395"/>
            <a:ext cx="3537517" cy="1543500"/>
            <a:chOff x="2920116" y="1688764"/>
            <a:chExt cx="3537517" cy="15435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735586-D7DF-40FC-924F-E9312753E255}"/>
                </a:ext>
              </a:extLst>
            </p:cNvPr>
            <p:cNvGrpSpPr/>
            <p:nvPr/>
          </p:nvGrpSpPr>
          <p:grpSpPr>
            <a:xfrm>
              <a:off x="2920116" y="1688764"/>
              <a:ext cx="3440029" cy="1543500"/>
              <a:chOff x="2938703" y="2191377"/>
              <a:chExt cx="3440029" cy="1543500"/>
            </a:xfrm>
          </p:grpSpPr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553C710F-5257-4EFD-8BA8-1BCAC28D0F24}"/>
                  </a:ext>
                </a:extLst>
              </p:cNvPr>
              <p:cNvSpPr/>
              <p:nvPr/>
            </p:nvSpPr>
            <p:spPr>
              <a:xfrm rot="15798849">
                <a:off x="3990398" y="1346542"/>
                <a:ext cx="1336640" cy="3440029"/>
              </a:xfrm>
              <a:prstGeom prst="triangle">
                <a:avLst/>
              </a:prstGeom>
              <a:solidFill>
                <a:schemeClr val="bg2">
                  <a:lumMod val="75000"/>
                  <a:alpha val="53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F887E66-E557-4272-B027-F3EA93E874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50401" y="2191377"/>
                <a:ext cx="3338825" cy="10642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A2961D4-8F44-4795-BB48-37364BB7A396}"/>
                </a:ext>
              </a:extLst>
            </p:cNvPr>
            <p:cNvCxnSpPr>
              <a:cxnSpLocks/>
            </p:cNvCxnSpPr>
            <p:nvPr/>
          </p:nvCxnSpPr>
          <p:spPr>
            <a:xfrm>
              <a:off x="2963189" y="2740549"/>
              <a:ext cx="3494444" cy="3005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3C3BBC-F314-41FA-9E78-B6505B3D9619}"/>
              </a:ext>
            </a:extLst>
          </p:cNvPr>
          <p:cNvGrpSpPr/>
          <p:nvPr/>
        </p:nvGrpSpPr>
        <p:grpSpPr>
          <a:xfrm>
            <a:off x="10169610" y="1571035"/>
            <a:ext cx="1687551" cy="982694"/>
            <a:chOff x="9621580" y="1536768"/>
            <a:chExt cx="1687551" cy="98269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171FD0B-F6B0-44FC-BC45-38FE71F91237}"/>
                </a:ext>
              </a:extLst>
            </p:cNvPr>
            <p:cNvGrpSpPr/>
            <p:nvPr/>
          </p:nvGrpSpPr>
          <p:grpSpPr>
            <a:xfrm>
              <a:off x="9621580" y="1536768"/>
              <a:ext cx="1687551" cy="982694"/>
              <a:chOff x="8971952" y="5755154"/>
              <a:chExt cx="1687551" cy="9826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B14332-3DA2-442F-B628-8D1E1257F02C}"/>
                  </a:ext>
                </a:extLst>
              </p:cNvPr>
              <p:cNvSpPr/>
              <p:nvPr/>
            </p:nvSpPr>
            <p:spPr>
              <a:xfrm>
                <a:off x="9267697" y="6154291"/>
                <a:ext cx="1096062" cy="5835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97470C-2512-40C2-82AF-3B3BCA28B252}"/>
                  </a:ext>
                </a:extLst>
              </p:cNvPr>
              <p:cNvSpPr txBox="1"/>
              <p:nvPr/>
            </p:nvSpPr>
            <p:spPr>
              <a:xfrm>
                <a:off x="8971952" y="575515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D9C87F-F4BD-4446-AA1C-708EDBADC6EE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7DF2B5-55DB-41B9-B79D-1ADF18C9E373}"/>
                </a:ext>
              </a:extLst>
            </p:cNvPr>
            <p:cNvSpPr txBox="1"/>
            <p:nvPr/>
          </p:nvSpPr>
          <p:spPr>
            <a:xfrm>
              <a:off x="10392853" y="2027209"/>
              <a:ext cx="843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B10CC33-BD26-407A-8294-3D9FBD5D3C5E}"/>
              </a:ext>
            </a:extLst>
          </p:cNvPr>
          <p:cNvSpPr/>
          <p:nvPr/>
        </p:nvSpPr>
        <p:spPr>
          <a:xfrm>
            <a:off x="-1444609" y="2551756"/>
            <a:ext cx="1262727" cy="87294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CC1B397-EA13-4398-840D-6CD868350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291" y="2768314"/>
            <a:ext cx="1177552" cy="977409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935C068-A161-4DCB-85F6-367B8A176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76566">
            <a:off x="3643839" y="2129547"/>
            <a:ext cx="3523793" cy="260186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7FB2D5-D2BA-4FFE-BFF2-3195697B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53910" flipH="1">
            <a:off x="2932318" y="3617257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857FECA-A4C1-4FFB-8BAA-D84A45FD8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887" y="3702181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882F89A-6A9E-4A5C-9F17-8952A41F4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843" y="4193591"/>
            <a:ext cx="1424094" cy="1182048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61E2B76-488A-4A59-B7C2-DA1D850EFC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9674" y="3802054"/>
            <a:ext cx="775505" cy="29993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6CB87E1-0A8E-4720-B22A-1F1682198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80266" y="3851618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026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0632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Calculate Catch Effort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70965-C2DC-4D96-A963-F82D8595F4C9}"/>
              </a:ext>
            </a:extLst>
          </p:cNvPr>
          <p:cNvSpPr txBox="1"/>
          <p:nvPr/>
        </p:nvSpPr>
        <p:spPr>
          <a:xfrm>
            <a:off x="2380209" y="3863103"/>
            <a:ext cx="8988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Available prey for consumption is filtered out by an agent’s gape limit.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71FB4-CE21-4554-8F79-1F56E9BEF2B9}"/>
              </a:ext>
            </a:extLst>
          </p:cNvPr>
          <p:cNvSpPr txBox="1"/>
          <p:nvPr/>
        </p:nvSpPr>
        <p:spPr>
          <a:xfrm>
            <a:off x="1575366" y="3826465"/>
            <a:ext cx="1290066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4000" dirty="0"/>
              <a:t>🦷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DDB4307-1247-4DC9-94ED-D4EFB0CD37DD}"/>
              </a:ext>
            </a:extLst>
          </p:cNvPr>
          <p:cNvSpPr txBox="1"/>
          <p:nvPr/>
        </p:nvSpPr>
        <p:spPr>
          <a:xfrm>
            <a:off x="2380209" y="5448214"/>
            <a:ext cx="759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Closer prey require less energy to pursue and capture.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70580-299F-4E12-8B19-6663A7411CF9}"/>
              </a:ext>
            </a:extLst>
          </p:cNvPr>
          <p:cNvSpPr txBox="1"/>
          <p:nvPr/>
        </p:nvSpPr>
        <p:spPr>
          <a:xfrm>
            <a:off x="1518936" y="5325104"/>
            <a:ext cx="10156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📏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ED671C-E30B-4BAE-A936-D1FC8C6BE207}"/>
              </a:ext>
            </a:extLst>
          </p:cNvPr>
          <p:cNvSpPr txBox="1"/>
          <p:nvPr/>
        </p:nvSpPr>
        <p:spPr>
          <a:xfrm>
            <a:off x="2380212" y="4657462"/>
            <a:ext cx="8260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Higher density of prey decreases the catch effort in predators.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DE9764-B45B-43C6-BB52-1CB2D13FDE88}"/>
              </a:ext>
            </a:extLst>
          </p:cNvPr>
          <p:cNvSpPr txBox="1"/>
          <p:nvPr/>
        </p:nvSpPr>
        <p:spPr>
          <a:xfrm>
            <a:off x="1575366" y="4534351"/>
            <a:ext cx="6827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👥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960ABEF-3185-419C-8CC4-212041FA0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34" y="1549142"/>
            <a:ext cx="9205751" cy="195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0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139" y="5541892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More difficult conditions require more energy to swim, making resistance a key driver of energy use.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E36AA9-C71D-442E-9D73-C8EE15ED09BA}"/>
              </a:ext>
            </a:extLst>
          </p:cNvPr>
          <p:cNvGrpSpPr/>
          <p:nvPr/>
        </p:nvGrpSpPr>
        <p:grpSpPr>
          <a:xfrm>
            <a:off x="7695710" y="1265648"/>
            <a:ext cx="3706290" cy="1433301"/>
            <a:chOff x="7695710" y="1265648"/>
            <a:chExt cx="3706290" cy="1433301"/>
          </a:xfrm>
        </p:grpSpPr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416ACCBD-8061-4D1A-855F-42CA7E05F768}"/>
                </a:ext>
              </a:extLst>
            </p:cNvPr>
            <p:cNvSpPr/>
            <p:nvPr/>
          </p:nvSpPr>
          <p:spPr>
            <a:xfrm>
              <a:off x="7695710" y="165675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DC62E77-6161-445A-AC62-0125968843FC}"/>
                </a:ext>
              </a:extLst>
            </p:cNvPr>
            <p:cNvSpPr txBox="1"/>
            <p:nvPr/>
          </p:nvSpPr>
          <p:spPr>
            <a:xfrm>
              <a:off x="8390094" y="1265648"/>
              <a:ext cx="29445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Ecological Implication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C5F02C1-4C8E-4B4E-B889-FFA9B51D14D8}"/>
                </a:ext>
              </a:extLst>
            </p:cNvPr>
            <p:cNvSpPr txBox="1"/>
            <p:nvPr/>
          </p:nvSpPr>
          <p:spPr>
            <a:xfrm>
              <a:off x="8322712" y="1775619"/>
              <a:ext cx="30792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Greater catch effort forces fish to use more energy to successfully capture prey.</a:t>
              </a: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AC799B3-DC0F-4821-B8DC-B474FA186E30}"/>
                </a:ext>
              </a:extLst>
            </p:cNvPr>
            <p:cNvCxnSpPr/>
            <p:nvPr/>
          </p:nvCxnSpPr>
          <p:spPr>
            <a:xfrm>
              <a:off x="8462888" y="1705541"/>
              <a:ext cx="2798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itle 1">
            <a:extLst>
              <a:ext uri="{FF2B5EF4-FFF2-40B4-BE49-F238E27FC236}">
                <a16:creationId xmlns:a16="http://schemas.microsoft.com/office/drawing/2014/main" id="{0B454281-DF0B-48B9-A541-1A08DA23E7F5}"/>
              </a:ext>
            </a:extLst>
          </p:cNvPr>
          <p:cNvSpPr txBox="1">
            <a:spLocks/>
          </p:cNvSpPr>
          <p:nvPr/>
        </p:nvSpPr>
        <p:spPr>
          <a:xfrm>
            <a:off x="439139" y="-51491"/>
            <a:ext cx="11301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Predator Energy Use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365968-764A-4A29-A57A-A9E89535D63C}"/>
              </a:ext>
            </a:extLst>
          </p:cNvPr>
          <p:cNvGrpSpPr/>
          <p:nvPr/>
        </p:nvGrpSpPr>
        <p:grpSpPr>
          <a:xfrm>
            <a:off x="3951359" y="991737"/>
            <a:ext cx="3466077" cy="2126496"/>
            <a:chOff x="3951359" y="991737"/>
            <a:chExt cx="3466077" cy="212649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4508281" y="991737"/>
              <a:ext cx="2909155" cy="2046465"/>
              <a:chOff x="838200" y="3022686"/>
              <a:chExt cx="2909155" cy="204646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3951359" y="165675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4778928" y="2748901"/>
              <a:ext cx="2555751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 Energy Use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4A53FF-56E5-4E5D-A0D1-95E53EBED567}"/>
              </a:ext>
            </a:extLst>
          </p:cNvPr>
          <p:cNvGrpSpPr/>
          <p:nvPr/>
        </p:nvGrpSpPr>
        <p:grpSpPr>
          <a:xfrm>
            <a:off x="3951359" y="3392283"/>
            <a:ext cx="3466077" cy="2128818"/>
            <a:chOff x="3951359" y="3392283"/>
            <a:chExt cx="3466077" cy="212881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4508281" y="3392283"/>
              <a:ext cx="2909155" cy="2046465"/>
              <a:chOff x="838200" y="3022686"/>
              <a:chExt cx="2909155" cy="204646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3951359" y="403228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4899386" y="5151769"/>
              <a:ext cx="2381018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Energy Use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FA55D0-1398-4F41-B1CD-AD224B928054}"/>
              </a:ext>
            </a:extLst>
          </p:cNvPr>
          <p:cNvGrpSpPr/>
          <p:nvPr/>
        </p:nvGrpSpPr>
        <p:grpSpPr>
          <a:xfrm>
            <a:off x="7695710" y="3930712"/>
            <a:ext cx="3706290" cy="923330"/>
            <a:chOff x="7695710" y="3930712"/>
            <a:chExt cx="3706290" cy="923330"/>
          </a:xfrm>
        </p:grpSpPr>
        <p:sp>
          <p:nvSpPr>
            <p:cNvPr id="72" name="Arrow: Right 71">
              <a:extLst>
                <a:ext uri="{FF2B5EF4-FFF2-40B4-BE49-F238E27FC236}">
                  <a16:creationId xmlns:a16="http://schemas.microsoft.com/office/drawing/2014/main" id="{2AE67B58-9666-4E02-87F9-23A14C76794A}"/>
                </a:ext>
              </a:extLst>
            </p:cNvPr>
            <p:cNvSpPr/>
            <p:nvPr/>
          </p:nvSpPr>
          <p:spPr>
            <a:xfrm>
              <a:off x="7695710" y="403228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AC4A389-5F91-439F-83EB-BFA817DC39A2}"/>
                </a:ext>
              </a:extLst>
            </p:cNvPr>
            <p:cNvSpPr txBox="1"/>
            <p:nvPr/>
          </p:nvSpPr>
          <p:spPr>
            <a:xfrm>
              <a:off x="8322712" y="3930712"/>
              <a:ext cx="30792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Lower catch effort requires less energy to successfully capture prey.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8B96C-CD52-4D7B-9059-BB2F49371746}"/>
              </a:ext>
            </a:extLst>
          </p:cNvPr>
          <p:cNvSpPr/>
          <p:nvPr/>
        </p:nvSpPr>
        <p:spPr>
          <a:xfrm>
            <a:off x="1000216" y="1775619"/>
            <a:ext cx="2555752" cy="903241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D57A6C-0A97-4F28-B269-E75E0082CEA5}"/>
              </a:ext>
            </a:extLst>
          </p:cNvPr>
          <p:cNvGrpSpPr/>
          <p:nvPr/>
        </p:nvGrpSpPr>
        <p:grpSpPr>
          <a:xfrm>
            <a:off x="296958" y="991738"/>
            <a:ext cx="3962269" cy="2132001"/>
            <a:chOff x="296958" y="991738"/>
            <a:chExt cx="3962269" cy="213200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96958" y="2754407"/>
              <a:ext cx="3962269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 Catch Effort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646813" y="991738"/>
              <a:ext cx="2909155" cy="1707913"/>
              <a:chOff x="1017956" y="2071167"/>
              <a:chExt cx="1387788" cy="126825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3289F8A7-970C-47BC-B3C3-46F8BB8A3465}"/>
              </a:ext>
            </a:extLst>
          </p:cNvPr>
          <p:cNvSpPr/>
          <p:nvPr/>
        </p:nvSpPr>
        <p:spPr>
          <a:xfrm>
            <a:off x="1028056" y="4723762"/>
            <a:ext cx="2555752" cy="36576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324AB53-3213-4651-A055-C08DDCDCBA24}"/>
              </a:ext>
            </a:extLst>
          </p:cNvPr>
          <p:cNvGrpSpPr/>
          <p:nvPr/>
        </p:nvGrpSpPr>
        <p:grpSpPr>
          <a:xfrm>
            <a:off x="646813" y="3392283"/>
            <a:ext cx="2909155" cy="2098037"/>
            <a:chOff x="646813" y="3392283"/>
            <a:chExt cx="2909155" cy="209803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646813" y="3392283"/>
              <a:ext cx="2909155" cy="1707913"/>
              <a:chOff x="1017956" y="2071167"/>
              <a:chExt cx="1387788" cy="1268252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1228817" y="5120988"/>
              <a:ext cx="2029684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Catch Effort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699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59" y="5562082"/>
            <a:ext cx="10729603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Fleeing predators costs energy, and prey that run out of energy will be easy to catch.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E36AA9-C71D-442E-9D73-C8EE15ED09BA}"/>
              </a:ext>
            </a:extLst>
          </p:cNvPr>
          <p:cNvGrpSpPr/>
          <p:nvPr/>
        </p:nvGrpSpPr>
        <p:grpSpPr>
          <a:xfrm>
            <a:off x="7695710" y="1265648"/>
            <a:ext cx="3706290" cy="1433301"/>
            <a:chOff x="7695710" y="1265648"/>
            <a:chExt cx="3706290" cy="1433301"/>
          </a:xfrm>
        </p:grpSpPr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416ACCBD-8061-4D1A-855F-42CA7E05F768}"/>
                </a:ext>
              </a:extLst>
            </p:cNvPr>
            <p:cNvSpPr/>
            <p:nvPr/>
          </p:nvSpPr>
          <p:spPr>
            <a:xfrm>
              <a:off x="7695710" y="165675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DC62E77-6161-445A-AC62-0125968843FC}"/>
                </a:ext>
              </a:extLst>
            </p:cNvPr>
            <p:cNvSpPr txBox="1"/>
            <p:nvPr/>
          </p:nvSpPr>
          <p:spPr>
            <a:xfrm>
              <a:off x="8390094" y="1265648"/>
              <a:ext cx="29445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Ecological Implication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C5F02C1-4C8E-4B4E-B889-FFA9B51D14D8}"/>
                </a:ext>
              </a:extLst>
            </p:cNvPr>
            <p:cNvSpPr txBox="1"/>
            <p:nvPr/>
          </p:nvSpPr>
          <p:spPr>
            <a:xfrm>
              <a:off x="8322712" y="1775619"/>
              <a:ext cx="30792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Greater fleeing effort forces prey to use more energy to successfully evade predators.</a:t>
              </a: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AC799B3-DC0F-4821-B8DC-B474FA186E30}"/>
                </a:ext>
              </a:extLst>
            </p:cNvPr>
            <p:cNvCxnSpPr/>
            <p:nvPr/>
          </p:nvCxnSpPr>
          <p:spPr>
            <a:xfrm>
              <a:off x="8462888" y="1705541"/>
              <a:ext cx="2798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itle 1">
            <a:extLst>
              <a:ext uri="{FF2B5EF4-FFF2-40B4-BE49-F238E27FC236}">
                <a16:creationId xmlns:a16="http://schemas.microsoft.com/office/drawing/2014/main" id="{0B454281-DF0B-48B9-A541-1A08DA23E7F5}"/>
              </a:ext>
            </a:extLst>
          </p:cNvPr>
          <p:cNvSpPr txBox="1">
            <a:spLocks/>
          </p:cNvSpPr>
          <p:nvPr/>
        </p:nvSpPr>
        <p:spPr>
          <a:xfrm>
            <a:off x="439139" y="-51491"/>
            <a:ext cx="11301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Prey Energy Use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365968-764A-4A29-A57A-A9E89535D63C}"/>
              </a:ext>
            </a:extLst>
          </p:cNvPr>
          <p:cNvGrpSpPr/>
          <p:nvPr/>
        </p:nvGrpSpPr>
        <p:grpSpPr>
          <a:xfrm>
            <a:off x="3951359" y="991737"/>
            <a:ext cx="3466077" cy="2126496"/>
            <a:chOff x="3951359" y="991737"/>
            <a:chExt cx="3466077" cy="212649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4508281" y="991737"/>
              <a:ext cx="2909155" cy="2046465"/>
              <a:chOff x="838200" y="3022686"/>
              <a:chExt cx="2909155" cy="204646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3951359" y="165675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4778928" y="2748901"/>
              <a:ext cx="2555751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 Energy Use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4A53FF-56E5-4E5D-A0D1-95E53EBED567}"/>
              </a:ext>
            </a:extLst>
          </p:cNvPr>
          <p:cNvGrpSpPr/>
          <p:nvPr/>
        </p:nvGrpSpPr>
        <p:grpSpPr>
          <a:xfrm>
            <a:off x="3951359" y="3392283"/>
            <a:ext cx="3466077" cy="2128818"/>
            <a:chOff x="3951359" y="3392283"/>
            <a:chExt cx="3466077" cy="212881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4508281" y="3392283"/>
              <a:ext cx="2909155" cy="2046465"/>
              <a:chOff x="838200" y="3022686"/>
              <a:chExt cx="2909155" cy="204646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3951359" y="403228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4899386" y="5151769"/>
              <a:ext cx="2381018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Energy Use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FA55D0-1398-4F41-B1CD-AD224B928054}"/>
              </a:ext>
            </a:extLst>
          </p:cNvPr>
          <p:cNvGrpSpPr/>
          <p:nvPr/>
        </p:nvGrpSpPr>
        <p:grpSpPr>
          <a:xfrm>
            <a:off x="7695710" y="3930712"/>
            <a:ext cx="3773672" cy="923330"/>
            <a:chOff x="7695710" y="3930712"/>
            <a:chExt cx="3773672" cy="923330"/>
          </a:xfrm>
        </p:grpSpPr>
        <p:sp>
          <p:nvSpPr>
            <p:cNvPr id="72" name="Arrow: Right 71">
              <a:extLst>
                <a:ext uri="{FF2B5EF4-FFF2-40B4-BE49-F238E27FC236}">
                  <a16:creationId xmlns:a16="http://schemas.microsoft.com/office/drawing/2014/main" id="{2AE67B58-9666-4E02-87F9-23A14C76794A}"/>
                </a:ext>
              </a:extLst>
            </p:cNvPr>
            <p:cNvSpPr/>
            <p:nvPr/>
          </p:nvSpPr>
          <p:spPr>
            <a:xfrm>
              <a:off x="7695710" y="403228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AC4A389-5F91-439F-83EB-BFA817DC39A2}"/>
                </a:ext>
              </a:extLst>
            </p:cNvPr>
            <p:cNvSpPr txBox="1"/>
            <p:nvPr/>
          </p:nvSpPr>
          <p:spPr>
            <a:xfrm>
              <a:off x="8390094" y="3930712"/>
              <a:ext cx="30792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Lower fleeing effort requires less energy to successfully evade predators.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8B96C-CD52-4D7B-9059-BB2F49371746}"/>
              </a:ext>
            </a:extLst>
          </p:cNvPr>
          <p:cNvSpPr/>
          <p:nvPr/>
        </p:nvSpPr>
        <p:spPr>
          <a:xfrm>
            <a:off x="1000216" y="1775619"/>
            <a:ext cx="2555752" cy="903241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D57A6C-0A97-4F28-B269-E75E0082CEA5}"/>
              </a:ext>
            </a:extLst>
          </p:cNvPr>
          <p:cNvGrpSpPr/>
          <p:nvPr/>
        </p:nvGrpSpPr>
        <p:grpSpPr>
          <a:xfrm>
            <a:off x="296958" y="991738"/>
            <a:ext cx="3962269" cy="2132001"/>
            <a:chOff x="296958" y="991738"/>
            <a:chExt cx="3962269" cy="213200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96958" y="2754407"/>
              <a:ext cx="3962269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 Fleeing Effort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646813" y="991738"/>
              <a:ext cx="2909155" cy="1707913"/>
              <a:chOff x="1017956" y="2071167"/>
              <a:chExt cx="1387788" cy="126825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3289F8A7-970C-47BC-B3C3-46F8BB8A3465}"/>
              </a:ext>
            </a:extLst>
          </p:cNvPr>
          <p:cNvSpPr/>
          <p:nvPr/>
        </p:nvSpPr>
        <p:spPr>
          <a:xfrm>
            <a:off x="1028056" y="4723762"/>
            <a:ext cx="2555752" cy="36576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324AB53-3213-4651-A055-C08DDCDCBA24}"/>
              </a:ext>
            </a:extLst>
          </p:cNvPr>
          <p:cNvGrpSpPr/>
          <p:nvPr/>
        </p:nvGrpSpPr>
        <p:grpSpPr>
          <a:xfrm>
            <a:off x="646813" y="3392283"/>
            <a:ext cx="2909155" cy="2098037"/>
            <a:chOff x="646813" y="3392283"/>
            <a:chExt cx="2909155" cy="209803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646813" y="3392283"/>
              <a:ext cx="2909155" cy="1707913"/>
              <a:chOff x="1017956" y="2071167"/>
              <a:chExt cx="1387788" cy="1268252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1228817" y="5120988"/>
              <a:ext cx="2029684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Fleeing Effort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479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D210510-F8D2-4047-B106-122C40037B82}"/>
              </a:ext>
            </a:extLst>
          </p:cNvPr>
          <p:cNvGrpSpPr/>
          <p:nvPr/>
        </p:nvGrpSpPr>
        <p:grpSpPr>
          <a:xfrm>
            <a:off x="1236164" y="1428484"/>
            <a:ext cx="2909155" cy="2126496"/>
            <a:chOff x="4508281" y="991737"/>
            <a:chExt cx="2909155" cy="212649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25C36CD-4167-401B-8E11-841E8B24F14C}"/>
                </a:ext>
              </a:extLst>
            </p:cNvPr>
            <p:cNvGrpSpPr/>
            <p:nvPr/>
          </p:nvGrpSpPr>
          <p:grpSpPr>
            <a:xfrm>
              <a:off x="4508281" y="991737"/>
              <a:ext cx="2909155" cy="2046465"/>
              <a:chOff x="838200" y="3022686"/>
              <a:chExt cx="2909155" cy="2046465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C40A0121-CFF9-40B7-8C51-E5839EB40079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76AFF3E9-919F-4FC6-82DE-019754109E56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3" name="Straight Arrow Connector 42">
                    <a:extLst>
                      <a:ext uri="{FF2B5EF4-FFF2-40B4-BE49-F238E27FC236}">
                        <a16:creationId xmlns:a16="http://schemas.microsoft.com/office/drawing/2014/main" id="{037104CF-F9F2-438C-8FEE-04649C92B9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6981822D-7BAE-4C3E-9180-11932DE38C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43449D7-A119-4068-B28A-997077701228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5D05F3B-63CE-4E47-A2DA-7369206DB286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873F539-6AAF-4D0D-AC84-12D1DABBAC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FFA22E5-5782-45E3-A99C-62ED9F5BE0BC}"/>
                </a:ext>
              </a:extLst>
            </p:cNvPr>
            <p:cNvSpPr txBox="1"/>
            <p:nvPr/>
          </p:nvSpPr>
          <p:spPr>
            <a:xfrm>
              <a:off x="4778928" y="2748901"/>
              <a:ext cx="2555751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 Energy Use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98A371F-B022-4645-89C7-FC2C15A60C0B}"/>
              </a:ext>
            </a:extLst>
          </p:cNvPr>
          <p:cNvGrpSpPr/>
          <p:nvPr/>
        </p:nvGrpSpPr>
        <p:grpSpPr>
          <a:xfrm>
            <a:off x="1236165" y="3833262"/>
            <a:ext cx="2909155" cy="2128818"/>
            <a:chOff x="4508281" y="3392283"/>
            <a:chExt cx="2909155" cy="2128818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A5BFB4F-0DB5-4D43-882B-E94A75664B16}"/>
                </a:ext>
              </a:extLst>
            </p:cNvPr>
            <p:cNvGrpSpPr/>
            <p:nvPr/>
          </p:nvGrpSpPr>
          <p:grpSpPr>
            <a:xfrm>
              <a:off x="4508281" y="3392283"/>
              <a:ext cx="2909155" cy="2046465"/>
              <a:chOff x="838200" y="3022686"/>
              <a:chExt cx="2909155" cy="204646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1B849154-4501-461A-B215-98AA0542D659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4AFB7B1-984F-4CDC-8BF0-C2DBE66742F2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F51AC9DF-EDA0-4C2D-8BA4-51C0E399AB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Arrow Connector 68">
                    <a:extLst>
                      <a:ext uri="{FF2B5EF4-FFF2-40B4-BE49-F238E27FC236}">
                        <a16:creationId xmlns:a16="http://schemas.microsoft.com/office/drawing/2014/main" id="{A0A98E3D-A0A1-4703-9473-CF2D1E8469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C3C85A3-CB6E-4584-BBD9-7D25DF77A6FC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4C1D95C-A850-4265-BB41-A9AAE88D7BAA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79357E86-7C02-4DCA-AC7B-C74F58BFFF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D057754-F51C-4825-A645-4FA1A0C7CDDA}"/>
                </a:ext>
              </a:extLst>
            </p:cNvPr>
            <p:cNvSpPr txBox="1"/>
            <p:nvPr/>
          </p:nvSpPr>
          <p:spPr>
            <a:xfrm>
              <a:off x="4899386" y="5151769"/>
              <a:ext cx="2381018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Energy Use</a:t>
              </a:r>
            </a:p>
          </p:txBody>
        </p:sp>
      </p:grpSp>
      <p:sp>
        <p:nvSpPr>
          <p:cNvPr id="82" name="Title 1">
            <a:extLst>
              <a:ext uri="{FF2B5EF4-FFF2-40B4-BE49-F238E27FC236}">
                <a16:creationId xmlns:a16="http://schemas.microsoft.com/office/drawing/2014/main" id="{5FA1E7E2-F794-4E32-8B77-2A0B42CA0ADC}"/>
              </a:ext>
            </a:extLst>
          </p:cNvPr>
          <p:cNvSpPr txBox="1">
            <a:spLocks/>
          </p:cNvSpPr>
          <p:nvPr/>
        </p:nvSpPr>
        <p:spPr>
          <a:xfrm>
            <a:off x="445243" y="190006"/>
            <a:ext cx="11301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Optimal Foraging Theory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ECA61C8-81B1-4B58-91ED-3C644D15849D}"/>
              </a:ext>
            </a:extLst>
          </p:cNvPr>
          <p:cNvSpPr txBox="1"/>
          <p:nvPr/>
        </p:nvSpPr>
        <p:spPr>
          <a:xfrm>
            <a:off x="5428739" y="2669980"/>
            <a:ext cx="2029684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Prey Size </a:t>
            </a:r>
          </a:p>
          <a:p>
            <a:pPr algn="ctr"/>
            <a:r>
              <a:rPr lang="en-US" b="1" dirty="0"/>
              <a:t>(Energy Gain: Low)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DCEDC1C-F395-4503-AB17-2D9701F63415}"/>
              </a:ext>
            </a:extLst>
          </p:cNvPr>
          <p:cNvSpPr txBox="1"/>
          <p:nvPr/>
        </p:nvSpPr>
        <p:spPr>
          <a:xfrm>
            <a:off x="5428739" y="5042249"/>
            <a:ext cx="2029684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Prey Size </a:t>
            </a:r>
          </a:p>
          <a:p>
            <a:pPr algn="ctr"/>
            <a:r>
              <a:rPr lang="en-US" b="1" dirty="0"/>
              <a:t>(Energy Gain: High)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A17DD83-8EC2-4766-AF50-6F35D6089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844" y="4567457"/>
            <a:ext cx="484441" cy="48444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112AC04-A1C2-4390-8A2A-62C4C36BCB04}"/>
              </a:ext>
            </a:extLst>
          </p:cNvPr>
          <p:cNvSpPr txBox="1"/>
          <p:nvPr/>
        </p:nvSpPr>
        <p:spPr>
          <a:xfrm>
            <a:off x="8846439" y="1891913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❌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E61F46E8-D3C0-4F28-A471-3923447C0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844" y="2099970"/>
            <a:ext cx="484441" cy="4844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7771D3-9459-4681-84E0-D719C4E0E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356" y="2215080"/>
            <a:ext cx="580379" cy="369331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5831ACD2-234F-42C6-91C7-D5063A0C4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395" y="4688312"/>
            <a:ext cx="580379" cy="369331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5B48B498-9CA9-49C7-898C-06934C38B253}"/>
              </a:ext>
            </a:extLst>
          </p:cNvPr>
          <p:cNvSpPr txBox="1"/>
          <p:nvPr/>
        </p:nvSpPr>
        <p:spPr>
          <a:xfrm>
            <a:off x="8484740" y="2858979"/>
            <a:ext cx="2029684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Net Return: Low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74228A2-8F7C-4725-8EF8-39A62AC4289E}"/>
              </a:ext>
            </a:extLst>
          </p:cNvPr>
          <p:cNvSpPr txBox="1"/>
          <p:nvPr/>
        </p:nvSpPr>
        <p:spPr>
          <a:xfrm>
            <a:off x="8813522" y="412907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/>
              <a:t>✅</a:t>
            </a:r>
            <a:endParaRPr lang="en-US" sz="88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DC98D1C-9885-4915-B92B-658B1F32888F}"/>
              </a:ext>
            </a:extLst>
          </p:cNvPr>
          <p:cNvSpPr txBox="1"/>
          <p:nvPr/>
        </p:nvSpPr>
        <p:spPr>
          <a:xfrm>
            <a:off x="8647335" y="5288476"/>
            <a:ext cx="2029684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Net Return: High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8F444CC0-04B8-4332-A91D-0A9F585CE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168273" y="3999846"/>
            <a:ext cx="2550615" cy="14732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8D42AF89-845C-4535-847A-ECEBC0196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528100" y="1960307"/>
            <a:ext cx="1625163" cy="9387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614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446672-6040-42E7-A12A-F1560EE859F4}"/>
              </a:ext>
            </a:extLst>
          </p:cNvPr>
          <p:cNvSpPr/>
          <p:nvPr/>
        </p:nvSpPr>
        <p:spPr>
          <a:xfrm>
            <a:off x="1946805" y="1341394"/>
            <a:ext cx="8298388" cy="4529601"/>
          </a:xfrm>
          <a:prstGeom prst="rect">
            <a:avLst/>
          </a:prstGeom>
          <a:gradFill flip="none" rotWithShape="1">
            <a:gsLst>
              <a:gs pos="17000">
                <a:schemeClr val="bg1"/>
              </a:gs>
              <a:gs pos="48000">
                <a:srgbClr val="A18484"/>
              </a:gs>
              <a:gs pos="0">
                <a:schemeClr val="bg1">
                  <a:lumMod val="95000"/>
                </a:schemeClr>
              </a:gs>
              <a:gs pos="95918">
                <a:schemeClr val="bg1"/>
              </a:gs>
              <a:gs pos="85000">
                <a:srgbClr val="6C3C3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296F40-A39C-4A73-86D7-A91ABC5E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180" y="134139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B50893D-D961-4CF7-A90F-5327659F9580}"/>
              </a:ext>
            </a:extLst>
          </p:cNvPr>
          <p:cNvGrpSpPr/>
          <p:nvPr/>
        </p:nvGrpSpPr>
        <p:grpSpPr>
          <a:xfrm>
            <a:off x="207591" y="289357"/>
            <a:ext cx="2517628" cy="1395294"/>
            <a:chOff x="105226" y="171864"/>
            <a:chExt cx="2517628" cy="139529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CDF4C81-A46A-4468-9FE7-0DB3B676E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125905" y="195809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42D16D-BD24-4F3C-AF84-3497D820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42290" y="880670"/>
              <a:ext cx="505989" cy="29227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C82F4B-87BE-4912-81FE-7C67BCA6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63403" flipH="1">
              <a:off x="412800" y="1059173"/>
              <a:ext cx="864857" cy="499562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E90A61-E5F5-432E-8027-22CC2C82FD2E}"/>
                </a:ext>
              </a:extLst>
            </p:cNvPr>
            <p:cNvSpPr txBox="1"/>
            <p:nvPr/>
          </p:nvSpPr>
          <p:spPr>
            <a:xfrm>
              <a:off x="1333505" y="389071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Predator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B0FA65-E48E-42DF-B42F-CB503A1EF387}"/>
                </a:ext>
              </a:extLst>
            </p:cNvPr>
            <p:cNvSpPr txBox="1"/>
            <p:nvPr/>
          </p:nvSpPr>
          <p:spPr>
            <a:xfrm>
              <a:off x="1333505" y="1026805"/>
              <a:ext cx="1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DC73D6-97F2-4F80-BD0D-689E55B07A10}"/>
                </a:ext>
              </a:extLst>
            </p:cNvPr>
            <p:cNvSpPr/>
            <p:nvPr/>
          </p:nvSpPr>
          <p:spPr>
            <a:xfrm>
              <a:off x="105226" y="171864"/>
              <a:ext cx="2380564" cy="13952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B328AFE9-9F21-4BF5-A5BB-2920A4412908}"/>
              </a:ext>
            </a:extLst>
          </p:cNvPr>
          <p:cNvSpPr txBox="1">
            <a:spLocks/>
          </p:cNvSpPr>
          <p:nvPr/>
        </p:nvSpPr>
        <p:spPr>
          <a:xfrm>
            <a:off x="271352" y="5449099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Model tracks when and where prey are consumed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6F3A9D-7FF1-433C-BF3B-DFEF42102915}"/>
              </a:ext>
            </a:extLst>
          </p:cNvPr>
          <p:cNvGrpSpPr/>
          <p:nvPr/>
        </p:nvGrpSpPr>
        <p:grpSpPr>
          <a:xfrm rot="340456">
            <a:off x="-4945771" y="4156395"/>
            <a:ext cx="3537517" cy="1543500"/>
            <a:chOff x="2920116" y="1688764"/>
            <a:chExt cx="3537517" cy="15435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735586-D7DF-40FC-924F-E9312753E255}"/>
                </a:ext>
              </a:extLst>
            </p:cNvPr>
            <p:cNvGrpSpPr/>
            <p:nvPr/>
          </p:nvGrpSpPr>
          <p:grpSpPr>
            <a:xfrm>
              <a:off x="2920116" y="1688764"/>
              <a:ext cx="3440029" cy="1543500"/>
              <a:chOff x="2938703" y="2191377"/>
              <a:chExt cx="3440029" cy="1543500"/>
            </a:xfrm>
          </p:grpSpPr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553C710F-5257-4EFD-8BA8-1BCAC28D0F24}"/>
                  </a:ext>
                </a:extLst>
              </p:cNvPr>
              <p:cNvSpPr/>
              <p:nvPr/>
            </p:nvSpPr>
            <p:spPr>
              <a:xfrm rot="15798849">
                <a:off x="3990398" y="1346542"/>
                <a:ext cx="1336640" cy="3440029"/>
              </a:xfrm>
              <a:prstGeom prst="triangle">
                <a:avLst/>
              </a:prstGeom>
              <a:solidFill>
                <a:schemeClr val="bg2">
                  <a:lumMod val="75000"/>
                  <a:alpha val="53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F887E66-E557-4272-B027-F3EA93E874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50401" y="2191377"/>
                <a:ext cx="3338825" cy="10642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A2961D4-8F44-4795-BB48-37364BB7A396}"/>
                </a:ext>
              </a:extLst>
            </p:cNvPr>
            <p:cNvCxnSpPr>
              <a:cxnSpLocks/>
            </p:cNvCxnSpPr>
            <p:nvPr/>
          </p:nvCxnSpPr>
          <p:spPr>
            <a:xfrm>
              <a:off x="2963189" y="2740549"/>
              <a:ext cx="3494444" cy="3005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3C3BBC-F314-41FA-9E78-B6505B3D9619}"/>
              </a:ext>
            </a:extLst>
          </p:cNvPr>
          <p:cNvGrpSpPr/>
          <p:nvPr/>
        </p:nvGrpSpPr>
        <p:grpSpPr>
          <a:xfrm>
            <a:off x="10169610" y="1571035"/>
            <a:ext cx="1687551" cy="982694"/>
            <a:chOff x="9621580" y="1536768"/>
            <a:chExt cx="1687551" cy="98269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171FD0B-F6B0-44FC-BC45-38FE71F91237}"/>
                </a:ext>
              </a:extLst>
            </p:cNvPr>
            <p:cNvGrpSpPr/>
            <p:nvPr/>
          </p:nvGrpSpPr>
          <p:grpSpPr>
            <a:xfrm>
              <a:off x="9621580" y="1536768"/>
              <a:ext cx="1687551" cy="982694"/>
              <a:chOff x="8971952" y="5755154"/>
              <a:chExt cx="1687551" cy="98269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B14332-3DA2-442F-B628-8D1E1257F02C}"/>
                  </a:ext>
                </a:extLst>
              </p:cNvPr>
              <p:cNvSpPr/>
              <p:nvPr/>
            </p:nvSpPr>
            <p:spPr>
              <a:xfrm>
                <a:off x="9267697" y="6154291"/>
                <a:ext cx="1096062" cy="5835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97470C-2512-40C2-82AF-3B3BCA28B252}"/>
                  </a:ext>
                </a:extLst>
              </p:cNvPr>
              <p:cNvSpPr txBox="1"/>
              <p:nvPr/>
            </p:nvSpPr>
            <p:spPr>
              <a:xfrm>
                <a:off x="8971952" y="575515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D9C87F-F4BD-4446-AA1C-708EDBADC6EE}"/>
                </a:ext>
              </a:extLst>
            </p:cNvPr>
            <p:cNvSpPr/>
            <p:nvPr/>
          </p:nvSpPr>
          <p:spPr>
            <a:xfrm>
              <a:off x="10044881" y="2093992"/>
              <a:ext cx="365760" cy="233429"/>
            </a:xfrm>
            <a:prstGeom prst="rect">
              <a:avLst/>
            </a:prstGeom>
            <a:solidFill>
              <a:srgbClr val="6C3C3C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7DF2B5-55DB-41B9-B79D-1ADF18C9E373}"/>
                </a:ext>
              </a:extLst>
            </p:cNvPr>
            <p:cNvSpPr txBox="1"/>
            <p:nvPr/>
          </p:nvSpPr>
          <p:spPr>
            <a:xfrm>
              <a:off x="10392853" y="2027209"/>
              <a:ext cx="843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SPM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B10CC33-BD26-407A-8294-3D9FBD5D3C5E}"/>
              </a:ext>
            </a:extLst>
          </p:cNvPr>
          <p:cNvSpPr/>
          <p:nvPr/>
        </p:nvSpPr>
        <p:spPr>
          <a:xfrm>
            <a:off x="-1444609" y="2551756"/>
            <a:ext cx="1262727" cy="87294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180BD4-E2E0-4882-AF3C-3746B9C1022A}"/>
              </a:ext>
            </a:extLst>
          </p:cNvPr>
          <p:cNvSpPr/>
          <p:nvPr/>
        </p:nvSpPr>
        <p:spPr>
          <a:xfrm>
            <a:off x="5529703" y="2919914"/>
            <a:ext cx="1122210" cy="71735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5F808C31-D116-4170-ABEA-4BD591E27313}"/>
              </a:ext>
            </a:extLst>
          </p:cNvPr>
          <p:cNvSpPr/>
          <p:nvPr/>
        </p:nvSpPr>
        <p:spPr>
          <a:xfrm rot="20365840">
            <a:off x="6523744" y="2790689"/>
            <a:ext cx="866193" cy="166251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D75E0F6-5324-4441-B93B-DEC30C159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53910" flipH="1">
            <a:off x="5755655" y="2679127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6E496F-871D-4CC6-8CF0-EB9BCF2E7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311" y="4193591"/>
            <a:ext cx="1332037" cy="1182048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FD7C0A8-0D7B-495C-8CF6-2589CCCCBD51}"/>
              </a:ext>
            </a:extLst>
          </p:cNvPr>
          <p:cNvCxnSpPr>
            <a:cxnSpLocks/>
          </p:cNvCxnSpPr>
          <p:nvPr/>
        </p:nvCxnSpPr>
        <p:spPr>
          <a:xfrm flipH="1">
            <a:off x="4531568" y="5012494"/>
            <a:ext cx="1151101" cy="127924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CC3768B-4C80-4CA1-9FF6-9E91867D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38645">
            <a:off x="5420237" y="4751570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0" name="Arrow: Right 49">
            <a:extLst>
              <a:ext uri="{FF2B5EF4-FFF2-40B4-BE49-F238E27FC236}">
                <a16:creationId xmlns:a16="http://schemas.microsoft.com/office/drawing/2014/main" id="{D9CC9593-CB63-4F90-A868-60977D921493}"/>
              </a:ext>
            </a:extLst>
          </p:cNvPr>
          <p:cNvSpPr/>
          <p:nvPr/>
        </p:nvSpPr>
        <p:spPr>
          <a:xfrm rot="9519548">
            <a:off x="6239441" y="4647654"/>
            <a:ext cx="866193" cy="166251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7237218-0431-4483-9E39-85F24234F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06824">
            <a:off x="6574163" y="4248766"/>
            <a:ext cx="1438648" cy="83099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493338E-5726-464A-A287-2599172EC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3046" y="3780933"/>
            <a:ext cx="775505" cy="29993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4A2BBC8-51CD-4C7E-9095-A63C532E4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73638" y="3830497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188E35-3FC5-45A8-BB96-D0E75CC65204}"/>
              </a:ext>
            </a:extLst>
          </p:cNvPr>
          <p:cNvCxnSpPr/>
          <p:nvPr/>
        </p:nvCxnSpPr>
        <p:spPr>
          <a:xfrm flipV="1">
            <a:off x="7993132" y="2300245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C2A6B39-2508-4C93-9ED2-B840801682C8}"/>
              </a:ext>
            </a:extLst>
          </p:cNvPr>
          <p:cNvCxnSpPr>
            <a:cxnSpLocks/>
          </p:cNvCxnSpPr>
          <p:nvPr/>
        </p:nvCxnSpPr>
        <p:spPr>
          <a:xfrm flipV="1">
            <a:off x="7769891" y="2613739"/>
            <a:ext cx="446374" cy="100595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554FCAF-4165-47BD-A0A1-E181DEA2B509}"/>
              </a:ext>
            </a:extLst>
          </p:cNvPr>
          <p:cNvCxnSpPr/>
          <p:nvPr/>
        </p:nvCxnSpPr>
        <p:spPr>
          <a:xfrm flipV="1">
            <a:off x="8314833" y="2356441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5647EB0-818B-4D8C-9E67-111ACC50232D}"/>
              </a:ext>
            </a:extLst>
          </p:cNvPr>
          <p:cNvCxnSpPr/>
          <p:nvPr/>
        </p:nvCxnSpPr>
        <p:spPr>
          <a:xfrm flipV="1">
            <a:off x="8036027" y="2586404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77282DE-8D4B-4328-9D31-3ACC23656DDF}"/>
              </a:ext>
            </a:extLst>
          </p:cNvPr>
          <p:cNvCxnSpPr/>
          <p:nvPr/>
        </p:nvCxnSpPr>
        <p:spPr>
          <a:xfrm flipV="1">
            <a:off x="8311003" y="2641833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4C8F9E2-AF5C-441A-AC0E-E3359EA44A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847986">
            <a:off x="7418110" y="2391091"/>
            <a:ext cx="1194920" cy="804742"/>
          </a:xfrm>
          <a:prstGeom prst="rect">
            <a:avLst/>
          </a:prstGeom>
        </p:spPr>
      </p:pic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01AF162-4853-433C-8FD8-9AEAFAAA231C}"/>
              </a:ext>
            </a:extLst>
          </p:cNvPr>
          <p:cNvSpPr/>
          <p:nvPr/>
        </p:nvSpPr>
        <p:spPr>
          <a:xfrm>
            <a:off x="5633608" y="3295092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Eaten: 1 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FDF796E-AFB2-44C6-9893-999DDD784164}"/>
              </a:ext>
            </a:extLst>
          </p:cNvPr>
          <p:cNvSpPr/>
          <p:nvPr/>
        </p:nvSpPr>
        <p:spPr>
          <a:xfrm>
            <a:off x="6956840" y="4906107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Eaten: 1 </a:t>
            </a:r>
          </a:p>
        </p:txBody>
      </p:sp>
    </p:spTree>
    <p:extLst>
      <p:ext uri="{BB962C8B-B14F-4D97-AF65-F5344CB8AC3E}">
        <p14:creationId xmlns:p14="http://schemas.microsoft.com/office/powerpoint/2010/main" val="290216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2355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772357"/>
              </p:ext>
            </p:extLst>
          </p:nvPr>
        </p:nvGraphicFramePr>
        <p:xfrm>
          <a:off x="838197" y="1767917"/>
          <a:ext cx="10166764" cy="3114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20534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746230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850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68727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Determines if predators can pursue or prey can escape.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381188"/>
                  </a:ext>
                </a:extLst>
              </a:tr>
              <a:tr h="68727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Hunger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Determines if a predator is hungry or not.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6688"/>
                  </a:ext>
                </a:extLst>
              </a:tr>
              <a:tr h="687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Predation 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Determines reaction time to prey based on age and experience.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193042"/>
                  </a:ext>
                </a:extLst>
              </a:tr>
              <a:tr h="687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Fleeing 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Determines reaction time to predators based on age and experience.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1761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E2520A0-FA2F-4ADC-B1FF-963AB1F9B8D0}"/>
              </a:ext>
            </a:extLst>
          </p:cNvPr>
          <p:cNvSpPr txBox="1"/>
          <p:nvPr/>
        </p:nvSpPr>
        <p:spPr>
          <a:xfrm>
            <a:off x="506039" y="5211168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Each fish’s species, size, energy, stress levels, and foraging preferences shape its foraging behavior.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3" y="59857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169512"/>
              </p:ext>
            </p:extLst>
          </p:nvPr>
        </p:nvGraphicFramePr>
        <p:xfrm>
          <a:off x="981036" y="1913248"/>
          <a:ext cx="10229913" cy="23398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31276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2013941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384696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44522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48312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Prey Consumed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when fish are consuming prey.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8312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Prey 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what type of prey fish are consuming.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48312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Predation 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Areas where predation is concentrated.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445228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Escape 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Areas where predation is constantly avoided successfully.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A3446D-934F-4B37-AD3B-9F59A57C4D32}"/>
              </a:ext>
            </a:extLst>
          </p:cNvPr>
          <p:cNvSpPr txBox="1"/>
          <p:nvPr/>
        </p:nvSpPr>
        <p:spPr>
          <a:xfrm>
            <a:off x="838193" y="4944752"/>
            <a:ext cx="103905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These outputs help identify risky locations, critical survival zones, and habitat impacting predation behaviors.</a:t>
            </a:r>
          </a:p>
        </p:txBody>
      </p:sp>
    </p:spTree>
    <p:extLst>
      <p:ext uri="{BB962C8B-B14F-4D97-AF65-F5344CB8AC3E}">
        <p14:creationId xmlns:p14="http://schemas.microsoft.com/office/powerpoint/2010/main" val="3845284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590550" y="1427956"/>
            <a:ext cx="110109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predators always prioritize predation during migration, or are there situations when they are more likely to ignore nearby prey?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limiting predator pursuit by gape size, hunger levels, or energy availability reflect real-world behavior?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sz="2000" b="1" dirty="0"/>
              <a:t>Missing Variables, Traits, or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there time-of-day, tidal phase, or species constraints that influence when predation is more likely or more successful?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environmental (e.g., turbidity, salinity, visibility) or structural barriers (e.g., dams, culverts, entrainment zones) might inhibit predation or fleeing behavior?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sz="20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the model prioritize where predation and escape attempts happen or how often they occur?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there ways we could use these outputs to support habitat restoration or passage design?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720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659723A-EB83-4F56-9328-5B3271F44A38}"/>
              </a:ext>
            </a:extLst>
          </p:cNvPr>
          <p:cNvSpPr txBox="1"/>
          <p:nvPr/>
        </p:nvSpPr>
        <p:spPr>
          <a:xfrm>
            <a:off x="3642731" y="613317"/>
            <a:ext cx="4906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/>
              <a:t>Indifi</a:t>
            </a:r>
            <a:endParaRPr lang="en-US" sz="36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08F967-AD6E-4B89-AEF5-0607E52F33E2}"/>
              </a:ext>
            </a:extLst>
          </p:cNvPr>
          <p:cNvSpPr txBox="1">
            <a:spLocks/>
          </p:cNvSpPr>
          <p:nvPr/>
        </p:nvSpPr>
        <p:spPr>
          <a:xfrm>
            <a:off x="271352" y="5449099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 err="1"/>
              <a:t>Indifi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C7D6D-AF6B-4D84-A4E4-C40B2C86467B}"/>
              </a:ext>
            </a:extLst>
          </p:cNvPr>
          <p:cNvSpPr txBox="1"/>
          <p:nvPr/>
        </p:nvSpPr>
        <p:spPr>
          <a:xfrm>
            <a:off x="1034143" y="3429000"/>
            <a:ext cx="3341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/>
              <a:t>Gape limit it proportional to the agent’s size.</a:t>
            </a:r>
            <a:endParaRPr lang="en-US" sz="1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DB3B893-322A-49FD-9A68-74357CC8D0EB}"/>
              </a:ext>
            </a:extLst>
          </p:cNvPr>
          <p:cNvGrpSpPr/>
          <p:nvPr/>
        </p:nvGrpSpPr>
        <p:grpSpPr>
          <a:xfrm>
            <a:off x="3004980" y="1920149"/>
            <a:ext cx="6428365" cy="1262007"/>
            <a:chOff x="2647950" y="4360116"/>
            <a:chExt cx="6428365" cy="126200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90D84C-1E00-4448-8153-F2EF9A447ECA}"/>
                </a:ext>
              </a:extLst>
            </p:cNvPr>
            <p:cNvSpPr txBox="1"/>
            <p:nvPr/>
          </p:nvSpPr>
          <p:spPr>
            <a:xfrm>
              <a:off x="2647950" y="481012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EA9EA19-5162-4FC0-B8DD-A48C54A3A24C}"/>
                    </a:ext>
                  </a:extLst>
                </p:cNvPr>
                <p:cNvSpPr txBox="1"/>
                <p:nvPr/>
              </p:nvSpPr>
              <p:spPr>
                <a:xfrm>
                  <a:off x="6815143" y="4360116"/>
                  <a:ext cx="2244470" cy="9492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800" dirty="0"/>
                              <m:t>👥</m:t>
                            </m:r>
                          </m:den>
                        </m:f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EA9EA19-5162-4FC0-B8DD-A48C54A3A2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5143" y="4360116"/>
                  <a:ext cx="2244470" cy="94923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3FBDB7-1784-457B-9E48-8C7CF2BB76BB}"/>
                </a:ext>
              </a:extLst>
            </p:cNvPr>
            <p:cNvSpPr txBox="1"/>
            <p:nvPr/>
          </p:nvSpPr>
          <p:spPr>
            <a:xfrm>
              <a:off x="3133848" y="4760348"/>
              <a:ext cx="2244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Catch Effort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F5580B-8DE6-4A04-B98C-D4B410D81A8D}"/>
                </a:ext>
              </a:extLst>
            </p:cNvPr>
            <p:cNvSpPr txBox="1"/>
            <p:nvPr/>
          </p:nvSpPr>
          <p:spPr>
            <a:xfrm>
              <a:off x="5261375" y="5222013"/>
              <a:ext cx="2244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Distance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26BDA3-0FF1-4D48-A6C8-A2F9F907DF1D}"/>
                </a:ext>
              </a:extLst>
            </p:cNvPr>
            <p:cNvSpPr txBox="1"/>
            <p:nvPr/>
          </p:nvSpPr>
          <p:spPr>
            <a:xfrm>
              <a:off x="5844276" y="4620688"/>
              <a:ext cx="1015632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dirty="0"/>
                <a:t>📏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1B874E3-A83E-4721-BD54-76C6AC561A31}"/>
                </a:ext>
              </a:extLst>
            </p:cNvPr>
            <p:cNvSpPr txBox="1"/>
            <p:nvPr/>
          </p:nvSpPr>
          <p:spPr>
            <a:xfrm>
              <a:off x="6831844" y="5222013"/>
              <a:ext cx="2244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Prey Density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0E94895-3234-4A6D-B96D-045BE7C0F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6465" y="4903149"/>
              <a:ext cx="327200" cy="208218"/>
            </a:xfrm>
            <a:prstGeom prst="rect">
              <a:avLst/>
            </a:prstGeom>
          </p:spPr>
        </p:pic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C992935-ED6F-40F4-B3A1-932E675382FF}"/>
                </a:ext>
              </a:extLst>
            </p:cNvPr>
            <p:cNvSpPr/>
            <p:nvPr/>
          </p:nvSpPr>
          <p:spPr>
            <a:xfrm>
              <a:off x="6886038" y="4974630"/>
              <a:ext cx="83820" cy="8441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377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659723A-EB83-4F56-9328-5B3271F44A38}"/>
              </a:ext>
            </a:extLst>
          </p:cNvPr>
          <p:cNvSpPr txBox="1"/>
          <p:nvPr/>
        </p:nvSpPr>
        <p:spPr>
          <a:xfrm>
            <a:off x="3642731" y="613317"/>
            <a:ext cx="4906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Catch Effort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D6E561-E11C-43BC-82AD-B612CEE480C9}"/>
              </a:ext>
            </a:extLst>
          </p:cNvPr>
          <p:cNvSpPr txBox="1">
            <a:spLocks/>
          </p:cNvSpPr>
          <p:nvPr/>
        </p:nvSpPr>
        <p:spPr>
          <a:xfrm>
            <a:off x="271352" y="5449099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Predators calculate the cost of pursuing and consuming prey using the prey’s size, prey density, proximity, and gape limit.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4627F6-ECAA-451C-8864-DC03BBFA3F33}"/>
              </a:ext>
            </a:extLst>
          </p:cNvPr>
          <p:cNvSpPr txBox="1"/>
          <p:nvPr/>
        </p:nvSpPr>
        <p:spPr>
          <a:xfrm>
            <a:off x="1318630" y="2244522"/>
            <a:ext cx="4321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Gape Limit is a function of the agent’s size tracking ability for fish to consume prey at different sizes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4B95A-355D-42AC-BF1A-7FE80E6DF0C9}"/>
              </a:ext>
            </a:extLst>
          </p:cNvPr>
          <p:cNvSpPr txBox="1"/>
          <p:nvPr/>
        </p:nvSpPr>
        <p:spPr>
          <a:xfrm>
            <a:off x="1318630" y="3318962"/>
            <a:ext cx="4321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Density is a function of the agent’s school size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5D0DFC-6C1C-4939-B320-2A250CD3A7A9}"/>
              </a:ext>
            </a:extLst>
          </p:cNvPr>
          <p:cNvSpPr txBox="1"/>
          <p:nvPr/>
        </p:nvSpPr>
        <p:spPr>
          <a:xfrm>
            <a:off x="1318630" y="3940071"/>
            <a:ext cx="4321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Proximity is the distance from an agent</a:t>
            </a:r>
          </a:p>
        </p:txBody>
      </p:sp>
    </p:spTree>
    <p:extLst>
      <p:ext uri="{BB962C8B-B14F-4D97-AF65-F5344CB8AC3E}">
        <p14:creationId xmlns:p14="http://schemas.microsoft.com/office/powerpoint/2010/main" val="302363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94">
            <a:extLst>
              <a:ext uri="{FF2B5EF4-FFF2-40B4-BE49-F238E27FC236}">
                <a16:creationId xmlns:a16="http://schemas.microsoft.com/office/drawing/2014/main" id="{DD3885A7-05E9-4F5C-8CED-B9FBC3FEC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708" y="918158"/>
            <a:ext cx="5356975" cy="2254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C894F8-354E-4398-84C3-421505BB4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68" y="890584"/>
            <a:ext cx="5356975" cy="225422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55F1D-6843-4DCB-8528-A11E2A7CD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3591" y="5523947"/>
            <a:ext cx="5544139" cy="44346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/>
              <a:t>Pursuit of prey costs energy, but predators will gain energy with a successful catch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A0284-540C-4BD4-8A79-4FD6CA929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768" y="2942525"/>
            <a:ext cx="5157787" cy="823912"/>
          </a:xfrm>
        </p:spPr>
        <p:txBody>
          <a:bodyPr/>
          <a:lstStyle/>
          <a:p>
            <a:pPr algn="ctr"/>
            <a:r>
              <a:rPr lang="en-US" dirty="0"/>
              <a:t>Pursuit by Predators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C4B66F-3E4D-4F7E-87CA-B59C66EE5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72916" y="2938247"/>
            <a:ext cx="5183188" cy="823912"/>
          </a:xfrm>
        </p:spPr>
        <p:txBody>
          <a:bodyPr/>
          <a:lstStyle/>
          <a:p>
            <a:pPr algn="ctr"/>
            <a:r>
              <a:rPr lang="en-US" dirty="0"/>
              <a:t>Fleeing by Prey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CA8F4D-3958-48DA-99AC-D0C158598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7964" y="5515405"/>
            <a:ext cx="5183187" cy="4927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/>
              <a:t>Fleeing predators costs energy, and prey that run out of energy will be easy to catch.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012ACD-B33C-47C6-BF65-E14C1A0AB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953" y="185618"/>
            <a:ext cx="4811125" cy="3469882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063A030-C59F-4D02-B8A0-0AF055CAE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25" y="185618"/>
            <a:ext cx="4811125" cy="3469882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10A1DDA-0DAC-4023-AC9E-7F78264A1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29993" flipH="1">
            <a:off x="2273274" y="1792472"/>
            <a:ext cx="1207040" cy="697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66F8D18-0FFD-4A39-A872-3E3EE0140EDF}"/>
              </a:ext>
            </a:extLst>
          </p:cNvPr>
          <p:cNvCxnSpPr>
            <a:cxnSpLocks/>
          </p:cNvCxnSpPr>
          <p:nvPr/>
        </p:nvCxnSpPr>
        <p:spPr>
          <a:xfrm>
            <a:off x="602945" y="3770427"/>
            <a:ext cx="5029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8646F01C-37B0-45BE-9220-E060ACB23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005157" flipH="1">
            <a:off x="4355301" y="931517"/>
            <a:ext cx="672793" cy="3886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FCA8262-641D-430B-9EF6-E4BE3CDF0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275216" y="1190360"/>
            <a:ext cx="699235" cy="4038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6C0CE4C4-17F4-4F4D-871D-0CE7DEC46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035987" flipH="1">
            <a:off x="4492504" y="1597921"/>
            <a:ext cx="622385" cy="359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E1F28D9C-3622-4B5A-8B22-C8BA5B329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035987" flipH="1">
            <a:off x="3962779" y="1655027"/>
            <a:ext cx="699235" cy="4038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A1093E10-16C1-421B-BFBF-48F55178A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035987" flipH="1">
            <a:off x="4770671" y="1776067"/>
            <a:ext cx="500299" cy="288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F5F7561E-A4CD-4C21-8DFD-F46A4F38A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08143" flipH="1">
            <a:off x="3543988" y="1103141"/>
            <a:ext cx="900915" cy="520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BB5D6E7-9B67-4707-9B57-F94E1CC58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08143" flipH="1">
            <a:off x="4722129" y="1330697"/>
            <a:ext cx="699235" cy="4038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D618D981-00D6-4853-BC85-CBEFE07C0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08143" flipH="1">
            <a:off x="4075275" y="1429019"/>
            <a:ext cx="500299" cy="288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D14C5F23-BF7E-4517-9C27-AA4BBE498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817807" y="1104468"/>
            <a:ext cx="500299" cy="288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7A7384CE-9589-4493-A52C-082D3458E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30632" flipH="1">
            <a:off x="4995642" y="2783284"/>
            <a:ext cx="500299" cy="288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F29385E3-012F-42C9-89AF-BE4B6CDBF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56770" flipH="1">
            <a:off x="5174462" y="2555362"/>
            <a:ext cx="500299" cy="288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D3236AC3-7437-46D5-9C4E-190710D99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30632" flipH="1">
            <a:off x="10827422" y="2798777"/>
            <a:ext cx="500299" cy="288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1B9E6D7A-DB57-4BCD-A625-40B8F2973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56770" flipH="1">
            <a:off x="11006242" y="2570855"/>
            <a:ext cx="500299" cy="288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6B58764-93B5-46C8-B008-0A0C94398943}"/>
              </a:ext>
            </a:extLst>
          </p:cNvPr>
          <p:cNvCxnSpPr>
            <a:cxnSpLocks/>
          </p:cNvCxnSpPr>
          <p:nvPr/>
        </p:nvCxnSpPr>
        <p:spPr>
          <a:xfrm>
            <a:off x="6525945" y="3770427"/>
            <a:ext cx="5029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BBA9805-7AB2-4BAC-9A90-B3D1D3450C8F}"/>
              </a:ext>
            </a:extLst>
          </p:cNvPr>
          <p:cNvSpPr/>
          <p:nvPr/>
        </p:nvSpPr>
        <p:spPr>
          <a:xfrm rot="20061936">
            <a:off x="3344274" y="1689111"/>
            <a:ext cx="642650" cy="16181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3D8A8F36-3BFF-4460-B4C8-365955D44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29993" flipH="1">
            <a:off x="8051766" y="1790059"/>
            <a:ext cx="1207040" cy="697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435F12D-3346-4870-838E-DA8A97C80C97}"/>
              </a:ext>
            </a:extLst>
          </p:cNvPr>
          <p:cNvCxnSpPr/>
          <p:nvPr/>
        </p:nvCxnSpPr>
        <p:spPr>
          <a:xfrm flipV="1">
            <a:off x="10701465" y="810340"/>
            <a:ext cx="999309" cy="232210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CCC72EE-9599-426B-BBDB-2BA1D17CEF99}"/>
              </a:ext>
            </a:extLst>
          </p:cNvPr>
          <p:cNvCxnSpPr>
            <a:cxnSpLocks/>
          </p:cNvCxnSpPr>
          <p:nvPr/>
        </p:nvCxnSpPr>
        <p:spPr>
          <a:xfrm flipV="1">
            <a:off x="10067798" y="1034429"/>
            <a:ext cx="1044850" cy="218611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6BB5D4C-1539-4922-95B3-CFCC544818DB}"/>
              </a:ext>
            </a:extLst>
          </p:cNvPr>
          <p:cNvCxnSpPr>
            <a:cxnSpLocks/>
          </p:cNvCxnSpPr>
          <p:nvPr/>
        </p:nvCxnSpPr>
        <p:spPr>
          <a:xfrm flipV="1">
            <a:off x="10914663" y="982980"/>
            <a:ext cx="1044850" cy="218611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138D035-244D-4763-9A19-BABB89130A0D}"/>
              </a:ext>
            </a:extLst>
          </p:cNvPr>
          <p:cNvCxnSpPr>
            <a:cxnSpLocks/>
          </p:cNvCxnSpPr>
          <p:nvPr/>
        </p:nvCxnSpPr>
        <p:spPr>
          <a:xfrm flipV="1">
            <a:off x="10631872" y="1107372"/>
            <a:ext cx="1044850" cy="218611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2A12A21-6589-4AC7-8638-1F2AC58B06E7}"/>
              </a:ext>
            </a:extLst>
          </p:cNvPr>
          <p:cNvCxnSpPr>
            <a:cxnSpLocks/>
          </p:cNvCxnSpPr>
          <p:nvPr/>
        </p:nvCxnSpPr>
        <p:spPr>
          <a:xfrm flipV="1">
            <a:off x="11035296" y="1232136"/>
            <a:ext cx="1044850" cy="218611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DB0F108-AF2F-4568-B3A0-89B021F34D36}"/>
              </a:ext>
            </a:extLst>
          </p:cNvPr>
          <p:cNvCxnSpPr>
            <a:cxnSpLocks/>
          </p:cNvCxnSpPr>
          <p:nvPr/>
        </p:nvCxnSpPr>
        <p:spPr>
          <a:xfrm flipV="1">
            <a:off x="10766311" y="1444781"/>
            <a:ext cx="1044850" cy="218611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09CCEA8-4B0B-4BF4-99BE-9608F853AD3D}"/>
              </a:ext>
            </a:extLst>
          </p:cNvPr>
          <p:cNvCxnSpPr>
            <a:cxnSpLocks/>
          </p:cNvCxnSpPr>
          <p:nvPr/>
        </p:nvCxnSpPr>
        <p:spPr>
          <a:xfrm flipV="1">
            <a:off x="10940907" y="1608278"/>
            <a:ext cx="1044850" cy="218611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1E2251D-C76F-4D1D-8FA1-6508CEC9A80D}"/>
              </a:ext>
            </a:extLst>
          </p:cNvPr>
          <p:cNvCxnSpPr>
            <a:cxnSpLocks/>
          </p:cNvCxnSpPr>
          <p:nvPr/>
        </p:nvCxnSpPr>
        <p:spPr>
          <a:xfrm flipV="1">
            <a:off x="10270262" y="1280744"/>
            <a:ext cx="1044850" cy="218611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239C452-501A-4D24-BA25-7DADFC748B90}"/>
              </a:ext>
            </a:extLst>
          </p:cNvPr>
          <p:cNvCxnSpPr>
            <a:cxnSpLocks/>
          </p:cNvCxnSpPr>
          <p:nvPr/>
        </p:nvCxnSpPr>
        <p:spPr>
          <a:xfrm flipV="1">
            <a:off x="10276631" y="1495848"/>
            <a:ext cx="1044850" cy="218611"/>
          </a:xfrm>
          <a:prstGeom prst="straightConnector1">
            <a:avLst/>
          </a:prstGeom>
          <a:ln w="12700">
            <a:solidFill>
              <a:srgbClr val="C00000"/>
            </a:solidFill>
            <a:headEnd type="none" w="lg" len="med"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57EECFC9-2CF1-4E39-9DC7-897F9B6AB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134408" y="1166942"/>
            <a:ext cx="699235" cy="4038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7EA95D5-D015-4BB9-B694-454019F3C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598277" y="1075174"/>
            <a:ext cx="500299" cy="288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D2468AB-D0DC-42BE-A619-70A877876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08143" flipH="1">
            <a:off x="9403180" y="1079723"/>
            <a:ext cx="900915" cy="520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0C852BA-2119-4A0A-877D-E91521983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005157" flipH="1">
            <a:off x="10214493" y="908099"/>
            <a:ext cx="672793" cy="3886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1DA721E-05C2-4010-8729-6A2CDA95D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035987" flipH="1">
            <a:off x="10351696" y="1574503"/>
            <a:ext cx="622385" cy="359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82099E-106C-4D1B-8912-63E689667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035987" flipH="1">
            <a:off x="9821971" y="1631609"/>
            <a:ext cx="699235" cy="4038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3BB9247-31D8-470C-A95B-99C943811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035987" flipH="1">
            <a:off x="10629863" y="1752649"/>
            <a:ext cx="500299" cy="288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B77F304-A47B-4552-A229-05E51DBF0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08143" flipH="1">
            <a:off x="10581321" y="1307279"/>
            <a:ext cx="699235" cy="4038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02619B9-7356-4F4A-8602-0BB66D4F7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08143" flipH="1">
            <a:off x="9934467" y="1405601"/>
            <a:ext cx="500299" cy="288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2AB6A87-E685-4F15-B3C2-20E392918B49}"/>
              </a:ext>
            </a:extLst>
          </p:cNvPr>
          <p:cNvGrpSpPr/>
          <p:nvPr/>
        </p:nvGrpSpPr>
        <p:grpSpPr>
          <a:xfrm>
            <a:off x="7404415" y="3967840"/>
            <a:ext cx="1006627" cy="1534961"/>
            <a:chOff x="6961008" y="4568961"/>
            <a:chExt cx="1006627" cy="1534961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0834131-9D6F-4973-AE38-F933A617BBD6}"/>
                </a:ext>
              </a:extLst>
            </p:cNvPr>
            <p:cNvSpPr txBox="1"/>
            <p:nvPr/>
          </p:nvSpPr>
          <p:spPr>
            <a:xfrm>
              <a:off x="6961008" y="5457591"/>
              <a:ext cx="1006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Levels</a:t>
              </a:r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EF353599-125E-4259-AA9F-0F78306E4C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7196" t="6647" r="73027" b="74624"/>
            <a:stretch/>
          </p:blipFill>
          <p:spPr>
            <a:xfrm>
              <a:off x="7142375" y="4568961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AB7F0F9-D783-4FA2-BB3C-AF578F49BD43}"/>
                </a:ext>
              </a:extLst>
            </p:cNvPr>
            <p:cNvSpPr/>
            <p:nvPr/>
          </p:nvSpPr>
          <p:spPr>
            <a:xfrm>
              <a:off x="7322058" y="5073545"/>
              <a:ext cx="243672" cy="3349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591CDF2-7ACC-405C-BFB4-6C6059223516}"/>
              </a:ext>
            </a:extLst>
          </p:cNvPr>
          <p:cNvGrpSpPr/>
          <p:nvPr/>
        </p:nvGrpSpPr>
        <p:grpSpPr>
          <a:xfrm>
            <a:off x="8700610" y="4084904"/>
            <a:ext cx="1006627" cy="1403096"/>
            <a:chOff x="8023033" y="4700826"/>
            <a:chExt cx="1006627" cy="1403096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7E390EEC-54F0-4DB7-B3BC-CCE134718E0E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36883" t="9252" r="55401" b="73628"/>
            <a:stretch/>
          </p:blipFill>
          <p:spPr>
            <a:xfrm>
              <a:off x="8169489" y="4700826"/>
              <a:ext cx="576072" cy="8675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D6DD107-4E67-4E6D-8CED-92329D44CCAA}"/>
                </a:ext>
              </a:extLst>
            </p:cNvPr>
            <p:cNvSpPr/>
            <p:nvPr/>
          </p:nvSpPr>
          <p:spPr>
            <a:xfrm>
              <a:off x="8331981" y="5238562"/>
              <a:ext cx="320040" cy="182880"/>
            </a:xfrm>
            <a:prstGeom prst="rect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605F3BB-6677-4B98-948A-07A203757396}"/>
                </a:ext>
              </a:extLst>
            </p:cNvPr>
            <p:cNvSpPr txBox="1"/>
            <p:nvPr/>
          </p:nvSpPr>
          <p:spPr>
            <a:xfrm>
              <a:off x="8023033" y="5457591"/>
              <a:ext cx="1006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Use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5737B74-724F-4682-BD04-FEB099080EBA}"/>
              </a:ext>
            </a:extLst>
          </p:cNvPr>
          <p:cNvGrpSpPr/>
          <p:nvPr/>
        </p:nvGrpSpPr>
        <p:grpSpPr>
          <a:xfrm>
            <a:off x="9861945" y="4098116"/>
            <a:ext cx="1078962" cy="1404685"/>
            <a:chOff x="8981291" y="4700826"/>
            <a:chExt cx="1078962" cy="1404685"/>
          </a:xfrm>
        </p:grpSpPr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CF531B94-82F4-45AE-9F56-B70FBA03A418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36883" t="9252" r="55401" b="73628"/>
            <a:stretch/>
          </p:blipFill>
          <p:spPr>
            <a:xfrm>
              <a:off x="9231514" y="4700826"/>
              <a:ext cx="576072" cy="8675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569923F-5ECF-4728-B993-1377DF0A46A3}"/>
                </a:ext>
              </a:extLst>
            </p:cNvPr>
            <p:cNvSpPr/>
            <p:nvPr/>
          </p:nvSpPr>
          <p:spPr>
            <a:xfrm>
              <a:off x="9394006" y="5238562"/>
              <a:ext cx="310896" cy="18288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68F418F-3266-4069-A5D9-9C099592D005}"/>
                </a:ext>
              </a:extLst>
            </p:cNvPr>
            <p:cNvSpPr txBox="1"/>
            <p:nvPr/>
          </p:nvSpPr>
          <p:spPr>
            <a:xfrm>
              <a:off x="8981291" y="5459180"/>
              <a:ext cx="10789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Energy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4558C7A-40A7-452B-AA49-A88B7B00E9CE}"/>
              </a:ext>
            </a:extLst>
          </p:cNvPr>
          <p:cNvGrpSpPr/>
          <p:nvPr/>
        </p:nvGrpSpPr>
        <p:grpSpPr>
          <a:xfrm>
            <a:off x="809455" y="3968342"/>
            <a:ext cx="1006627" cy="1534961"/>
            <a:chOff x="6961008" y="4568961"/>
            <a:chExt cx="1006627" cy="153496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39C9187-27F3-4C3F-90B6-481A82CE38FF}"/>
                </a:ext>
              </a:extLst>
            </p:cNvPr>
            <p:cNvSpPr txBox="1"/>
            <p:nvPr/>
          </p:nvSpPr>
          <p:spPr>
            <a:xfrm>
              <a:off x="6961008" y="5457591"/>
              <a:ext cx="1006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Levels</a:t>
              </a:r>
            </a:p>
          </p:txBody>
        </p:sp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C38FB7C1-9457-4751-8FF3-DF5B763DDD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7196" t="6647" r="73027" b="74624"/>
            <a:stretch/>
          </p:blipFill>
          <p:spPr>
            <a:xfrm>
              <a:off x="7142375" y="4568961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C7A741BF-3A31-401C-8789-1DBC0011D6CD}"/>
                </a:ext>
              </a:extLst>
            </p:cNvPr>
            <p:cNvSpPr/>
            <p:nvPr/>
          </p:nvSpPr>
          <p:spPr>
            <a:xfrm>
              <a:off x="7322058" y="5073545"/>
              <a:ext cx="243672" cy="3349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0DD34C5-8944-448C-A82A-70CF30BDCA6D}"/>
              </a:ext>
            </a:extLst>
          </p:cNvPr>
          <p:cNvGrpSpPr/>
          <p:nvPr/>
        </p:nvGrpSpPr>
        <p:grpSpPr>
          <a:xfrm>
            <a:off x="1947828" y="4118943"/>
            <a:ext cx="1006627" cy="1403096"/>
            <a:chOff x="8023033" y="4700826"/>
            <a:chExt cx="1006627" cy="1403096"/>
          </a:xfrm>
        </p:grpSpPr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1F29A4D6-14BD-4870-BEB7-EB200ED8D23C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36883" t="9252" r="55401" b="73628"/>
            <a:stretch/>
          </p:blipFill>
          <p:spPr>
            <a:xfrm>
              <a:off x="8169489" y="4700826"/>
              <a:ext cx="576072" cy="8675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B44ACF4-B5F5-4E04-B998-BB53832673A9}"/>
                </a:ext>
              </a:extLst>
            </p:cNvPr>
            <p:cNvSpPr/>
            <p:nvPr/>
          </p:nvSpPr>
          <p:spPr>
            <a:xfrm>
              <a:off x="8331981" y="5238562"/>
              <a:ext cx="320040" cy="182880"/>
            </a:xfrm>
            <a:prstGeom prst="rect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B8058A0-9B42-4467-A72F-04E2B5AD9289}"/>
                </a:ext>
              </a:extLst>
            </p:cNvPr>
            <p:cNvSpPr txBox="1"/>
            <p:nvPr/>
          </p:nvSpPr>
          <p:spPr>
            <a:xfrm>
              <a:off x="8023033" y="5457591"/>
              <a:ext cx="1006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Use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71D0E3C-392B-4477-A3CC-F523FC6B3752}"/>
              </a:ext>
            </a:extLst>
          </p:cNvPr>
          <p:cNvGrpSpPr/>
          <p:nvPr/>
        </p:nvGrpSpPr>
        <p:grpSpPr>
          <a:xfrm>
            <a:off x="3138677" y="4118943"/>
            <a:ext cx="1006627" cy="1403096"/>
            <a:chOff x="8023033" y="4700826"/>
            <a:chExt cx="1006627" cy="1403096"/>
          </a:xfrm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F512FAE0-EEB3-4E40-85F6-F980D005E4F2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l="36883" t="9252" r="55401" b="73628"/>
            <a:stretch/>
          </p:blipFill>
          <p:spPr>
            <a:xfrm>
              <a:off x="8169489" y="4700826"/>
              <a:ext cx="576072" cy="8675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679B4F8D-3508-46A1-9EB2-A1D8A7B1220F}"/>
                </a:ext>
              </a:extLst>
            </p:cNvPr>
            <p:cNvSpPr/>
            <p:nvPr/>
          </p:nvSpPr>
          <p:spPr>
            <a:xfrm>
              <a:off x="8322745" y="5238562"/>
              <a:ext cx="320040" cy="18288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D79E6CC-2AF2-4CC5-9853-E8B22380EBD2}"/>
                </a:ext>
              </a:extLst>
            </p:cNvPr>
            <p:cNvSpPr txBox="1"/>
            <p:nvPr/>
          </p:nvSpPr>
          <p:spPr>
            <a:xfrm>
              <a:off x="8023033" y="5457591"/>
              <a:ext cx="1006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Gain </a:t>
              </a: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CF11902-DBB9-4F00-9529-AF325D464B3B}"/>
              </a:ext>
            </a:extLst>
          </p:cNvPr>
          <p:cNvGrpSpPr/>
          <p:nvPr/>
        </p:nvGrpSpPr>
        <p:grpSpPr>
          <a:xfrm>
            <a:off x="4302392" y="3968274"/>
            <a:ext cx="1006627" cy="1534961"/>
            <a:chOff x="6961008" y="4568961"/>
            <a:chExt cx="1006627" cy="1534961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10C96D4-45C1-486C-B5A6-38AC189787A2}"/>
                </a:ext>
              </a:extLst>
            </p:cNvPr>
            <p:cNvSpPr txBox="1"/>
            <p:nvPr/>
          </p:nvSpPr>
          <p:spPr>
            <a:xfrm>
              <a:off x="6961008" y="5457591"/>
              <a:ext cx="1006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 Energy</a:t>
              </a:r>
            </a:p>
          </p:txBody>
        </p: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3AAB7AAE-9EF3-4114-AE4F-4E471E08AB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7196" t="6647" r="73027" b="74624"/>
            <a:stretch/>
          </p:blipFill>
          <p:spPr>
            <a:xfrm>
              <a:off x="7142375" y="4568961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9ED610A-C51E-4B00-9858-3CB66517EB34}"/>
                </a:ext>
              </a:extLst>
            </p:cNvPr>
            <p:cNvSpPr/>
            <p:nvPr/>
          </p:nvSpPr>
          <p:spPr>
            <a:xfrm>
              <a:off x="7288995" y="4869171"/>
              <a:ext cx="315762" cy="565669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A2E07CE-0E75-4B8F-851D-F88C4F3AE900}"/>
              </a:ext>
            </a:extLst>
          </p:cNvPr>
          <p:cNvSpPr/>
          <p:nvPr/>
        </p:nvSpPr>
        <p:spPr>
          <a:xfrm rot="16200000">
            <a:off x="1809504" y="4422947"/>
            <a:ext cx="78618" cy="327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F9F8D34-733F-465C-B0A6-495B34E306A1}"/>
              </a:ext>
            </a:extLst>
          </p:cNvPr>
          <p:cNvSpPr/>
          <p:nvPr/>
        </p:nvSpPr>
        <p:spPr>
          <a:xfrm rot="16200000">
            <a:off x="8495303" y="4419776"/>
            <a:ext cx="78618" cy="327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06B72B6-EE6F-473A-80C5-DB4ED0ADE3D2}"/>
              </a:ext>
            </a:extLst>
          </p:cNvPr>
          <p:cNvSpPr/>
          <p:nvPr/>
        </p:nvSpPr>
        <p:spPr>
          <a:xfrm rot="16200000">
            <a:off x="9784193" y="4368158"/>
            <a:ext cx="78618" cy="327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B261F3-5C94-47DD-8903-C20556DC1066}"/>
              </a:ext>
            </a:extLst>
          </p:cNvPr>
          <p:cNvSpPr/>
          <p:nvPr/>
        </p:nvSpPr>
        <p:spPr>
          <a:xfrm rot="16200000">
            <a:off x="9784193" y="4491369"/>
            <a:ext cx="78618" cy="327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AA404D9-5E1C-400A-A47B-E96204818DB8}"/>
              </a:ext>
            </a:extLst>
          </p:cNvPr>
          <p:cNvSpPr/>
          <p:nvPr/>
        </p:nvSpPr>
        <p:spPr>
          <a:xfrm rot="16200000">
            <a:off x="4183174" y="4363638"/>
            <a:ext cx="78618" cy="327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7FE7FA6-0D27-472D-9DCC-48D8C533126F}"/>
              </a:ext>
            </a:extLst>
          </p:cNvPr>
          <p:cNvSpPr/>
          <p:nvPr/>
        </p:nvSpPr>
        <p:spPr>
          <a:xfrm rot="16200000">
            <a:off x="4183174" y="4486849"/>
            <a:ext cx="78618" cy="327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526667D-E341-4FAF-8C10-373EF3E54765}"/>
              </a:ext>
            </a:extLst>
          </p:cNvPr>
          <p:cNvSpPr/>
          <p:nvPr/>
        </p:nvSpPr>
        <p:spPr>
          <a:xfrm rot="16200000">
            <a:off x="2974285" y="4424440"/>
            <a:ext cx="78618" cy="327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4FBEEFF-F6A8-4EBE-BD18-6C2616660D87}"/>
              </a:ext>
            </a:extLst>
          </p:cNvPr>
          <p:cNvSpPr/>
          <p:nvPr/>
        </p:nvSpPr>
        <p:spPr>
          <a:xfrm rot="10800000" flipH="1" flipV="1">
            <a:off x="2973921" y="4422947"/>
            <a:ext cx="78618" cy="327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27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8275</TotalTime>
  <Words>1072</Words>
  <Application>Microsoft Office PowerPoint</Application>
  <PresentationFormat>Widescreen</PresentationFormat>
  <Paragraphs>180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Predation Behavior</vt:lpstr>
      <vt:lpstr>Relevant Background Information</vt:lpstr>
      <vt:lpstr>Model Objectives</vt:lpstr>
      <vt:lpstr>PowerPoint Presentation</vt:lpstr>
      <vt:lpstr>PowerPoint Presentation</vt:lpstr>
      <vt:lpstr>PowerPoint Presentation</vt:lpstr>
      <vt:lpstr>PowerPoint Presentation</vt:lpstr>
      <vt:lpstr>Calculate Catch Effort</vt:lpstr>
      <vt:lpstr>More difficult conditions require more energy to swim, making resistance a key driver of energy use.</vt:lpstr>
      <vt:lpstr>Fleeing predators costs energy, and prey that run out of energy will be easy to catch.</vt:lpstr>
      <vt:lpstr>PowerPoint Presentation</vt:lpstr>
      <vt:lpstr>PowerPoint Presentation</vt:lpstr>
      <vt:lpstr>Individual-Specific Traits</vt:lpstr>
      <vt:lpstr>Outputs of Interest</vt:lpstr>
      <vt:lpstr>Discussion Prompts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Bioaccumulation Dynamics</dc:title>
  <dc:creator>Quintana, Vanessa M ERDC-RDE-EL-MS Contractor</dc:creator>
  <cp:lastModifiedBy>Quintana, Vanessa M ERDC-RDE-EL-MS Contractor</cp:lastModifiedBy>
  <cp:revision>266</cp:revision>
  <dcterms:created xsi:type="dcterms:W3CDTF">2025-06-04T12:52:07Z</dcterms:created>
  <dcterms:modified xsi:type="dcterms:W3CDTF">2025-07-06T23:46:39Z</dcterms:modified>
</cp:coreProperties>
</file>