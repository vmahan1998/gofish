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72" r:id="rId3"/>
    <p:sldId id="259" r:id="rId4"/>
    <p:sldId id="285" r:id="rId5"/>
    <p:sldId id="286" r:id="rId6"/>
    <p:sldId id="312" r:id="rId7"/>
    <p:sldId id="313" r:id="rId8"/>
    <p:sldId id="314" r:id="rId9"/>
    <p:sldId id="320" r:id="rId10"/>
    <p:sldId id="315" r:id="rId11"/>
    <p:sldId id="322" r:id="rId12"/>
    <p:sldId id="319" r:id="rId13"/>
    <p:sldId id="316" r:id="rId14"/>
    <p:sldId id="318" r:id="rId15"/>
    <p:sldId id="321" r:id="rId16"/>
    <p:sldId id="278" r:id="rId17"/>
    <p:sldId id="279" r:id="rId18"/>
    <p:sldId id="284" r:id="rId19"/>
    <p:sldId id="293" r:id="rId20"/>
    <p:sldId id="31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3C3C"/>
    <a:srgbClr val="C01616"/>
    <a:srgbClr val="57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78" autoAdjust="0"/>
    <p:restoredTop sz="82061" autoAdjust="0"/>
  </p:normalViewPr>
  <p:slideViewPr>
    <p:cSldViewPr snapToGrid="0">
      <p:cViewPr varScale="1">
        <p:scale>
          <a:sx n="69" d="100"/>
          <a:sy n="69" d="100"/>
        </p:scale>
        <p:origin x="10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41F60-1629-46FF-849D-2D3415030A6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477F5A-AE78-413A-BB36-995AB637D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98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Reduce energy cost during high-flow events</a:t>
            </a:r>
            <a:br>
              <a:rPr lang="en-US" dirty="0"/>
            </a:br>
            <a:r>
              <a:rPr lang="en-US" dirty="0"/>
              <a:t>Enable fish to passively drift with the current when swimming is inefficient, conserving energy for critical behaviors like spawning.</a:t>
            </a:r>
          </a:p>
          <a:p>
            <a:r>
              <a:rPr lang="en-US" b="1" dirty="0"/>
              <a:t>Allow recovery during periods of physiological stress</a:t>
            </a:r>
            <a:br>
              <a:rPr lang="en-US" dirty="0"/>
            </a:br>
            <a:r>
              <a:rPr lang="en-US" dirty="0"/>
              <a:t>Let fish temporarily stop migrating to restore energy and acclimate to environmental changes such as salinity shifts or elevated flow resistance.</a:t>
            </a:r>
          </a:p>
          <a:p>
            <a:r>
              <a:rPr lang="en-US" b="1" dirty="0"/>
              <a:t>Track when and where resting occurs</a:t>
            </a:r>
            <a:br>
              <a:rPr lang="en-US" dirty="0"/>
            </a:br>
            <a:r>
              <a:rPr lang="en-US" dirty="0"/>
              <a:t>Identify the spatial and temporal patterns of resting behaviors, including staging hotspots and zones of selective tidal stream transport, to inform habitat quality assessments.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029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390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86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10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193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11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6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3675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1460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along-channel flow velocity in a patch, influencing whether fish swim or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1488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along-channel flow velocity in a patch, influencing whether fish swim or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478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9F1F-8141-4FBF-BF5A-6A38ACA86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738B69-8D7B-4DA7-9337-3BE471C80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CFE0F-94D3-4F8E-A4DE-97501900A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BD481-E5EA-4687-978B-FA850B51E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9B777-9386-4463-A30C-497BE152E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500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8CDC8-7090-4978-91A5-2FFEBBB12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B9FE4-26DD-46E4-8496-6A77EA25F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786A0-8F04-4274-9A55-717320B60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888EE-862C-4763-AE35-0BEB77453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1F349-ADA4-4681-9205-90C3EE823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33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D2BB6-E14D-493D-8215-857354090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FEC6B-C50C-4FCA-B757-F6EB47221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D34AB-5657-4FA9-A713-57AD0FB94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14655-D8AC-4D2F-A311-5C6AEAA62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A6D47-5368-44C7-A8C9-C9BE063A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88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DCBA0-3B5B-4213-977B-7590AAC3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67316-4E26-46C9-91D8-78645979D5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1ED28-73DC-410B-92F6-0F90B939B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E3D4A-2AED-4748-815A-6AEA9D7BE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4CDD8-CBFE-4E2A-AFB3-1855F335E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EF412-CD08-4121-AE61-D622E47FC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8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5E8C-9770-47EF-BE24-0CD790C86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9F71F-4584-4952-8321-07DF5D2DA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A56E1-E548-4E06-8BC6-92137637E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97B174-900E-4640-A7E1-2B78677A9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811DF5-BE54-4C82-A296-531259ECF6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9EB407-9898-4885-9476-4D6ADF53B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DBCBBA-F113-4B54-A181-9002B6BDE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F1572C-0F75-4D3E-961E-4064457A8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31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1617E-EE61-427E-8F6D-220DBCB1F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A408A6-1A7F-451E-A9F0-0C839E020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02C96-FD98-485E-83B7-8B61F80DB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536F9-5781-4EC0-A444-B6D8E85C6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76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8D3773-774D-451E-8E4B-ED5ABBAFF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D8E68-3C83-4AF7-BD5A-473AAE51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774D8-3075-40ED-862F-4303D9043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7D163-F5D6-4A6D-97C7-18570C676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84CE2-FB4A-42C4-B7E6-10A8797AF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7B8B50-533D-455F-BB36-B2EB8A353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0D6CC-782D-4765-ABF1-E08E1519B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7E591-3EF1-4A94-B121-DB3D972A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FA53D-CAD1-45B1-BFD7-2C11EA66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49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AFF04-BF4B-4111-AE7D-3029DA70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73707-16F0-4F11-8306-97951C67A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B7999A-313F-4F07-AAA6-B3EF51701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85979-0696-40F2-B42E-A65D0E9ED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09B80-A602-4242-BAAF-68E06ADC9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F5C82-8559-4F05-AC95-A387EF5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3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8110E-3C70-4265-92E6-27B0FDB10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97A9C3-D90F-472E-9108-14D174C61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990E2-107E-44F4-BD1E-35A09CD81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A9C65-8A3F-4A51-AD07-F209CD91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110AB-2249-47EA-BF4D-167B5894D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4832A5-A46F-4F31-9488-F79ECFD1F2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DEC43-A4F3-467F-80CD-340A69338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054CA-E3BA-450F-9EA7-C79E05001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6E605-E5B3-4E7E-986F-70A74EA22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C332C-A5DA-4B60-A1D3-C1E4F82EB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40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84DA64-F61E-4BD4-9CB2-73E7A3875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1272D-920A-414C-B438-BA35DB0DB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8C9D2-5604-4DC6-AEA5-610E5C79E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C847F-28CF-4C8F-8216-868300884A7F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04731-B686-4222-965A-52EEC4187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E1F3C-613F-4941-BA95-6BA12D214E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93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microsoft.com/office/2007/relationships/hdphoto" Target="../media/hdphoto1.wdp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microsoft.com/office/2007/relationships/hdphoto" Target="../media/hdphoto2.wdp"/><Relationship Id="rId9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microsoft.com/office/2007/relationships/hdphoto" Target="../media/hdphoto2.wdp"/><Relationship Id="rId9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01AD-A261-4D81-829A-6B677B848F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Foraging Behavior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155772-D1B0-42C5-ACE9-FC72D03E38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Drafted By: Vanessa Quintana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769B74-8514-4808-99AD-42DBF8EE9940}"/>
              </a:ext>
            </a:extLst>
          </p:cNvPr>
          <p:cNvSpPr txBox="1"/>
          <p:nvPr/>
        </p:nvSpPr>
        <p:spPr>
          <a:xfrm>
            <a:off x="6934200" y="106958"/>
            <a:ext cx="525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Penobscot Estuary Community Modeling Workshop</a:t>
            </a:r>
          </a:p>
          <a:p>
            <a:pPr algn="r"/>
            <a:r>
              <a:rPr lang="en-US" dirty="0"/>
              <a:t>ABM Draft Foraging Function</a:t>
            </a:r>
          </a:p>
          <a:p>
            <a:pPr algn="r"/>
            <a:r>
              <a:rPr lang="en-US" dirty="0"/>
              <a:t>August 6</a:t>
            </a:r>
            <a:r>
              <a:rPr lang="en-US" baseline="30000" dirty="0"/>
              <a:t>th</a:t>
            </a:r>
            <a:r>
              <a:rPr lang="en-US" dirty="0"/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1657875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F8677-FB2A-4457-84A1-E08E30A8B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5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Relevant Background Information</a:t>
            </a:r>
          </a:p>
        </p:txBody>
      </p: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34663D66-C204-40C6-A188-C009FC307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031428"/>
              </p:ext>
            </p:extLst>
          </p:nvPr>
        </p:nvGraphicFramePr>
        <p:xfrm>
          <a:off x="628253" y="1185858"/>
          <a:ext cx="10935494" cy="536004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842801">
                  <a:extLst>
                    <a:ext uri="{9D8B030D-6E8A-4147-A177-3AD203B41FA5}">
                      <a16:colId xmlns:a16="http://schemas.microsoft.com/office/drawing/2014/main" val="758357700"/>
                    </a:ext>
                  </a:extLst>
                </a:gridCol>
                <a:gridCol w="8092693">
                  <a:extLst>
                    <a:ext uri="{9D8B030D-6E8A-4147-A177-3AD203B41FA5}">
                      <a16:colId xmlns:a16="http://schemas.microsoft.com/office/drawing/2014/main" val="4126208450"/>
                    </a:ext>
                  </a:extLst>
                </a:gridCol>
              </a:tblGrid>
              <a:tr h="46146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Term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Definition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1524814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Optimal Foraging Theory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The idea that animals balance energy gain with effort and risk, choosing to forage only when the benefits outweigh the costs.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36308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Suspended Particulate Matter (SPM)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Tiny particles in the water that influence water clarity, feeding efficiency, and sometimes contamination risk.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721630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Stress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The strain a fish feels when something in the environment changes (like temperature, or salinity) that makes it harder for them to stay healthy.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3638483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Intraspecific Competition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Competition between individuals of the same species, often influenced by density and size differences.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155365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Interspecific Competition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Competition between individuals of different species, often driven by overlapping resource needs or dominance hierarchies.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6188127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Staging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A behavior where fish temporarily stop migrating to recover from low energy or high stress, often staying in one area until conditions improve.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8552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326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3D33D-47AC-46B2-BACF-B697F6462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627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Model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881BF-4D07-47A4-AD5F-CACCFBA97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5259" y="1632271"/>
            <a:ext cx="11173521" cy="1984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Purpose: </a:t>
            </a:r>
            <a:r>
              <a:rPr lang="en-US" dirty="0"/>
              <a:t>Simulate foraging as an opportunistic energy recovery behavior based on local environmental conditions and individual fish needs.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Objectives: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Simulate optimal foraging behavior</a:t>
            </a:r>
            <a:br>
              <a:rPr lang="en-US" sz="2000" dirty="0"/>
            </a:br>
            <a:r>
              <a:rPr lang="en-US" sz="2000" dirty="0"/>
              <a:t>Allow fish to opportunistically forage when swimming is inefficient or unnecessary, maximizing energy gain during periods of low stress or migratory pause.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Link foraging decisions to environmental conditions and competition</a:t>
            </a:r>
            <a:br>
              <a:rPr lang="en-US" sz="2000" dirty="0"/>
            </a:br>
            <a:r>
              <a:rPr lang="en-US" sz="2000" dirty="0"/>
              <a:t>Enable fish to evaluate nearby foraging conditions based on salinity, temperature, depth, velocity, and SPM, and forage only when and where conditions are suitable.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Link energy gain to environmental conditions</a:t>
            </a:r>
            <a:br>
              <a:rPr lang="en-US" sz="2000" dirty="0"/>
            </a:br>
            <a:r>
              <a:rPr lang="en-US" sz="2000" dirty="0"/>
              <a:t>Allow fish to gain more energy in patches with conditions that promote foraging success.</a:t>
            </a:r>
          </a:p>
        </p:txBody>
      </p:sp>
    </p:spTree>
    <p:extLst>
      <p:ext uri="{BB962C8B-B14F-4D97-AF65-F5344CB8AC3E}">
        <p14:creationId xmlns:p14="http://schemas.microsoft.com/office/powerpoint/2010/main" val="2550288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58477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Conditions that Trigger Foraging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88664BBF-F40A-485E-9913-72D623BF4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259733"/>
              </p:ext>
            </p:extLst>
          </p:nvPr>
        </p:nvGraphicFramePr>
        <p:xfrm>
          <a:off x="775163" y="2013207"/>
          <a:ext cx="10641669" cy="340757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69840">
                  <a:extLst>
                    <a:ext uri="{9D8B030D-6E8A-4147-A177-3AD203B41FA5}">
                      <a16:colId xmlns:a16="http://schemas.microsoft.com/office/drawing/2014/main" val="1186926444"/>
                    </a:ext>
                  </a:extLst>
                </a:gridCol>
                <a:gridCol w="4248615">
                  <a:extLst>
                    <a:ext uri="{9D8B030D-6E8A-4147-A177-3AD203B41FA5}">
                      <a16:colId xmlns:a16="http://schemas.microsoft.com/office/drawing/2014/main" val="2511054185"/>
                    </a:ext>
                  </a:extLst>
                </a:gridCol>
                <a:gridCol w="3923214">
                  <a:extLst>
                    <a:ext uri="{9D8B030D-6E8A-4147-A177-3AD203B41FA5}">
                      <a16:colId xmlns:a16="http://schemas.microsoft.com/office/drawing/2014/main" val="1566382799"/>
                    </a:ext>
                  </a:extLst>
                </a:gridCol>
              </a:tblGrid>
              <a:tr h="68151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What it 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Why it Matters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540755"/>
                  </a:ext>
                </a:extLst>
              </a:tr>
              <a:tr h="681515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Staging? = 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fish is already paused in its migration.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Foraging only happens during natural rest periods.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6825415"/>
                  </a:ext>
                </a:extLst>
              </a:tr>
              <a:tr h="681515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Energy &lt; 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fish is low on energy.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Foraging is only worth the effort when the fish needs to refuel.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664806"/>
                  </a:ext>
                </a:extLst>
              </a:tr>
              <a:tr h="681515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Stress &lt;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fish has low stress levels.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 stress prevents safe feeding.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9173415"/>
                  </a:ext>
                </a:extLst>
              </a:tr>
              <a:tr h="681515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SPM &lt; Mean SPM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Water has less suspended sediment.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Clearer water improves feeding success.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057853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5C49FF1-2916-4CDD-97B0-F40E0B3B42EC}"/>
              </a:ext>
            </a:extLst>
          </p:cNvPr>
          <p:cNvSpPr txBox="1"/>
          <p:nvPr/>
        </p:nvSpPr>
        <p:spPr>
          <a:xfrm>
            <a:off x="847331" y="5772303"/>
            <a:ext cx="10795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All of these conditions must be true at the same time for a fish to forage.</a:t>
            </a:r>
          </a:p>
        </p:txBody>
      </p:sp>
    </p:spTree>
    <p:extLst>
      <p:ext uri="{BB962C8B-B14F-4D97-AF65-F5344CB8AC3E}">
        <p14:creationId xmlns:p14="http://schemas.microsoft.com/office/powerpoint/2010/main" val="341150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1776145" y="1701206"/>
            <a:ext cx="8298388" cy="4529601"/>
          </a:xfrm>
          <a:prstGeom prst="rect">
            <a:avLst/>
          </a:prstGeom>
          <a:gradFill flip="none" rotWithShape="1">
            <a:gsLst>
              <a:gs pos="59173">
                <a:srgbClr val="6C3C3C"/>
              </a:gs>
              <a:gs pos="42900">
                <a:srgbClr val="6C3C3C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014" y="1699365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E6F67821-0371-4DFE-A091-17B83DA69D25}"/>
              </a:ext>
            </a:extLst>
          </p:cNvPr>
          <p:cNvGrpSpPr/>
          <p:nvPr/>
        </p:nvGrpSpPr>
        <p:grpSpPr>
          <a:xfrm>
            <a:off x="1585303" y="3012122"/>
            <a:ext cx="8658299" cy="2225347"/>
            <a:chOff x="1891845" y="3231495"/>
            <a:chExt cx="8658299" cy="222534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76A888-2ECE-4AB8-B3F1-7FAA0C246190}"/>
                </a:ext>
              </a:extLst>
            </p:cNvPr>
            <p:cNvGrpSpPr/>
            <p:nvPr/>
          </p:nvGrpSpPr>
          <p:grpSpPr>
            <a:xfrm>
              <a:off x="6134512" y="3260052"/>
              <a:ext cx="4415632" cy="2196790"/>
              <a:chOff x="6134512" y="3260052"/>
              <a:chExt cx="4415632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1AA6A18C-73F4-401D-82EE-666BB3B07B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ACBF7041-5B86-4EE7-B4DD-8FCDC33371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01E9D3B5-52CB-4EF8-90FC-755ABBC515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188FB62C-34AF-4D50-A582-835C2B68A3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72C09B0-38AE-4298-87F2-CEBDE777AC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A86F7CDD-CE4B-4F06-B4D3-ED79669E61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42A4542D-33A8-48CB-96B9-A3CB23BA9B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F55B17BF-6755-4D69-B4A3-66188C6913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4EF482C0-DD48-49B4-B9AC-0DF016227C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1D0C8BAC-6E08-490F-A4E1-2171D3E417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F6AEC572-70B1-4668-82BD-C5CEE72BBB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FB921A53-B0CB-45B0-8E81-8C3204D12F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1F5CF2D4-DE71-4EBD-B571-001BA27144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8278" y="4626276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D2362C5E-F9F0-4F7E-B59D-F1674DE0A2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4512" y="5417361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A28C2BD-3438-4DD0-9510-71B97A3AA584}"/>
                </a:ext>
              </a:extLst>
            </p:cNvPr>
            <p:cNvGrpSpPr/>
            <p:nvPr/>
          </p:nvGrpSpPr>
          <p:grpSpPr>
            <a:xfrm flipH="1">
              <a:off x="1891845" y="3231495"/>
              <a:ext cx="3371386" cy="2196790"/>
              <a:chOff x="7178758" y="3260052"/>
              <a:chExt cx="3371386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6A4429FD-2F8B-4756-BC73-88AC77BB5A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5BDA1ABD-5F75-4F9D-A705-8225B8ECAA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84612499-76E3-4012-B764-2EABB64907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563BBC51-E788-421A-9D78-C0AF97458B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1C8B67D9-5F75-4548-AF92-72DA0E5D9C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6FBFC15B-92B7-4397-AC9C-D5A1E4A59F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8C2C415F-32F1-4E09-A2F8-D62A5EC584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C9D4B07B-BE0D-4D53-8815-B8A7F05FD4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31FF8A1B-4116-45F8-8D80-0626EE9CD0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49D47ED2-974A-4EA7-A8F6-33ABA327FC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B14A5F04-FF65-4F4A-8FE6-2BDC7479A1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8CDCDBFF-DDED-4721-8523-4FFB745BAF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957341" y="56282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5302208-5464-4BA1-8659-FBA193762BE3}"/>
              </a:ext>
            </a:extLst>
          </p:cNvPr>
          <p:cNvSpPr txBox="1"/>
          <p:nvPr/>
        </p:nvSpPr>
        <p:spPr>
          <a:xfrm>
            <a:off x="4706106" y="2632056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F54FBCD-E6F9-4A31-9F9D-1828A0F1A04A}"/>
              </a:ext>
            </a:extLst>
          </p:cNvPr>
          <p:cNvSpPr txBox="1"/>
          <p:nvPr/>
        </p:nvSpPr>
        <p:spPr>
          <a:xfrm>
            <a:off x="4669255" y="3252028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8871C1B-F3A2-42D0-A152-F3BB435F33A6}"/>
              </a:ext>
            </a:extLst>
          </p:cNvPr>
          <p:cNvSpPr txBox="1"/>
          <p:nvPr/>
        </p:nvSpPr>
        <p:spPr>
          <a:xfrm>
            <a:off x="4622606" y="3997040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7A98A89-D7B7-4239-BDD4-466CE19FB404}"/>
              </a:ext>
            </a:extLst>
          </p:cNvPr>
          <p:cNvSpPr txBox="1"/>
          <p:nvPr/>
        </p:nvSpPr>
        <p:spPr>
          <a:xfrm>
            <a:off x="4532095" y="4794759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05943CF-7D2D-449E-A836-6D1B13CF1339}"/>
              </a:ext>
            </a:extLst>
          </p:cNvPr>
          <p:cNvSpPr txBox="1"/>
          <p:nvPr/>
        </p:nvSpPr>
        <p:spPr>
          <a:xfrm>
            <a:off x="2633267" y="266177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7995D19-5C76-48E3-88EF-BEDB705B7642}"/>
              </a:ext>
            </a:extLst>
          </p:cNvPr>
          <p:cNvSpPr txBox="1"/>
          <p:nvPr/>
        </p:nvSpPr>
        <p:spPr>
          <a:xfrm>
            <a:off x="1982927" y="4825562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7DA028B-90B7-4E43-B91A-D6F20C5CA9BD}"/>
              </a:ext>
            </a:extLst>
          </p:cNvPr>
          <p:cNvSpPr txBox="1"/>
          <p:nvPr/>
        </p:nvSpPr>
        <p:spPr>
          <a:xfrm>
            <a:off x="3645640" y="2664983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BB45CFA-21D2-4863-A70F-5CF1B83C7394}"/>
              </a:ext>
            </a:extLst>
          </p:cNvPr>
          <p:cNvSpPr txBox="1"/>
          <p:nvPr/>
        </p:nvSpPr>
        <p:spPr>
          <a:xfrm>
            <a:off x="3542237" y="3273576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0900940-F8EC-4A9B-AD4A-8CFE503F3A6E}"/>
              </a:ext>
            </a:extLst>
          </p:cNvPr>
          <p:cNvSpPr txBox="1"/>
          <p:nvPr/>
        </p:nvSpPr>
        <p:spPr>
          <a:xfrm>
            <a:off x="3416884" y="401095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D02A333-1E99-41B8-BE58-5ECCDC7BD555}"/>
              </a:ext>
            </a:extLst>
          </p:cNvPr>
          <p:cNvSpPr txBox="1"/>
          <p:nvPr/>
        </p:nvSpPr>
        <p:spPr>
          <a:xfrm>
            <a:off x="3268441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4EC1B6A-ABD6-4F9A-9F46-7F6002A3E3C5}"/>
              </a:ext>
            </a:extLst>
          </p:cNvPr>
          <p:cNvSpPr txBox="1"/>
          <p:nvPr/>
        </p:nvSpPr>
        <p:spPr>
          <a:xfrm>
            <a:off x="5822520" y="40221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125BC97-BA80-45C4-A828-95A96668CCE6}"/>
              </a:ext>
            </a:extLst>
          </p:cNvPr>
          <p:cNvSpPr txBox="1"/>
          <p:nvPr/>
        </p:nvSpPr>
        <p:spPr>
          <a:xfrm>
            <a:off x="5834087" y="4824239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D6CF3FA-50AC-40F6-B2DB-1178D21DF0B8}"/>
              </a:ext>
            </a:extLst>
          </p:cNvPr>
          <p:cNvSpPr txBox="1"/>
          <p:nvPr/>
        </p:nvSpPr>
        <p:spPr>
          <a:xfrm>
            <a:off x="6944527" y="269283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810913E-2DAC-4AE8-9F08-2C1479E88C48}"/>
              </a:ext>
            </a:extLst>
          </p:cNvPr>
          <p:cNvSpPr txBox="1"/>
          <p:nvPr/>
        </p:nvSpPr>
        <p:spPr>
          <a:xfrm>
            <a:off x="6981674" y="329587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35C44C4-5629-49CD-A6DE-5F4E7CC1A119}"/>
              </a:ext>
            </a:extLst>
          </p:cNvPr>
          <p:cNvSpPr txBox="1"/>
          <p:nvPr/>
        </p:nvSpPr>
        <p:spPr>
          <a:xfrm>
            <a:off x="7027248" y="4022632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9AA271A-8298-4EBE-B2FE-A5284285502F}"/>
              </a:ext>
            </a:extLst>
          </p:cNvPr>
          <p:cNvSpPr txBox="1"/>
          <p:nvPr/>
        </p:nvSpPr>
        <p:spPr>
          <a:xfrm>
            <a:off x="7100261" y="48557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FADD980-3F05-4877-9F07-6D2908783F97}"/>
              </a:ext>
            </a:extLst>
          </p:cNvPr>
          <p:cNvSpPr txBox="1"/>
          <p:nvPr/>
        </p:nvSpPr>
        <p:spPr>
          <a:xfrm>
            <a:off x="7986957" y="2696090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B523829-5F1B-467B-86F7-F823E43A485F}"/>
              </a:ext>
            </a:extLst>
          </p:cNvPr>
          <p:cNvSpPr txBox="1"/>
          <p:nvPr/>
        </p:nvSpPr>
        <p:spPr>
          <a:xfrm>
            <a:off x="8103883" y="3294523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26DA491-E4BB-4DA9-81D4-FAA03DA95165}"/>
              </a:ext>
            </a:extLst>
          </p:cNvPr>
          <p:cNvSpPr txBox="1"/>
          <p:nvPr/>
        </p:nvSpPr>
        <p:spPr>
          <a:xfrm>
            <a:off x="8228143" y="40221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989ADC-976E-4925-81C5-56BA77C6B425}"/>
              </a:ext>
            </a:extLst>
          </p:cNvPr>
          <p:cNvSpPr txBox="1"/>
          <p:nvPr/>
        </p:nvSpPr>
        <p:spPr>
          <a:xfrm>
            <a:off x="8393145" y="48906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30D1D59-471F-4E79-A09B-AA371826C293}"/>
              </a:ext>
            </a:extLst>
          </p:cNvPr>
          <p:cNvSpPr txBox="1"/>
          <p:nvPr/>
        </p:nvSpPr>
        <p:spPr>
          <a:xfrm>
            <a:off x="9062116" y="26782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09403F1-0E5F-4280-B357-F290A704FFD4}"/>
              </a:ext>
            </a:extLst>
          </p:cNvPr>
          <p:cNvSpPr txBox="1"/>
          <p:nvPr/>
        </p:nvSpPr>
        <p:spPr>
          <a:xfrm>
            <a:off x="9203553" y="3288282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B41C7E3-D045-4B72-8BD8-CD604A13A397}"/>
              </a:ext>
            </a:extLst>
          </p:cNvPr>
          <p:cNvSpPr txBox="1"/>
          <p:nvPr/>
        </p:nvSpPr>
        <p:spPr>
          <a:xfrm>
            <a:off x="9479944" y="404329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1989A41-9219-40A3-8330-F761AE0DE8A5}"/>
              </a:ext>
            </a:extLst>
          </p:cNvPr>
          <p:cNvSpPr txBox="1"/>
          <p:nvPr/>
        </p:nvSpPr>
        <p:spPr>
          <a:xfrm>
            <a:off x="9676949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306523" y="5718072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Fish exhibiting foraging behavior will evaluate nearby patches for resources.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129E048-1567-49BD-ACE0-2AAAC078BA08}"/>
              </a:ext>
            </a:extLst>
          </p:cNvPr>
          <p:cNvSpPr txBox="1"/>
          <p:nvPr/>
        </p:nvSpPr>
        <p:spPr>
          <a:xfrm>
            <a:off x="2134347" y="4022108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974823B-4ADA-42E6-BF4D-58899B5CE3D8}"/>
              </a:ext>
            </a:extLst>
          </p:cNvPr>
          <p:cNvSpPr txBox="1"/>
          <p:nvPr/>
        </p:nvSpPr>
        <p:spPr>
          <a:xfrm>
            <a:off x="2393847" y="328111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5FE6D17-75DB-44EA-9ACA-1060DE62658E}"/>
              </a:ext>
            </a:extLst>
          </p:cNvPr>
          <p:cNvGrpSpPr/>
          <p:nvPr/>
        </p:nvGrpSpPr>
        <p:grpSpPr>
          <a:xfrm>
            <a:off x="9363454" y="189073"/>
            <a:ext cx="3396953" cy="2103452"/>
            <a:chOff x="9486977" y="861094"/>
            <a:chExt cx="3396953" cy="2103452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EDFE4E65-E31A-46B6-B80F-1DCBFCCFB56C}"/>
                </a:ext>
              </a:extLst>
            </p:cNvPr>
            <p:cNvGrpSpPr/>
            <p:nvPr/>
          </p:nvGrpSpPr>
          <p:grpSpPr>
            <a:xfrm>
              <a:off x="9486977" y="861094"/>
              <a:ext cx="3396953" cy="2103452"/>
              <a:chOff x="9267697" y="5389514"/>
              <a:chExt cx="3396953" cy="2103452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ACE758A5-5C83-48A3-98BB-FC1CDBCE7313}"/>
                  </a:ext>
                </a:extLst>
              </p:cNvPr>
              <p:cNvSpPr/>
              <p:nvPr/>
            </p:nvSpPr>
            <p:spPr>
              <a:xfrm>
                <a:off x="9267697" y="5787731"/>
                <a:ext cx="2497656" cy="170523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8C1F4471-1D11-4FF1-81D4-00981F97DED0}"/>
                  </a:ext>
                </a:extLst>
              </p:cNvPr>
              <p:cNvSpPr/>
              <p:nvPr/>
            </p:nvSpPr>
            <p:spPr>
              <a:xfrm>
                <a:off x="9395253" y="5958699"/>
                <a:ext cx="365760" cy="23342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E3616B5B-141C-4419-809F-DE9CAA918066}"/>
                  </a:ext>
                </a:extLst>
              </p:cNvPr>
              <p:cNvSpPr/>
              <p:nvPr/>
            </p:nvSpPr>
            <p:spPr>
              <a:xfrm>
                <a:off x="9414592" y="6703367"/>
                <a:ext cx="365760" cy="23342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E59005B-333B-4D70-B945-C5B3A252F4B5}"/>
                  </a:ext>
                </a:extLst>
              </p:cNvPr>
              <p:cNvSpPr txBox="1"/>
              <p:nvPr/>
            </p:nvSpPr>
            <p:spPr>
              <a:xfrm>
                <a:off x="9743225" y="5891916"/>
                <a:ext cx="22031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Salinity (</a:t>
                </a:r>
                <a:r>
                  <a:rPr lang="en-US" b="1" i="1" dirty="0" err="1"/>
                  <a:t>psu</a:t>
                </a:r>
                <a:r>
                  <a:rPr lang="en-US" dirty="0"/>
                  <a:t>) 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7CF2A430-65F3-4D81-A76E-7D0E8757CDA1}"/>
                      </a:ext>
                    </a:extLst>
                  </p:cNvPr>
                  <p:cNvSpPr txBox="1"/>
                  <p:nvPr/>
                </p:nvSpPr>
                <p:spPr>
                  <a:xfrm>
                    <a:off x="9770694" y="6624633"/>
                    <a:ext cx="289395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Current Velocity (</a:t>
                    </a:r>
                    <a14:m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oMath>
                    </a14:m>
                    <a:r>
                      <a:rPr lang="en-US" dirty="0"/>
                      <a:t>) </a:t>
                    </a:r>
                  </a:p>
                </p:txBody>
              </p:sp>
            </mc:Choice>
            <mc:Fallback xmlns="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7CF2A430-65F3-4D81-A76E-7D0E8757CD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70694" y="6624633"/>
                    <a:ext cx="2893956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895" t="-1000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29C8B95-12C8-4562-A7CA-5DD9E13F4EAE}"/>
                  </a:ext>
                </a:extLst>
              </p:cNvPr>
              <p:cNvSpPr txBox="1"/>
              <p:nvPr/>
            </p:nvSpPr>
            <p:spPr>
              <a:xfrm>
                <a:off x="9726219" y="5389514"/>
                <a:ext cx="1687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Legend</a:t>
                </a:r>
              </a:p>
            </p:txBody>
          </p:sp>
        </p:grp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D05BD26-1DB7-47F2-B94F-B676E34E3399}"/>
                </a:ext>
              </a:extLst>
            </p:cNvPr>
            <p:cNvSpPr/>
            <p:nvPr/>
          </p:nvSpPr>
          <p:spPr>
            <a:xfrm>
              <a:off x="9622721" y="1802884"/>
              <a:ext cx="365760" cy="233429"/>
            </a:xfrm>
            <a:prstGeom prst="rect">
              <a:avLst/>
            </a:prstGeom>
            <a:solidFill>
              <a:srgbClr val="C0161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799940DA-EA48-40A1-A471-24013DD62DBC}"/>
                    </a:ext>
                  </a:extLst>
                </p:cNvPr>
                <p:cNvSpPr txBox="1"/>
                <p:nvPr/>
              </p:nvSpPr>
              <p:spPr>
                <a:xfrm>
                  <a:off x="9978823" y="1724150"/>
                  <a:ext cx="289395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Temperature (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a14:m>
                  <a:r>
                    <a:rPr lang="en-US" dirty="0"/>
                    <a:t>) </a:t>
                  </a: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799940DA-EA48-40A1-A471-24013DD62D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8823" y="1724150"/>
                  <a:ext cx="2893956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1899"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6" name="Rectangle 95">
            <a:extLst>
              <a:ext uri="{FF2B5EF4-FFF2-40B4-BE49-F238E27FC236}">
                <a16:creationId xmlns:a16="http://schemas.microsoft.com/office/drawing/2014/main" id="{A7E69A02-6C94-4036-A728-0A62224DEF2B}"/>
              </a:ext>
            </a:extLst>
          </p:cNvPr>
          <p:cNvSpPr/>
          <p:nvPr/>
        </p:nvSpPr>
        <p:spPr>
          <a:xfrm>
            <a:off x="9520007" y="1890990"/>
            <a:ext cx="365760" cy="233429"/>
          </a:xfrm>
          <a:prstGeom prst="rect">
            <a:avLst/>
          </a:prstGeom>
          <a:solidFill>
            <a:srgbClr val="6C3C3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42EC7B2-DA6E-4EF6-8F09-8BAF68F463EE}"/>
              </a:ext>
            </a:extLst>
          </p:cNvPr>
          <p:cNvSpPr txBox="1"/>
          <p:nvPr/>
        </p:nvSpPr>
        <p:spPr>
          <a:xfrm>
            <a:off x="9876109" y="1812256"/>
            <a:ext cx="2893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SPM (</a:t>
            </a:r>
            <a:r>
              <a:rPr lang="en-US" b="1" i="1" dirty="0"/>
              <a:t>g/L</a:t>
            </a:r>
            <a:r>
              <a:rPr lang="en-US" dirty="0"/>
              <a:t>) </a:t>
            </a: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4606E9D0-CCFF-48C0-B67C-7BB807B7EF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667" r="28742" b="24376"/>
          <a:stretch/>
        </p:blipFill>
        <p:spPr>
          <a:xfrm>
            <a:off x="4333578" y="2031915"/>
            <a:ext cx="3203167" cy="3193172"/>
          </a:xfrm>
          <a:prstGeom prst="rect">
            <a:avLst/>
          </a:prstGeom>
          <a:ln w="57150">
            <a:solidFill>
              <a:srgbClr val="FFC000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99" name="Group 98">
            <a:extLst>
              <a:ext uri="{FF2B5EF4-FFF2-40B4-BE49-F238E27FC236}">
                <a16:creationId xmlns:a16="http://schemas.microsoft.com/office/drawing/2014/main" id="{FDE33091-CDF4-477C-BBB2-D1DCB298D212}"/>
              </a:ext>
            </a:extLst>
          </p:cNvPr>
          <p:cNvGrpSpPr/>
          <p:nvPr/>
        </p:nvGrpSpPr>
        <p:grpSpPr>
          <a:xfrm>
            <a:off x="5190892" y="1476980"/>
            <a:ext cx="1438648" cy="1081927"/>
            <a:chOff x="1880406" y="1328694"/>
            <a:chExt cx="1438648" cy="1081927"/>
          </a:xfrm>
        </p:grpSpPr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42055F0B-D572-451D-9ADB-61E2D2710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0EA5DB4-0F22-4EE9-A462-6B700B36753D}"/>
                </a:ext>
              </a:extLst>
            </p:cNvPr>
            <p:cNvSpPr txBox="1"/>
            <p:nvPr/>
          </p:nvSpPr>
          <p:spPr>
            <a:xfrm>
              <a:off x="2157251" y="1328694"/>
              <a:ext cx="905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Forager</a:t>
              </a:r>
            </a:p>
          </p:txBody>
        </p:sp>
      </p:grpSp>
      <p:sp>
        <p:nvSpPr>
          <p:cNvPr id="102" name="Arrow: Up-Down 101">
            <a:extLst>
              <a:ext uri="{FF2B5EF4-FFF2-40B4-BE49-F238E27FC236}">
                <a16:creationId xmlns:a16="http://schemas.microsoft.com/office/drawing/2014/main" id="{07D3D0E3-B40F-49F0-B2AB-E98E06196746}"/>
              </a:ext>
            </a:extLst>
          </p:cNvPr>
          <p:cNvSpPr/>
          <p:nvPr/>
        </p:nvSpPr>
        <p:spPr>
          <a:xfrm>
            <a:off x="5798324" y="2406173"/>
            <a:ext cx="208670" cy="128016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4B16F68-B2FE-4940-BB81-7C3FFDE85128}"/>
              </a:ext>
            </a:extLst>
          </p:cNvPr>
          <p:cNvSpPr txBox="1"/>
          <p:nvPr/>
        </p:nvSpPr>
        <p:spPr>
          <a:xfrm>
            <a:off x="-773002" y="169002"/>
            <a:ext cx="5181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No Competition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8D9D195-6EEF-4D45-854B-D5776C736858}"/>
              </a:ext>
            </a:extLst>
          </p:cNvPr>
          <p:cNvGrpSpPr/>
          <p:nvPr/>
        </p:nvGrpSpPr>
        <p:grpSpPr>
          <a:xfrm>
            <a:off x="5425498" y="315098"/>
            <a:ext cx="1006627" cy="1129687"/>
            <a:chOff x="6302756" y="82429"/>
            <a:chExt cx="1006627" cy="1129687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54A3B660-CF57-4264-8BD2-223368F3DB3E}"/>
                </a:ext>
              </a:extLst>
            </p:cNvPr>
            <p:cNvSpPr/>
            <p:nvPr/>
          </p:nvSpPr>
          <p:spPr>
            <a:xfrm>
              <a:off x="6367489" y="82429"/>
              <a:ext cx="872987" cy="11296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B28DD1BD-1A59-4122-969A-C95545B92C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36883" t="9252" r="55401" b="73628"/>
            <a:stretch/>
          </p:blipFill>
          <p:spPr>
            <a:xfrm>
              <a:off x="6514287" y="108349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C9B937B7-7638-4F49-85E7-EF8920FDFBFB}"/>
                </a:ext>
              </a:extLst>
            </p:cNvPr>
            <p:cNvSpPr/>
            <p:nvPr/>
          </p:nvSpPr>
          <p:spPr>
            <a:xfrm>
              <a:off x="6696526" y="792041"/>
              <a:ext cx="254405" cy="3657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D426B96-35E3-4300-8EF6-B7C2262E5D28}"/>
                </a:ext>
              </a:extLst>
            </p:cNvPr>
            <p:cNvSpPr txBox="1"/>
            <p:nvPr/>
          </p:nvSpPr>
          <p:spPr>
            <a:xfrm>
              <a:off x="6302756" y="873562"/>
              <a:ext cx="10066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Energy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1239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1776145" y="1701206"/>
            <a:ext cx="8298388" cy="4529601"/>
          </a:xfrm>
          <a:prstGeom prst="rect">
            <a:avLst/>
          </a:prstGeom>
          <a:gradFill flip="none" rotWithShape="1">
            <a:gsLst>
              <a:gs pos="59173">
                <a:srgbClr val="6C3C3C"/>
              </a:gs>
              <a:gs pos="42900">
                <a:srgbClr val="6C3C3C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014" y="1699365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E6F67821-0371-4DFE-A091-17B83DA69D25}"/>
              </a:ext>
            </a:extLst>
          </p:cNvPr>
          <p:cNvGrpSpPr/>
          <p:nvPr/>
        </p:nvGrpSpPr>
        <p:grpSpPr>
          <a:xfrm>
            <a:off x="1585303" y="3012122"/>
            <a:ext cx="8658299" cy="2225347"/>
            <a:chOff x="1891845" y="3231495"/>
            <a:chExt cx="8658299" cy="222534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76A888-2ECE-4AB8-B3F1-7FAA0C246190}"/>
                </a:ext>
              </a:extLst>
            </p:cNvPr>
            <p:cNvGrpSpPr/>
            <p:nvPr/>
          </p:nvGrpSpPr>
          <p:grpSpPr>
            <a:xfrm>
              <a:off x="6134512" y="3260052"/>
              <a:ext cx="4415632" cy="2196790"/>
              <a:chOff x="6134512" y="3260052"/>
              <a:chExt cx="4415632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1AA6A18C-73F4-401D-82EE-666BB3B07B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01E9D3B5-52CB-4EF8-90FC-755ABBC515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188FB62C-34AF-4D50-A582-835C2B68A3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72C09B0-38AE-4298-87F2-CEBDE777AC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A86F7CDD-CE4B-4F06-B4D3-ED79669E61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42A4542D-33A8-48CB-96B9-A3CB23BA9B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F55B17BF-6755-4D69-B4A3-66188C6913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4EF482C0-DD48-49B4-B9AC-0DF016227C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FB921A53-B0CB-45B0-8E81-8C3204D12F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D2362C5E-F9F0-4F7E-B59D-F1674DE0A2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4512" y="5417361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A28C2BD-3438-4DD0-9510-71B97A3AA584}"/>
                </a:ext>
              </a:extLst>
            </p:cNvPr>
            <p:cNvGrpSpPr/>
            <p:nvPr/>
          </p:nvGrpSpPr>
          <p:grpSpPr>
            <a:xfrm flipH="1">
              <a:off x="1891845" y="3231495"/>
              <a:ext cx="3207515" cy="2196790"/>
              <a:chOff x="7342629" y="3260052"/>
              <a:chExt cx="3207515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6A4429FD-2F8B-4756-BC73-88AC77BB5A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84612499-76E3-4012-B764-2EABB64907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563BBC51-E788-421A-9D78-C0AF97458B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1C8B67D9-5F75-4548-AF92-72DA0E5D9C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6FBFC15B-92B7-4397-AC9C-D5A1E4A59F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8C2C415F-32F1-4E09-A2F8-D62A5EC584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C9D4B07B-BE0D-4D53-8815-B8A7F05FD4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31FF8A1B-4116-45F8-8D80-0626EE9CD0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8CDCDBFF-DDED-4721-8523-4FFB745BAF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957341" y="56282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7A98A89-D7B7-4239-BDD4-466CE19FB404}"/>
              </a:ext>
            </a:extLst>
          </p:cNvPr>
          <p:cNvSpPr txBox="1"/>
          <p:nvPr/>
        </p:nvSpPr>
        <p:spPr>
          <a:xfrm>
            <a:off x="4532095" y="4794759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05943CF-7D2D-449E-A836-6D1B13CF1339}"/>
              </a:ext>
            </a:extLst>
          </p:cNvPr>
          <p:cNvSpPr txBox="1"/>
          <p:nvPr/>
        </p:nvSpPr>
        <p:spPr>
          <a:xfrm>
            <a:off x="2633267" y="266177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7995D19-5C76-48E3-88EF-BEDB705B7642}"/>
              </a:ext>
            </a:extLst>
          </p:cNvPr>
          <p:cNvSpPr txBox="1"/>
          <p:nvPr/>
        </p:nvSpPr>
        <p:spPr>
          <a:xfrm>
            <a:off x="1982927" y="4825562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7DA028B-90B7-4E43-B91A-D6F20C5CA9BD}"/>
              </a:ext>
            </a:extLst>
          </p:cNvPr>
          <p:cNvSpPr txBox="1"/>
          <p:nvPr/>
        </p:nvSpPr>
        <p:spPr>
          <a:xfrm>
            <a:off x="3645640" y="2664983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BB45CFA-21D2-4863-A70F-5CF1B83C7394}"/>
              </a:ext>
            </a:extLst>
          </p:cNvPr>
          <p:cNvSpPr txBox="1"/>
          <p:nvPr/>
        </p:nvSpPr>
        <p:spPr>
          <a:xfrm>
            <a:off x="3542237" y="3273576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0900940-F8EC-4A9B-AD4A-8CFE503F3A6E}"/>
              </a:ext>
            </a:extLst>
          </p:cNvPr>
          <p:cNvSpPr txBox="1"/>
          <p:nvPr/>
        </p:nvSpPr>
        <p:spPr>
          <a:xfrm>
            <a:off x="3416884" y="401095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D02A333-1E99-41B8-BE58-5ECCDC7BD555}"/>
              </a:ext>
            </a:extLst>
          </p:cNvPr>
          <p:cNvSpPr txBox="1"/>
          <p:nvPr/>
        </p:nvSpPr>
        <p:spPr>
          <a:xfrm>
            <a:off x="3268441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125BC97-BA80-45C4-A828-95A96668CCE6}"/>
              </a:ext>
            </a:extLst>
          </p:cNvPr>
          <p:cNvSpPr txBox="1"/>
          <p:nvPr/>
        </p:nvSpPr>
        <p:spPr>
          <a:xfrm>
            <a:off x="5834087" y="4824239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9AA271A-8298-4EBE-B2FE-A5284285502F}"/>
              </a:ext>
            </a:extLst>
          </p:cNvPr>
          <p:cNvSpPr txBox="1"/>
          <p:nvPr/>
        </p:nvSpPr>
        <p:spPr>
          <a:xfrm>
            <a:off x="7100261" y="48557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FADD980-3F05-4877-9F07-6D2908783F97}"/>
              </a:ext>
            </a:extLst>
          </p:cNvPr>
          <p:cNvSpPr txBox="1"/>
          <p:nvPr/>
        </p:nvSpPr>
        <p:spPr>
          <a:xfrm>
            <a:off x="7986957" y="2696090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B523829-5F1B-467B-86F7-F823E43A485F}"/>
              </a:ext>
            </a:extLst>
          </p:cNvPr>
          <p:cNvSpPr txBox="1"/>
          <p:nvPr/>
        </p:nvSpPr>
        <p:spPr>
          <a:xfrm>
            <a:off x="8103883" y="3294523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26DA491-E4BB-4DA9-81D4-FAA03DA95165}"/>
              </a:ext>
            </a:extLst>
          </p:cNvPr>
          <p:cNvSpPr txBox="1"/>
          <p:nvPr/>
        </p:nvSpPr>
        <p:spPr>
          <a:xfrm>
            <a:off x="8228143" y="40221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989ADC-976E-4925-81C5-56BA77C6B425}"/>
              </a:ext>
            </a:extLst>
          </p:cNvPr>
          <p:cNvSpPr txBox="1"/>
          <p:nvPr/>
        </p:nvSpPr>
        <p:spPr>
          <a:xfrm>
            <a:off x="8393145" y="48906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30D1D59-471F-4E79-A09B-AA371826C293}"/>
              </a:ext>
            </a:extLst>
          </p:cNvPr>
          <p:cNvSpPr txBox="1"/>
          <p:nvPr/>
        </p:nvSpPr>
        <p:spPr>
          <a:xfrm>
            <a:off x="9062116" y="26782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09403F1-0E5F-4280-B357-F290A704FFD4}"/>
              </a:ext>
            </a:extLst>
          </p:cNvPr>
          <p:cNvSpPr txBox="1"/>
          <p:nvPr/>
        </p:nvSpPr>
        <p:spPr>
          <a:xfrm>
            <a:off x="9203553" y="3288282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B41C7E3-D045-4B72-8BD8-CD604A13A397}"/>
              </a:ext>
            </a:extLst>
          </p:cNvPr>
          <p:cNvSpPr txBox="1"/>
          <p:nvPr/>
        </p:nvSpPr>
        <p:spPr>
          <a:xfrm>
            <a:off x="9479944" y="404329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1989A41-9219-40A3-8330-F761AE0DE8A5}"/>
              </a:ext>
            </a:extLst>
          </p:cNvPr>
          <p:cNvSpPr txBox="1"/>
          <p:nvPr/>
        </p:nvSpPr>
        <p:spPr>
          <a:xfrm>
            <a:off x="9676949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306523" y="5718072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Fish sense foraging quality (shallow, low flow, low stress, low SPM, but not none)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129E048-1567-49BD-ACE0-2AAAC078BA08}"/>
              </a:ext>
            </a:extLst>
          </p:cNvPr>
          <p:cNvSpPr txBox="1"/>
          <p:nvPr/>
        </p:nvSpPr>
        <p:spPr>
          <a:xfrm>
            <a:off x="2134347" y="4022108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974823B-4ADA-42E6-BF4D-58899B5CE3D8}"/>
              </a:ext>
            </a:extLst>
          </p:cNvPr>
          <p:cNvSpPr txBox="1"/>
          <p:nvPr/>
        </p:nvSpPr>
        <p:spPr>
          <a:xfrm>
            <a:off x="2393847" y="328111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5FE6D17-75DB-44EA-9ACA-1060DE62658E}"/>
              </a:ext>
            </a:extLst>
          </p:cNvPr>
          <p:cNvGrpSpPr/>
          <p:nvPr/>
        </p:nvGrpSpPr>
        <p:grpSpPr>
          <a:xfrm>
            <a:off x="9363454" y="189073"/>
            <a:ext cx="3396953" cy="2103452"/>
            <a:chOff x="9486977" y="861094"/>
            <a:chExt cx="3396953" cy="2103452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EDFE4E65-E31A-46B6-B80F-1DCBFCCFB56C}"/>
                </a:ext>
              </a:extLst>
            </p:cNvPr>
            <p:cNvGrpSpPr/>
            <p:nvPr/>
          </p:nvGrpSpPr>
          <p:grpSpPr>
            <a:xfrm>
              <a:off x="9486977" y="861094"/>
              <a:ext cx="3396953" cy="2103452"/>
              <a:chOff x="9267697" y="5389514"/>
              <a:chExt cx="3396953" cy="2103452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ACE758A5-5C83-48A3-98BB-FC1CDBCE7313}"/>
                  </a:ext>
                </a:extLst>
              </p:cNvPr>
              <p:cNvSpPr/>
              <p:nvPr/>
            </p:nvSpPr>
            <p:spPr>
              <a:xfrm>
                <a:off x="9267697" y="5787731"/>
                <a:ext cx="2497656" cy="170523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8C1F4471-1D11-4FF1-81D4-00981F97DED0}"/>
                  </a:ext>
                </a:extLst>
              </p:cNvPr>
              <p:cNvSpPr/>
              <p:nvPr/>
            </p:nvSpPr>
            <p:spPr>
              <a:xfrm>
                <a:off x="9395253" y="5958699"/>
                <a:ext cx="365760" cy="23342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E3616B5B-141C-4419-809F-DE9CAA918066}"/>
                  </a:ext>
                </a:extLst>
              </p:cNvPr>
              <p:cNvSpPr/>
              <p:nvPr/>
            </p:nvSpPr>
            <p:spPr>
              <a:xfrm>
                <a:off x="9414592" y="6703367"/>
                <a:ext cx="365760" cy="23342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E59005B-333B-4D70-B945-C5B3A252F4B5}"/>
                  </a:ext>
                </a:extLst>
              </p:cNvPr>
              <p:cNvSpPr txBox="1"/>
              <p:nvPr/>
            </p:nvSpPr>
            <p:spPr>
              <a:xfrm>
                <a:off x="9743225" y="5891916"/>
                <a:ext cx="22031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Salinity (</a:t>
                </a:r>
                <a:r>
                  <a:rPr lang="en-US" b="1" i="1" dirty="0" err="1"/>
                  <a:t>psu</a:t>
                </a:r>
                <a:r>
                  <a:rPr lang="en-US" dirty="0"/>
                  <a:t>) 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7CF2A430-65F3-4D81-A76E-7D0E8757CDA1}"/>
                      </a:ext>
                    </a:extLst>
                  </p:cNvPr>
                  <p:cNvSpPr txBox="1"/>
                  <p:nvPr/>
                </p:nvSpPr>
                <p:spPr>
                  <a:xfrm>
                    <a:off x="9770694" y="6624633"/>
                    <a:ext cx="289395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Current Velocity (</a:t>
                    </a:r>
                    <a14:m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oMath>
                    </a14:m>
                    <a:r>
                      <a:rPr lang="en-US" dirty="0"/>
                      <a:t>) </a:t>
                    </a:r>
                  </a:p>
                </p:txBody>
              </p:sp>
            </mc:Choice>
            <mc:Fallback xmlns="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7CF2A430-65F3-4D81-A76E-7D0E8757CD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70694" y="6624633"/>
                    <a:ext cx="2893956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895" t="-1000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29C8B95-12C8-4562-A7CA-5DD9E13F4EAE}"/>
                  </a:ext>
                </a:extLst>
              </p:cNvPr>
              <p:cNvSpPr txBox="1"/>
              <p:nvPr/>
            </p:nvSpPr>
            <p:spPr>
              <a:xfrm>
                <a:off x="9726219" y="5389514"/>
                <a:ext cx="1687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Legend</a:t>
                </a:r>
              </a:p>
            </p:txBody>
          </p:sp>
        </p:grp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D05BD26-1DB7-47F2-B94F-B676E34E3399}"/>
                </a:ext>
              </a:extLst>
            </p:cNvPr>
            <p:cNvSpPr/>
            <p:nvPr/>
          </p:nvSpPr>
          <p:spPr>
            <a:xfrm>
              <a:off x="9622721" y="1802884"/>
              <a:ext cx="365760" cy="233429"/>
            </a:xfrm>
            <a:prstGeom prst="rect">
              <a:avLst/>
            </a:prstGeom>
            <a:solidFill>
              <a:srgbClr val="C0161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799940DA-EA48-40A1-A471-24013DD62DBC}"/>
                    </a:ext>
                  </a:extLst>
                </p:cNvPr>
                <p:cNvSpPr txBox="1"/>
                <p:nvPr/>
              </p:nvSpPr>
              <p:spPr>
                <a:xfrm>
                  <a:off x="9978823" y="1724150"/>
                  <a:ext cx="289395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Temperature (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a14:m>
                  <a:r>
                    <a:rPr lang="en-US" dirty="0"/>
                    <a:t>) </a:t>
                  </a: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799940DA-EA48-40A1-A471-24013DD62D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8823" y="1724150"/>
                  <a:ext cx="2893956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1899"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6" name="Rectangle 95">
            <a:extLst>
              <a:ext uri="{FF2B5EF4-FFF2-40B4-BE49-F238E27FC236}">
                <a16:creationId xmlns:a16="http://schemas.microsoft.com/office/drawing/2014/main" id="{A7E69A02-6C94-4036-A728-0A62224DEF2B}"/>
              </a:ext>
            </a:extLst>
          </p:cNvPr>
          <p:cNvSpPr/>
          <p:nvPr/>
        </p:nvSpPr>
        <p:spPr>
          <a:xfrm>
            <a:off x="9520007" y="1890990"/>
            <a:ext cx="365760" cy="233429"/>
          </a:xfrm>
          <a:prstGeom prst="rect">
            <a:avLst/>
          </a:prstGeom>
          <a:solidFill>
            <a:srgbClr val="6C3C3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42EC7B2-DA6E-4EF6-8F09-8BAF68F463EE}"/>
              </a:ext>
            </a:extLst>
          </p:cNvPr>
          <p:cNvSpPr txBox="1"/>
          <p:nvPr/>
        </p:nvSpPr>
        <p:spPr>
          <a:xfrm>
            <a:off x="9876109" y="1812256"/>
            <a:ext cx="2893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SPM (</a:t>
            </a:r>
            <a:r>
              <a:rPr lang="en-US" b="1" i="1" dirty="0"/>
              <a:t>g/L</a:t>
            </a:r>
            <a:r>
              <a:rPr lang="en-US" dirty="0"/>
              <a:t>)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2E7635E-2A71-4DE4-AC6F-D03B398BA01A}"/>
              </a:ext>
            </a:extLst>
          </p:cNvPr>
          <p:cNvGrpSpPr/>
          <p:nvPr/>
        </p:nvGrpSpPr>
        <p:grpSpPr>
          <a:xfrm>
            <a:off x="5181125" y="1498616"/>
            <a:ext cx="1438648" cy="1081927"/>
            <a:chOff x="1880406" y="1328694"/>
            <a:chExt cx="1438648" cy="108192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94CD7E2-905A-405C-9594-ACACE159E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3C9ADDD-6F2E-43C5-8890-9D49AEA5ABCB}"/>
                </a:ext>
              </a:extLst>
            </p:cNvPr>
            <p:cNvSpPr txBox="1"/>
            <p:nvPr/>
          </p:nvSpPr>
          <p:spPr>
            <a:xfrm>
              <a:off x="2157251" y="1328694"/>
              <a:ext cx="905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Forager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9BB8486-F331-4118-8833-76692BEDBF1D}"/>
              </a:ext>
            </a:extLst>
          </p:cNvPr>
          <p:cNvSpPr txBox="1"/>
          <p:nvPr/>
        </p:nvSpPr>
        <p:spPr>
          <a:xfrm>
            <a:off x="4447402" y="2718186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0.3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48E4B34-2036-497C-AFF4-72603B4144DF}"/>
              </a:ext>
            </a:extLst>
          </p:cNvPr>
          <p:cNvSpPr txBox="1"/>
          <p:nvPr/>
        </p:nvSpPr>
        <p:spPr>
          <a:xfrm>
            <a:off x="5482796" y="3970606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A3D3625-8117-45B7-BED0-946B293217A7}"/>
              </a:ext>
            </a:extLst>
          </p:cNvPr>
          <p:cNvSpPr txBox="1"/>
          <p:nvPr/>
        </p:nvSpPr>
        <p:spPr>
          <a:xfrm>
            <a:off x="6593740" y="2696090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0.2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5D5E15A-F550-4443-808B-5C54C6B4006E}"/>
              </a:ext>
            </a:extLst>
          </p:cNvPr>
          <p:cNvSpPr txBox="1"/>
          <p:nvPr/>
        </p:nvSpPr>
        <p:spPr>
          <a:xfrm>
            <a:off x="6699811" y="3964165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0.7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B39B999-DB81-44E8-921B-4E583A62A561}"/>
              </a:ext>
            </a:extLst>
          </p:cNvPr>
          <p:cNvSpPr txBox="1"/>
          <p:nvPr/>
        </p:nvSpPr>
        <p:spPr>
          <a:xfrm>
            <a:off x="4446792" y="3324430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0.8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424BD8E-CE93-4F04-8463-9CBAD0F0404E}"/>
              </a:ext>
            </a:extLst>
          </p:cNvPr>
          <p:cNvSpPr txBox="1"/>
          <p:nvPr/>
        </p:nvSpPr>
        <p:spPr>
          <a:xfrm>
            <a:off x="4408255" y="3978564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0.6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9307356-0B65-45AE-A3A4-442B68B63786}"/>
              </a:ext>
            </a:extLst>
          </p:cNvPr>
          <p:cNvSpPr txBox="1"/>
          <p:nvPr/>
        </p:nvSpPr>
        <p:spPr>
          <a:xfrm>
            <a:off x="6667965" y="3273678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0.9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12C8E18-9AE8-44EB-8145-52584FF336AC}"/>
              </a:ext>
            </a:extLst>
          </p:cNvPr>
          <p:cNvSpPr txBox="1"/>
          <p:nvPr/>
        </p:nvSpPr>
        <p:spPr>
          <a:xfrm>
            <a:off x="5527042" y="2703507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0.3</a:t>
            </a:r>
          </a:p>
        </p:txBody>
      </p:sp>
      <p:pic>
        <p:nvPicPr>
          <p:cNvPr id="131" name="Picture 130">
            <a:extLst>
              <a:ext uri="{FF2B5EF4-FFF2-40B4-BE49-F238E27FC236}">
                <a16:creationId xmlns:a16="http://schemas.microsoft.com/office/drawing/2014/main" id="{E3ADD645-F0FA-4259-B5A3-58DBE62C36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667" r="28742" b="24376"/>
          <a:stretch/>
        </p:blipFill>
        <p:spPr>
          <a:xfrm>
            <a:off x="4345380" y="2036990"/>
            <a:ext cx="3203167" cy="3193172"/>
          </a:xfrm>
          <a:prstGeom prst="rect">
            <a:avLst/>
          </a:prstGeom>
          <a:ln w="57150">
            <a:solidFill>
              <a:srgbClr val="FFC000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82" name="Arrow: Up-Down 81">
            <a:extLst>
              <a:ext uri="{FF2B5EF4-FFF2-40B4-BE49-F238E27FC236}">
                <a16:creationId xmlns:a16="http://schemas.microsoft.com/office/drawing/2014/main" id="{84270C7A-CC37-4BF3-8772-A8A0C6C58035}"/>
              </a:ext>
            </a:extLst>
          </p:cNvPr>
          <p:cNvSpPr/>
          <p:nvPr/>
        </p:nvSpPr>
        <p:spPr>
          <a:xfrm>
            <a:off x="5788557" y="2427809"/>
            <a:ext cx="208670" cy="128016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51654E-4AB3-497F-B80B-88E3F0F2262A}"/>
              </a:ext>
            </a:extLst>
          </p:cNvPr>
          <p:cNvSpPr txBox="1"/>
          <p:nvPr/>
        </p:nvSpPr>
        <p:spPr>
          <a:xfrm>
            <a:off x="-773002" y="169002"/>
            <a:ext cx="5181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No Competition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5A1E9D4-4272-416C-9C27-4453F9B6A293}"/>
              </a:ext>
            </a:extLst>
          </p:cNvPr>
          <p:cNvGrpSpPr/>
          <p:nvPr/>
        </p:nvGrpSpPr>
        <p:grpSpPr>
          <a:xfrm>
            <a:off x="5425498" y="315098"/>
            <a:ext cx="1006627" cy="1129687"/>
            <a:chOff x="6302756" y="82429"/>
            <a:chExt cx="1006627" cy="1129687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B2CB169-0E2D-42B8-BBC1-2AD966DD701B}"/>
                </a:ext>
              </a:extLst>
            </p:cNvPr>
            <p:cNvSpPr/>
            <p:nvPr/>
          </p:nvSpPr>
          <p:spPr>
            <a:xfrm>
              <a:off x="6367489" y="82429"/>
              <a:ext cx="872987" cy="11296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811BB46A-B516-4E9A-91BE-848D057F18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36883" t="9252" r="55401" b="73628"/>
            <a:stretch/>
          </p:blipFill>
          <p:spPr>
            <a:xfrm>
              <a:off x="6514287" y="108349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F78978C-86CF-4E6F-8EAB-6A79C3D24E51}"/>
                </a:ext>
              </a:extLst>
            </p:cNvPr>
            <p:cNvSpPr/>
            <p:nvPr/>
          </p:nvSpPr>
          <p:spPr>
            <a:xfrm>
              <a:off x="6696526" y="792041"/>
              <a:ext cx="254405" cy="3657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242B77A4-1474-419F-95A7-434F540EDF4A}"/>
                </a:ext>
              </a:extLst>
            </p:cNvPr>
            <p:cNvSpPr txBox="1"/>
            <p:nvPr/>
          </p:nvSpPr>
          <p:spPr>
            <a:xfrm>
              <a:off x="6302756" y="873562"/>
              <a:ext cx="10066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Energy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152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1776145" y="1701206"/>
            <a:ext cx="8298388" cy="4529601"/>
          </a:xfrm>
          <a:prstGeom prst="rect">
            <a:avLst/>
          </a:prstGeom>
          <a:gradFill flip="none" rotWithShape="1">
            <a:gsLst>
              <a:gs pos="59173">
                <a:srgbClr val="6C3C3C"/>
              </a:gs>
              <a:gs pos="42900">
                <a:srgbClr val="6C3C3C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014" y="1699365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E6F67821-0371-4DFE-A091-17B83DA69D25}"/>
              </a:ext>
            </a:extLst>
          </p:cNvPr>
          <p:cNvGrpSpPr/>
          <p:nvPr/>
        </p:nvGrpSpPr>
        <p:grpSpPr>
          <a:xfrm>
            <a:off x="1585303" y="3012122"/>
            <a:ext cx="8658299" cy="2225347"/>
            <a:chOff x="1891845" y="3231495"/>
            <a:chExt cx="8658299" cy="222534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76A888-2ECE-4AB8-B3F1-7FAA0C246190}"/>
                </a:ext>
              </a:extLst>
            </p:cNvPr>
            <p:cNvGrpSpPr/>
            <p:nvPr/>
          </p:nvGrpSpPr>
          <p:grpSpPr>
            <a:xfrm>
              <a:off x="6134512" y="3260052"/>
              <a:ext cx="4415632" cy="2196790"/>
              <a:chOff x="6134512" y="3260052"/>
              <a:chExt cx="4415632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1AA6A18C-73F4-401D-82EE-666BB3B07B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01E9D3B5-52CB-4EF8-90FC-755ABBC515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188FB62C-34AF-4D50-A582-835C2B68A3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72C09B0-38AE-4298-87F2-CEBDE777AC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A86F7CDD-CE4B-4F06-B4D3-ED79669E61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42A4542D-33A8-48CB-96B9-A3CB23BA9B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F55B17BF-6755-4D69-B4A3-66188C6913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4EF482C0-DD48-49B4-B9AC-0DF016227C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FB921A53-B0CB-45B0-8E81-8C3204D12F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D2362C5E-F9F0-4F7E-B59D-F1674DE0A2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4512" y="5417361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A28C2BD-3438-4DD0-9510-71B97A3AA584}"/>
                </a:ext>
              </a:extLst>
            </p:cNvPr>
            <p:cNvGrpSpPr/>
            <p:nvPr/>
          </p:nvGrpSpPr>
          <p:grpSpPr>
            <a:xfrm flipH="1">
              <a:off x="1891845" y="3231495"/>
              <a:ext cx="3207515" cy="2196790"/>
              <a:chOff x="7342629" y="3260052"/>
              <a:chExt cx="3207515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6A4429FD-2F8B-4756-BC73-88AC77BB5A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84612499-76E3-4012-B764-2EABB64907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563BBC51-E788-421A-9D78-C0AF97458B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1C8B67D9-5F75-4548-AF92-72DA0E5D9C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6FBFC15B-92B7-4397-AC9C-D5A1E4A59F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8C2C415F-32F1-4E09-A2F8-D62A5EC584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C9D4B07B-BE0D-4D53-8815-B8A7F05FD4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31FF8A1B-4116-45F8-8D80-0626EE9CD0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8CDCDBFF-DDED-4721-8523-4FFB745BAF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957341" y="56282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7A98A89-D7B7-4239-BDD4-466CE19FB404}"/>
              </a:ext>
            </a:extLst>
          </p:cNvPr>
          <p:cNvSpPr txBox="1"/>
          <p:nvPr/>
        </p:nvSpPr>
        <p:spPr>
          <a:xfrm>
            <a:off x="4532095" y="4794759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05943CF-7D2D-449E-A836-6D1B13CF1339}"/>
              </a:ext>
            </a:extLst>
          </p:cNvPr>
          <p:cNvSpPr txBox="1"/>
          <p:nvPr/>
        </p:nvSpPr>
        <p:spPr>
          <a:xfrm>
            <a:off x="2633267" y="266177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7995D19-5C76-48E3-88EF-BEDB705B7642}"/>
              </a:ext>
            </a:extLst>
          </p:cNvPr>
          <p:cNvSpPr txBox="1"/>
          <p:nvPr/>
        </p:nvSpPr>
        <p:spPr>
          <a:xfrm>
            <a:off x="1982927" y="4825562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7DA028B-90B7-4E43-B91A-D6F20C5CA9BD}"/>
              </a:ext>
            </a:extLst>
          </p:cNvPr>
          <p:cNvSpPr txBox="1"/>
          <p:nvPr/>
        </p:nvSpPr>
        <p:spPr>
          <a:xfrm>
            <a:off x="3645640" y="2664983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BB45CFA-21D2-4863-A70F-5CF1B83C7394}"/>
              </a:ext>
            </a:extLst>
          </p:cNvPr>
          <p:cNvSpPr txBox="1"/>
          <p:nvPr/>
        </p:nvSpPr>
        <p:spPr>
          <a:xfrm>
            <a:off x="3542237" y="3273576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0900940-F8EC-4A9B-AD4A-8CFE503F3A6E}"/>
              </a:ext>
            </a:extLst>
          </p:cNvPr>
          <p:cNvSpPr txBox="1"/>
          <p:nvPr/>
        </p:nvSpPr>
        <p:spPr>
          <a:xfrm>
            <a:off x="3416884" y="401095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D02A333-1E99-41B8-BE58-5ECCDC7BD555}"/>
              </a:ext>
            </a:extLst>
          </p:cNvPr>
          <p:cNvSpPr txBox="1"/>
          <p:nvPr/>
        </p:nvSpPr>
        <p:spPr>
          <a:xfrm>
            <a:off x="3268441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125BC97-BA80-45C4-A828-95A96668CCE6}"/>
              </a:ext>
            </a:extLst>
          </p:cNvPr>
          <p:cNvSpPr txBox="1"/>
          <p:nvPr/>
        </p:nvSpPr>
        <p:spPr>
          <a:xfrm>
            <a:off x="5834087" y="4824239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9AA271A-8298-4EBE-B2FE-A5284285502F}"/>
              </a:ext>
            </a:extLst>
          </p:cNvPr>
          <p:cNvSpPr txBox="1"/>
          <p:nvPr/>
        </p:nvSpPr>
        <p:spPr>
          <a:xfrm>
            <a:off x="7100261" y="48557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FADD980-3F05-4877-9F07-6D2908783F97}"/>
              </a:ext>
            </a:extLst>
          </p:cNvPr>
          <p:cNvSpPr txBox="1"/>
          <p:nvPr/>
        </p:nvSpPr>
        <p:spPr>
          <a:xfrm>
            <a:off x="7986957" y="2696090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B523829-5F1B-467B-86F7-F823E43A485F}"/>
              </a:ext>
            </a:extLst>
          </p:cNvPr>
          <p:cNvSpPr txBox="1"/>
          <p:nvPr/>
        </p:nvSpPr>
        <p:spPr>
          <a:xfrm>
            <a:off x="8103883" y="3294523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26DA491-E4BB-4DA9-81D4-FAA03DA95165}"/>
              </a:ext>
            </a:extLst>
          </p:cNvPr>
          <p:cNvSpPr txBox="1"/>
          <p:nvPr/>
        </p:nvSpPr>
        <p:spPr>
          <a:xfrm>
            <a:off x="8228143" y="40221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989ADC-976E-4925-81C5-56BA77C6B425}"/>
              </a:ext>
            </a:extLst>
          </p:cNvPr>
          <p:cNvSpPr txBox="1"/>
          <p:nvPr/>
        </p:nvSpPr>
        <p:spPr>
          <a:xfrm>
            <a:off x="8393145" y="48906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30D1D59-471F-4E79-A09B-AA371826C293}"/>
              </a:ext>
            </a:extLst>
          </p:cNvPr>
          <p:cNvSpPr txBox="1"/>
          <p:nvPr/>
        </p:nvSpPr>
        <p:spPr>
          <a:xfrm>
            <a:off x="9062116" y="26782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09403F1-0E5F-4280-B357-F290A704FFD4}"/>
              </a:ext>
            </a:extLst>
          </p:cNvPr>
          <p:cNvSpPr txBox="1"/>
          <p:nvPr/>
        </p:nvSpPr>
        <p:spPr>
          <a:xfrm>
            <a:off x="9203553" y="3288282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B41C7E3-D045-4B72-8BD8-CD604A13A397}"/>
              </a:ext>
            </a:extLst>
          </p:cNvPr>
          <p:cNvSpPr txBox="1"/>
          <p:nvPr/>
        </p:nvSpPr>
        <p:spPr>
          <a:xfrm>
            <a:off x="9479944" y="404329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1989A41-9219-40A3-8330-F761AE0DE8A5}"/>
              </a:ext>
            </a:extLst>
          </p:cNvPr>
          <p:cNvSpPr txBox="1"/>
          <p:nvPr/>
        </p:nvSpPr>
        <p:spPr>
          <a:xfrm>
            <a:off x="9676949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306523" y="5718072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Fish will move to the patch with the highest foraging quality and gain energy = foraging quality 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129E048-1567-49BD-ACE0-2AAAC078BA08}"/>
              </a:ext>
            </a:extLst>
          </p:cNvPr>
          <p:cNvSpPr txBox="1"/>
          <p:nvPr/>
        </p:nvSpPr>
        <p:spPr>
          <a:xfrm>
            <a:off x="2134347" y="4022108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974823B-4ADA-42E6-BF4D-58899B5CE3D8}"/>
              </a:ext>
            </a:extLst>
          </p:cNvPr>
          <p:cNvSpPr txBox="1"/>
          <p:nvPr/>
        </p:nvSpPr>
        <p:spPr>
          <a:xfrm>
            <a:off x="2393847" y="328111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5FE6D17-75DB-44EA-9ACA-1060DE62658E}"/>
              </a:ext>
            </a:extLst>
          </p:cNvPr>
          <p:cNvGrpSpPr/>
          <p:nvPr/>
        </p:nvGrpSpPr>
        <p:grpSpPr>
          <a:xfrm>
            <a:off x="9363454" y="189073"/>
            <a:ext cx="3396953" cy="2103452"/>
            <a:chOff x="9486977" y="861094"/>
            <a:chExt cx="3396953" cy="2103452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EDFE4E65-E31A-46B6-B80F-1DCBFCCFB56C}"/>
                </a:ext>
              </a:extLst>
            </p:cNvPr>
            <p:cNvGrpSpPr/>
            <p:nvPr/>
          </p:nvGrpSpPr>
          <p:grpSpPr>
            <a:xfrm>
              <a:off x="9486977" y="861094"/>
              <a:ext cx="3396953" cy="2103452"/>
              <a:chOff x="9267697" y="5389514"/>
              <a:chExt cx="3396953" cy="2103452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ACE758A5-5C83-48A3-98BB-FC1CDBCE7313}"/>
                  </a:ext>
                </a:extLst>
              </p:cNvPr>
              <p:cNvSpPr/>
              <p:nvPr/>
            </p:nvSpPr>
            <p:spPr>
              <a:xfrm>
                <a:off x="9267697" y="5787731"/>
                <a:ext cx="2497656" cy="170523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8C1F4471-1D11-4FF1-81D4-00981F97DED0}"/>
                  </a:ext>
                </a:extLst>
              </p:cNvPr>
              <p:cNvSpPr/>
              <p:nvPr/>
            </p:nvSpPr>
            <p:spPr>
              <a:xfrm>
                <a:off x="9395253" y="5958699"/>
                <a:ext cx="365760" cy="23342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E3616B5B-141C-4419-809F-DE9CAA918066}"/>
                  </a:ext>
                </a:extLst>
              </p:cNvPr>
              <p:cNvSpPr/>
              <p:nvPr/>
            </p:nvSpPr>
            <p:spPr>
              <a:xfrm>
                <a:off x="9414592" y="6703367"/>
                <a:ext cx="365760" cy="23342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E59005B-333B-4D70-B945-C5B3A252F4B5}"/>
                  </a:ext>
                </a:extLst>
              </p:cNvPr>
              <p:cNvSpPr txBox="1"/>
              <p:nvPr/>
            </p:nvSpPr>
            <p:spPr>
              <a:xfrm>
                <a:off x="9743225" y="5891916"/>
                <a:ext cx="22031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Salinity (</a:t>
                </a:r>
                <a:r>
                  <a:rPr lang="en-US" b="1" i="1" dirty="0" err="1"/>
                  <a:t>psu</a:t>
                </a:r>
                <a:r>
                  <a:rPr lang="en-US" dirty="0"/>
                  <a:t>) 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7CF2A430-65F3-4D81-A76E-7D0E8757CDA1}"/>
                      </a:ext>
                    </a:extLst>
                  </p:cNvPr>
                  <p:cNvSpPr txBox="1"/>
                  <p:nvPr/>
                </p:nvSpPr>
                <p:spPr>
                  <a:xfrm>
                    <a:off x="9770694" y="6624633"/>
                    <a:ext cx="289395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Current Velocity (</a:t>
                    </a:r>
                    <a14:m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oMath>
                    </a14:m>
                    <a:r>
                      <a:rPr lang="en-US" dirty="0"/>
                      <a:t>) </a:t>
                    </a:r>
                  </a:p>
                </p:txBody>
              </p:sp>
            </mc:Choice>
            <mc:Fallback xmlns="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7CF2A430-65F3-4D81-A76E-7D0E8757CD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70694" y="6624633"/>
                    <a:ext cx="2893956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895" t="-1000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29C8B95-12C8-4562-A7CA-5DD9E13F4EAE}"/>
                  </a:ext>
                </a:extLst>
              </p:cNvPr>
              <p:cNvSpPr txBox="1"/>
              <p:nvPr/>
            </p:nvSpPr>
            <p:spPr>
              <a:xfrm>
                <a:off x="9726219" y="5389514"/>
                <a:ext cx="1687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Legend</a:t>
                </a:r>
              </a:p>
            </p:txBody>
          </p:sp>
        </p:grp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D05BD26-1DB7-47F2-B94F-B676E34E3399}"/>
                </a:ext>
              </a:extLst>
            </p:cNvPr>
            <p:cNvSpPr/>
            <p:nvPr/>
          </p:nvSpPr>
          <p:spPr>
            <a:xfrm>
              <a:off x="9622721" y="1802884"/>
              <a:ext cx="365760" cy="233429"/>
            </a:xfrm>
            <a:prstGeom prst="rect">
              <a:avLst/>
            </a:prstGeom>
            <a:solidFill>
              <a:srgbClr val="C0161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799940DA-EA48-40A1-A471-24013DD62DBC}"/>
                    </a:ext>
                  </a:extLst>
                </p:cNvPr>
                <p:cNvSpPr txBox="1"/>
                <p:nvPr/>
              </p:nvSpPr>
              <p:spPr>
                <a:xfrm>
                  <a:off x="9978823" y="1724150"/>
                  <a:ext cx="289395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Temperature (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a14:m>
                  <a:r>
                    <a:rPr lang="en-US" dirty="0"/>
                    <a:t>) </a:t>
                  </a: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799940DA-EA48-40A1-A471-24013DD62D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8823" y="1724150"/>
                  <a:ext cx="2893956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1899"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6" name="Rectangle 95">
            <a:extLst>
              <a:ext uri="{FF2B5EF4-FFF2-40B4-BE49-F238E27FC236}">
                <a16:creationId xmlns:a16="http://schemas.microsoft.com/office/drawing/2014/main" id="{A7E69A02-6C94-4036-A728-0A62224DEF2B}"/>
              </a:ext>
            </a:extLst>
          </p:cNvPr>
          <p:cNvSpPr/>
          <p:nvPr/>
        </p:nvSpPr>
        <p:spPr>
          <a:xfrm>
            <a:off x="9520007" y="1890990"/>
            <a:ext cx="365760" cy="233429"/>
          </a:xfrm>
          <a:prstGeom prst="rect">
            <a:avLst/>
          </a:prstGeom>
          <a:solidFill>
            <a:srgbClr val="6C3C3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42EC7B2-DA6E-4EF6-8F09-8BAF68F463EE}"/>
              </a:ext>
            </a:extLst>
          </p:cNvPr>
          <p:cNvSpPr txBox="1"/>
          <p:nvPr/>
        </p:nvSpPr>
        <p:spPr>
          <a:xfrm>
            <a:off x="9876109" y="1812256"/>
            <a:ext cx="2893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SPM (</a:t>
            </a:r>
            <a:r>
              <a:rPr lang="en-US" b="1" i="1" dirty="0"/>
              <a:t>g/L</a:t>
            </a:r>
            <a:r>
              <a:rPr lang="en-US" dirty="0"/>
              <a:t>) </a:t>
            </a: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4606E9D0-CCFF-48C0-B67C-7BB807B7EF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667" r="57122" b="74836"/>
          <a:stretch/>
        </p:blipFill>
        <p:spPr>
          <a:xfrm flipH="1">
            <a:off x="6548321" y="3081079"/>
            <a:ext cx="1048225" cy="1013201"/>
          </a:xfrm>
          <a:prstGeom prst="rect">
            <a:avLst/>
          </a:prstGeom>
          <a:ln w="57150">
            <a:solidFill>
              <a:srgbClr val="FFC000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2E7635E-2A71-4DE4-AC6F-D03B398BA01A}"/>
              </a:ext>
            </a:extLst>
          </p:cNvPr>
          <p:cNvGrpSpPr/>
          <p:nvPr/>
        </p:nvGrpSpPr>
        <p:grpSpPr>
          <a:xfrm>
            <a:off x="6390987" y="1396841"/>
            <a:ext cx="1438648" cy="1081927"/>
            <a:chOff x="1880406" y="1328694"/>
            <a:chExt cx="1438648" cy="108192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94CD7E2-905A-405C-9594-ACACE159E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3C9ADDD-6F2E-43C5-8890-9D49AEA5ABCB}"/>
                </a:ext>
              </a:extLst>
            </p:cNvPr>
            <p:cNvSpPr txBox="1"/>
            <p:nvPr/>
          </p:nvSpPr>
          <p:spPr>
            <a:xfrm>
              <a:off x="2157251" y="1328694"/>
              <a:ext cx="905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Forager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9BB8486-F331-4118-8833-76692BEDBF1D}"/>
              </a:ext>
            </a:extLst>
          </p:cNvPr>
          <p:cNvSpPr txBox="1"/>
          <p:nvPr/>
        </p:nvSpPr>
        <p:spPr>
          <a:xfrm>
            <a:off x="4447402" y="2718186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0.3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48E4B34-2036-497C-AFF4-72603B4144DF}"/>
              </a:ext>
            </a:extLst>
          </p:cNvPr>
          <p:cNvSpPr txBox="1"/>
          <p:nvPr/>
        </p:nvSpPr>
        <p:spPr>
          <a:xfrm>
            <a:off x="5482796" y="3970606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A3D3625-8117-45B7-BED0-946B293217A7}"/>
              </a:ext>
            </a:extLst>
          </p:cNvPr>
          <p:cNvSpPr txBox="1"/>
          <p:nvPr/>
        </p:nvSpPr>
        <p:spPr>
          <a:xfrm>
            <a:off x="6593740" y="2696090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0.2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5D5E15A-F550-4443-808B-5C54C6B4006E}"/>
              </a:ext>
            </a:extLst>
          </p:cNvPr>
          <p:cNvSpPr txBox="1"/>
          <p:nvPr/>
        </p:nvSpPr>
        <p:spPr>
          <a:xfrm>
            <a:off x="6699811" y="3964165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0.7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B39B999-DB81-44E8-921B-4E583A62A561}"/>
              </a:ext>
            </a:extLst>
          </p:cNvPr>
          <p:cNvSpPr txBox="1"/>
          <p:nvPr/>
        </p:nvSpPr>
        <p:spPr>
          <a:xfrm>
            <a:off x="4446792" y="3324430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0.8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424BD8E-CE93-4F04-8463-9CBAD0F0404E}"/>
              </a:ext>
            </a:extLst>
          </p:cNvPr>
          <p:cNvSpPr txBox="1"/>
          <p:nvPr/>
        </p:nvSpPr>
        <p:spPr>
          <a:xfrm>
            <a:off x="4408255" y="3978564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0.6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12C8E18-9AE8-44EB-8145-52584FF336AC}"/>
              </a:ext>
            </a:extLst>
          </p:cNvPr>
          <p:cNvSpPr txBox="1"/>
          <p:nvPr/>
        </p:nvSpPr>
        <p:spPr>
          <a:xfrm>
            <a:off x="5527042" y="2703507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0.3</a:t>
            </a:r>
          </a:p>
        </p:txBody>
      </p:sp>
      <p:sp>
        <p:nvSpPr>
          <p:cNvPr id="82" name="Arrow: Up-Down 81">
            <a:extLst>
              <a:ext uri="{FF2B5EF4-FFF2-40B4-BE49-F238E27FC236}">
                <a16:creationId xmlns:a16="http://schemas.microsoft.com/office/drawing/2014/main" id="{84270C7A-CC37-4BF3-8772-A8A0C6C58035}"/>
              </a:ext>
            </a:extLst>
          </p:cNvPr>
          <p:cNvSpPr/>
          <p:nvPr/>
        </p:nvSpPr>
        <p:spPr>
          <a:xfrm>
            <a:off x="6998419" y="2326034"/>
            <a:ext cx="208670" cy="109728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A8D60C-BAA6-4015-AE45-7A907DE10AAF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7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20886" y="1397134"/>
            <a:ext cx="1542422" cy="233497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B409AB5-032D-4E57-BABC-128750B729EA}"/>
              </a:ext>
            </a:extLst>
          </p:cNvPr>
          <p:cNvCxnSpPr/>
          <p:nvPr/>
        </p:nvCxnSpPr>
        <p:spPr>
          <a:xfrm>
            <a:off x="6228281" y="2326034"/>
            <a:ext cx="64008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BC8501F8-D603-4F8E-B741-CE0871595EE1}"/>
              </a:ext>
            </a:extLst>
          </p:cNvPr>
          <p:cNvSpPr txBox="1"/>
          <p:nvPr/>
        </p:nvSpPr>
        <p:spPr>
          <a:xfrm>
            <a:off x="-773002" y="169002"/>
            <a:ext cx="5181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No Competition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56C6620-765D-46CA-AF9E-73A2B0DFA123}"/>
              </a:ext>
            </a:extLst>
          </p:cNvPr>
          <p:cNvGrpSpPr/>
          <p:nvPr/>
        </p:nvGrpSpPr>
        <p:grpSpPr>
          <a:xfrm>
            <a:off x="6087067" y="144285"/>
            <a:ext cx="1972474" cy="1233901"/>
            <a:chOff x="6302756" y="-21785"/>
            <a:chExt cx="1972474" cy="1233901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772B1A24-B441-4945-AA5E-FDEF334F8B2D}"/>
                </a:ext>
              </a:extLst>
            </p:cNvPr>
            <p:cNvSpPr/>
            <p:nvPr/>
          </p:nvSpPr>
          <p:spPr>
            <a:xfrm>
              <a:off x="6367489" y="82429"/>
              <a:ext cx="1791306" cy="11296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F9BC1BE8-B5E3-47BE-90E6-1A98CCDBDC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36883" t="9252" r="55401" b="73628"/>
            <a:stretch/>
          </p:blipFill>
          <p:spPr>
            <a:xfrm>
              <a:off x="6474266" y="108143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10DFA3B-5D8C-44E9-B958-B2DFAED6C868}"/>
                </a:ext>
              </a:extLst>
            </p:cNvPr>
            <p:cNvSpPr/>
            <p:nvPr/>
          </p:nvSpPr>
          <p:spPr>
            <a:xfrm>
              <a:off x="6656505" y="791835"/>
              <a:ext cx="254405" cy="3657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E46C0EC-EDDE-42DB-A785-3620D6C39C33}"/>
                </a:ext>
              </a:extLst>
            </p:cNvPr>
            <p:cNvSpPr txBox="1"/>
            <p:nvPr/>
          </p:nvSpPr>
          <p:spPr>
            <a:xfrm>
              <a:off x="6302756" y="873562"/>
              <a:ext cx="10066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Energy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1587A8F-8B08-4903-B566-ED9DC8FCE395}"/>
                </a:ext>
              </a:extLst>
            </p:cNvPr>
            <p:cNvSpPr txBox="1"/>
            <p:nvPr/>
          </p:nvSpPr>
          <p:spPr>
            <a:xfrm>
              <a:off x="7268603" y="862193"/>
              <a:ext cx="10066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Energy</a:t>
              </a:r>
            </a:p>
          </p:txBody>
        </p:sp>
        <p:sp>
          <p:nvSpPr>
            <p:cNvPr id="80" name="Arrow: Right 79">
              <a:extLst>
                <a:ext uri="{FF2B5EF4-FFF2-40B4-BE49-F238E27FC236}">
                  <a16:creationId xmlns:a16="http://schemas.microsoft.com/office/drawing/2014/main" id="{6041B55F-3988-4B60-924C-FCE72955D507}"/>
                </a:ext>
              </a:extLst>
            </p:cNvPr>
            <p:cNvSpPr/>
            <p:nvPr/>
          </p:nvSpPr>
          <p:spPr>
            <a:xfrm>
              <a:off x="7085723" y="498503"/>
              <a:ext cx="365760" cy="18288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03EC071B-C62F-4608-8E67-788092B6E3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17196" t="6647" r="73027" b="74624"/>
            <a:stretch/>
          </p:blipFill>
          <p:spPr>
            <a:xfrm>
              <a:off x="7420063" y="-21785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9978A67-3790-4224-B970-E6134D60A546}"/>
                </a:ext>
              </a:extLst>
            </p:cNvPr>
            <p:cNvSpPr/>
            <p:nvPr/>
          </p:nvSpPr>
          <p:spPr>
            <a:xfrm>
              <a:off x="7601295" y="482799"/>
              <a:ext cx="243672" cy="334983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9E8DBAB6-CAF3-4888-B519-3F6D614999FF}"/>
              </a:ext>
            </a:extLst>
          </p:cNvPr>
          <p:cNvSpPr/>
          <p:nvPr/>
        </p:nvSpPr>
        <p:spPr>
          <a:xfrm>
            <a:off x="6536406" y="3496147"/>
            <a:ext cx="1048098" cy="21296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Forager: 1 </a:t>
            </a:r>
          </a:p>
        </p:txBody>
      </p:sp>
    </p:spTree>
    <p:extLst>
      <p:ext uri="{BB962C8B-B14F-4D97-AF65-F5344CB8AC3E}">
        <p14:creationId xmlns:p14="http://schemas.microsoft.com/office/powerpoint/2010/main" val="803402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1776145" y="1701206"/>
            <a:ext cx="8298388" cy="4529601"/>
          </a:xfrm>
          <a:prstGeom prst="rect">
            <a:avLst/>
          </a:prstGeom>
          <a:gradFill flip="none" rotWithShape="1">
            <a:gsLst>
              <a:gs pos="59173">
                <a:srgbClr val="6C3C3C"/>
              </a:gs>
              <a:gs pos="42900">
                <a:srgbClr val="6C3C3C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014" y="1699365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E6F67821-0371-4DFE-A091-17B83DA69D25}"/>
              </a:ext>
            </a:extLst>
          </p:cNvPr>
          <p:cNvGrpSpPr/>
          <p:nvPr/>
        </p:nvGrpSpPr>
        <p:grpSpPr>
          <a:xfrm>
            <a:off x="1585303" y="3012122"/>
            <a:ext cx="8658299" cy="2225347"/>
            <a:chOff x="1891845" y="3231495"/>
            <a:chExt cx="8658299" cy="222534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76A888-2ECE-4AB8-B3F1-7FAA0C246190}"/>
                </a:ext>
              </a:extLst>
            </p:cNvPr>
            <p:cNvGrpSpPr/>
            <p:nvPr/>
          </p:nvGrpSpPr>
          <p:grpSpPr>
            <a:xfrm>
              <a:off x="6134512" y="3260052"/>
              <a:ext cx="4415632" cy="2196790"/>
              <a:chOff x="6134512" y="3260052"/>
              <a:chExt cx="4415632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1AA6A18C-73F4-401D-82EE-666BB3B07B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01E9D3B5-52CB-4EF8-90FC-755ABBC515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188FB62C-34AF-4D50-A582-835C2B68A3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72C09B0-38AE-4298-87F2-CEBDE777AC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A86F7CDD-CE4B-4F06-B4D3-ED79669E61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42A4542D-33A8-48CB-96B9-A3CB23BA9B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F55B17BF-6755-4D69-B4A3-66188C6913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4EF482C0-DD48-49B4-B9AC-0DF016227C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FB921A53-B0CB-45B0-8E81-8C3204D12F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D2362C5E-F9F0-4F7E-B59D-F1674DE0A2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4512" y="5417361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A28C2BD-3438-4DD0-9510-71B97A3AA584}"/>
                </a:ext>
              </a:extLst>
            </p:cNvPr>
            <p:cNvGrpSpPr/>
            <p:nvPr/>
          </p:nvGrpSpPr>
          <p:grpSpPr>
            <a:xfrm flipH="1">
              <a:off x="1891845" y="3231495"/>
              <a:ext cx="3207515" cy="2196790"/>
              <a:chOff x="7342629" y="3260052"/>
              <a:chExt cx="3207515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6A4429FD-2F8B-4756-BC73-88AC77BB5A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84612499-76E3-4012-B764-2EABB64907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563BBC51-E788-421A-9D78-C0AF97458B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1C8B67D9-5F75-4548-AF92-72DA0E5D9C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6FBFC15B-92B7-4397-AC9C-D5A1E4A59F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8C2C415F-32F1-4E09-A2F8-D62A5EC584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C9D4B07B-BE0D-4D53-8815-B8A7F05FD4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31FF8A1B-4116-45F8-8D80-0626EE9CD0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8CDCDBFF-DDED-4721-8523-4FFB745BAF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957341" y="56282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7A98A89-D7B7-4239-BDD4-466CE19FB404}"/>
              </a:ext>
            </a:extLst>
          </p:cNvPr>
          <p:cNvSpPr txBox="1"/>
          <p:nvPr/>
        </p:nvSpPr>
        <p:spPr>
          <a:xfrm>
            <a:off x="4532095" y="4794759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05943CF-7D2D-449E-A836-6D1B13CF1339}"/>
              </a:ext>
            </a:extLst>
          </p:cNvPr>
          <p:cNvSpPr txBox="1"/>
          <p:nvPr/>
        </p:nvSpPr>
        <p:spPr>
          <a:xfrm>
            <a:off x="2633267" y="266177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7995D19-5C76-48E3-88EF-BEDB705B7642}"/>
              </a:ext>
            </a:extLst>
          </p:cNvPr>
          <p:cNvSpPr txBox="1"/>
          <p:nvPr/>
        </p:nvSpPr>
        <p:spPr>
          <a:xfrm>
            <a:off x="1982927" y="4825562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7DA028B-90B7-4E43-B91A-D6F20C5CA9BD}"/>
              </a:ext>
            </a:extLst>
          </p:cNvPr>
          <p:cNvSpPr txBox="1"/>
          <p:nvPr/>
        </p:nvSpPr>
        <p:spPr>
          <a:xfrm>
            <a:off x="3645640" y="2664983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BB45CFA-21D2-4863-A70F-5CF1B83C7394}"/>
              </a:ext>
            </a:extLst>
          </p:cNvPr>
          <p:cNvSpPr txBox="1"/>
          <p:nvPr/>
        </p:nvSpPr>
        <p:spPr>
          <a:xfrm>
            <a:off x="3542237" y="3273576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0900940-F8EC-4A9B-AD4A-8CFE503F3A6E}"/>
              </a:ext>
            </a:extLst>
          </p:cNvPr>
          <p:cNvSpPr txBox="1"/>
          <p:nvPr/>
        </p:nvSpPr>
        <p:spPr>
          <a:xfrm>
            <a:off x="3416884" y="401095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D02A333-1E99-41B8-BE58-5ECCDC7BD555}"/>
              </a:ext>
            </a:extLst>
          </p:cNvPr>
          <p:cNvSpPr txBox="1"/>
          <p:nvPr/>
        </p:nvSpPr>
        <p:spPr>
          <a:xfrm>
            <a:off x="3268441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125BC97-BA80-45C4-A828-95A96668CCE6}"/>
              </a:ext>
            </a:extLst>
          </p:cNvPr>
          <p:cNvSpPr txBox="1"/>
          <p:nvPr/>
        </p:nvSpPr>
        <p:spPr>
          <a:xfrm>
            <a:off x="5834087" y="4824239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9AA271A-8298-4EBE-B2FE-A5284285502F}"/>
              </a:ext>
            </a:extLst>
          </p:cNvPr>
          <p:cNvSpPr txBox="1"/>
          <p:nvPr/>
        </p:nvSpPr>
        <p:spPr>
          <a:xfrm>
            <a:off x="7100261" y="48557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FADD980-3F05-4877-9F07-6D2908783F97}"/>
              </a:ext>
            </a:extLst>
          </p:cNvPr>
          <p:cNvSpPr txBox="1"/>
          <p:nvPr/>
        </p:nvSpPr>
        <p:spPr>
          <a:xfrm>
            <a:off x="7986957" y="2696090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B523829-5F1B-467B-86F7-F823E43A485F}"/>
              </a:ext>
            </a:extLst>
          </p:cNvPr>
          <p:cNvSpPr txBox="1"/>
          <p:nvPr/>
        </p:nvSpPr>
        <p:spPr>
          <a:xfrm>
            <a:off x="8103883" y="3294523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26DA491-E4BB-4DA9-81D4-FAA03DA95165}"/>
              </a:ext>
            </a:extLst>
          </p:cNvPr>
          <p:cNvSpPr txBox="1"/>
          <p:nvPr/>
        </p:nvSpPr>
        <p:spPr>
          <a:xfrm>
            <a:off x="8228143" y="40221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989ADC-976E-4925-81C5-56BA77C6B425}"/>
              </a:ext>
            </a:extLst>
          </p:cNvPr>
          <p:cNvSpPr txBox="1"/>
          <p:nvPr/>
        </p:nvSpPr>
        <p:spPr>
          <a:xfrm>
            <a:off x="8393145" y="48906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30D1D59-471F-4E79-A09B-AA371826C293}"/>
              </a:ext>
            </a:extLst>
          </p:cNvPr>
          <p:cNvSpPr txBox="1"/>
          <p:nvPr/>
        </p:nvSpPr>
        <p:spPr>
          <a:xfrm>
            <a:off x="9062116" y="26782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09403F1-0E5F-4280-B357-F290A704FFD4}"/>
              </a:ext>
            </a:extLst>
          </p:cNvPr>
          <p:cNvSpPr txBox="1"/>
          <p:nvPr/>
        </p:nvSpPr>
        <p:spPr>
          <a:xfrm>
            <a:off x="9203553" y="3288282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B41C7E3-D045-4B72-8BD8-CD604A13A397}"/>
              </a:ext>
            </a:extLst>
          </p:cNvPr>
          <p:cNvSpPr txBox="1"/>
          <p:nvPr/>
        </p:nvSpPr>
        <p:spPr>
          <a:xfrm>
            <a:off x="9479944" y="404329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1989A41-9219-40A3-8330-F761AE0DE8A5}"/>
              </a:ext>
            </a:extLst>
          </p:cNvPr>
          <p:cNvSpPr txBox="1"/>
          <p:nvPr/>
        </p:nvSpPr>
        <p:spPr>
          <a:xfrm>
            <a:off x="9676949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306523" y="5718072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If the selected patch is occupied by a fish of the same species, the fish can share resources, but the larger fish may consume more resource from the patch.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129E048-1567-49BD-ACE0-2AAAC078BA08}"/>
              </a:ext>
            </a:extLst>
          </p:cNvPr>
          <p:cNvSpPr txBox="1"/>
          <p:nvPr/>
        </p:nvSpPr>
        <p:spPr>
          <a:xfrm>
            <a:off x="2134347" y="4022108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974823B-4ADA-42E6-BF4D-58899B5CE3D8}"/>
              </a:ext>
            </a:extLst>
          </p:cNvPr>
          <p:cNvSpPr txBox="1"/>
          <p:nvPr/>
        </p:nvSpPr>
        <p:spPr>
          <a:xfrm>
            <a:off x="2393847" y="328111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5FE6D17-75DB-44EA-9ACA-1060DE62658E}"/>
              </a:ext>
            </a:extLst>
          </p:cNvPr>
          <p:cNvGrpSpPr/>
          <p:nvPr/>
        </p:nvGrpSpPr>
        <p:grpSpPr>
          <a:xfrm>
            <a:off x="9363454" y="189073"/>
            <a:ext cx="3396953" cy="2103452"/>
            <a:chOff x="9486977" y="861094"/>
            <a:chExt cx="3396953" cy="2103452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EDFE4E65-E31A-46B6-B80F-1DCBFCCFB56C}"/>
                </a:ext>
              </a:extLst>
            </p:cNvPr>
            <p:cNvGrpSpPr/>
            <p:nvPr/>
          </p:nvGrpSpPr>
          <p:grpSpPr>
            <a:xfrm>
              <a:off x="9486977" y="861094"/>
              <a:ext cx="3396953" cy="2103452"/>
              <a:chOff x="9267697" y="5389514"/>
              <a:chExt cx="3396953" cy="2103452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ACE758A5-5C83-48A3-98BB-FC1CDBCE7313}"/>
                  </a:ext>
                </a:extLst>
              </p:cNvPr>
              <p:cNvSpPr/>
              <p:nvPr/>
            </p:nvSpPr>
            <p:spPr>
              <a:xfrm>
                <a:off x="9267697" y="5787731"/>
                <a:ext cx="2497656" cy="170523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8C1F4471-1D11-4FF1-81D4-00981F97DED0}"/>
                  </a:ext>
                </a:extLst>
              </p:cNvPr>
              <p:cNvSpPr/>
              <p:nvPr/>
            </p:nvSpPr>
            <p:spPr>
              <a:xfrm>
                <a:off x="9395253" y="5958699"/>
                <a:ext cx="365760" cy="23342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E3616B5B-141C-4419-809F-DE9CAA918066}"/>
                  </a:ext>
                </a:extLst>
              </p:cNvPr>
              <p:cNvSpPr/>
              <p:nvPr/>
            </p:nvSpPr>
            <p:spPr>
              <a:xfrm>
                <a:off x="9414592" y="6703367"/>
                <a:ext cx="365760" cy="23342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E59005B-333B-4D70-B945-C5B3A252F4B5}"/>
                  </a:ext>
                </a:extLst>
              </p:cNvPr>
              <p:cNvSpPr txBox="1"/>
              <p:nvPr/>
            </p:nvSpPr>
            <p:spPr>
              <a:xfrm>
                <a:off x="9743225" y="5891916"/>
                <a:ext cx="22031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Salinity (</a:t>
                </a:r>
                <a:r>
                  <a:rPr lang="en-US" b="1" i="1" dirty="0" err="1"/>
                  <a:t>psu</a:t>
                </a:r>
                <a:r>
                  <a:rPr lang="en-US" dirty="0"/>
                  <a:t>) 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7CF2A430-65F3-4D81-A76E-7D0E8757CDA1}"/>
                      </a:ext>
                    </a:extLst>
                  </p:cNvPr>
                  <p:cNvSpPr txBox="1"/>
                  <p:nvPr/>
                </p:nvSpPr>
                <p:spPr>
                  <a:xfrm>
                    <a:off x="9770694" y="6624633"/>
                    <a:ext cx="289395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Current Velocity (</a:t>
                    </a:r>
                    <a14:m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oMath>
                    </a14:m>
                    <a:r>
                      <a:rPr lang="en-US" dirty="0"/>
                      <a:t>) </a:t>
                    </a:r>
                  </a:p>
                </p:txBody>
              </p:sp>
            </mc:Choice>
            <mc:Fallback xmlns="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7CF2A430-65F3-4D81-A76E-7D0E8757CD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70694" y="6624633"/>
                    <a:ext cx="2893956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895" t="-1000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29C8B95-12C8-4562-A7CA-5DD9E13F4EAE}"/>
                  </a:ext>
                </a:extLst>
              </p:cNvPr>
              <p:cNvSpPr txBox="1"/>
              <p:nvPr/>
            </p:nvSpPr>
            <p:spPr>
              <a:xfrm>
                <a:off x="9726219" y="5389514"/>
                <a:ext cx="1687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Legend</a:t>
                </a:r>
              </a:p>
            </p:txBody>
          </p:sp>
        </p:grp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D05BD26-1DB7-47F2-B94F-B676E34E3399}"/>
                </a:ext>
              </a:extLst>
            </p:cNvPr>
            <p:cNvSpPr/>
            <p:nvPr/>
          </p:nvSpPr>
          <p:spPr>
            <a:xfrm>
              <a:off x="9622721" y="1802884"/>
              <a:ext cx="365760" cy="233429"/>
            </a:xfrm>
            <a:prstGeom prst="rect">
              <a:avLst/>
            </a:prstGeom>
            <a:solidFill>
              <a:srgbClr val="C0161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799940DA-EA48-40A1-A471-24013DD62DBC}"/>
                    </a:ext>
                  </a:extLst>
                </p:cNvPr>
                <p:cNvSpPr txBox="1"/>
                <p:nvPr/>
              </p:nvSpPr>
              <p:spPr>
                <a:xfrm>
                  <a:off x="9978823" y="1724150"/>
                  <a:ext cx="289395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Temperature (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a14:m>
                  <a:r>
                    <a:rPr lang="en-US" dirty="0"/>
                    <a:t>) </a:t>
                  </a: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799940DA-EA48-40A1-A471-24013DD62D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8823" y="1724150"/>
                  <a:ext cx="2893956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1899"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6" name="Rectangle 95">
            <a:extLst>
              <a:ext uri="{FF2B5EF4-FFF2-40B4-BE49-F238E27FC236}">
                <a16:creationId xmlns:a16="http://schemas.microsoft.com/office/drawing/2014/main" id="{A7E69A02-6C94-4036-A728-0A62224DEF2B}"/>
              </a:ext>
            </a:extLst>
          </p:cNvPr>
          <p:cNvSpPr/>
          <p:nvPr/>
        </p:nvSpPr>
        <p:spPr>
          <a:xfrm>
            <a:off x="9520007" y="1890990"/>
            <a:ext cx="365760" cy="233429"/>
          </a:xfrm>
          <a:prstGeom prst="rect">
            <a:avLst/>
          </a:prstGeom>
          <a:solidFill>
            <a:srgbClr val="6C3C3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42EC7B2-DA6E-4EF6-8F09-8BAF68F463EE}"/>
              </a:ext>
            </a:extLst>
          </p:cNvPr>
          <p:cNvSpPr txBox="1"/>
          <p:nvPr/>
        </p:nvSpPr>
        <p:spPr>
          <a:xfrm>
            <a:off x="9876109" y="1812256"/>
            <a:ext cx="2893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SPM (</a:t>
            </a:r>
            <a:r>
              <a:rPr lang="en-US" b="1" i="1" dirty="0"/>
              <a:t>g/L</a:t>
            </a:r>
            <a:r>
              <a:rPr lang="en-US" dirty="0"/>
              <a:t>) </a:t>
            </a: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4606E9D0-CCFF-48C0-B67C-7BB807B7EF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667" r="57122" b="74836"/>
          <a:stretch/>
        </p:blipFill>
        <p:spPr>
          <a:xfrm flipH="1">
            <a:off x="6548321" y="3081079"/>
            <a:ext cx="1048225" cy="1013201"/>
          </a:xfrm>
          <a:prstGeom prst="rect">
            <a:avLst/>
          </a:prstGeom>
          <a:ln w="57150">
            <a:solidFill>
              <a:srgbClr val="FFC000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2E7635E-2A71-4DE4-AC6F-D03B398BA01A}"/>
              </a:ext>
            </a:extLst>
          </p:cNvPr>
          <p:cNvGrpSpPr/>
          <p:nvPr/>
        </p:nvGrpSpPr>
        <p:grpSpPr>
          <a:xfrm>
            <a:off x="5157074" y="1454680"/>
            <a:ext cx="1438648" cy="1081927"/>
            <a:chOff x="1880406" y="1328694"/>
            <a:chExt cx="1438648" cy="108192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94CD7E2-905A-405C-9594-ACACE159E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3C9ADDD-6F2E-43C5-8890-9D49AEA5ABCB}"/>
                </a:ext>
              </a:extLst>
            </p:cNvPr>
            <p:cNvSpPr txBox="1"/>
            <p:nvPr/>
          </p:nvSpPr>
          <p:spPr>
            <a:xfrm>
              <a:off x="2157251" y="1328694"/>
              <a:ext cx="905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Forager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9BB8486-F331-4118-8833-76692BEDBF1D}"/>
              </a:ext>
            </a:extLst>
          </p:cNvPr>
          <p:cNvSpPr txBox="1"/>
          <p:nvPr/>
        </p:nvSpPr>
        <p:spPr>
          <a:xfrm>
            <a:off x="4447402" y="2718186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0.3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48E4B34-2036-497C-AFF4-72603B4144DF}"/>
              </a:ext>
            </a:extLst>
          </p:cNvPr>
          <p:cNvSpPr txBox="1"/>
          <p:nvPr/>
        </p:nvSpPr>
        <p:spPr>
          <a:xfrm>
            <a:off x="5482796" y="3970606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A3D3625-8117-45B7-BED0-946B293217A7}"/>
              </a:ext>
            </a:extLst>
          </p:cNvPr>
          <p:cNvSpPr txBox="1"/>
          <p:nvPr/>
        </p:nvSpPr>
        <p:spPr>
          <a:xfrm>
            <a:off x="6593740" y="2696090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0.2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5D5E15A-F550-4443-808B-5C54C6B4006E}"/>
              </a:ext>
            </a:extLst>
          </p:cNvPr>
          <p:cNvSpPr txBox="1"/>
          <p:nvPr/>
        </p:nvSpPr>
        <p:spPr>
          <a:xfrm>
            <a:off x="6699811" y="3964165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0.7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B39B999-DB81-44E8-921B-4E583A62A561}"/>
              </a:ext>
            </a:extLst>
          </p:cNvPr>
          <p:cNvSpPr txBox="1"/>
          <p:nvPr/>
        </p:nvSpPr>
        <p:spPr>
          <a:xfrm>
            <a:off x="4446792" y="3324430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0.8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424BD8E-CE93-4F04-8463-9CBAD0F0404E}"/>
              </a:ext>
            </a:extLst>
          </p:cNvPr>
          <p:cNvSpPr txBox="1"/>
          <p:nvPr/>
        </p:nvSpPr>
        <p:spPr>
          <a:xfrm>
            <a:off x="4408255" y="3978564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0.6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12C8E18-9AE8-44EB-8145-52584FF336AC}"/>
              </a:ext>
            </a:extLst>
          </p:cNvPr>
          <p:cNvSpPr txBox="1"/>
          <p:nvPr/>
        </p:nvSpPr>
        <p:spPr>
          <a:xfrm>
            <a:off x="5527042" y="2703507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0.3</a:t>
            </a:r>
          </a:p>
        </p:txBody>
      </p:sp>
      <p:sp>
        <p:nvSpPr>
          <p:cNvPr id="82" name="Arrow: Up-Down 81">
            <a:extLst>
              <a:ext uri="{FF2B5EF4-FFF2-40B4-BE49-F238E27FC236}">
                <a16:creationId xmlns:a16="http://schemas.microsoft.com/office/drawing/2014/main" id="{84270C7A-CC37-4BF3-8772-A8A0C6C58035}"/>
              </a:ext>
            </a:extLst>
          </p:cNvPr>
          <p:cNvSpPr/>
          <p:nvPr/>
        </p:nvSpPr>
        <p:spPr>
          <a:xfrm>
            <a:off x="5764506" y="2383873"/>
            <a:ext cx="208670" cy="128016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0D8DD54-E712-40FD-9C59-5925AA3B9508}"/>
              </a:ext>
            </a:extLst>
          </p:cNvPr>
          <p:cNvSpPr txBox="1"/>
          <p:nvPr/>
        </p:nvSpPr>
        <p:spPr>
          <a:xfrm>
            <a:off x="-29926" y="37106"/>
            <a:ext cx="300325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Intraspecific Competition </a:t>
            </a:r>
            <a:r>
              <a:rPr lang="en-US" sz="2000" dirty="0"/>
              <a:t>(same species)</a:t>
            </a:r>
            <a:endParaRPr lang="en-US" sz="3600" dirty="0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C1311186-8104-4954-831D-65F1195D2A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6804418" y="3259724"/>
            <a:ext cx="864857" cy="49956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A2F25A69-3FFA-4526-8C2B-3C6CC34CA1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6488467" y="3530015"/>
            <a:ext cx="864857" cy="49956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076565-5452-43BC-9FF1-3FB78D97A2FA}"/>
              </a:ext>
            </a:extLst>
          </p:cNvPr>
          <p:cNvCxnSpPr>
            <a:cxnSpLocks/>
          </p:cNvCxnSpPr>
          <p:nvPr/>
        </p:nvCxnSpPr>
        <p:spPr>
          <a:xfrm flipV="1">
            <a:off x="7353324" y="2138925"/>
            <a:ext cx="398319" cy="12801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DEAC0928-FDC6-4DEE-BAE5-E16241EE7E6C}"/>
              </a:ext>
            </a:extLst>
          </p:cNvPr>
          <p:cNvSpPr txBox="1"/>
          <p:nvPr/>
        </p:nvSpPr>
        <p:spPr>
          <a:xfrm>
            <a:off x="6996478" y="1458214"/>
            <a:ext cx="1510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Foragers of Same Species</a:t>
            </a:r>
          </a:p>
        </p:txBody>
      </p:sp>
    </p:spTree>
    <p:extLst>
      <p:ext uri="{BB962C8B-B14F-4D97-AF65-F5344CB8AC3E}">
        <p14:creationId xmlns:p14="http://schemas.microsoft.com/office/powerpoint/2010/main" val="1583452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5D5288F-41C4-43B1-8D0A-F4D11CA86244}"/>
              </a:ext>
            </a:extLst>
          </p:cNvPr>
          <p:cNvCxnSpPr>
            <a:cxnSpLocks/>
          </p:cNvCxnSpPr>
          <p:nvPr/>
        </p:nvCxnSpPr>
        <p:spPr>
          <a:xfrm>
            <a:off x="786000" y="3958681"/>
            <a:ext cx="1048214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B96FB0B-B086-4E45-9B32-45E5B1CEA8C3}"/>
              </a:ext>
            </a:extLst>
          </p:cNvPr>
          <p:cNvSpPr txBox="1"/>
          <p:nvPr/>
        </p:nvSpPr>
        <p:spPr>
          <a:xfrm>
            <a:off x="4816039" y="5791013"/>
            <a:ext cx="2631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Species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F248A9-BC1A-4B44-86DD-7A6E4561FEFD}"/>
              </a:ext>
            </a:extLst>
          </p:cNvPr>
          <p:cNvSpPr txBox="1"/>
          <p:nvPr/>
        </p:nvSpPr>
        <p:spPr>
          <a:xfrm>
            <a:off x="1991775" y="1619625"/>
            <a:ext cx="2631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Size</a:t>
            </a:r>
            <a:endParaRPr lang="en-US" sz="36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9E9B60-77DE-49AE-9EF0-3E1F5C7A32B6}"/>
              </a:ext>
            </a:extLst>
          </p:cNvPr>
          <p:cNvCxnSpPr>
            <a:cxnSpLocks/>
          </p:cNvCxnSpPr>
          <p:nvPr/>
        </p:nvCxnSpPr>
        <p:spPr>
          <a:xfrm rot="16200000">
            <a:off x="-1514391" y="3958681"/>
            <a:ext cx="457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3244798-EFAC-4F5B-A0F1-9E44E477DCB7}"/>
              </a:ext>
            </a:extLst>
          </p:cNvPr>
          <p:cNvSpPr txBox="1"/>
          <p:nvPr/>
        </p:nvSpPr>
        <p:spPr>
          <a:xfrm>
            <a:off x="6798221" y="1555585"/>
            <a:ext cx="4275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Resource</a:t>
            </a:r>
            <a:r>
              <a:rPr lang="en-US" sz="3600" b="1" dirty="0"/>
              <a:t> </a:t>
            </a:r>
            <a:r>
              <a:rPr lang="en-US" sz="3200" b="1" dirty="0"/>
              <a:t>Allocation</a:t>
            </a:r>
            <a:endParaRPr lang="en-US" sz="3600" b="1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62620F-ADD3-4C31-A35F-38AE84BAC5EB}"/>
              </a:ext>
            </a:extLst>
          </p:cNvPr>
          <p:cNvGrpSpPr/>
          <p:nvPr/>
        </p:nvGrpSpPr>
        <p:grpSpPr>
          <a:xfrm>
            <a:off x="812972" y="2631686"/>
            <a:ext cx="10455175" cy="2962420"/>
            <a:chOff x="1274346" y="1817649"/>
            <a:chExt cx="10455175" cy="296242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ECE9775-FDB6-4FA5-9FC3-482E5CC62D80}"/>
                </a:ext>
              </a:extLst>
            </p:cNvPr>
            <p:cNvGrpSpPr/>
            <p:nvPr/>
          </p:nvGrpSpPr>
          <p:grpSpPr>
            <a:xfrm>
              <a:off x="1274346" y="3382833"/>
              <a:ext cx="1438648" cy="1027904"/>
              <a:chOff x="1880406" y="1698026"/>
              <a:chExt cx="1438648" cy="1027904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A89E94E6-484C-4366-AD98-3B6D65935E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1880406" y="1698026"/>
                <a:ext cx="1438648" cy="830997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69D32C-7395-4C45-A4E6-0FA6143DAA05}"/>
                  </a:ext>
                </a:extLst>
              </p:cNvPr>
              <p:cNvSpPr txBox="1"/>
              <p:nvPr/>
            </p:nvSpPr>
            <p:spPr>
              <a:xfrm>
                <a:off x="2052507" y="2264265"/>
                <a:ext cx="114864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Forager</a:t>
                </a: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8C3FF57-8973-4AD7-BC4D-B432FC848C58}"/>
                </a:ext>
              </a:extLst>
            </p:cNvPr>
            <p:cNvSpPr/>
            <p:nvPr/>
          </p:nvSpPr>
          <p:spPr>
            <a:xfrm>
              <a:off x="1446447" y="1817649"/>
              <a:ext cx="1148648" cy="107230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2C55EDD-89ED-45E4-898A-B3C48F5FCC2D}"/>
                </a:ext>
              </a:extLst>
            </p:cNvPr>
            <p:cNvGrpSpPr/>
            <p:nvPr/>
          </p:nvGrpSpPr>
          <p:grpSpPr>
            <a:xfrm>
              <a:off x="3213127" y="3329761"/>
              <a:ext cx="2812665" cy="1450308"/>
              <a:chOff x="2923195" y="2617166"/>
              <a:chExt cx="2812665" cy="1450308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1B13AFB5-A59C-45C3-8635-46E73BE056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4128126" y="2617166"/>
                <a:ext cx="864857" cy="499562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940481D3-84FA-49A0-B75F-11F8A63D79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3812175" y="2887457"/>
                <a:ext cx="864857" cy="499562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E2E64D-5209-48DB-B918-CD7D30B16DD1}"/>
                  </a:ext>
                </a:extLst>
              </p:cNvPr>
              <p:cNvSpPr txBox="1"/>
              <p:nvPr/>
            </p:nvSpPr>
            <p:spPr>
              <a:xfrm>
                <a:off x="2923195" y="3236477"/>
                <a:ext cx="281266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Foragers of the Same Species</a:t>
                </a: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CA3E859F-9276-4590-A171-1B6F41F4ED07}"/>
                </a:ext>
              </a:extLst>
            </p:cNvPr>
            <p:cNvGrpSpPr/>
            <p:nvPr/>
          </p:nvGrpSpPr>
          <p:grpSpPr>
            <a:xfrm>
              <a:off x="8916855" y="3329761"/>
              <a:ext cx="2812666" cy="1450308"/>
              <a:chOff x="2923196" y="2617166"/>
              <a:chExt cx="2812666" cy="1450308"/>
            </a:xfrm>
          </p:grpSpPr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5BE51216-FBCD-49B4-A750-84DEC3855C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4128126" y="2617166"/>
                <a:ext cx="864857" cy="499562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824ACBF4-43D5-4F66-8ABC-98A698F0D3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3812175" y="2887457"/>
                <a:ext cx="864857" cy="499562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49D782C-FB00-442A-94B8-703D59B079D7}"/>
                  </a:ext>
                </a:extLst>
              </p:cNvPr>
              <p:cNvSpPr txBox="1"/>
              <p:nvPr/>
            </p:nvSpPr>
            <p:spPr>
              <a:xfrm>
                <a:off x="2923196" y="3236477"/>
                <a:ext cx="281266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Foragers of the Same Species</a:t>
                </a: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CA4C336F-BFE8-4574-9AA0-0A49DD4AC7BC}"/>
                </a:ext>
              </a:extLst>
            </p:cNvPr>
            <p:cNvGrpSpPr/>
            <p:nvPr/>
          </p:nvGrpSpPr>
          <p:grpSpPr>
            <a:xfrm>
              <a:off x="6984240" y="3382833"/>
              <a:ext cx="1438648" cy="1027904"/>
              <a:chOff x="1880406" y="1698026"/>
              <a:chExt cx="1438648" cy="1027904"/>
            </a:xfrm>
          </p:grpSpPr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9ED86251-B29C-4F68-AF79-343C3E84F7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1880406" y="1698026"/>
                <a:ext cx="1438648" cy="830997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D69A072-906D-438F-B84D-9BF724CF0FF2}"/>
                  </a:ext>
                </a:extLst>
              </p:cNvPr>
              <p:cNvSpPr txBox="1"/>
              <p:nvPr/>
            </p:nvSpPr>
            <p:spPr>
              <a:xfrm>
                <a:off x="2052507" y="2264265"/>
                <a:ext cx="114864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Forager</a:t>
                </a:r>
              </a:p>
            </p:txBody>
          </p:sp>
        </p:grpSp>
      </p:grp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E7E113E-9EBD-4BAD-9352-EA68D78AC9E1}"/>
              </a:ext>
            </a:extLst>
          </p:cNvPr>
          <p:cNvCxnSpPr>
            <a:cxnSpLocks/>
          </p:cNvCxnSpPr>
          <p:nvPr/>
        </p:nvCxnSpPr>
        <p:spPr>
          <a:xfrm rot="16200000">
            <a:off x="4970361" y="2867200"/>
            <a:ext cx="21945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143F3D7-9922-47C5-B286-16E9C84F7D1A}"/>
              </a:ext>
            </a:extLst>
          </p:cNvPr>
          <p:cNvSpPr txBox="1"/>
          <p:nvPr/>
        </p:nvSpPr>
        <p:spPr>
          <a:xfrm>
            <a:off x="3174380" y="321830"/>
            <a:ext cx="58432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Intraspecific Competition </a:t>
            </a:r>
            <a:r>
              <a:rPr lang="en-US" sz="2400" dirty="0"/>
              <a:t>(same species)</a:t>
            </a:r>
            <a:endParaRPr lang="en-US" sz="40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3D50594-FB1C-48B8-B834-C3E13F9D22CF}"/>
              </a:ext>
            </a:extLst>
          </p:cNvPr>
          <p:cNvSpPr/>
          <p:nvPr/>
        </p:nvSpPr>
        <p:spPr>
          <a:xfrm>
            <a:off x="3955396" y="3261557"/>
            <a:ext cx="457200" cy="45720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A30F4CE-AC47-43CC-86E7-DC081DE2CC1F}"/>
              </a:ext>
            </a:extLst>
          </p:cNvPr>
          <p:cNvSpPr/>
          <p:nvPr/>
        </p:nvSpPr>
        <p:spPr>
          <a:xfrm>
            <a:off x="3955396" y="2640873"/>
            <a:ext cx="457200" cy="45720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D7EC727-EBDE-45F1-9E92-2F456C8DA38F}"/>
              </a:ext>
            </a:extLst>
          </p:cNvPr>
          <p:cNvSpPr/>
          <p:nvPr/>
        </p:nvSpPr>
        <p:spPr>
          <a:xfrm>
            <a:off x="6696056" y="2633371"/>
            <a:ext cx="1148648" cy="1072309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0AD1EB6-81FB-4078-A136-371C98394498}"/>
              </a:ext>
            </a:extLst>
          </p:cNvPr>
          <p:cNvSpPr/>
          <p:nvPr/>
        </p:nvSpPr>
        <p:spPr>
          <a:xfrm>
            <a:off x="9544362" y="3261557"/>
            <a:ext cx="457200" cy="4572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5278EED-5A15-4656-BA3F-1EB4B3D70757}"/>
              </a:ext>
            </a:extLst>
          </p:cNvPr>
          <p:cNvSpPr/>
          <p:nvPr/>
        </p:nvSpPr>
        <p:spPr>
          <a:xfrm>
            <a:off x="9544362" y="2640873"/>
            <a:ext cx="457200" cy="45720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145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1776145" y="1701206"/>
            <a:ext cx="8298388" cy="4529601"/>
          </a:xfrm>
          <a:prstGeom prst="rect">
            <a:avLst/>
          </a:prstGeom>
          <a:gradFill flip="none" rotWithShape="1">
            <a:gsLst>
              <a:gs pos="59173">
                <a:srgbClr val="6C3C3C"/>
              </a:gs>
              <a:gs pos="42900">
                <a:srgbClr val="6C3C3C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014" y="1699365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E6F67821-0371-4DFE-A091-17B83DA69D25}"/>
              </a:ext>
            </a:extLst>
          </p:cNvPr>
          <p:cNvGrpSpPr/>
          <p:nvPr/>
        </p:nvGrpSpPr>
        <p:grpSpPr>
          <a:xfrm>
            <a:off x="1585303" y="3012122"/>
            <a:ext cx="8658299" cy="2225347"/>
            <a:chOff x="1891845" y="3231495"/>
            <a:chExt cx="8658299" cy="222534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76A888-2ECE-4AB8-B3F1-7FAA0C246190}"/>
                </a:ext>
              </a:extLst>
            </p:cNvPr>
            <p:cNvGrpSpPr/>
            <p:nvPr/>
          </p:nvGrpSpPr>
          <p:grpSpPr>
            <a:xfrm>
              <a:off x="6134512" y="3260052"/>
              <a:ext cx="4415632" cy="2196790"/>
              <a:chOff x="6134512" y="3260052"/>
              <a:chExt cx="4415632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1AA6A18C-73F4-401D-82EE-666BB3B07B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01E9D3B5-52CB-4EF8-90FC-755ABBC515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188FB62C-34AF-4D50-A582-835C2B68A3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72C09B0-38AE-4298-87F2-CEBDE777AC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A86F7CDD-CE4B-4F06-B4D3-ED79669E61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42A4542D-33A8-48CB-96B9-A3CB23BA9B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F55B17BF-6755-4D69-B4A3-66188C6913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4EF482C0-DD48-49B4-B9AC-0DF016227C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FB921A53-B0CB-45B0-8E81-8C3204D12F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D2362C5E-F9F0-4F7E-B59D-F1674DE0A2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4512" y="5417361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A28C2BD-3438-4DD0-9510-71B97A3AA584}"/>
                </a:ext>
              </a:extLst>
            </p:cNvPr>
            <p:cNvGrpSpPr/>
            <p:nvPr/>
          </p:nvGrpSpPr>
          <p:grpSpPr>
            <a:xfrm flipH="1">
              <a:off x="1891845" y="3231495"/>
              <a:ext cx="3207515" cy="2196790"/>
              <a:chOff x="7342629" y="3260052"/>
              <a:chExt cx="3207515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6A4429FD-2F8B-4756-BC73-88AC77BB5A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84612499-76E3-4012-B764-2EABB64907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563BBC51-E788-421A-9D78-C0AF97458B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1C8B67D9-5F75-4548-AF92-72DA0E5D9C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6FBFC15B-92B7-4397-AC9C-D5A1E4A59F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8C2C415F-32F1-4E09-A2F8-D62A5EC584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C9D4B07B-BE0D-4D53-8815-B8A7F05FD4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31FF8A1B-4116-45F8-8D80-0626EE9CD0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8CDCDBFF-DDED-4721-8523-4FFB745BAF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957341" y="56282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7A98A89-D7B7-4239-BDD4-466CE19FB404}"/>
              </a:ext>
            </a:extLst>
          </p:cNvPr>
          <p:cNvSpPr txBox="1"/>
          <p:nvPr/>
        </p:nvSpPr>
        <p:spPr>
          <a:xfrm>
            <a:off x="4532095" y="4794759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05943CF-7D2D-449E-A836-6D1B13CF1339}"/>
              </a:ext>
            </a:extLst>
          </p:cNvPr>
          <p:cNvSpPr txBox="1"/>
          <p:nvPr/>
        </p:nvSpPr>
        <p:spPr>
          <a:xfrm>
            <a:off x="2633267" y="266177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7995D19-5C76-48E3-88EF-BEDB705B7642}"/>
              </a:ext>
            </a:extLst>
          </p:cNvPr>
          <p:cNvSpPr txBox="1"/>
          <p:nvPr/>
        </p:nvSpPr>
        <p:spPr>
          <a:xfrm>
            <a:off x="1982927" y="4825562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7DA028B-90B7-4E43-B91A-D6F20C5CA9BD}"/>
              </a:ext>
            </a:extLst>
          </p:cNvPr>
          <p:cNvSpPr txBox="1"/>
          <p:nvPr/>
        </p:nvSpPr>
        <p:spPr>
          <a:xfrm>
            <a:off x="3645640" y="2664983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BB45CFA-21D2-4863-A70F-5CF1B83C7394}"/>
              </a:ext>
            </a:extLst>
          </p:cNvPr>
          <p:cNvSpPr txBox="1"/>
          <p:nvPr/>
        </p:nvSpPr>
        <p:spPr>
          <a:xfrm>
            <a:off x="3542237" y="3273576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0900940-F8EC-4A9B-AD4A-8CFE503F3A6E}"/>
              </a:ext>
            </a:extLst>
          </p:cNvPr>
          <p:cNvSpPr txBox="1"/>
          <p:nvPr/>
        </p:nvSpPr>
        <p:spPr>
          <a:xfrm>
            <a:off x="3416884" y="401095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D02A333-1E99-41B8-BE58-5ECCDC7BD555}"/>
              </a:ext>
            </a:extLst>
          </p:cNvPr>
          <p:cNvSpPr txBox="1"/>
          <p:nvPr/>
        </p:nvSpPr>
        <p:spPr>
          <a:xfrm>
            <a:off x="3268441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125BC97-BA80-45C4-A828-95A96668CCE6}"/>
              </a:ext>
            </a:extLst>
          </p:cNvPr>
          <p:cNvSpPr txBox="1"/>
          <p:nvPr/>
        </p:nvSpPr>
        <p:spPr>
          <a:xfrm>
            <a:off x="5834087" y="4824239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9AA271A-8298-4EBE-B2FE-A5284285502F}"/>
              </a:ext>
            </a:extLst>
          </p:cNvPr>
          <p:cNvSpPr txBox="1"/>
          <p:nvPr/>
        </p:nvSpPr>
        <p:spPr>
          <a:xfrm>
            <a:off x="7100261" y="48557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FADD980-3F05-4877-9F07-6D2908783F97}"/>
              </a:ext>
            </a:extLst>
          </p:cNvPr>
          <p:cNvSpPr txBox="1"/>
          <p:nvPr/>
        </p:nvSpPr>
        <p:spPr>
          <a:xfrm>
            <a:off x="7986957" y="2696090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B523829-5F1B-467B-86F7-F823E43A485F}"/>
              </a:ext>
            </a:extLst>
          </p:cNvPr>
          <p:cNvSpPr txBox="1"/>
          <p:nvPr/>
        </p:nvSpPr>
        <p:spPr>
          <a:xfrm>
            <a:off x="8103883" y="3294523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26DA491-E4BB-4DA9-81D4-FAA03DA95165}"/>
              </a:ext>
            </a:extLst>
          </p:cNvPr>
          <p:cNvSpPr txBox="1"/>
          <p:nvPr/>
        </p:nvSpPr>
        <p:spPr>
          <a:xfrm>
            <a:off x="8228143" y="40221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989ADC-976E-4925-81C5-56BA77C6B425}"/>
              </a:ext>
            </a:extLst>
          </p:cNvPr>
          <p:cNvSpPr txBox="1"/>
          <p:nvPr/>
        </p:nvSpPr>
        <p:spPr>
          <a:xfrm>
            <a:off x="8393145" y="48906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30D1D59-471F-4E79-A09B-AA371826C293}"/>
              </a:ext>
            </a:extLst>
          </p:cNvPr>
          <p:cNvSpPr txBox="1"/>
          <p:nvPr/>
        </p:nvSpPr>
        <p:spPr>
          <a:xfrm>
            <a:off x="9062116" y="26782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09403F1-0E5F-4280-B357-F290A704FFD4}"/>
              </a:ext>
            </a:extLst>
          </p:cNvPr>
          <p:cNvSpPr txBox="1"/>
          <p:nvPr/>
        </p:nvSpPr>
        <p:spPr>
          <a:xfrm>
            <a:off x="9203553" y="3288282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B41C7E3-D045-4B72-8BD8-CD604A13A397}"/>
              </a:ext>
            </a:extLst>
          </p:cNvPr>
          <p:cNvSpPr txBox="1"/>
          <p:nvPr/>
        </p:nvSpPr>
        <p:spPr>
          <a:xfrm>
            <a:off x="9479944" y="404329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1989A41-9219-40A3-8330-F761AE0DE8A5}"/>
              </a:ext>
            </a:extLst>
          </p:cNvPr>
          <p:cNvSpPr txBox="1"/>
          <p:nvPr/>
        </p:nvSpPr>
        <p:spPr>
          <a:xfrm>
            <a:off x="9676949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306523" y="5718072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If the selected patch is occupied by a fish of a different species, the larger fish will outcompete the other for the patch.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129E048-1567-49BD-ACE0-2AAAC078BA08}"/>
              </a:ext>
            </a:extLst>
          </p:cNvPr>
          <p:cNvSpPr txBox="1"/>
          <p:nvPr/>
        </p:nvSpPr>
        <p:spPr>
          <a:xfrm>
            <a:off x="2134347" y="4022108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974823B-4ADA-42E6-BF4D-58899B5CE3D8}"/>
              </a:ext>
            </a:extLst>
          </p:cNvPr>
          <p:cNvSpPr txBox="1"/>
          <p:nvPr/>
        </p:nvSpPr>
        <p:spPr>
          <a:xfrm>
            <a:off x="2393847" y="328111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5FE6D17-75DB-44EA-9ACA-1060DE62658E}"/>
              </a:ext>
            </a:extLst>
          </p:cNvPr>
          <p:cNvGrpSpPr/>
          <p:nvPr/>
        </p:nvGrpSpPr>
        <p:grpSpPr>
          <a:xfrm>
            <a:off x="9363454" y="189073"/>
            <a:ext cx="3396953" cy="2103452"/>
            <a:chOff x="9486977" y="861094"/>
            <a:chExt cx="3396953" cy="2103452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EDFE4E65-E31A-46B6-B80F-1DCBFCCFB56C}"/>
                </a:ext>
              </a:extLst>
            </p:cNvPr>
            <p:cNvGrpSpPr/>
            <p:nvPr/>
          </p:nvGrpSpPr>
          <p:grpSpPr>
            <a:xfrm>
              <a:off x="9486977" y="861094"/>
              <a:ext cx="3396953" cy="2103452"/>
              <a:chOff x="9267697" y="5389514"/>
              <a:chExt cx="3396953" cy="2103452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ACE758A5-5C83-48A3-98BB-FC1CDBCE7313}"/>
                  </a:ext>
                </a:extLst>
              </p:cNvPr>
              <p:cNvSpPr/>
              <p:nvPr/>
            </p:nvSpPr>
            <p:spPr>
              <a:xfrm>
                <a:off x="9267697" y="5787731"/>
                <a:ext cx="2497656" cy="170523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8C1F4471-1D11-4FF1-81D4-00981F97DED0}"/>
                  </a:ext>
                </a:extLst>
              </p:cNvPr>
              <p:cNvSpPr/>
              <p:nvPr/>
            </p:nvSpPr>
            <p:spPr>
              <a:xfrm>
                <a:off x="9395253" y="5958699"/>
                <a:ext cx="365760" cy="23342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E3616B5B-141C-4419-809F-DE9CAA918066}"/>
                  </a:ext>
                </a:extLst>
              </p:cNvPr>
              <p:cNvSpPr/>
              <p:nvPr/>
            </p:nvSpPr>
            <p:spPr>
              <a:xfrm>
                <a:off x="9414592" y="6703367"/>
                <a:ext cx="365760" cy="23342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E59005B-333B-4D70-B945-C5B3A252F4B5}"/>
                  </a:ext>
                </a:extLst>
              </p:cNvPr>
              <p:cNvSpPr txBox="1"/>
              <p:nvPr/>
            </p:nvSpPr>
            <p:spPr>
              <a:xfrm>
                <a:off x="9743225" y="5891916"/>
                <a:ext cx="22031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Salinity (</a:t>
                </a:r>
                <a:r>
                  <a:rPr lang="en-US" b="1" i="1" dirty="0" err="1"/>
                  <a:t>psu</a:t>
                </a:r>
                <a:r>
                  <a:rPr lang="en-US" dirty="0"/>
                  <a:t>) 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7CF2A430-65F3-4D81-A76E-7D0E8757CDA1}"/>
                      </a:ext>
                    </a:extLst>
                  </p:cNvPr>
                  <p:cNvSpPr txBox="1"/>
                  <p:nvPr/>
                </p:nvSpPr>
                <p:spPr>
                  <a:xfrm>
                    <a:off x="9770694" y="6624633"/>
                    <a:ext cx="289395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Current Velocity (</a:t>
                    </a:r>
                    <a14:m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oMath>
                    </a14:m>
                    <a:r>
                      <a:rPr lang="en-US" dirty="0"/>
                      <a:t>) </a:t>
                    </a:r>
                  </a:p>
                </p:txBody>
              </p:sp>
            </mc:Choice>
            <mc:Fallback xmlns="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7CF2A430-65F3-4D81-A76E-7D0E8757CD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70694" y="6624633"/>
                    <a:ext cx="2893956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895" t="-1000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29C8B95-12C8-4562-A7CA-5DD9E13F4EAE}"/>
                  </a:ext>
                </a:extLst>
              </p:cNvPr>
              <p:cNvSpPr txBox="1"/>
              <p:nvPr/>
            </p:nvSpPr>
            <p:spPr>
              <a:xfrm>
                <a:off x="9726219" y="5389514"/>
                <a:ext cx="1687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Legend</a:t>
                </a:r>
              </a:p>
            </p:txBody>
          </p:sp>
        </p:grp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D05BD26-1DB7-47F2-B94F-B676E34E3399}"/>
                </a:ext>
              </a:extLst>
            </p:cNvPr>
            <p:cNvSpPr/>
            <p:nvPr/>
          </p:nvSpPr>
          <p:spPr>
            <a:xfrm>
              <a:off x="9622721" y="1802884"/>
              <a:ext cx="365760" cy="233429"/>
            </a:xfrm>
            <a:prstGeom prst="rect">
              <a:avLst/>
            </a:prstGeom>
            <a:solidFill>
              <a:srgbClr val="C0161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799940DA-EA48-40A1-A471-24013DD62DBC}"/>
                    </a:ext>
                  </a:extLst>
                </p:cNvPr>
                <p:cNvSpPr txBox="1"/>
                <p:nvPr/>
              </p:nvSpPr>
              <p:spPr>
                <a:xfrm>
                  <a:off x="9978823" y="1724150"/>
                  <a:ext cx="289395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Temperature (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a14:m>
                  <a:r>
                    <a:rPr lang="en-US" dirty="0"/>
                    <a:t>) </a:t>
                  </a: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799940DA-EA48-40A1-A471-24013DD62D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8823" y="1724150"/>
                  <a:ext cx="2893956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1899"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6" name="Rectangle 95">
            <a:extLst>
              <a:ext uri="{FF2B5EF4-FFF2-40B4-BE49-F238E27FC236}">
                <a16:creationId xmlns:a16="http://schemas.microsoft.com/office/drawing/2014/main" id="{A7E69A02-6C94-4036-A728-0A62224DEF2B}"/>
              </a:ext>
            </a:extLst>
          </p:cNvPr>
          <p:cNvSpPr/>
          <p:nvPr/>
        </p:nvSpPr>
        <p:spPr>
          <a:xfrm>
            <a:off x="9520007" y="1890990"/>
            <a:ext cx="365760" cy="233429"/>
          </a:xfrm>
          <a:prstGeom prst="rect">
            <a:avLst/>
          </a:prstGeom>
          <a:solidFill>
            <a:srgbClr val="6C3C3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42EC7B2-DA6E-4EF6-8F09-8BAF68F463EE}"/>
              </a:ext>
            </a:extLst>
          </p:cNvPr>
          <p:cNvSpPr txBox="1"/>
          <p:nvPr/>
        </p:nvSpPr>
        <p:spPr>
          <a:xfrm>
            <a:off x="9876109" y="1812256"/>
            <a:ext cx="2893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SPM (</a:t>
            </a:r>
            <a:r>
              <a:rPr lang="en-US" b="1" i="1" dirty="0"/>
              <a:t>g/L</a:t>
            </a:r>
            <a:r>
              <a:rPr lang="en-US" dirty="0"/>
              <a:t>) </a:t>
            </a: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4606E9D0-CCFF-48C0-B67C-7BB807B7EF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667" r="57122" b="74836"/>
          <a:stretch/>
        </p:blipFill>
        <p:spPr>
          <a:xfrm flipH="1">
            <a:off x="6536969" y="3115760"/>
            <a:ext cx="1048225" cy="1013201"/>
          </a:xfrm>
          <a:prstGeom prst="rect">
            <a:avLst/>
          </a:prstGeom>
          <a:ln w="57150">
            <a:solidFill>
              <a:srgbClr val="FFC000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2E7635E-2A71-4DE4-AC6F-D03B398BA01A}"/>
              </a:ext>
            </a:extLst>
          </p:cNvPr>
          <p:cNvGrpSpPr/>
          <p:nvPr/>
        </p:nvGrpSpPr>
        <p:grpSpPr>
          <a:xfrm>
            <a:off x="5157074" y="1454680"/>
            <a:ext cx="1438648" cy="1081927"/>
            <a:chOff x="1880406" y="1328694"/>
            <a:chExt cx="1438648" cy="108192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94CD7E2-905A-405C-9594-ACACE159E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3C9ADDD-6F2E-43C5-8890-9D49AEA5ABCB}"/>
                </a:ext>
              </a:extLst>
            </p:cNvPr>
            <p:cNvSpPr txBox="1"/>
            <p:nvPr/>
          </p:nvSpPr>
          <p:spPr>
            <a:xfrm>
              <a:off x="2157251" y="1328694"/>
              <a:ext cx="905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Forager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9BB8486-F331-4118-8833-76692BEDBF1D}"/>
              </a:ext>
            </a:extLst>
          </p:cNvPr>
          <p:cNvSpPr txBox="1"/>
          <p:nvPr/>
        </p:nvSpPr>
        <p:spPr>
          <a:xfrm>
            <a:off x="4447402" y="2718186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0.3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48E4B34-2036-497C-AFF4-72603B4144DF}"/>
              </a:ext>
            </a:extLst>
          </p:cNvPr>
          <p:cNvSpPr txBox="1"/>
          <p:nvPr/>
        </p:nvSpPr>
        <p:spPr>
          <a:xfrm>
            <a:off x="5482796" y="3970606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A3D3625-8117-45B7-BED0-946B293217A7}"/>
              </a:ext>
            </a:extLst>
          </p:cNvPr>
          <p:cNvSpPr txBox="1"/>
          <p:nvPr/>
        </p:nvSpPr>
        <p:spPr>
          <a:xfrm>
            <a:off x="6593740" y="2696090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0.2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5D5E15A-F550-4443-808B-5C54C6B4006E}"/>
              </a:ext>
            </a:extLst>
          </p:cNvPr>
          <p:cNvSpPr txBox="1"/>
          <p:nvPr/>
        </p:nvSpPr>
        <p:spPr>
          <a:xfrm>
            <a:off x="6699811" y="3964165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0.7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B39B999-DB81-44E8-921B-4E583A62A561}"/>
              </a:ext>
            </a:extLst>
          </p:cNvPr>
          <p:cNvSpPr txBox="1"/>
          <p:nvPr/>
        </p:nvSpPr>
        <p:spPr>
          <a:xfrm>
            <a:off x="4446792" y="3324430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0.8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424BD8E-CE93-4F04-8463-9CBAD0F0404E}"/>
              </a:ext>
            </a:extLst>
          </p:cNvPr>
          <p:cNvSpPr txBox="1"/>
          <p:nvPr/>
        </p:nvSpPr>
        <p:spPr>
          <a:xfrm>
            <a:off x="4408255" y="3978564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0.6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12C8E18-9AE8-44EB-8145-52584FF336AC}"/>
              </a:ext>
            </a:extLst>
          </p:cNvPr>
          <p:cNvSpPr txBox="1"/>
          <p:nvPr/>
        </p:nvSpPr>
        <p:spPr>
          <a:xfrm>
            <a:off x="5527042" y="2703507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0.3</a:t>
            </a:r>
          </a:p>
        </p:txBody>
      </p:sp>
      <p:sp>
        <p:nvSpPr>
          <p:cNvPr id="82" name="Arrow: Up-Down 81">
            <a:extLst>
              <a:ext uri="{FF2B5EF4-FFF2-40B4-BE49-F238E27FC236}">
                <a16:creationId xmlns:a16="http://schemas.microsoft.com/office/drawing/2014/main" id="{84270C7A-CC37-4BF3-8772-A8A0C6C58035}"/>
              </a:ext>
            </a:extLst>
          </p:cNvPr>
          <p:cNvSpPr/>
          <p:nvPr/>
        </p:nvSpPr>
        <p:spPr>
          <a:xfrm>
            <a:off x="5764506" y="2383873"/>
            <a:ext cx="208670" cy="128016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EAC0928-FDC6-4DEE-BAE5-E16241EE7E6C}"/>
              </a:ext>
            </a:extLst>
          </p:cNvPr>
          <p:cNvSpPr txBox="1"/>
          <p:nvPr/>
        </p:nvSpPr>
        <p:spPr>
          <a:xfrm>
            <a:off x="6851822" y="1179760"/>
            <a:ext cx="1925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Forager of a Different Species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0767EAA9-1C16-41BB-AFFB-F2D8265666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8102" y="3110461"/>
            <a:ext cx="2068979" cy="119509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CF47EB6-0D21-4940-809F-540B0F443180}"/>
              </a:ext>
            </a:extLst>
          </p:cNvPr>
          <p:cNvCxnSpPr>
            <a:cxnSpLocks/>
            <a:endCxn id="79" idx="2"/>
          </p:cNvCxnSpPr>
          <p:nvPr/>
        </p:nvCxnSpPr>
        <p:spPr>
          <a:xfrm flipV="1">
            <a:off x="7128726" y="1826091"/>
            <a:ext cx="686082" cy="18643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4405DA4B-5FDF-4DEA-B480-85B6B414C7D0}"/>
              </a:ext>
            </a:extLst>
          </p:cNvPr>
          <p:cNvSpPr txBox="1"/>
          <p:nvPr/>
        </p:nvSpPr>
        <p:spPr>
          <a:xfrm>
            <a:off x="29496" y="84553"/>
            <a:ext cx="328393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Interspecific Competition </a:t>
            </a:r>
            <a:r>
              <a:rPr lang="en-US" sz="2000" dirty="0"/>
              <a:t>(single fish-different species)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10690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5D5288F-41C4-43B1-8D0A-F4D11CA86244}"/>
              </a:ext>
            </a:extLst>
          </p:cNvPr>
          <p:cNvCxnSpPr>
            <a:cxnSpLocks/>
          </p:cNvCxnSpPr>
          <p:nvPr/>
        </p:nvCxnSpPr>
        <p:spPr>
          <a:xfrm>
            <a:off x="786000" y="3958681"/>
            <a:ext cx="1048214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B96FB0B-B086-4E45-9B32-45E5B1CEA8C3}"/>
              </a:ext>
            </a:extLst>
          </p:cNvPr>
          <p:cNvSpPr txBox="1"/>
          <p:nvPr/>
        </p:nvSpPr>
        <p:spPr>
          <a:xfrm>
            <a:off x="4816039" y="5791013"/>
            <a:ext cx="2631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Species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F248A9-BC1A-4B44-86DD-7A6E4561FEFD}"/>
              </a:ext>
            </a:extLst>
          </p:cNvPr>
          <p:cNvSpPr txBox="1"/>
          <p:nvPr/>
        </p:nvSpPr>
        <p:spPr>
          <a:xfrm>
            <a:off x="1991775" y="1619625"/>
            <a:ext cx="2631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Size</a:t>
            </a:r>
            <a:endParaRPr lang="en-US" sz="36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9E9B60-77DE-49AE-9EF0-3E1F5C7A32B6}"/>
              </a:ext>
            </a:extLst>
          </p:cNvPr>
          <p:cNvCxnSpPr>
            <a:cxnSpLocks/>
          </p:cNvCxnSpPr>
          <p:nvPr/>
        </p:nvCxnSpPr>
        <p:spPr>
          <a:xfrm rot="16200000">
            <a:off x="-1514391" y="3958681"/>
            <a:ext cx="457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3244798-EFAC-4F5B-A0F1-9E44E477DCB7}"/>
              </a:ext>
            </a:extLst>
          </p:cNvPr>
          <p:cNvSpPr txBox="1"/>
          <p:nvPr/>
        </p:nvSpPr>
        <p:spPr>
          <a:xfrm>
            <a:off x="6798221" y="1555585"/>
            <a:ext cx="4275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Resource</a:t>
            </a:r>
            <a:r>
              <a:rPr lang="en-US" sz="3600" b="1" dirty="0"/>
              <a:t> </a:t>
            </a:r>
            <a:r>
              <a:rPr lang="en-US" sz="3200" b="1" dirty="0"/>
              <a:t>Allocation</a:t>
            </a:r>
            <a:endParaRPr lang="en-US" sz="3600" b="1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62620F-ADD3-4C31-A35F-38AE84BAC5EB}"/>
              </a:ext>
            </a:extLst>
          </p:cNvPr>
          <p:cNvGrpSpPr/>
          <p:nvPr/>
        </p:nvGrpSpPr>
        <p:grpSpPr>
          <a:xfrm>
            <a:off x="812972" y="2631686"/>
            <a:ext cx="10566055" cy="2962420"/>
            <a:chOff x="1274346" y="1817649"/>
            <a:chExt cx="10566055" cy="296242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ECE9775-FDB6-4FA5-9FC3-482E5CC62D80}"/>
                </a:ext>
              </a:extLst>
            </p:cNvPr>
            <p:cNvGrpSpPr/>
            <p:nvPr/>
          </p:nvGrpSpPr>
          <p:grpSpPr>
            <a:xfrm>
              <a:off x="1274346" y="3382833"/>
              <a:ext cx="1438648" cy="1027904"/>
              <a:chOff x="1880406" y="1698026"/>
              <a:chExt cx="1438648" cy="1027904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A89E94E6-484C-4366-AD98-3B6D65935E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1880406" y="1698026"/>
                <a:ext cx="1438648" cy="830997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69D32C-7395-4C45-A4E6-0FA6143DAA05}"/>
                  </a:ext>
                </a:extLst>
              </p:cNvPr>
              <p:cNvSpPr txBox="1"/>
              <p:nvPr/>
            </p:nvSpPr>
            <p:spPr>
              <a:xfrm>
                <a:off x="2052507" y="2264265"/>
                <a:ext cx="114864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Forager</a:t>
                </a: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8C3FF57-8973-4AD7-BC4D-B432FC848C58}"/>
                </a:ext>
              </a:extLst>
            </p:cNvPr>
            <p:cNvSpPr/>
            <p:nvPr/>
          </p:nvSpPr>
          <p:spPr>
            <a:xfrm>
              <a:off x="1446447" y="1817649"/>
              <a:ext cx="1148648" cy="107230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964A799-5C67-41A8-9748-18E1AB58D889}"/>
                </a:ext>
              </a:extLst>
            </p:cNvPr>
            <p:cNvSpPr/>
            <p:nvPr/>
          </p:nvSpPr>
          <p:spPr>
            <a:xfrm>
              <a:off x="9716015" y="1830138"/>
              <a:ext cx="1148648" cy="1072309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6E2E64D-5209-48DB-B918-CD7D30B16DD1}"/>
                </a:ext>
              </a:extLst>
            </p:cNvPr>
            <p:cNvSpPr txBox="1"/>
            <p:nvPr/>
          </p:nvSpPr>
          <p:spPr>
            <a:xfrm>
              <a:off x="3213127" y="3949072"/>
              <a:ext cx="292354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Foragers of a Different Species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49D782C-FB00-442A-94B8-703D59B079D7}"/>
                </a:ext>
              </a:extLst>
            </p:cNvPr>
            <p:cNvSpPr txBox="1"/>
            <p:nvPr/>
          </p:nvSpPr>
          <p:spPr>
            <a:xfrm>
              <a:off x="8916854" y="3949072"/>
              <a:ext cx="292354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Foragers of a Different Species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CA4C336F-BFE8-4574-9AA0-0A49DD4AC7BC}"/>
                </a:ext>
              </a:extLst>
            </p:cNvPr>
            <p:cNvGrpSpPr/>
            <p:nvPr/>
          </p:nvGrpSpPr>
          <p:grpSpPr>
            <a:xfrm>
              <a:off x="6984240" y="3382833"/>
              <a:ext cx="1438648" cy="1027904"/>
              <a:chOff x="1880406" y="1698026"/>
              <a:chExt cx="1438648" cy="1027904"/>
            </a:xfrm>
          </p:grpSpPr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9ED86251-B29C-4F68-AF79-343C3E84F7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1880406" y="1698026"/>
                <a:ext cx="1438648" cy="830997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D69A072-906D-438F-B84D-9BF724CF0FF2}"/>
                  </a:ext>
                </a:extLst>
              </p:cNvPr>
              <p:cNvSpPr txBox="1"/>
              <p:nvPr/>
            </p:nvSpPr>
            <p:spPr>
              <a:xfrm>
                <a:off x="2052507" y="2264265"/>
                <a:ext cx="114864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Forager</a:t>
                </a:r>
              </a:p>
            </p:txBody>
          </p:sp>
        </p:grpSp>
      </p:grp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E7E113E-9EBD-4BAD-9352-EA68D78AC9E1}"/>
              </a:ext>
            </a:extLst>
          </p:cNvPr>
          <p:cNvCxnSpPr>
            <a:cxnSpLocks/>
          </p:cNvCxnSpPr>
          <p:nvPr/>
        </p:nvCxnSpPr>
        <p:spPr>
          <a:xfrm rot="16200000">
            <a:off x="4970361" y="2867200"/>
            <a:ext cx="21945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143F3D7-9922-47C5-B286-16E9C84F7D1A}"/>
              </a:ext>
            </a:extLst>
          </p:cNvPr>
          <p:cNvSpPr txBox="1"/>
          <p:nvPr/>
        </p:nvSpPr>
        <p:spPr>
          <a:xfrm>
            <a:off x="3174380" y="321830"/>
            <a:ext cx="58432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Interspecific Competition </a:t>
            </a:r>
            <a:r>
              <a:rPr lang="en-US" sz="2400" dirty="0"/>
              <a:t>(different species)</a:t>
            </a:r>
            <a:endParaRPr lang="en-US" sz="40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A7F43B4E-EA8A-45A2-A9F2-D10BAEB19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179036" y="3989527"/>
            <a:ext cx="2068979" cy="119509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12E0EE63-A9A4-43CF-9079-4AA5FB4AD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794475" y="3983516"/>
            <a:ext cx="2068979" cy="119509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0A3D3DFD-61F5-4D8E-A7D2-3F99E6042474}"/>
              </a:ext>
            </a:extLst>
          </p:cNvPr>
          <p:cNvSpPr/>
          <p:nvPr/>
        </p:nvSpPr>
        <p:spPr>
          <a:xfrm>
            <a:off x="3390565" y="2631685"/>
            <a:ext cx="1645920" cy="107230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951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1776145" y="1701206"/>
            <a:ext cx="8298388" cy="4529601"/>
          </a:xfrm>
          <a:prstGeom prst="rect">
            <a:avLst/>
          </a:prstGeom>
          <a:gradFill flip="none" rotWithShape="1">
            <a:gsLst>
              <a:gs pos="59173">
                <a:srgbClr val="6C3C3C"/>
              </a:gs>
              <a:gs pos="42900">
                <a:srgbClr val="6C3C3C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014" y="1699365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E6F67821-0371-4DFE-A091-17B83DA69D25}"/>
              </a:ext>
            </a:extLst>
          </p:cNvPr>
          <p:cNvGrpSpPr/>
          <p:nvPr/>
        </p:nvGrpSpPr>
        <p:grpSpPr>
          <a:xfrm>
            <a:off x="1585303" y="3012122"/>
            <a:ext cx="8658299" cy="2225347"/>
            <a:chOff x="1891845" y="3231495"/>
            <a:chExt cx="8658299" cy="222534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76A888-2ECE-4AB8-B3F1-7FAA0C246190}"/>
                </a:ext>
              </a:extLst>
            </p:cNvPr>
            <p:cNvGrpSpPr/>
            <p:nvPr/>
          </p:nvGrpSpPr>
          <p:grpSpPr>
            <a:xfrm>
              <a:off x="6134512" y="3260052"/>
              <a:ext cx="4415632" cy="2196790"/>
              <a:chOff x="6134512" y="3260052"/>
              <a:chExt cx="4415632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1AA6A18C-73F4-401D-82EE-666BB3B07B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01E9D3B5-52CB-4EF8-90FC-755ABBC515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188FB62C-34AF-4D50-A582-835C2B68A3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72C09B0-38AE-4298-87F2-CEBDE777AC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A86F7CDD-CE4B-4F06-B4D3-ED79669E61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42A4542D-33A8-48CB-96B9-A3CB23BA9B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F55B17BF-6755-4D69-B4A3-66188C6913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4EF482C0-DD48-49B4-B9AC-0DF016227C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FB921A53-B0CB-45B0-8E81-8C3204D12F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D2362C5E-F9F0-4F7E-B59D-F1674DE0A2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4512" y="5417361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A28C2BD-3438-4DD0-9510-71B97A3AA584}"/>
                </a:ext>
              </a:extLst>
            </p:cNvPr>
            <p:cNvGrpSpPr/>
            <p:nvPr/>
          </p:nvGrpSpPr>
          <p:grpSpPr>
            <a:xfrm flipH="1">
              <a:off x="1891845" y="3231495"/>
              <a:ext cx="3207515" cy="2196790"/>
              <a:chOff x="7342629" y="3260052"/>
              <a:chExt cx="3207515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6A4429FD-2F8B-4756-BC73-88AC77BB5A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84612499-76E3-4012-B764-2EABB64907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563BBC51-E788-421A-9D78-C0AF97458B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1C8B67D9-5F75-4548-AF92-72DA0E5D9C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6FBFC15B-92B7-4397-AC9C-D5A1E4A59F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8C2C415F-32F1-4E09-A2F8-D62A5EC584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C9D4B07B-BE0D-4D53-8815-B8A7F05FD4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31FF8A1B-4116-45F8-8D80-0626EE9CD0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8CDCDBFF-DDED-4721-8523-4FFB745BAF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957341" y="56282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7A98A89-D7B7-4239-BDD4-466CE19FB404}"/>
              </a:ext>
            </a:extLst>
          </p:cNvPr>
          <p:cNvSpPr txBox="1"/>
          <p:nvPr/>
        </p:nvSpPr>
        <p:spPr>
          <a:xfrm>
            <a:off x="4532095" y="4794759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05943CF-7D2D-449E-A836-6D1B13CF1339}"/>
              </a:ext>
            </a:extLst>
          </p:cNvPr>
          <p:cNvSpPr txBox="1"/>
          <p:nvPr/>
        </p:nvSpPr>
        <p:spPr>
          <a:xfrm>
            <a:off x="2633267" y="266177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7995D19-5C76-48E3-88EF-BEDB705B7642}"/>
              </a:ext>
            </a:extLst>
          </p:cNvPr>
          <p:cNvSpPr txBox="1"/>
          <p:nvPr/>
        </p:nvSpPr>
        <p:spPr>
          <a:xfrm>
            <a:off x="1982927" y="4825562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7DA028B-90B7-4E43-B91A-D6F20C5CA9BD}"/>
              </a:ext>
            </a:extLst>
          </p:cNvPr>
          <p:cNvSpPr txBox="1"/>
          <p:nvPr/>
        </p:nvSpPr>
        <p:spPr>
          <a:xfrm>
            <a:off x="3645640" y="2664983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BB45CFA-21D2-4863-A70F-5CF1B83C7394}"/>
              </a:ext>
            </a:extLst>
          </p:cNvPr>
          <p:cNvSpPr txBox="1"/>
          <p:nvPr/>
        </p:nvSpPr>
        <p:spPr>
          <a:xfrm>
            <a:off x="3542237" y="3273576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0900940-F8EC-4A9B-AD4A-8CFE503F3A6E}"/>
              </a:ext>
            </a:extLst>
          </p:cNvPr>
          <p:cNvSpPr txBox="1"/>
          <p:nvPr/>
        </p:nvSpPr>
        <p:spPr>
          <a:xfrm>
            <a:off x="3416884" y="401095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D02A333-1E99-41B8-BE58-5ECCDC7BD555}"/>
              </a:ext>
            </a:extLst>
          </p:cNvPr>
          <p:cNvSpPr txBox="1"/>
          <p:nvPr/>
        </p:nvSpPr>
        <p:spPr>
          <a:xfrm>
            <a:off x="3268441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125BC97-BA80-45C4-A828-95A96668CCE6}"/>
              </a:ext>
            </a:extLst>
          </p:cNvPr>
          <p:cNvSpPr txBox="1"/>
          <p:nvPr/>
        </p:nvSpPr>
        <p:spPr>
          <a:xfrm>
            <a:off x="5834087" y="4824239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9AA271A-8298-4EBE-B2FE-A5284285502F}"/>
              </a:ext>
            </a:extLst>
          </p:cNvPr>
          <p:cNvSpPr txBox="1"/>
          <p:nvPr/>
        </p:nvSpPr>
        <p:spPr>
          <a:xfrm>
            <a:off x="7100261" y="48557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FADD980-3F05-4877-9F07-6D2908783F97}"/>
              </a:ext>
            </a:extLst>
          </p:cNvPr>
          <p:cNvSpPr txBox="1"/>
          <p:nvPr/>
        </p:nvSpPr>
        <p:spPr>
          <a:xfrm>
            <a:off x="7986957" y="2696090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B523829-5F1B-467B-86F7-F823E43A485F}"/>
              </a:ext>
            </a:extLst>
          </p:cNvPr>
          <p:cNvSpPr txBox="1"/>
          <p:nvPr/>
        </p:nvSpPr>
        <p:spPr>
          <a:xfrm>
            <a:off x="8103883" y="3294523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26DA491-E4BB-4DA9-81D4-FAA03DA95165}"/>
              </a:ext>
            </a:extLst>
          </p:cNvPr>
          <p:cNvSpPr txBox="1"/>
          <p:nvPr/>
        </p:nvSpPr>
        <p:spPr>
          <a:xfrm>
            <a:off x="8228143" y="40221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989ADC-976E-4925-81C5-56BA77C6B425}"/>
              </a:ext>
            </a:extLst>
          </p:cNvPr>
          <p:cNvSpPr txBox="1"/>
          <p:nvPr/>
        </p:nvSpPr>
        <p:spPr>
          <a:xfrm>
            <a:off x="8393145" y="48906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30D1D59-471F-4E79-A09B-AA371826C293}"/>
              </a:ext>
            </a:extLst>
          </p:cNvPr>
          <p:cNvSpPr txBox="1"/>
          <p:nvPr/>
        </p:nvSpPr>
        <p:spPr>
          <a:xfrm>
            <a:off x="9062116" y="26782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09403F1-0E5F-4280-B357-F290A704FFD4}"/>
              </a:ext>
            </a:extLst>
          </p:cNvPr>
          <p:cNvSpPr txBox="1"/>
          <p:nvPr/>
        </p:nvSpPr>
        <p:spPr>
          <a:xfrm>
            <a:off x="9203553" y="3288282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B41C7E3-D045-4B72-8BD8-CD604A13A397}"/>
              </a:ext>
            </a:extLst>
          </p:cNvPr>
          <p:cNvSpPr txBox="1"/>
          <p:nvPr/>
        </p:nvSpPr>
        <p:spPr>
          <a:xfrm>
            <a:off x="9479944" y="404329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1989A41-9219-40A3-8330-F761AE0DE8A5}"/>
              </a:ext>
            </a:extLst>
          </p:cNvPr>
          <p:cNvSpPr txBox="1"/>
          <p:nvPr/>
        </p:nvSpPr>
        <p:spPr>
          <a:xfrm>
            <a:off x="9676949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971293" y="5728367"/>
            <a:ext cx="99370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The fish that is outcompeted will identify to the second highest patch nearby and try again.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129E048-1567-49BD-ACE0-2AAAC078BA08}"/>
              </a:ext>
            </a:extLst>
          </p:cNvPr>
          <p:cNvSpPr txBox="1"/>
          <p:nvPr/>
        </p:nvSpPr>
        <p:spPr>
          <a:xfrm>
            <a:off x="2134347" y="4022108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974823B-4ADA-42E6-BF4D-58899B5CE3D8}"/>
              </a:ext>
            </a:extLst>
          </p:cNvPr>
          <p:cNvSpPr txBox="1"/>
          <p:nvPr/>
        </p:nvSpPr>
        <p:spPr>
          <a:xfrm>
            <a:off x="2393847" y="328111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5FE6D17-75DB-44EA-9ACA-1060DE62658E}"/>
              </a:ext>
            </a:extLst>
          </p:cNvPr>
          <p:cNvGrpSpPr/>
          <p:nvPr/>
        </p:nvGrpSpPr>
        <p:grpSpPr>
          <a:xfrm>
            <a:off x="9363454" y="189073"/>
            <a:ext cx="3396953" cy="2103452"/>
            <a:chOff x="9486977" y="861094"/>
            <a:chExt cx="3396953" cy="2103452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EDFE4E65-E31A-46B6-B80F-1DCBFCCFB56C}"/>
                </a:ext>
              </a:extLst>
            </p:cNvPr>
            <p:cNvGrpSpPr/>
            <p:nvPr/>
          </p:nvGrpSpPr>
          <p:grpSpPr>
            <a:xfrm>
              <a:off x="9486977" y="861094"/>
              <a:ext cx="3396953" cy="2103452"/>
              <a:chOff x="9267697" y="5389514"/>
              <a:chExt cx="3396953" cy="2103452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ACE758A5-5C83-48A3-98BB-FC1CDBCE7313}"/>
                  </a:ext>
                </a:extLst>
              </p:cNvPr>
              <p:cNvSpPr/>
              <p:nvPr/>
            </p:nvSpPr>
            <p:spPr>
              <a:xfrm>
                <a:off x="9267697" y="5787731"/>
                <a:ext cx="2497656" cy="170523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8C1F4471-1D11-4FF1-81D4-00981F97DED0}"/>
                  </a:ext>
                </a:extLst>
              </p:cNvPr>
              <p:cNvSpPr/>
              <p:nvPr/>
            </p:nvSpPr>
            <p:spPr>
              <a:xfrm>
                <a:off x="9395253" y="5958699"/>
                <a:ext cx="365760" cy="23342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E3616B5B-141C-4419-809F-DE9CAA918066}"/>
                  </a:ext>
                </a:extLst>
              </p:cNvPr>
              <p:cNvSpPr/>
              <p:nvPr/>
            </p:nvSpPr>
            <p:spPr>
              <a:xfrm>
                <a:off x="9414592" y="6703367"/>
                <a:ext cx="365760" cy="23342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E59005B-333B-4D70-B945-C5B3A252F4B5}"/>
                  </a:ext>
                </a:extLst>
              </p:cNvPr>
              <p:cNvSpPr txBox="1"/>
              <p:nvPr/>
            </p:nvSpPr>
            <p:spPr>
              <a:xfrm>
                <a:off x="9743225" y="5891916"/>
                <a:ext cx="22031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Salinity (</a:t>
                </a:r>
                <a:r>
                  <a:rPr lang="en-US" b="1" i="1" dirty="0" err="1"/>
                  <a:t>psu</a:t>
                </a:r>
                <a:r>
                  <a:rPr lang="en-US" dirty="0"/>
                  <a:t>) 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7CF2A430-65F3-4D81-A76E-7D0E8757CDA1}"/>
                      </a:ext>
                    </a:extLst>
                  </p:cNvPr>
                  <p:cNvSpPr txBox="1"/>
                  <p:nvPr/>
                </p:nvSpPr>
                <p:spPr>
                  <a:xfrm>
                    <a:off x="9770694" y="6624633"/>
                    <a:ext cx="289395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Current Velocity (</a:t>
                    </a:r>
                    <a14:m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oMath>
                    </a14:m>
                    <a:r>
                      <a:rPr lang="en-US" dirty="0"/>
                      <a:t>) </a:t>
                    </a:r>
                  </a:p>
                </p:txBody>
              </p:sp>
            </mc:Choice>
            <mc:Fallback xmlns="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7CF2A430-65F3-4D81-A76E-7D0E8757CD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70694" y="6624633"/>
                    <a:ext cx="2893956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895" t="-1000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29C8B95-12C8-4562-A7CA-5DD9E13F4EAE}"/>
                  </a:ext>
                </a:extLst>
              </p:cNvPr>
              <p:cNvSpPr txBox="1"/>
              <p:nvPr/>
            </p:nvSpPr>
            <p:spPr>
              <a:xfrm>
                <a:off x="9726219" y="5389514"/>
                <a:ext cx="1687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Legend</a:t>
                </a:r>
              </a:p>
            </p:txBody>
          </p:sp>
        </p:grp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D05BD26-1DB7-47F2-B94F-B676E34E3399}"/>
                </a:ext>
              </a:extLst>
            </p:cNvPr>
            <p:cNvSpPr/>
            <p:nvPr/>
          </p:nvSpPr>
          <p:spPr>
            <a:xfrm>
              <a:off x="9622721" y="1802884"/>
              <a:ext cx="365760" cy="233429"/>
            </a:xfrm>
            <a:prstGeom prst="rect">
              <a:avLst/>
            </a:prstGeom>
            <a:solidFill>
              <a:srgbClr val="C0161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799940DA-EA48-40A1-A471-24013DD62DBC}"/>
                    </a:ext>
                  </a:extLst>
                </p:cNvPr>
                <p:cNvSpPr txBox="1"/>
                <p:nvPr/>
              </p:nvSpPr>
              <p:spPr>
                <a:xfrm>
                  <a:off x="9978823" y="1724150"/>
                  <a:ext cx="289395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Temperature (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a14:m>
                  <a:r>
                    <a:rPr lang="en-US" dirty="0"/>
                    <a:t>) </a:t>
                  </a: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799940DA-EA48-40A1-A471-24013DD62D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8823" y="1724150"/>
                  <a:ext cx="2893956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1899"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6" name="Rectangle 95">
            <a:extLst>
              <a:ext uri="{FF2B5EF4-FFF2-40B4-BE49-F238E27FC236}">
                <a16:creationId xmlns:a16="http://schemas.microsoft.com/office/drawing/2014/main" id="{A7E69A02-6C94-4036-A728-0A62224DEF2B}"/>
              </a:ext>
            </a:extLst>
          </p:cNvPr>
          <p:cNvSpPr/>
          <p:nvPr/>
        </p:nvSpPr>
        <p:spPr>
          <a:xfrm>
            <a:off x="9520007" y="1890990"/>
            <a:ext cx="365760" cy="233429"/>
          </a:xfrm>
          <a:prstGeom prst="rect">
            <a:avLst/>
          </a:prstGeom>
          <a:solidFill>
            <a:srgbClr val="6C3C3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42EC7B2-DA6E-4EF6-8F09-8BAF68F463EE}"/>
              </a:ext>
            </a:extLst>
          </p:cNvPr>
          <p:cNvSpPr txBox="1"/>
          <p:nvPr/>
        </p:nvSpPr>
        <p:spPr>
          <a:xfrm>
            <a:off x="9876109" y="1812256"/>
            <a:ext cx="2893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SPM (</a:t>
            </a:r>
            <a:r>
              <a:rPr lang="en-US" b="1" i="1" dirty="0"/>
              <a:t>g/L</a:t>
            </a:r>
            <a:r>
              <a:rPr lang="en-US" dirty="0"/>
              <a:t>) </a:t>
            </a: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4606E9D0-CCFF-48C0-B67C-7BB807B7EF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667" r="57122" b="74836"/>
          <a:stretch/>
        </p:blipFill>
        <p:spPr>
          <a:xfrm flipH="1">
            <a:off x="4273786" y="3094881"/>
            <a:ext cx="1048225" cy="1013201"/>
          </a:xfrm>
          <a:prstGeom prst="rect">
            <a:avLst/>
          </a:prstGeom>
          <a:ln w="57150">
            <a:solidFill>
              <a:srgbClr val="FFC000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2E7635E-2A71-4DE4-AC6F-D03B398BA01A}"/>
              </a:ext>
            </a:extLst>
          </p:cNvPr>
          <p:cNvGrpSpPr/>
          <p:nvPr/>
        </p:nvGrpSpPr>
        <p:grpSpPr>
          <a:xfrm>
            <a:off x="3826568" y="1362927"/>
            <a:ext cx="1438648" cy="1081927"/>
            <a:chOff x="1880406" y="1328694"/>
            <a:chExt cx="1438648" cy="108192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94CD7E2-905A-405C-9594-ACACE159E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3C9ADDD-6F2E-43C5-8890-9D49AEA5ABCB}"/>
                </a:ext>
              </a:extLst>
            </p:cNvPr>
            <p:cNvSpPr txBox="1"/>
            <p:nvPr/>
          </p:nvSpPr>
          <p:spPr>
            <a:xfrm>
              <a:off x="2157251" y="1328694"/>
              <a:ext cx="905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Forager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9BB8486-F331-4118-8833-76692BEDBF1D}"/>
              </a:ext>
            </a:extLst>
          </p:cNvPr>
          <p:cNvSpPr txBox="1"/>
          <p:nvPr/>
        </p:nvSpPr>
        <p:spPr>
          <a:xfrm>
            <a:off x="4447402" y="2718186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0.3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48E4B34-2036-497C-AFF4-72603B4144DF}"/>
              </a:ext>
            </a:extLst>
          </p:cNvPr>
          <p:cNvSpPr txBox="1"/>
          <p:nvPr/>
        </p:nvSpPr>
        <p:spPr>
          <a:xfrm>
            <a:off x="5482796" y="3970606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A3D3625-8117-45B7-BED0-946B293217A7}"/>
              </a:ext>
            </a:extLst>
          </p:cNvPr>
          <p:cNvSpPr txBox="1"/>
          <p:nvPr/>
        </p:nvSpPr>
        <p:spPr>
          <a:xfrm>
            <a:off x="6593740" y="2696090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0.2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5D5E15A-F550-4443-808B-5C54C6B4006E}"/>
              </a:ext>
            </a:extLst>
          </p:cNvPr>
          <p:cNvSpPr txBox="1"/>
          <p:nvPr/>
        </p:nvSpPr>
        <p:spPr>
          <a:xfrm>
            <a:off x="6699811" y="3964165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0.7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424BD8E-CE93-4F04-8463-9CBAD0F0404E}"/>
              </a:ext>
            </a:extLst>
          </p:cNvPr>
          <p:cNvSpPr txBox="1"/>
          <p:nvPr/>
        </p:nvSpPr>
        <p:spPr>
          <a:xfrm>
            <a:off x="4408255" y="3978564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0.6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12C8E18-9AE8-44EB-8145-52584FF336AC}"/>
              </a:ext>
            </a:extLst>
          </p:cNvPr>
          <p:cNvSpPr txBox="1"/>
          <p:nvPr/>
        </p:nvSpPr>
        <p:spPr>
          <a:xfrm>
            <a:off x="5527042" y="2703507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0.3</a:t>
            </a:r>
          </a:p>
        </p:txBody>
      </p:sp>
      <p:sp>
        <p:nvSpPr>
          <p:cNvPr id="82" name="Arrow: Up-Down 81">
            <a:extLst>
              <a:ext uri="{FF2B5EF4-FFF2-40B4-BE49-F238E27FC236}">
                <a16:creationId xmlns:a16="http://schemas.microsoft.com/office/drawing/2014/main" id="{84270C7A-CC37-4BF3-8772-A8A0C6C58035}"/>
              </a:ext>
            </a:extLst>
          </p:cNvPr>
          <p:cNvSpPr/>
          <p:nvPr/>
        </p:nvSpPr>
        <p:spPr>
          <a:xfrm>
            <a:off x="4434000" y="2292120"/>
            <a:ext cx="208670" cy="118872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0D8DD54-E712-40FD-9C59-5925AA3B9508}"/>
              </a:ext>
            </a:extLst>
          </p:cNvPr>
          <p:cNvSpPr txBox="1"/>
          <p:nvPr/>
        </p:nvSpPr>
        <p:spPr>
          <a:xfrm>
            <a:off x="29496" y="84553"/>
            <a:ext cx="328393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Interspecific Competition </a:t>
            </a:r>
            <a:r>
              <a:rPr lang="en-US" sz="2000" dirty="0"/>
              <a:t>(single fish-different species)</a:t>
            </a:r>
            <a:endParaRPr lang="en-US" sz="36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EAC0928-FDC6-4DEE-BAE5-E16241EE7E6C}"/>
              </a:ext>
            </a:extLst>
          </p:cNvPr>
          <p:cNvSpPr txBox="1"/>
          <p:nvPr/>
        </p:nvSpPr>
        <p:spPr>
          <a:xfrm>
            <a:off x="6851822" y="1179760"/>
            <a:ext cx="1925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Forager of a Different Species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0767EAA9-1C16-41BB-AFFB-F2D8265666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0806" y="3142722"/>
            <a:ext cx="2068979" cy="119509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CF47EB6-0D21-4940-809F-540B0F443180}"/>
              </a:ext>
            </a:extLst>
          </p:cNvPr>
          <p:cNvCxnSpPr>
            <a:cxnSpLocks/>
            <a:endCxn id="79" idx="2"/>
          </p:cNvCxnSpPr>
          <p:nvPr/>
        </p:nvCxnSpPr>
        <p:spPr>
          <a:xfrm flipV="1">
            <a:off x="7128726" y="1826091"/>
            <a:ext cx="686082" cy="18643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E7CA4F0-BC24-4BCB-8989-F360B9D43DA2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7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37742" y="1360042"/>
            <a:ext cx="1542422" cy="2334970"/>
          </a:xfrm>
          <a:prstGeom prst="rect">
            <a:avLst/>
          </a:prstGeom>
        </p:spPr>
      </p:pic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F643093-9F0B-4D47-A393-63F900F58704}"/>
              </a:ext>
            </a:extLst>
          </p:cNvPr>
          <p:cNvCxnSpPr>
            <a:cxnSpLocks/>
          </p:cNvCxnSpPr>
          <p:nvPr/>
        </p:nvCxnSpPr>
        <p:spPr>
          <a:xfrm flipH="1">
            <a:off x="5069441" y="1981054"/>
            <a:ext cx="548640" cy="0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22E1BEC-CA12-4BF7-8F8E-C0B26A000825}"/>
              </a:ext>
            </a:extLst>
          </p:cNvPr>
          <p:cNvGrpSpPr/>
          <p:nvPr/>
        </p:nvGrpSpPr>
        <p:grpSpPr>
          <a:xfrm>
            <a:off x="3600281" y="121958"/>
            <a:ext cx="1972474" cy="1233901"/>
            <a:chOff x="6302756" y="-21785"/>
            <a:chExt cx="1972474" cy="1233901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E091A851-011F-49B0-A628-183B54C52E9B}"/>
                </a:ext>
              </a:extLst>
            </p:cNvPr>
            <p:cNvSpPr/>
            <p:nvPr/>
          </p:nvSpPr>
          <p:spPr>
            <a:xfrm>
              <a:off x="6367489" y="82429"/>
              <a:ext cx="1791306" cy="11296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5A0A5E48-5651-4D94-8AB7-46F2235638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36883" t="9252" r="55401" b="73628"/>
            <a:stretch/>
          </p:blipFill>
          <p:spPr>
            <a:xfrm>
              <a:off x="6474266" y="108143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46B7A0A-537F-464E-9E4F-171E9B88A2B7}"/>
                </a:ext>
              </a:extLst>
            </p:cNvPr>
            <p:cNvSpPr/>
            <p:nvPr/>
          </p:nvSpPr>
          <p:spPr>
            <a:xfrm>
              <a:off x="6656505" y="791835"/>
              <a:ext cx="254405" cy="3657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352DE256-C9B7-4F7F-8902-C473AB535AAE}"/>
                </a:ext>
              </a:extLst>
            </p:cNvPr>
            <p:cNvSpPr txBox="1"/>
            <p:nvPr/>
          </p:nvSpPr>
          <p:spPr>
            <a:xfrm>
              <a:off x="6302756" y="873562"/>
              <a:ext cx="10066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Energy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B029E5A8-C74C-486E-AF2A-080FDFA7788E}"/>
                </a:ext>
              </a:extLst>
            </p:cNvPr>
            <p:cNvSpPr txBox="1"/>
            <p:nvPr/>
          </p:nvSpPr>
          <p:spPr>
            <a:xfrm>
              <a:off x="7268603" y="862193"/>
              <a:ext cx="10066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Energy</a:t>
              </a:r>
            </a:p>
          </p:txBody>
        </p:sp>
        <p:sp>
          <p:nvSpPr>
            <p:cNvPr id="115" name="Arrow: Right 114">
              <a:extLst>
                <a:ext uri="{FF2B5EF4-FFF2-40B4-BE49-F238E27FC236}">
                  <a16:creationId xmlns:a16="http://schemas.microsoft.com/office/drawing/2014/main" id="{50C4A20B-F153-43A2-986A-1C704A705B48}"/>
                </a:ext>
              </a:extLst>
            </p:cNvPr>
            <p:cNvSpPr/>
            <p:nvPr/>
          </p:nvSpPr>
          <p:spPr>
            <a:xfrm>
              <a:off x="7085723" y="498503"/>
              <a:ext cx="365760" cy="18288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6DDA4195-C5F3-4D32-AB5A-D4F0FE47FF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17196" t="6647" r="73027" b="74624"/>
            <a:stretch/>
          </p:blipFill>
          <p:spPr>
            <a:xfrm>
              <a:off x="7420063" y="-21785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84EB0242-A99E-4731-B995-08AB0C289194}"/>
                </a:ext>
              </a:extLst>
            </p:cNvPr>
            <p:cNvSpPr/>
            <p:nvPr/>
          </p:nvSpPr>
          <p:spPr>
            <a:xfrm>
              <a:off x="7601295" y="482799"/>
              <a:ext cx="243672" cy="334983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348FC4D6-B152-4DE2-9C86-4E405A8D2895}"/>
              </a:ext>
            </a:extLst>
          </p:cNvPr>
          <p:cNvSpPr/>
          <p:nvPr/>
        </p:nvSpPr>
        <p:spPr>
          <a:xfrm>
            <a:off x="4271921" y="3508012"/>
            <a:ext cx="1048098" cy="21296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Forager: 1 </a:t>
            </a:r>
          </a:p>
        </p:txBody>
      </p:sp>
    </p:spTree>
    <p:extLst>
      <p:ext uri="{BB962C8B-B14F-4D97-AF65-F5344CB8AC3E}">
        <p14:creationId xmlns:p14="http://schemas.microsoft.com/office/powerpoint/2010/main" val="2301334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1776145" y="1701206"/>
            <a:ext cx="8298388" cy="4529601"/>
          </a:xfrm>
          <a:prstGeom prst="rect">
            <a:avLst/>
          </a:prstGeom>
          <a:gradFill flip="none" rotWithShape="1">
            <a:gsLst>
              <a:gs pos="59173">
                <a:srgbClr val="6C3C3C"/>
              </a:gs>
              <a:gs pos="42900">
                <a:srgbClr val="6C3C3C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014" y="1699365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E6F67821-0371-4DFE-A091-17B83DA69D25}"/>
              </a:ext>
            </a:extLst>
          </p:cNvPr>
          <p:cNvGrpSpPr/>
          <p:nvPr/>
        </p:nvGrpSpPr>
        <p:grpSpPr>
          <a:xfrm>
            <a:off x="1585303" y="3012122"/>
            <a:ext cx="8658299" cy="2225347"/>
            <a:chOff x="1891845" y="3231495"/>
            <a:chExt cx="8658299" cy="222534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76A888-2ECE-4AB8-B3F1-7FAA0C246190}"/>
                </a:ext>
              </a:extLst>
            </p:cNvPr>
            <p:cNvGrpSpPr/>
            <p:nvPr/>
          </p:nvGrpSpPr>
          <p:grpSpPr>
            <a:xfrm>
              <a:off x="6134512" y="3260052"/>
              <a:ext cx="4415632" cy="2196790"/>
              <a:chOff x="6134512" y="3260052"/>
              <a:chExt cx="4415632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1AA6A18C-73F4-401D-82EE-666BB3B07B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01E9D3B5-52CB-4EF8-90FC-755ABBC515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188FB62C-34AF-4D50-A582-835C2B68A3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72C09B0-38AE-4298-87F2-CEBDE777AC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A86F7CDD-CE4B-4F06-B4D3-ED79669E61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42A4542D-33A8-48CB-96B9-A3CB23BA9B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F55B17BF-6755-4D69-B4A3-66188C6913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4EF482C0-DD48-49B4-B9AC-0DF016227C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FB921A53-B0CB-45B0-8E81-8C3204D12F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D2362C5E-F9F0-4F7E-B59D-F1674DE0A2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4512" y="5417361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A28C2BD-3438-4DD0-9510-71B97A3AA584}"/>
                </a:ext>
              </a:extLst>
            </p:cNvPr>
            <p:cNvGrpSpPr/>
            <p:nvPr/>
          </p:nvGrpSpPr>
          <p:grpSpPr>
            <a:xfrm flipH="1">
              <a:off x="1891845" y="3231495"/>
              <a:ext cx="3207515" cy="2196790"/>
              <a:chOff x="7342629" y="3260052"/>
              <a:chExt cx="3207515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6A4429FD-2F8B-4756-BC73-88AC77BB5A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84612499-76E3-4012-B764-2EABB64907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563BBC51-E788-421A-9D78-C0AF97458B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1C8B67D9-5F75-4548-AF92-72DA0E5D9C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6FBFC15B-92B7-4397-AC9C-D5A1E4A59F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8C2C415F-32F1-4E09-A2F8-D62A5EC584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C9D4B07B-BE0D-4D53-8815-B8A7F05FD4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31FF8A1B-4116-45F8-8D80-0626EE9CD0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8CDCDBFF-DDED-4721-8523-4FFB745BAF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957341" y="56282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7A98A89-D7B7-4239-BDD4-466CE19FB404}"/>
              </a:ext>
            </a:extLst>
          </p:cNvPr>
          <p:cNvSpPr txBox="1"/>
          <p:nvPr/>
        </p:nvSpPr>
        <p:spPr>
          <a:xfrm>
            <a:off x="4532095" y="4794759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05943CF-7D2D-449E-A836-6D1B13CF1339}"/>
              </a:ext>
            </a:extLst>
          </p:cNvPr>
          <p:cNvSpPr txBox="1"/>
          <p:nvPr/>
        </p:nvSpPr>
        <p:spPr>
          <a:xfrm>
            <a:off x="2633267" y="266177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7995D19-5C76-48E3-88EF-BEDB705B7642}"/>
              </a:ext>
            </a:extLst>
          </p:cNvPr>
          <p:cNvSpPr txBox="1"/>
          <p:nvPr/>
        </p:nvSpPr>
        <p:spPr>
          <a:xfrm>
            <a:off x="1982927" y="4825562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7DA028B-90B7-4E43-B91A-D6F20C5CA9BD}"/>
              </a:ext>
            </a:extLst>
          </p:cNvPr>
          <p:cNvSpPr txBox="1"/>
          <p:nvPr/>
        </p:nvSpPr>
        <p:spPr>
          <a:xfrm>
            <a:off x="3645640" y="2664983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BB45CFA-21D2-4863-A70F-5CF1B83C7394}"/>
              </a:ext>
            </a:extLst>
          </p:cNvPr>
          <p:cNvSpPr txBox="1"/>
          <p:nvPr/>
        </p:nvSpPr>
        <p:spPr>
          <a:xfrm>
            <a:off x="3542237" y="3273576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0900940-F8EC-4A9B-AD4A-8CFE503F3A6E}"/>
              </a:ext>
            </a:extLst>
          </p:cNvPr>
          <p:cNvSpPr txBox="1"/>
          <p:nvPr/>
        </p:nvSpPr>
        <p:spPr>
          <a:xfrm>
            <a:off x="3416884" y="401095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D02A333-1E99-41B8-BE58-5ECCDC7BD555}"/>
              </a:ext>
            </a:extLst>
          </p:cNvPr>
          <p:cNvSpPr txBox="1"/>
          <p:nvPr/>
        </p:nvSpPr>
        <p:spPr>
          <a:xfrm>
            <a:off x="3268441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125BC97-BA80-45C4-A828-95A96668CCE6}"/>
              </a:ext>
            </a:extLst>
          </p:cNvPr>
          <p:cNvSpPr txBox="1"/>
          <p:nvPr/>
        </p:nvSpPr>
        <p:spPr>
          <a:xfrm>
            <a:off x="5834087" y="4824239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9AA271A-8298-4EBE-B2FE-A5284285502F}"/>
              </a:ext>
            </a:extLst>
          </p:cNvPr>
          <p:cNvSpPr txBox="1"/>
          <p:nvPr/>
        </p:nvSpPr>
        <p:spPr>
          <a:xfrm>
            <a:off x="7100261" y="48557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FADD980-3F05-4877-9F07-6D2908783F97}"/>
              </a:ext>
            </a:extLst>
          </p:cNvPr>
          <p:cNvSpPr txBox="1"/>
          <p:nvPr/>
        </p:nvSpPr>
        <p:spPr>
          <a:xfrm>
            <a:off x="7986957" y="2696090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B523829-5F1B-467B-86F7-F823E43A485F}"/>
              </a:ext>
            </a:extLst>
          </p:cNvPr>
          <p:cNvSpPr txBox="1"/>
          <p:nvPr/>
        </p:nvSpPr>
        <p:spPr>
          <a:xfrm>
            <a:off x="8103883" y="3294523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26DA491-E4BB-4DA9-81D4-FAA03DA95165}"/>
              </a:ext>
            </a:extLst>
          </p:cNvPr>
          <p:cNvSpPr txBox="1"/>
          <p:nvPr/>
        </p:nvSpPr>
        <p:spPr>
          <a:xfrm>
            <a:off x="8228143" y="40221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989ADC-976E-4925-81C5-56BA77C6B425}"/>
              </a:ext>
            </a:extLst>
          </p:cNvPr>
          <p:cNvSpPr txBox="1"/>
          <p:nvPr/>
        </p:nvSpPr>
        <p:spPr>
          <a:xfrm>
            <a:off x="8393145" y="48906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30D1D59-471F-4E79-A09B-AA371826C293}"/>
              </a:ext>
            </a:extLst>
          </p:cNvPr>
          <p:cNvSpPr txBox="1"/>
          <p:nvPr/>
        </p:nvSpPr>
        <p:spPr>
          <a:xfrm>
            <a:off x="9062116" y="26782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09403F1-0E5F-4280-B357-F290A704FFD4}"/>
              </a:ext>
            </a:extLst>
          </p:cNvPr>
          <p:cNvSpPr txBox="1"/>
          <p:nvPr/>
        </p:nvSpPr>
        <p:spPr>
          <a:xfrm>
            <a:off x="9203553" y="3288282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B41C7E3-D045-4B72-8BD8-CD604A13A397}"/>
              </a:ext>
            </a:extLst>
          </p:cNvPr>
          <p:cNvSpPr txBox="1"/>
          <p:nvPr/>
        </p:nvSpPr>
        <p:spPr>
          <a:xfrm>
            <a:off x="9479944" y="404329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1989A41-9219-40A3-8330-F761AE0DE8A5}"/>
              </a:ext>
            </a:extLst>
          </p:cNvPr>
          <p:cNvSpPr txBox="1"/>
          <p:nvPr/>
        </p:nvSpPr>
        <p:spPr>
          <a:xfrm>
            <a:off x="9676949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306523" y="5718072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If the selected patch is occupied by several fish of a different species, the incoming fish will only outcompete the different species if their size is larger than the cumulative size of the different species.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129E048-1567-49BD-ACE0-2AAAC078BA08}"/>
              </a:ext>
            </a:extLst>
          </p:cNvPr>
          <p:cNvSpPr txBox="1"/>
          <p:nvPr/>
        </p:nvSpPr>
        <p:spPr>
          <a:xfrm>
            <a:off x="2134347" y="4022108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974823B-4ADA-42E6-BF4D-58899B5CE3D8}"/>
              </a:ext>
            </a:extLst>
          </p:cNvPr>
          <p:cNvSpPr txBox="1"/>
          <p:nvPr/>
        </p:nvSpPr>
        <p:spPr>
          <a:xfrm>
            <a:off x="2393847" y="328111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5FE6D17-75DB-44EA-9ACA-1060DE62658E}"/>
              </a:ext>
            </a:extLst>
          </p:cNvPr>
          <p:cNvGrpSpPr/>
          <p:nvPr/>
        </p:nvGrpSpPr>
        <p:grpSpPr>
          <a:xfrm>
            <a:off x="9363454" y="189073"/>
            <a:ext cx="3396953" cy="2103452"/>
            <a:chOff x="9486977" y="861094"/>
            <a:chExt cx="3396953" cy="2103452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EDFE4E65-E31A-46B6-B80F-1DCBFCCFB56C}"/>
                </a:ext>
              </a:extLst>
            </p:cNvPr>
            <p:cNvGrpSpPr/>
            <p:nvPr/>
          </p:nvGrpSpPr>
          <p:grpSpPr>
            <a:xfrm>
              <a:off x="9486977" y="861094"/>
              <a:ext cx="3396953" cy="2103452"/>
              <a:chOff x="9267697" y="5389514"/>
              <a:chExt cx="3396953" cy="2103452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ACE758A5-5C83-48A3-98BB-FC1CDBCE7313}"/>
                  </a:ext>
                </a:extLst>
              </p:cNvPr>
              <p:cNvSpPr/>
              <p:nvPr/>
            </p:nvSpPr>
            <p:spPr>
              <a:xfrm>
                <a:off x="9267697" y="5787731"/>
                <a:ext cx="2497656" cy="170523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8C1F4471-1D11-4FF1-81D4-00981F97DED0}"/>
                  </a:ext>
                </a:extLst>
              </p:cNvPr>
              <p:cNvSpPr/>
              <p:nvPr/>
            </p:nvSpPr>
            <p:spPr>
              <a:xfrm>
                <a:off x="9395253" y="5958699"/>
                <a:ext cx="365760" cy="23342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E3616B5B-141C-4419-809F-DE9CAA918066}"/>
                  </a:ext>
                </a:extLst>
              </p:cNvPr>
              <p:cNvSpPr/>
              <p:nvPr/>
            </p:nvSpPr>
            <p:spPr>
              <a:xfrm>
                <a:off x="9414592" y="6703367"/>
                <a:ext cx="365760" cy="23342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E59005B-333B-4D70-B945-C5B3A252F4B5}"/>
                  </a:ext>
                </a:extLst>
              </p:cNvPr>
              <p:cNvSpPr txBox="1"/>
              <p:nvPr/>
            </p:nvSpPr>
            <p:spPr>
              <a:xfrm>
                <a:off x="9743225" y="5891916"/>
                <a:ext cx="22031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Salinity (</a:t>
                </a:r>
                <a:r>
                  <a:rPr lang="en-US" b="1" i="1" dirty="0" err="1"/>
                  <a:t>psu</a:t>
                </a:r>
                <a:r>
                  <a:rPr lang="en-US" dirty="0"/>
                  <a:t>) 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7CF2A430-65F3-4D81-A76E-7D0E8757CDA1}"/>
                      </a:ext>
                    </a:extLst>
                  </p:cNvPr>
                  <p:cNvSpPr txBox="1"/>
                  <p:nvPr/>
                </p:nvSpPr>
                <p:spPr>
                  <a:xfrm>
                    <a:off x="9770694" y="6624633"/>
                    <a:ext cx="289395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Current Velocity (</a:t>
                    </a:r>
                    <a14:m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oMath>
                    </a14:m>
                    <a:r>
                      <a:rPr lang="en-US" dirty="0"/>
                      <a:t>) </a:t>
                    </a:r>
                  </a:p>
                </p:txBody>
              </p:sp>
            </mc:Choice>
            <mc:Fallback xmlns="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7CF2A430-65F3-4D81-A76E-7D0E8757CD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70694" y="6624633"/>
                    <a:ext cx="2893956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895" t="-1000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29C8B95-12C8-4562-A7CA-5DD9E13F4EAE}"/>
                  </a:ext>
                </a:extLst>
              </p:cNvPr>
              <p:cNvSpPr txBox="1"/>
              <p:nvPr/>
            </p:nvSpPr>
            <p:spPr>
              <a:xfrm>
                <a:off x="9726219" y="5389514"/>
                <a:ext cx="1687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Legend</a:t>
                </a:r>
              </a:p>
            </p:txBody>
          </p:sp>
        </p:grp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D05BD26-1DB7-47F2-B94F-B676E34E3399}"/>
                </a:ext>
              </a:extLst>
            </p:cNvPr>
            <p:cNvSpPr/>
            <p:nvPr/>
          </p:nvSpPr>
          <p:spPr>
            <a:xfrm>
              <a:off x="9622721" y="1802884"/>
              <a:ext cx="365760" cy="233429"/>
            </a:xfrm>
            <a:prstGeom prst="rect">
              <a:avLst/>
            </a:prstGeom>
            <a:solidFill>
              <a:srgbClr val="C0161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799940DA-EA48-40A1-A471-24013DD62DBC}"/>
                    </a:ext>
                  </a:extLst>
                </p:cNvPr>
                <p:cNvSpPr txBox="1"/>
                <p:nvPr/>
              </p:nvSpPr>
              <p:spPr>
                <a:xfrm>
                  <a:off x="9978823" y="1724150"/>
                  <a:ext cx="289395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Temperature (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a14:m>
                  <a:r>
                    <a:rPr lang="en-US" dirty="0"/>
                    <a:t>) </a:t>
                  </a: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799940DA-EA48-40A1-A471-24013DD62D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8823" y="1724150"/>
                  <a:ext cx="2893956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1899"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6" name="Rectangle 95">
            <a:extLst>
              <a:ext uri="{FF2B5EF4-FFF2-40B4-BE49-F238E27FC236}">
                <a16:creationId xmlns:a16="http://schemas.microsoft.com/office/drawing/2014/main" id="{A7E69A02-6C94-4036-A728-0A62224DEF2B}"/>
              </a:ext>
            </a:extLst>
          </p:cNvPr>
          <p:cNvSpPr/>
          <p:nvPr/>
        </p:nvSpPr>
        <p:spPr>
          <a:xfrm>
            <a:off x="9520007" y="1890990"/>
            <a:ext cx="365760" cy="233429"/>
          </a:xfrm>
          <a:prstGeom prst="rect">
            <a:avLst/>
          </a:prstGeom>
          <a:solidFill>
            <a:srgbClr val="6C3C3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42EC7B2-DA6E-4EF6-8F09-8BAF68F463EE}"/>
              </a:ext>
            </a:extLst>
          </p:cNvPr>
          <p:cNvSpPr txBox="1"/>
          <p:nvPr/>
        </p:nvSpPr>
        <p:spPr>
          <a:xfrm>
            <a:off x="9876109" y="1812256"/>
            <a:ext cx="2893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SPM (</a:t>
            </a:r>
            <a:r>
              <a:rPr lang="en-US" b="1" i="1" dirty="0"/>
              <a:t>g/L</a:t>
            </a:r>
            <a:r>
              <a:rPr lang="en-US" dirty="0"/>
              <a:t>) </a:t>
            </a: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4606E9D0-CCFF-48C0-B67C-7BB807B7EF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667" r="57122" b="74836"/>
          <a:stretch/>
        </p:blipFill>
        <p:spPr>
          <a:xfrm flipH="1">
            <a:off x="6548321" y="3081079"/>
            <a:ext cx="1048225" cy="1013201"/>
          </a:xfrm>
          <a:prstGeom prst="rect">
            <a:avLst/>
          </a:prstGeom>
          <a:ln w="57150">
            <a:solidFill>
              <a:srgbClr val="FFC000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2E7635E-2A71-4DE4-AC6F-D03B398BA01A}"/>
              </a:ext>
            </a:extLst>
          </p:cNvPr>
          <p:cNvGrpSpPr/>
          <p:nvPr/>
        </p:nvGrpSpPr>
        <p:grpSpPr>
          <a:xfrm>
            <a:off x="5157074" y="1454680"/>
            <a:ext cx="1438648" cy="1081927"/>
            <a:chOff x="1880406" y="1328694"/>
            <a:chExt cx="1438648" cy="108192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94CD7E2-905A-405C-9594-ACACE159E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3C9ADDD-6F2E-43C5-8890-9D49AEA5ABCB}"/>
                </a:ext>
              </a:extLst>
            </p:cNvPr>
            <p:cNvSpPr txBox="1"/>
            <p:nvPr/>
          </p:nvSpPr>
          <p:spPr>
            <a:xfrm>
              <a:off x="2157251" y="1328694"/>
              <a:ext cx="905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Forager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9BB8486-F331-4118-8833-76692BEDBF1D}"/>
              </a:ext>
            </a:extLst>
          </p:cNvPr>
          <p:cNvSpPr txBox="1"/>
          <p:nvPr/>
        </p:nvSpPr>
        <p:spPr>
          <a:xfrm>
            <a:off x="4447402" y="2718186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0.3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48E4B34-2036-497C-AFF4-72603B4144DF}"/>
              </a:ext>
            </a:extLst>
          </p:cNvPr>
          <p:cNvSpPr txBox="1"/>
          <p:nvPr/>
        </p:nvSpPr>
        <p:spPr>
          <a:xfrm>
            <a:off x="5482796" y="3970606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A3D3625-8117-45B7-BED0-946B293217A7}"/>
              </a:ext>
            </a:extLst>
          </p:cNvPr>
          <p:cNvSpPr txBox="1"/>
          <p:nvPr/>
        </p:nvSpPr>
        <p:spPr>
          <a:xfrm>
            <a:off x="6593740" y="2696090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0.2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5D5E15A-F550-4443-808B-5C54C6B4006E}"/>
              </a:ext>
            </a:extLst>
          </p:cNvPr>
          <p:cNvSpPr txBox="1"/>
          <p:nvPr/>
        </p:nvSpPr>
        <p:spPr>
          <a:xfrm>
            <a:off x="6699811" y="3964165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0.7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B39B999-DB81-44E8-921B-4E583A62A561}"/>
              </a:ext>
            </a:extLst>
          </p:cNvPr>
          <p:cNvSpPr txBox="1"/>
          <p:nvPr/>
        </p:nvSpPr>
        <p:spPr>
          <a:xfrm>
            <a:off x="4446792" y="3324430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0.8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424BD8E-CE93-4F04-8463-9CBAD0F0404E}"/>
              </a:ext>
            </a:extLst>
          </p:cNvPr>
          <p:cNvSpPr txBox="1"/>
          <p:nvPr/>
        </p:nvSpPr>
        <p:spPr>
          <a:xfrm>
            <a:off x="4408255" y="3978564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0.6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12C8E18-9AE8-44EB-8145-52584FF336AC}"/>
              </a:ext>
            </a:extLst>
          </p:cNvPr>
          <p:cNvSpPr txBox="1"/>
          <p:nvPr/>
        </p:nvSpPr>
        <p:spPr>
          <a:xfrm>
            <a:off x="5527042" y="2703507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0.3</a:t>
            </a:r>
          </a:p>
        </p:txBody>
      </p:sp>
      <p:sp>
        <p:nvSpPr>
          <p:cNvPr id="82" name="Arrow: Up-Down 81">
            <a:extLst>
              <a:ext uri="{FF2B5EF4-FFF2-40B4-BE49-F238E27FC236}">
                <a16:creationId xmlns:a16="http://schemas.microsoft.com/office/drawing/2014/main" id="{84270C7A-CC37-4BF3-8772-A8A0C6C58035}"/>
              </a:ext>
            </a:extLst>
          </p:cNvPr>
          <p:cNvSpPr/>
          <p:nvPr/>
        </p:nvSpPr>
        <p:spPr>
          <a:xfrm>
            <a:off x="5764506" y="2383873"/>
            <a:ext cx="208670" cy="128016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076565-5452-43BC-9FF1-3FB78D97A2FA}"/>
              </a:ext>
            </a:extLst>
          </p:cNvPr>
          <p:cNvCxnSpPr>
            <a:cxnSpLocks/>
          </p:cNvCxnSpPr>
          <p:nvPr/>
        </p:nvCxnSpPr>
        <p:spPr>
          <a:xfrm flipV="1">
            <a:off x="7353324" y="2138925"/>
            <a:ext cx="398319" cy="12801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DEAC0928-FDC6-4DEE-BAE5-E16241EE7E6C}"/>
              </a:ext>
            </a:extLst>
          </p:cNvPr>
          <p:cNvSpPr txBox="1"/>
          <p:nvPr/>
        </p:nvSpPr>
        <p:spPr>
          <a:xfrm>
            <a:off x="6842164" y="1459884"/>
            <a:ext cx="1925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Foragers of a Different Species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DCC9869-5313-4CE6-9508-DA91128E6414}"/>
              </a:ext>
            </a:extLst>
          </p:cNvPr>
          <p:cNvSpPr txBox="1"/>
          <p:nvPr/>
        </p:nvSpPr>
        <p:spPr>
          <a:xfrm>
            <a:off x="29496" y="84553"/>
            <a:ext cx="355874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Interspecific Competition </a:t>
            </a:r>
            <a:r>
              <a:rPr lang="en-US" sz="2000" dirty="0"/>
              <a:t>(multiple fish - different species)</a:t>
            </a:r>
            <a:endParaRPr lang="en-US" sz="3600" dirty="0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43F1084A-740D-4643-8FD9-1737734C7B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6517" y="3685092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300EDFF5-8155-4859-93F1-BD005E2784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9733" y="3553296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A0AE9EB1-4A82-456B-B5A4-98BE4BA4B0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2752" y="3669020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A7CCAB56-7E88-4C79-9477-FC095E7BB8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0548" y="3392312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324026D5-760D-41AC-9D3C-8E444E1CCF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3764" y="3260516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37F10E88-DB68-4466-934A-F07B43033D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2752" y="3383502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5421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5D5288F-41C4-43B1-8D0A-F4D11CA86244}"/>
              </a:ext>
            </a:extLst>
          </p:cNvPr>
          <p:cNvCxnSpPr>
            <a:cxnSpLocks/>
          </p:cNvCxnSpPr>
          <p:nvPr/>
        </p:nvCxnSpPr>
        <p:spPr>
          <a:xfrm>
            <a:off x="786000" y="3958681"/>
            <a:ext cx="1048214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B96FB0B-B086-4E45-9B32-45E5B1CEA8C3}"/>
              </a:ext>
            </a:extLst>
          </p:cNvPr>
          <p:cNvSpPr txBox="1"/>
          <p:nvPr/>
        </p:nvSpPr>
        <p:spPr>
          <a:xfrm>
            <a:off x="4816039" y="5791013"/>
            <a:ext cx="2631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Species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F248A9-BC1A-4B44-86DD-7A6E4561FEFD}"/>
              </a:ext>
            </a:extLst>
          </p:cNvPr>
          <p:cNvSpPr txBox="1"/>
          <p:nvPr/>
        </p:nvSpPr>
        <p:spPr>
          <a:xfrm>
            <a:off x="1991775" y="1619625"/>
            <a:ext cx="2631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Size</a:t>
            </a:r>
            <a:endParaRPr lang="en-US" sz="36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9E9B60-77DE-49AE-9EF0-3E1F5C7A32B6}"/>
              </a:ext>
            </a:extLst>
          </p:cNvPr>
          <p:cNvCxnSpPr>
            <a:cxnSpLocks/>
          </p:cNvCxnSpPr>
          <p:nvPr/>
        </p:nvCxnSpPr>
        <p:spPr>
          <a:xfrm rot="16200000">
            <a:off x="-1514391" y="3958681"/>
            <a:ext cx="457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3244798-EFAC-4F5B-A0F1-9E44E477DCB7}"/>
              </a:ext>
            </a:extLst>
          </p:cNvPr>
          <p:cNvSpPr txBox="1"/>
          <p:nvPr/>
        </p:nvSpPr>
        <p:spPr>
          <a:xfrm>
            <a:off x="6798221" y="1555585"/>
            <a:ext cx="4275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Resource</a:t>
            </a:r>
            <a:r>
              <a:rPr lang="en-US" sz="3600" b="1" dirty="0"/>
              <a:t> </a:t>
            </a:r>
            <a:r>
              <a:rPr lang="en-US" sz="3200" b="1" dirty="0"/>
              <a:t>Allocation</a:t>
            </a:r>
            <a:endParaRPr lang="en-US" sz="3600" b="1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F62620F-ADD3-4C31-A35F-38AE84BAC5EB}"/>
              </a:ext>
            </a:extLst>
          </p:cNvPr>
          <p:cNvGrpSpPr/>
          <p:nvPr/>
        </p:nvGrpSpPr>
        <p:grpSpPr>
          <a:xfrm>
            <a:off x="812972" y="2629148"/>
            <a:ext cx="10566055" cy="2964958"/>
            <a:chOff x="1274346" y="1815111"/>
            <a:chExt cx="10566055" cy="296495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ECE9775-FDB6-4FA5-9FC3-482E5CC62D80}"/>
                </a:ext>
              </a:extLst>
            </p:cNvPr>
            <p:cNvGrpSpPr/>
            <p:nvPr/>
          </p:nvGrpSpPr>
          <p:grpSpPr>
            <a:xfrm>
              <a:off x="1274346" y="3382833"/>
              <a:ext cx="1438648" cy="1027904"/>
              <a:chOff x="1880406" y="1698026"/>
              <a:chExt cx="1438648" cy="1027904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A89E94E6-484C-4366-AD98-3B6D65935E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1880406" y="1698026"/>
                <a:ext cx="1438648" cy="830997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69D32C-7395-4C45-A4E6-0FA6143DAA05}"/>
                  </a:ext>
                </a:extLst>
              </p:cNvPr>
              <p:cNvSpPr txBox="1"/>
              <p:nvPr/>
            </p:nvSpPr>
            <p:spPr>
              <a:xfrm>
                <a:off x="2052507" y="2264265"/>
                <a:ext cx="114864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Forager</a:t>
                </a: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8C3FF57-8973-4AD7-BC4D-B432FC848C58}"/>
                </a:ext>
              </a:extLst>
            </p:cNvPr>
            <p:cNvSpPr/>
            <p:nvPr/>
          </p:nvSpPr>
          <p:spPr>
            <a:xfrm>
              <a:off x="1446447" y="1817649"/>
              <a:ext cx="1148648" cy="107230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629A954-5DA4-4541-8937-1457821C2008}"/>
                </a:ext>
              </a:extLst>
            </p:cNvPr>
            <p:cNvSpPr/>
            <p:nvPr/>
          </p:nvSpPr>
          <p:spPr>
            <a:xfrm>
              <a:off x="4497070" y="2437539"/>
              <a:ext cx="457200" cy="4572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808EBD2-218F-437B-BB30-029FA55D0386}"/>
                </a:ext>
              </a:extLst>
            </p:cNvPr>
            <p:cNvSpPr/>
            <p:nvPr/>
          </p:nvSpPr>
          <p:spPr>
            <a:xfrm>
              <a:off x="4497070" y="1816855"/>
              <a:ext cx="457200" cy="4572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964A799-5C67-41A8-9748-18E1AB58D889}"/>
                </a:ext>
              </a:extLst>
            </p:cNvPr>
            <p:cNvSpPr/>
            <p:nvPr/>
          </p:nvSpPr>
          <p:spPr>
            <a:xfrm>
              <a:off x="9716015" y="1830138"/>
              <a:ext cx="1148648" cy="1072309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A7E1EAB-4FB0-4D87-9273-4EA75CF11390}"/>
                </a:ext>
              </a:extLst>
            </p:cNvPr>
            <p:cNvGrpSpPr/>
            <p:nvPr/>
          </p:nvGrpSpPr>
          <p:grpSpPr>
            <a:xfrm>
              <a:off x="3213127" y="3323859"/>
              <a:ext cx="2923547" cy="1456210"/>
              <a:chOff x="3213127" y="3323859"/>
              <a:chExt cx="2923547" cy="145621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2C55EDD-89ED-45E4-898A-B3C48F5FCC2D}"/>
                  </a:ext>
                </a:extLst>
              </p:cNvPr>
              <p:cNvGrpSpPr/>
              <p:nvPr/>
            </p:nvGrpSpPr>
            <p:grpSpPr>
              <a:xfrm>
                <a:off x="3213127" y="3329761"/>
                <a:ext cx="2923547" cy="1450308"/>
                <a:chOff x="2923195" y="2617166"/>
                <a:chExt cx="2923547" cy="1450308"/>
              </a:xfrm>
            </p:grpSpPr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1B13AFB5-A59C-45C3-8635-46E73BE056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4128126" y="2617166"/>
                  <a:ext cx="864857" cy="499562"/>
                </a:xfrm>
                <a:prstGeom prst="rect">
                  <a:avLst/>
                </a:prstGeom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940481D3-84FA-49A0-B75F-11F8A63D79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3812175" y="2887457"/>
                  <a:ext cx="864857" cy="499562"/>
                </a:xfrm>
                <a:prstGeom prst="rect">
                  <a:avLst/>
                </a:prstGeom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6E2E64D-5209-48DB-B918-CD7D30B16DD1}"/>
                    </a:ext>
                  </a:extLst>
                </p:cNvPr>
                <p:cNvSpPr txBox="1"/>
                <p:nvPr/>
              </p:nvSpPr>
              <p:spPr>
                <a:xfrm>
                  <a:off x="2923195" y="3236477"/>
                  <a:ext cx="292354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1" dirty="0"/>
                    <a:t>Foragers of a Different Species</a:t>
                  </a:r>
                </a:p>
              </p:txBody>
            </p:sp>
          </p:grpSp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8CC116FA-6232-40B2-827D-E7898ACAB9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5160936" y="3363214"/>
                <a:ext cx="864857" cy="499562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3C6DAA2C-AC99-4B4D-B023-E9AFE1A8F0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4844985" y="3633505"/>
                <a:ext cx="864857" cy="499562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734BE0F7-403D-4983-A2C8-20684945D3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3693549" y="3323859"/>
                <a:ext cx="864857" cy="499562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5275B4B7-007E-419A-86A2-8D9A926BDD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3377598" y="3594150"/>
                <a:ext cx="864857" cy="499562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9E23910-2301-4769-ABEB-66BC85B50EC9}"/>
                </a:ext>
              </a:extLst>
            </p:cNvPr>
            <p:cNvSpPr/>
            <p:nvPr/>
          </p:nvSpPr>
          <p:spPr>
            <a:xfrm>
              <a:off x="5215990" y="2445247"/>
              <a:ext cx="457200" cy="4572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5C58705-AADF-412E-AA92-2F3C71539D5B}"/>
                </a:ext>
              </a:extLst>
            </p:cNvPr>
            <p:cNvSpPr/>
            <p:nvPr/>
          </p:nvSpPr>
          <p:spPr>
            <a:xfrm>
              <a:off x="5215990" y="1824563"/>
              <a:ext cx="457200" cy="4572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20D88AD-1586-4E79-AA98-869DEDA25836}"/>
                </a:ext>
              </a:extLst>
            </p:cNvPr>
            <p:cNvSpPr/>
            <p:nvPr/>
          </p:nvSpPr>
          <p:spPr>
            <a:xfrm>
              <a:off x="3771889" y="2435795"/>
              <a:ext cx="457200" cy="4572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2275092-C91F-41A9-9C61-242ED1E17523}"/>
                </a:ext>
              </a:extLst>
            </p:cNvPr>
            <p:cNvSpPr/>
            <p:nvPr/>
          </p:nvSpPr>
          <p:spPr>
            <a:xfrm>
              <a:off x="3771889" y="1815111"/>
              <a:ext cx="457200" cy="4572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5975335-13FF-4AAC-81F0-4054CB5B94C5}"/>
                </a:ext>
              </a:extLst>
            </p:cNvPr>
            <p:cNvGrpSpPr/>
            <p:nvPr/>
          </p:nvGrpSpPr>
          <p:grpSpPr>
            <a:xfrm>
              <a:off x="8916854" y="3323859"/>
              <a:ext cx="2923547" cy="1456210"/>
              <a:chOff x="3213127" y="3323859"/>
              <a:chExt cx="2923547" cy="1456210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CA3E859F-9276-4590-A171-1B6F41F4ED07}"/>
                  </a:ext>
                </a:extLst>
              </p:cNvPr>
              <p:cNvGrpSpPr/>
              <p:nvPr/>
            </p:nvGrpSpPr>
            <p:grpSpPr>
              <a:xfrm>
                <a:off x="3213127" y="3329761"/>
                <a:ext cx="2923547" cy="1450308"/>
                <a:chOff x="2923195" y="2617166"/>
                <a:chExt cx="2923547" cy="1450308"/>
              </a:xfrm>
            </p:grpSpPr>
            <p:pic>
              <p:nvPicPr>
                <p:cNvPr id="54" name="Picture 53">
                  <a:extLst>
                    <a:ext uri="{FF2B5EF4-FFF2-40B4-BE49-F238E27FC236}">
                      <a16:creationId xmlns:a16="http://schemas.microsoft.com/office/drawing/2014/main" id="{5BE51216-FBCD-49B4-A750-84DEC3855C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4128126" y="2617166"/>
                  <a:ext cx="864857" cy="499562"/>
                </a:xfrm>
                <a:prstGeom prst="rect">
                  <a:avLst/>
                </a:prstGeom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55" name="Picture 54">
                  <a:extLst>
                    <a:ext uri="{FF2B5EF4-FFF2-40B4-BE49-F238E27FC236}">
                      <a16:creationId xmlns:a16="http://schemas.microsoft.com/office/drawing/2014/main" id="{824ACBF4-43D5-4F66-8ABC-98A698F0D3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3812175" y="2887457"/>
                  <a:ext cx="864857" cy="499562"/>
                </a:xfrm>
                <a:prstGeom prst="rect">
                  <a:avLst/>
                </a:prstGeom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E49D782C-FB00-442A-94B8-703D59B079D7}"/>
                    </a:ext>
                  </a:extLst>
                </p:cNvPr>
                <p:cNvSpPr txBox="1"/>
                <p:nvPr/>
              </p:nvSpPr>
              <p:spPr>
                <a:xfrm>
                  <a:off x="2923195" y="3236477"/>
                  <a:ext cx="292354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1" dirty="0"/>
                    <a:t>Foragers of a Different Species</a:t>
                  </a:r>
                </a:p>
              </p:txBody>
            </p:sp>
          </p:grpSp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B9C50401-43B4-4719-BCC8-DECC04726D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5160936" y="3363214"/>
                <a:ext cx="864857" cy="499562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3C840621-C35E-4773-91C8-E9A4BFD13B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4844985" y="3633505"/>
                <a:ext cx="864857" cy="499562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21EE0B84-6E8D-4651-95CF-1C23EB5F64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3693549" y="3323859"/>
                <a:ext cx="864857" cy="499562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B9EFD69A-57D2-452E-8706-3FA928AB06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3377598" y="3594150"/>
                <a:ext cx="864857" cy="499562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CA4C336F-BFE8-4574-9AA0-0A49DD4AC7BC}"/>
                </a:ext>
              </a:extLst>
            </p:cNvPr>
            <p:cNvGrpSpPr/>
            <p:nvPr/>
          </p:nvGrpSpPr>
          <p:grpSpPr>
            <a:xfrm>
              <a:off x="6984240" y="3382833"/>
              <a:ext cx="1438648" cy="1027904"/>
              <a:chOff x="1880406" y="1698026"/>
              <a:chExt cx="1438648" cy="1027904"/>
            </a:xfrm>
          </p:grpSpPr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9ED86251-B29C-4F68-AF79-343C3E84F7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1880406" y="1698026"/>
                <a:ext cx="1438648" cy="830997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D69A072-906D-438F-B84D-9BF724CF0FF2}"/>
                  </a:ext>
                </a:extLst>
              </p:cNvPr>
              <p:cNvSpPr txBox="1"/>
              <p:nvPr/>
            </p:nvSpPr>
            <p:spPr>
              <a:xfrm>
                <a:off x="2052507" y="2264265"/>
                <a:ext cx="114864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Forager</a:t>
                </a:r>
              </a:p>
            </p:txBody>
          </p:sp>
        </p:grpSp>
      </p:grp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E7E113E-9EBD-4BAD-9352-EA68D78AC9E1}"/>
              </a:ext>
            </a:extLst>
          </p:cNvPr>
          <p:cNvCxnSpPr>
            <a:cxnSpLocks/>
          </p:cNvCxnSpPr>
          <p:nvPr/>
        </p:nvCxnSpPr>
        <p:spPr>
          <a:xfrm rot="16200000">
            <a:off x="4970361" y="2867200"/>
            <a:ext cx="21945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143F3D7-9922-47C5-B286-16E9C84F7D1A}"/>
              </a:ext>
            </a:extLst>
          </p:cNvPr>
          <p:cNvSpPr txBox="1"/>
          <p:nvPr/>
        </p:nvSpPr>
        <p:spPr>
          <a:xfrm>
            <a:off x="3174380" y="321830"/>
            <a:ext cx="58432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Interspecific Competition </a:t>
            </a:r>
            <a:r>
              <a:rPr lang="en-US" sz="2400" dirty="0"/>
              <a:t>(different species)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340954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1776145" y="1701206"/>
            <a:ext cx="8298388" cy="4529601"/>
          </a:xfrm>
          <a:prstGeom prst="rect">
            <a:avLst/>
          </a:prstGeom>
          <a:gradFill flip="none" rotWithShape="1">
            <a:gsLst>
              <a:gs pos="59173">
                <a:srgbClr val="6C3C3C"/>
              </a:gs>
              <a:gs pos="42900">
                <a:srgbClr val="6C3C3C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014" y="1699365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E6F67821-0371-4DFE-A091-17B83DA69D25}"/>
              </a:ext>
            </a:extLst>
          </p:cNvPr>
          <p:cNvGrpSpPr/>
          <p:nvPr/>
        </p:nvGrpSpPr>
        <p:grpSpPr>
          <a:xfrm>
            <a:off x="1585303" y="3012122"/>
            <a:ext cx="8658299" cy="2225347"/>
            <a:chOff x="1891845" y="3231495"/>
            <a:chExt cx="8658299" cy="222534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76A888-2ECE-4AB8-B3F1-7FAA0C246190}"/>
                </a:ext>
              </a:extLst>
            </p:cNvPr>
            <p:cNvGrpSpPr/>
            <p:nvPr/>
          </p:nvGrpSpPr>
          <p:grpSpPr>
            <a:xfrm>
              <a:off x="6134512" y="3260052"/>
              <a:ext cx="4415632" cy="2196790"/>
              <a:chOff x="6134512" y="3260052"/>
              <a:chExt cx="4415632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1AA6A18C-73F4-401D-82EE-666BB3B07B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01E9D3B5-52CB-4EF8-90FC-755ABBC515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188FB62C-34AF-4D50-A582-835C2B68A3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72C09B0-38AE-4298-87F2-CEBDE777AC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A86F7CDD-CE4B-4F06-B4D3-ED79669E61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42A4542D-33A8-48CB-96B9-A3CB23BA9B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F55B17BF-6755-4D69-B4A3-66188C6913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4EF482C0-DD48-49B4-B9AC-0DF016227C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FB921A53-B0CB-45B0-8E81-8C3204D12F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D2362C5E-F9F0-4F7E-B59D-F1674DE0A2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4512" y="5417361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A28C2BD-3438-4DD0-9510-71B97A3AA584}"/>
                </a:ext>
              </a:extLst>
            </p:cNvPr>
            <p:cNvGrpSpPr/>
            <p:nvPr/>
          </p:nvGrpSpPr>
          <p:grpSpPr>
            <a:xfrm flipH="1">
              <a:off x="1891845" y="3231495"/>
              <a:ext cx="3207515" cy="2196790"/>
              <a:chOff x="7342629" y="3260052"/>
              <a:chExt cx="3207515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6A4429FD-2F8B-4756-BC73-88AC77BB5A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84612499-76E3-4012-B764-2EABB64907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563BBC51-E788-421A-9D78-C0AF97458B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1C8B67D9-5F75-4548-AF92-72DA0E5D9C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6FBFC15B-92B7-4397-AC9C-D5A1E4A59F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8C2C415F-32F1-4E09-A2F8-D62A5EC584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C9D4B07B-BE0D-4D53-8815-B8A7F05FD4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31FF8A1B-4116-45F8-8D80-0626EE9CD0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8CDCDBFF-DDED-4721-8523-4FFB745BAF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957341" y="56282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7A98A89-D7B7-4239-BDD4-466CE19FB404}"/>
              </a:ext>
            </a:extLst>
          </p:cNvPr>
          <p:cNvSpPr txBox="1"/>
          <p:nvPr/>
        </p:nvSpPr>
        <p:spPr>
          <a:xfrm>
            <a:off x="4532095" y="4794759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05943CF-7D2D-449E-A836-6D1B13CF1339}"/>
              </a:ext>
            </a:extLst>
          </p:cNvPr>
          <p:cNvSpPr txBox="1"/>
          <p:nvPr/>
        </p:nvSpPr>
        <p:spPr>
          <a:xfrm>
            <a:off x="2633267" y="266177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7995D19-5C76-48E3-88EF-BEDB705B7642}"/>
              </a:ext>
            </a:extLst>
          </p:cNvPr>
          <p:cNvSpPr txBox="1"/>
          <p:nvPr/>
        </p:nvSpPr>
        <p:spPr>
          <a:xfrm>
            <a:off x="1982927" y="4825562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7DA028B-90B7-4E43-B91A-D6F20C5CA9BD}"/>
              </a:ext>
            </a:extLst>
          </p:cNvPr>
          <p:cNvSpPr txBox="1"/>
          <p:nvPr/>
        </p:nvSpPr>
        <p:spPr>
          <a:xfrm>
            <a:off x="3645640" y="2664983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BB45CFA-21D2-4863-A70F-5CF1B83C7394}"/>
              </a:ext>
            </a:extLst>
          </p:cNvPr>
          <p:cNvSpPr txBox="1"/>
          <p:nvPr/>
        </p:nvSpPr>
        <p:spPr>
          <a:xfrm>
            <a:off x="3542237" y="3273576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0900940-F8EC-4A9B-AD4A-8CFE503F3A6E}"/>
              </a:ext>
            </a:extLst>
          </p:cNvPr>
          <p:cNvSpPr txBox="1"/>
          <p:nvPr/>
        </p:nvSpPr>
        <p:spPr>
          <a:xfrm>
            <a:off x="3416884" y="401095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D02A333-1E99-41B8-BE58-5ECCDC7BD555}"/>
              </a:ext>
            </a:extLst>
          </p:cNvPr>
          <p:cNvSpPr txBox="1"/>
          <p:nvPr/>
        </p:nvSpPr>
        <p:spPr>
          <a:xfrm>
            <a:off x="3268441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125BC97-BA80-45C4-A828-95A96668CCE6}"/>
              </a:ext>
            </a:extLst>
          </p:cNvPr>
          <p:cNvSpPr txBox="1"/>
          <p:nvPr/>
        </p:nvSpPr>
        <p:spPr>
          <a:xfrm>
            <a:off x="5834087" y="4824239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9AA271A-8298-4EBE-B2FE-A5284285502F}"/>
              </a:ext>
            </a:extLst>
          </p:cNvPr>
          <p:cNvSpPr txBox="1"/>
          <p:nvPr/>
        </p:nvSpPr>
        <p:spPr>
          <a:xfrm>
            <a:off x="7100261" y="48557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FADD980-3F05-4877-9F07-6D2908783F97}"/>
              </a:ext>
            </a:extLst>
          </p:cNvPr>
          <p:cNvSpPr txBox="1"/>
          <p:nvPr/>
        </p:nvSpPr>
        <p:spPr>
          <a:xfrm>
            <a:off x="7986957" y="2696090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B523829-5F1B-467B-86F7-F823E43A485F}"/>
              </a:ext>
            </a:extLst>
          </p:cNvPr>
          <p:cNvSpPr txBox="1"/>
          <p:nvPr/>
        </p:nvSpPr>
        <p:spPr>
          <a:xfrm>
            <a:off x="8103883" y="3294523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26DA491-E4BB-4DA9-81D4-FAA03DA95165}"/>
              </a:ext>
            </a:extLst>
          </p:cNvPr>
          <p:cNvSpPr txBox="1"/>
          <p:nvPr/>
        </p:nvSpPr>
        <p:spPr>
          <a:xfrm>
            <a:off x="8228143" y="40221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989ADC-976E-4925-81C5-56BA77C6B425}"/>
              </a:ext>
            </a:extLst>
          </p:cNvPr>
          <p:cNvSpPr txBox="1"/>
          <p:nvPr/>
        </p:nvSpPr>
        <p:spPr>
          <a:xfrm>
            <a:off x="8393145" y="48906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30D1D59-471F-4E79-A09B-AA371826C293}"/>
              </a:ext>
            </a:extLst>
          </p:cNvPr>
          <p:cNvSpPr txBox="1"/>
          <p:nvPr/>
        </p:nvSpPr>
        <p:spPr>
          <a:xfrm>
            <a:off x="9062116" y="26782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09403F1-0E5F-4280-B357-F290A704FFD4}"/>
              </a:ext>
            </a:extLst>
          </p:cNvPr>
          <p:cNvSpPr txBox="1"/>
          <p:nvPr/>
        </p:nvSpPr>
        <p:spPr>
          <a:xfrm>
            <a:off x="9203553" y="3288282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B41C7E3-D045-4B72-8BD8-CD604A13A397}"/>
              </a:ext>
            </a:extLst>
          </p:cNvPr>
          <p:cNvSpPr txBox="1"/>
          <p:nvPr/>
        </p:nvSpPr>
        <p:spPr>
          <a:xfrm>
            <a:off x="9479944" y="404329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1989A41-9219-40A3-8330-F761AE0DE8A5}"/>
              </a:ext>
            </a:extLst>
          </p:cNvPr>
          <p:cNvSpPr txBox="1"/>
          <p:nvPr/>
        </p:nvSpPr>
        <p:spPr>
          <a:xfrm>
            <a:off x="9676949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306523" y="5718072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If the selected patch is occupied by several fish of a different species, the incoming fish will only outcompete the different species if their size is larger than the cumulative size of the different species.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129E048-1567-49BD-ACE0-2AAAC078BA08}"/>
              </a:ext>
            </a:extLst>
          </p:cNvPr>
          <p:cNvSpPr txBox="1"/>
          <p:nvPr/>
        </p:nvSpPr>
        <p:spPr>
          <a:xfrm>
            <a:off x="2134347" y="4022108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974823B-4ADA-42E6-BF4D-58899B5CE3D8}"/>
              </a:ext>
            </a:extLst>
          </p:cNvPr>
          <p:cNvSpPr txBox="1"/>
          <p:nvPr/>
        </p:nvSpPr>
        <p:spPr>
          <a:xfrm>
            <a:off x="2393847" y="328111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5FE6D17-75DB-44EA-9ACA-1060DE62658E}"/>
              </a:ext>
            </a:extLst>
          </p:cNvPr>
          <p:cNvGrpSpPr/>
          <p:nvPr/>
        </p:nvGrpSpPr>
        <p:grpSpPr>
          <a:xfrm>
            <a:off x="9363454" y="189073"/>
            <a:ext cx="3396953" cy="2103452"/>
            <a:chOff x="9486977" y="861094"/>
            <a:chExt cx="3396953" cy="2103452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EDFE4E65-E31A-46B6-B80F-1DCBFCCFB56C}"/>
                </a:ext>
              </a:extLst>
            </p:cNvPr>
            <p:cNvGrpSpPr/>
            <p:nvPr/>
          </p:nvGrpSpPr>
          <p:grpSpPr>
            <a:xfrm>
              <a:off x="9486977" y="861094"/>
              <a:ext cx="3396953" cy="2103452"/>
              <a:chOff x="9267697" y="5389514"/>
              <a:chExt cx="3396953" cy="2103452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ACE758A5-5C83-48A3-98BB-FC1CDBCE7313}"/>
                  </a:ext>
                </a:extLst>
              </p:cNvPr>
              <p:cNvSpPr/>
              <p:nvPr/>
            </p:nvSpPr>
            <p:spPr>
              <a:xfrm>
                <a:off x="9267697" y="5787731"/>
                <a:ext cx="2497656" cy="170523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8C1F4471-1D11-4FF1-81D4-00981F97DED0}"/>
                  </a:ext>
                </a:extLst>
              </p:cNvPr>
              <p:cNvSpPr/>
              <p:nvPr/>
            </p:nvSpPr>
            <p:spPr>
              <a:xfrm>
                <a:off x="9395253" y="5958699"/>
                <a:ext cx="365760" cy="23342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E3616B5B-141C-4419-809F-DE9CAA918066}"/>
                  </a:ext>
                </a:extLst>
              </p:cNvPr>
              <p:cNvSpPr/>
              <p:nvPr/>
            </p:nvSpPr>
            <p:spPr>
              <a:xfrm>
                <a:off x="9414592" y="6703367"/>
                <a:ext cx="365760" cy="23342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E59005B-333B-4D70-B945-C5B3A252F4B5}"/>
                  </a:ext>
                </a:extLst>
              </p:cNvPr>
              <p:cNvSpPr txBox="1"/>
              <p:nvPr/>
            </p:nvSpPr>
            <p:spPr>
              <a:xfrm>
                <a:off x="9743225" y="5891916"/>
                <a:ext cx="22031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Salinity (</a:t>
                </a:r>
                <a:r>
                  <a:rPr lang="en-US" b="1" i="1" dirty="0" err="1"/>
                  <a:t>psu</a:t>
                </a:r>
                <a:r>
                  <a:rPr lang="en-US" dirty="0"/>
                  <a:t>) 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7CF2A430-65F3-4D81-A76E-7D0E8757CDA1}"/>
                      </a:ext>
                    </a:extLst>
                  </p:cNvPr>
                  <p:cNvSpPr txBox="1"/>
                  <p:nvPr/>
                </p:nvSpPr>
                <p:spPr>
                  <a:xfrm>
                    <a:off x="9770694" y="6624633"/>
                    <a:ext cx="289395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Current Velocity (</a:t>
                    </a:r>
                    <a14:m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oMath>
                    </a14:m>
                    <a:r>
                      <a:rPr lang="en-US" dirty="0"/>
                      <a:t>) </a:t>
                    </a:r>
                  </a:p>
                </p:txBody>
              </p:sp>
            </mc:Choice>
            <mc:Fallback xmlns="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7CF2A430-65F3-4D81-A76E-7D0E8757CD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70694" y="6624633"/>
                    <a:ext cx="2893956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895" t="-1000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29C8B95-12C8-4562-A7CA-5DD9E13F4EAE}"/>
                  </a:ext>
                </a:extLst>
              </p:cNvPr>
              <p:cNvSpPr txBox="1"/>
              <p:nvPr/>
            </p:nvSpPr>
            <p:spPr>
              <a:xfrm>
                <a:off x="9726219" y="5389514"/>
                <a:ext cx="16875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Legend</a:t>
                </a:r>
              </a:p>
            </p:txBody>
          </p:sp>
        </p:grp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D05BD26-1DB7-47F2-B94F-B676E34E3399}"/>
                </a:ext>
              </a:extLst>
            </p:cNvPr>
            <p:cNvSpPr/>
            <p:nvPr/>
          </p:nvSpPr>
          <p:spPr>
            <a:xfrm>
              <a:off x="9622721" y="1802884"/>
              <a:ext cx="365760" cy="233429"/>
            </a:xfrm>
            <a:prstGeom prst="rect">
              <a:avLst/>
            </a:prstGeom>
            <a:solidFill>
              <a:srgbClr val="C0161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799940DA-EA48-40A1-A471-24013DD62DBC}"/>
                    </a:ext>
                  </a:extLst>
                </p:cNvPr>
                <p:cNvSpPr txBox="1"/>
                <p:nvPr/>
              </p:nvSpPr>
              <p:spPr>
                <a:xfrm>
                  <a:off x="9978823" y="1724150"/>
                  <a:ext cx="289395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Temperature (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a14:m>
                  <a:r>
                    <a:rPr lang="en-US" dirty="0"/>
                    <a:t>) </a:t>
                  </a: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799940DA-EA48-40A1-A471-24013DD62D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8823" y="1724150"/>
                  <a:ext cx="2893956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1899"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6" name="Rectangle 95">
            <a:extLst>
              <a:ext uri="{FF2B5EF4-FFF2-40B4-BE49-F238E27FC236}">
                <a16:creationId xmlns:a16="http://schemas.microsoft.com/office/drawing/2014/main" id="{A7E69A02-6C94-4036-A728-0A62224DEF2B}"/>
              </a:ext>
            </a:extLst>
          </p:cNvPr>
          <p:cNvSpPr/>
          <p:nvPr/>
        </p:nvSpPr>
        <p:spPr>
          <a:xfrm>
            <a:off x="9520007" y="1890990"/>
            <a:ext cx="365760" cy="233429"/>
          </a:xfrm>
          <a:prstGeom prst="rect">
            <a:avLst/>
          </a:prstGeom>
          <a:solidFill>
            <a:srgbClr val="6C3C3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42EC7B2-DA6E-4EF6-8F09-8BAF68F463EE}"/>
              </a:ext>
            </a:extLst>
          </p:cNvPr>
          <p:cNvSpPr txBox="1"/>
          <p:nvPr/>
        </p:nvSpPr>
        <p:spPr>
          <a:xfrm>
            <a:off x="9876109" y="1812256"/>
            <a:ext cx="2893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SPM (</a:t>
            </a:r>
            <a:r>
              <a:rPr lang="en-US" b="1" i="1" dirty="0"/>
              <a:t>g/L</a:t>
            </a:r>
            <a:r>
              <a:rPr lang="en-US" dirty="0"/>
              <a:t>) </a:t>
            </a: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4606E9D0-CCFF-48C0-B67C-7BB807B7EF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667" r="57122" b="74836"/>
          <a:stretch/>
        </p:blipFill>
        <p:spPr>
          <a:xfrm flipH="1">
            <a:off x="4307237" y="3079586"/>
            <a:ext cx="1048225" cy="1013201"/>
          </a:xfrm>
          <a:prstGeom prst="rect">
            <a:avLst/>
          </a:prstGeom>
          <a:ln w="57150">
            <a:solidFill>
              <a:srgbClr val="FFC000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9BB8486-F331-4118-8833-76692BEDBF1D}"/>
              </a:ext>
            </a:extLst>
          </p:cNvPr>
          <p:cNvSpPr txBox="1"/>
          <p:nvPr/>
        </p:nvSpPr>
        <p:spPr>
          <a:xfrm>
            <a:off x="4447402" y="2718186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0.3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48E4B34-2036-497C-AFF4-72603B4144DF}"/>
              </a:ext>
            </a:extLst>
          </p:cNvPr>
          <p:cNvSpPr txBox="1"/>
          <p:nvPr/>
        </p:nvSpPr>
        <p:spPr>
          <a:xfrm>
            <a:off x="5482796" y="3970606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A3D3625-8117-45B7-BED0-946B293217A7}"/>
              </a:ext>
            </a:extLst>
          </p:cNvPr>
          <p:cNvSpPr txBox="1"/>
          <p:nvPr/>
        </p:nvSpPr>
        <p:spPr>
          <a:xfrm>
            <a:off x="6593740" y="2696090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0.2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5D5E15A-F550-4443-808B-5C54C6B4006E}"/>
              </a:ext>
            </a:extLst>
          </p:cNvPr>
          <p:cNvSpPr txBox="1"/>
          <p:nvPr/>
        </p:nvSpPr>
        <p:spPr>
          <a:xfrm>
            <a:off x="6699811" y="3964165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0.7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424BD8E-CE93-4F04-8463-9CBAD0F0404E}"/>
              </a:ext>
            </a:extLst>
          </p:cNvPr>
          <p:cNvSpPr txBox="1"/>
          <p:nvPr/>
        </p:nvSpPr>
        <p:spPr>
          <a:xfrm>
            <a:off x="4408255" y="3978564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0.6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12C8E18-9AE8-44EB-8145-52584FF336AC}"/>
              </a:ext>
            </a:extLst>
          </p:cNvPr>
          <p:cNvSpPr txBox="1"/>
          <p:nvPr/>
        </p:nvSpPr>
        <p:spPr>
          <a:xfrm>
            <a:off x="5527042" y="2703507"/>
            <a:ext cx="884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Quality = 0.3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076565-5452-43BC-9FF1-3FB78D97A2FA}"/>
              </a:ext>
            </a:extLst>
          </p:cNvPr>
          <p:cNvCxnSpPr>
            <a:cxnSpLocks/>
          </p:cNvCxnSpPr>
          <p:nvPr/>
        </p:nvCxnSpPr>
        <p:spPr>
          <a:xfrm flipV="1">
            <a:off x="7353324" y="2138925"/>
            <a:ext cx="398319" cy="12801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DEAC0928-FDC6-4DEE-BAE5-E16241EE7E6C}"/>
              </a:ext>
            </a:extLst>
          </p:cNvPr>
          <p:cNvSpPr txBox="1"/>
          <p:nvPr/>
        </p:nvSpPr>
        <p:spPr>
          <a:xfrm>
            <a:off x="6842164" y="1459884"/>
            <a:ext cx="1925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Foragers of a Different Species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43F1084A-740D-4643-8FD9-1737734C7B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6517" y="3685092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300EDFF5-8155-4859-93F1-BD005E2784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9733" y="3553296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A0AE9EB1-4A82-456B-B5A4-98BE4BA4B0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2752" y="3669020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A7CCAB56-7E88-4C79-9477-FC095E7BB8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0548" y="3392312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324026D5-760D-41AC-9D3C-8E444E1CCF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3764" y="3260516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37F10E88-DB68-4466-934A-F07B43033D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2752" y="3383502"/>
            <a:ext cx="505989" cy="29227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A407F99-A6B5-4CE6-9BD4-861F14B86204}"/>
              </a:ext>
            </a:extLst>
          </p:cNvPr>
          <p:cNvGrpSpPr/>
          <p:nvPr/>
        </p:nvGrpSpPr>
        <p:grpSpPr>
          <a:xfrm>
            <a:off x="3826568" y="1362927"/>
            <a:ext cx="1438648" cy="1081927"/>
            <a:chOff x="1880406" y="1328694"/>
            <a:chExt cx="1438648" cy="1081927"/>
          </a:xfrm>
        </p:grpSpPr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4F4CA3A8-B3D0-406B-B43C-9FE391206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880406" y="157962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821A58DA-8AAD-48D2-9E7A-6BA629293E54}"/>
                </a:ext>
              </a:extLst>
            </p:cNvPr>
            <p:cNvSpPr txBox="1"/>
            <p:nvPr/>
          </p:nvSpPr>
          <p:spPr>
            <a:xfrm>
              <a:off x="2157251" y="1328694"/>
              <a:ext cx="905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Forager</a:t>
              </a:r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DD1475EF-B9AB-4181-B8A0-FF6C668FFA3B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7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37742" y="1360042"/>
            <a:ext cx="1542422" cy="2334970"/>
          </a:xfrm>
          <a:prstGeom prst="rect">
            <a:avLst/>
          </a:prstGeom>
        </p:spPr>
      </p:pic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96919B6D-3CB0-42F9-9F09-A9E514568417}"/>
              </a:ext>
            </a:extLst>
          </p:cNvPr>
          <p:cNvCxnSpPr>
            <a:cxnSpLocks/>
          </p:cNvCxnSpPr>
          <p:nvPr/>
        </p:nvCxnSpPr>
        <p:spPr>
          <a:xfrm flipH="1">
            <a:off x="5069441" y="1981054"/>
            <a:ext cx="548640" cy="0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FD11287-917D-4F06-B911-2B67E3DD7CE6}"/>
              </a:ext>
            </a:extLst>
          </p:cNvPr>
          <p:cNvGrpSpPr/>
          <p:nvPr/>
        </p:nvGrpSpPr>
        <p:grpSpPr>
          <a:xfrm>
            <a:off x="3600281" y="121958"/>
            <a:ext cx="1972474" cy="1233901"/>
            <a:chOff x="6302756" y="-21785"/>
            <a:chExt cx="1972474" cy="1233901"/>
          </a:xfrm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E0A57C34-8CF7-4783-B5FB-9F456DA0CF85}"/>
                </a:ext>
              </a:extLst>
            </p:cNvPr>
            <p:cNvSpPr/>
            <p:nvPr/>
          </p:nvSpPr>
          <p:spPr>
            <a:xfrm>
              <a:off x="6367489" y="82429"/>
              <a:ext cx="1791306" cy="11296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6397B70D-F565-4F6C-8277-06382F7CE2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36883" t="9252" r="55401" b="73628"/>
            <a:stretch/>
          </p:blipFill>
          <p:spPr>
            <a:xfrm>
              <a:off x="6474266" y="108143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7E29FEC3-70CD-4509-868C-FA3F80553C10}"/>
                </a:ext>
              </a:extLst>
            </p:cNvPr>
            <p:cNvSpPr/>
            <p:nvPr/>
          </p:nvSpPr>
          <p:spPr>
            <a:xfrm>
              <a:off x="6656505" y="791835"/>
              <a:ext cx="254405" cy="3657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5FEFAE4E-0F44-48A5-A0F1-D279ED9DCF98}"/>
                </a:ext>
              </a:extLst>
            </p:cNvPr>
            <p:cNvSpPr txBox="1"/>
            <p:nvPr/>
          </p:nvSpPr>
          <p:spPr>
            <a:xfrm>
              <a:off x="6302756" y="873562"/>
              <a:ext cx="10066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Energy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70F3C9B4-6CEC-449E-81C2-DBA26457B7DF}"/>
                </a:ext>
              </a:extLst>
            </p:cNvPr>
            <p:cNvSpPr txBox="1"/>
            <p:nvPr/>
          </p:nvSpPr>
          <p:spPr>
            <a:xfrm>
              <a:off x="7268603" y="862193"/>
              <a:ext cx="10066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Energy</a:t>
              </a:r>
            </a:p>
          </p:txBody>
        </p:sp>
        <p:sp>
          <p:nvSpPr>
            <p:cNvPr id="135" name="Arrow: Right 134">
              <a:extLst>
                <a:ext uri="{FF2B5EF4-FFF2-40B4-BE49-F238E27FC236}">
                  <a16:creationId xmlns:a16="http://schemas.microsoft.com/office/drawing/2014/main" id="{816B0CF2-AA35-4426-8462-BDDCB68C1257}"/>
                </a:ext>
              </a:extLst>
            </p:cNvPr>
            <p:cNvSpPr/>
            <p:nvPr/>
          </p:nvSpPr>
          <p:spPr>
            <a:xfrm>
              <a:off x="7085723" y="498503"/>
              <a:ext cx="365760" cy="18288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E5D72257-1BAF-4B21-A7C8-910110A444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17196" t="6647" r="73027" b="74624"/>
            <a:stretch/>
          </p:blipFill>
          <p:spPr>
            <a:xfrm>
              <a:off x="7420063" y="-21785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DDC93EDB-2718-4473-9260-024435EAC198}"/>
                </a:ext>
              </a:extLst>
            </p:cNvPr>
            <p:cNvSpPr/>
            <p:nvPr/>
          </p:nvSpPr>
          <p:spPr>
            <a:xfrm>
              <a:off x="7601295" y="482799"/>
              <a:ext cx="243672" cy="334983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398D5786-9193-47D2-B4B9-D0FC1090C9B1}"/>
              </a:ext>
            </a:extLst>
          </p:cNvPr>
          <p:cNvSpPr/>
          <p:nvPr/>
        </p:nvSpPr>
        <p:spPr>
          <a:xfrm>
            <a:off x="4294223" y="3508012"/>
            <a:ext cx="1048098" cy="21296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Forager: 1 </a:t>
            </a:r>
          </a:p>
        </p:txBody>
      </p:sp>
      <p:sp>
        <p:nvSpPr>
          <p:cNvPr id="115" name="Arrow: Up-Down 114">
            <a:extLst>
              <a:ext uri="{FF2B5EF4-FFF2-40B4-BE49-F238E27FC236}">
                <a16:creationId xmlns:a16="http://schemas.microsoft.com/office/drawing/2014/main" id="{01D2A7B9-FA85-4BAB-839B-1167375B1839}"/>
              </a:ext>
            </a:extLst>
          </p:cNvPr>
          <p:cNvSpPr/>
          <p:nvPr/>
        </p:nvSpPr>
        <p:spPr>
          <a:xfrm>
            <a:off x="4434000" y="2292120"/>
            <a:ext cx="208670" cy="109728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93F2BD0-D923-4D0D-A70B-C6D488B1431F}"/>
              </a:ext>
            </a:extLst>
          </p:cNvPr>
          <p:cNvSpPr txBox="1"/>
          <p:nvPr/>
        </p:nvSpPr>
        <p:spPr>
          <a:xfrm>
            <a:off x="29496" y="84553"/>
            <a:ext cx="355874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Interspecific Competition </a:t>
            </a:r>
            <a:r>
              <a:rPr lang="en-US" sz="2000" dirty="0"/>
              <a:t>(multiple fish - different species)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00747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31D-FA90-40CC-8C0D-B154539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4834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Individual-Specific Traits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0B5AA2A-D28A-417E-BF16-955D6D18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484772"/>
              </p:ext>
            </p:extLst>
          </p:nvPr>
        </p:nvGraphicFramePr>
        <p:xfrm>
          <a:off x="1519192" y="1658712"/>
          <a:ext cx="9153612" cy="301113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079666">
                  <a:extLst>
                    <a:ext uri="{9D8B030D-6E8A-4147-A177-3AD203B41FA5}">
                      <a16:colId xmlns:a16="http://schemas.microsoft.com/office/drawing/2014/main" val="550561364"/>
                    </a:ext>
                  </a:extLst>
                </a:gridCol>
                <a:gridCol w="6073946">
                  <a:extLst>
                    <a:ext uri="{9D8B030D-6E8A-4147-A177-3AD203B41FA5}">
                      <a16:colId xmlns:a16="http://schemas.microsoft.com/office/drawing/2014/main" val="2624623854"/>
                    </a:ext>
                  </a:extLst>
                </a:gridCol>
              </a:tblGrid>
              <a:tr h="3549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Trait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Generalization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793023"/>
                  </a:ext>
                </a:extLst>
              </a:tr>
              <a:tr h="88179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Stress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Sensitivity to salinity and temperature changes.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681687"/>
                  </a:ext>
                </a:extLst>
              </a:tr>
              <a:tr h="88179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Internal reserves used for movement and recovery.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5381188"/>
                  </a:ext>
                </a:extLst>
              </a:tr>
              <a:tr h="8817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Foraging 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Depends on preferences of fish (benthic vs bottom feeding)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1930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E2520A0-FA2F-4ADC-B1FF-963AB1F9B8D0}"/>
              </a:ext>
            </a:extLst>
          </p:cNvPr>
          <p:cNvSpPr txBox="1"/>
          <p:nvPr/>
        </p:nvSpPr>
        <p:spPr>
          <a:xfrm>
            <a:off x="506041" y="5073801"/>
            <a:ext cx="111799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Each fish rests differently based on its own energy reserves, swimming speed, and ability to handle stress. These traits shape when, where, and how long it pauses during migration.</a:t>
            </a:r>
          </a:p>
        </p:txBody>
      </p:sp>
    </p:spTree>
    <p:extLst>
      <p:ext uri="{BB962C8B-B14F-4D97-AF65-F5344CB8AC3E}">
        <p14:creationId xmlns:p14="http://schemas.microsoft.com/office/powerpoint/2010/main" val="2138083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31D-FA90-40CC-8C0D-B154539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3" y="59857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Outputs of Interest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0B5AA2A-D28A-417E-BF16-955D6D18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847657"/>
              </p:ext>
            </p:extLst>
          </p:nvPr>
        </p:nvGraphicFramePr>
        <p:xfrm>
          <a:off x="316167" y="1840271"/>
          <a:ext cx="11559653" cy="293783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069315">
                  <a:extLst>
                    <a:ext uri="{9D8B030D-6E8A-4147-A177-3AD203B41FA5}">
                      <a16:colId xmlns:a16="http://schemas.microsoft.com/office/drawing/2014/main" val="3504199536"/>
                    </a:ext>
                  </a:extLst>
                </a:gridCol>
                <a:gridCol w="2275724">
                  <a:extLst>
                    <a:ext uri="{9D8B030D-6E8A-4147-A177-3AD203B41FA5}">
                      <a16:colId xmlns:a16="http://schemas.microsoft.com/office/drawing/2014/main" val="550561364"/>
                    </a:ext>
                  </a:extLst>
                </a:gridCol>
                <a:gridCol w="7214614">
                  <a:extLst>
                    <a:ext uri="{9D8B030D-6E8A-4147-A177-3AD203B41FA5}">
                      <a16:colId xmlns:a16="http://schemas.microsoft.com/office/drawing/2014/main" val="2624623854"/>
                    </a:ext>
                  </a:extLst>
                </a:gridCol>
              </a:tblGrid>
              <a:tr h="43201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What It Tells Us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793023"/>
                  </a:ext>
                </a:extLst>
              </a:tr>
              <a:tr h="54725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Temporal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Foraging?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Tracks when fish are foraging.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681687"/>
                  </a:ext>
                </a:extLst>
              </a:tr>
              <a:tr h="547258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Time-Foraging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Tracks the amount of time fish spend foraging throughout migration.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7106858"/>
                  </a:ext>
                </a:extLst>
              </a:tr>
              <a:tr h="54725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Spatial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Forage-Visits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Location of patches repeatedly used for foraging.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6195677"/>
                  </a:ext>
                </a:extLst>
              </a:tr>
              <a:tr h="432019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Forager-Count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Local density of foraging fish.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146984"/>
                  </a:ext>
                </a:extLst>
              </a:tr>
              <a:tr h="432019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/>
                        <a:t>Forager-Species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Which species have used the patch.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778694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DA3446D-934F-4B37-AD3B-9F59A57C4D32}"/>
              </a:ext>
            </a:extLst>
          </p:cNvPr>
          <p:cNvSpPr txBox="1"/>
          <p:nvPr/>
        </p:nvSpPr>
        <p:spPr>
          <a:xfrm>
            <a:off x="506037" y="6064401"/>
            <a:ext cx="11179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Identifies where and when resting occurs during migration.</a:t>
            </a:r>
          </a:p>
        </p:txBody>
      </p:sp>
    </p:spTree>
    <p:extLst>
      <p:ext uri="{BB962C8B-B14F-4D97-AF65-F5344CB8AC3E}">
        <p14:creationId xmlns:p14="http://schemas.microsoft.com/office/powerpoint/2010/main" val="3845284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4DCF-B740-4A2B-8E3C-5E111C1F1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25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Discussion Prompts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D145DE-608B-466C-AA20-079097C90905}"/>
              </a:ext>
            </a:extLst>
          </p:cNvPr>
          <p:cNvSpPr txBox="1"/>
          <p:nvPr/>
        </p:nvSpPr>
        <p:spPr>
          <a:xfrm>
            <a:off x="590550" y="1427956"/>
            <a:ext cx="1101090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Accuracy &amp; Realism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the triggers for foraging (e.g., low energy, low stress, low turbidity) reflect real fish behavior?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Does the assumption that fish only forage during recovery periods (rather than interrupting migration to seek food) reflect observed migratory behavior?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US" sz="2000" b="1" dirty="0"/>
              <a:t>Missing Variables, Traits, or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Should species, size, foraging preferences (benthic vs pelagic), or group behavior influence foraging access and success?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Are there other environmental stressors (e.g., turbidity, contaminants, predation risk) that should influence patch selection or energy gain?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+mj-lt"/>
              <a:buAutoNum type="arabicPeriod" startAt="3"/>
            </a:pPr>
            <a:r>
              <a:rPr lang="en-US" sz="2000" b="1" dirty="0"/>
              <a:t>Outputs of Interest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Are metrics like forage visits or forager species helpful for identifying feeding hotspots or competition within the system?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Should we prioritize tracking total time spent foraging, number of foraging events, or competition intensity in each patch?</a:t>
            </a:r>
          </a:p>
        </p:txBody>
      </p:sp>
    </p:spTree>
    <p:extLst>
      <p:ext uri="{BB962C8B-B14F-4D97-AF65-F5344CB8AC3E}">
        <p14:creationId xmlns:p14="http://schemas.microsoft.com/office/powerpoint/2010/main" val="588720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9CC2B-FAA2-48DC-9330-CC91B6EC7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52700" y="1302623"/>
            <a:ext cx="8607812" cy="5646658"/>
          </a:xfrm>
        </p:spPr>
        <p:txBody>
          <a:bodyPr>
            <a:noAutofit/>
          </a:bodyPr>
          <a:lstStyle/>
          <a:p>
            <a:r>
              <a:rPr lang="en-US" sz="1800" dirty="0"/>
              <a:t>🌀</a:t>
            </a:r>
            <a:r>
              <a:rPr lang="en-US" sz="1600" dirty="0"/>
              <a:t> </a:t>
            </a:r>
            <a:r>
              <a:rPr lang="en-US" sz="1600" b="1" dirty="0"/>
              <a:t>Velocity (</a:t>
            </a:r>
            <a:r>
              <a:rPr lang="en-US" sz="1600" b="1" i="1" dirty="0"/>
              <a:t>u</a:t>
            </a:r>
            <a:r>
              <a:rPr lang="en-US" sz="1600" b="1" dirty="0"/>
              <a:t>)</a:t>
            </a:r>
            <a:br>
              <a:rPr lang="en-US" sz="1600" dirty="0"/>
            </a:br>
            <a:r>
              <a:rPr lang="en-US" sz="1600" dirty="0"/>
              <a:t>The along-channel flow velocity in a patch, influencing whether fish swim or drift.</a:t>
            </a:r>
          </a:p>
          <a:p>
            <a:r>
              <a:rPr lang="en-US" sz="1800" dirty="0"/>
              <a:t>🌡</a:t>
            </a:r>
            <a:r>
              <a:rPr lang="en-US" sz="2000" dirty="0"/>
              <a:t> </a:t>
            </a:r>
            <a:r>
              <a:rPr lang="en-US" sz="1600" b="1" dirty="0"/>
              <a:t>Temperature</a:t>
            </a:r>
            <a:r>
              <a:rPr lang="en-US" sz="1600" dirty="0"/>
              <a:t> (</a:t>
            </a:r>
            <a:r>
              <a:rPr lang="en-US" sz="1600" b="1" i="1" dirty="0"/>
              <a:t>T)</a:t>
            </a:r>
            <a:br>
              <a:rPr lang="en-US" sz="1600" dirty="0"/>
            </a:br>
            <a:r>
              <a:rPr lang="en-US" sz="1600" dirty="0"/>
              <a:t>The along-channel flow velocity in a patch, influencing whether fish swim or drift.</a:t>
            </a:r>
          </a:p>
          <a:p>
            <a:r>
              <a:rPr lang="en-US" sz="1800" dirty="0"/>
              <a:t>🧂</a:t>
            </a:r>
            <a:r>
              <a:rPr lang="en-US" sz="2000" dirty="0"/>
              <a:t> </a:t>
            </a:r>
            <a:r>
              <a:rPr lang="en-US" sz="1600" b="1" dirty="0"/>
              <a:t>Salinity</a:t>
            </a:r>
            <a:r>
              <a:rPr lang="en-US" sz="1600" dirty="0"/>
              <a:t> (</a:t>
            </a:r>
            <a:r>
              <a:rPr lang="en-US" sz="1600" b="1" i="1" dirty="0"/>
              <a:t>S)</a:t>
            </a:r>
            <a:br>
              <a:rPr lang="en-US" sz="1600" dirty="0"/>
            </a:br>
            <a:r>
              <a:rPr lang="en-US" sz="1600" dirty="0"/>
              <a:t>The along-channel flow velocity in a patch, influencing whether fish swim or drift.</a:t>
            </a:r>
          </a:p>
          <a:p>
            <a:r>
              <a:rPr lang="en-US" sz="1800" dirty="0"/>
              <a:t>📏</a:t>
            </a:r>
            <a:r>
              <a:rPr lang="en-US" sz="2000" dirty="0"/>
              <a:t> </a:t>
            </a:r>
            <a:r>
              <a:rPr lang="en-US" sz="1600" b="1" dirty="0"/>
              <a:t>Depth</a:t>
            </a:r>
            <a:r>
              <a:rPr lang="en-US" sz="1600" dirty="0"/>
              <a:t> (</a:t>
            </a:r>
            <a:r>
              <a:rPr lang="en-US" sz="1600" b="1" i="1" dirty="0"/>
              <a:t>d)</a:t>
            </a:r>
            <a:br>
              <a:rPr lang="en-US" sz="1600" dirty="0"/>
            </a:br>
            <a:r>
              <a:rPr lang="en-US" sz="1600" dirty="0"/>
              <a:t>The along-channel flow velocity in a patch, influencing whether fish swim or drift.</a:t>
            </a:r>
          </a:p>
          <a:p>
            <a:r>
              <a:rPr lang="en-US" sz="1800" dirty="0"/>
              <a:t>📏</a:t>
            </a:r>
            <a:r>
              <a:rPr lang="en-US" sz="2000" dirty="0"/>
              <a:t> </a:t>
            </a:r>
            <a:r>
              <a:rPr lang="en-US" sz="1600" b="1" dirty="0"/>
              <a:t>SPM</a:t>
            </a:r>
            <a:r>
              <a:rPr lang="en-US" sz="1600" dirty="0"/>
              <a:t> (</a:t>
            </a:r>
            <a:r>
              <a:rPr lang="en-US" sz="1600" b="1" i="1" dirty="0"/>
              <a:t>SPM)</a:t>
            </a:r>
            <a:br>
              <a:rPr lang="en-US" sz="1600" dirty="0"/>
            </a:br>
            <a:r>
              <a:rPr lang="en-US" sz="1600" dirty="0"/>
              <a:t>The along-channel flow velocity in a patch, influencing whether fish swim or drift.</a:t>
            </a:r>
          </a:p>
          <a:p>
            <a:r>
              <a:rPr lang="en-US" sz="1800" dirty="0"/>
              <a:t>🍽️ </a:t>
            </a:r>
            <a:r>
              <a:rPr lang="en-US" sz="1600" b="1" dirty="0"/>
              <a:t>Forage Visits </a:t>
            </a:r>
            <a:r>
              <a:rPr lang="en-US" sz="1600" dirty="0"/>
              <a:t>(</a:t>
            </a:r>
            <a:r>
              <a:rPr lang="en-US" sz="1600" b="1" i="1" dirty="0"/>
              <a:t>SPM)</a:t>
            </a:r>
            <a:br>
              <a:rPr lang="en-US" sz="1600" dirty="0"/>
            </a:br>
            <a:r>
              <a:rPr lang="en-US" sz="1600" dirty="0"/>
              <a:t>The along-channel flow velocity in a patch, influencing whether fish swim or drift.</a:t>
            </a:r>
          </a:p>
          <a:p>
            <a:r>
              <a:rPr lang="en-US" sz="1800" dirty="0"/>
              <a:t>🐟 </a:t>
            </a:r>
            <a:r>
              <a:rPr lang="en-US" sz="1600" b="1" dirty="0"/>
              <a:t>Forager Count </a:t>
            </a:r>
            <a:r>
              <a:rPr lang="en-US" sz="1600" dirty="0"/>
              <a:t>(</a:t>
            </a:r>
            <a:r>
              <a:rPr lang="en-US" sz="1600" b="1" i="1" dirty="0"/>
              <a:t>forager-count</a:t>
            </a:r>
            <a:r>
              <a:rPr lang="en-US" sz="1600" b="1" dirty="0"/>
              <a:t>)</a:t>
            </a:r>
            <a:br>
              <a:rPr lang="en-US" sz="1600" dirty="0"/>
            </a:br>
            <a:r>
              <a:rPr lang="en-US" sz="1600" dirty="0"/>
              <a:t>Number of individual fish currently foraging in a patch (used in density competition).</a:t>
            </a:r>
          </a:p>
          <a:p>
            <a:r>
              <a:rPr lang="en-US" sz="1800" dirty="0"/>
              <a:t>🧬 </a:t>
            </a:r>
            <a:r>
              <a:rPr lang="en-US" sz="1600" b="1" dirty="0"/>
              <a:t>Forage Species (forage-species)</a:t>
            </a:r>
            <a:br>
              <a:rPr lang="en-US" sz="1600" b="1" dirty="0"/>
            </a:br>
            <a:r>
              <a:rPr lang="en-US" sz="1600" dirty="0"/>
              <a:t>List of species that have foraged on the patch, used to evaluate interspecific competition.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7B2B7-15C1-49A6-A7ED-4E49B9774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7106" y="356839"/>
            <a:ext cx="5157787" cy="823912"/>
          </a:xfrm>
        </p:spPr>
        <p:txBody>
          <a:bodyPr>
            <a:normAutofit fontScale="92500"/>
          </a:bodyPr>
          <a:lstStyle/>
          <a:p>
            <a:r>
              <a:rPr lang="en-US" sz="3600" b="1" dirty="0"/>
              <a:t>🌍 Environmental Variables</a:t>
            </a:r>
          </a:p>
        </p:txBody>
      </p:sp>
    </p:spTree>
    <p:extLst>
      <p:ext uri="{BB962C8B-B14F-4D97-AF65-F5344CB8AC3E}">
        <p14:creationId xmlns:p14="http://schemas.microsoft.com/office/powerpoint/2010/main" val="3341627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322524-FA0B-4B09-A398-76A25CDC94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770867" y="1632550"/>
            <a:ext cx="8650262" cy="3774513"/>
          </a:xfrm>
        </p:spPr>
        <p:txBody>
          <a:bodyPr>
            <a:noAutofit/>
          </a:bodyPr>
          <a:lstStyle/>
          <a:p>
            <a:r>
              <a:rPr lang="en-US" sz="1800" dirty="0"/>
              <a:t>🔋</a:t>
            </a:r>
            <a:r>
              <a:rPr lang="en-US" sz="1600" dirty="0"/>
              <a:t> </a:t>
            </a:r>
            <a:r>
              <a:rPr lang="en-US" sz="1600" b="1" dirty="0"/>
              <a:t>Energy</a:t>
            </a:r>
            <a:br>
              <a:rPr lang="en-US" sz="1600" dirty="0"/>
            </a:br>
            <a:r>
              <a:rPr lang="en-US" sz="1600" dirty="0"/>
              <a:t>The amount energy the fish uses to swim, recover, and regulate bodily functions. </a:t>
            </a:r>
          </a:p>
          <a:p>
            <a:r>
              <a:rPr lang="en-US" sz="1600" dirty="0"/>
              <a:t>💥 </a:t>
            </a:r>
            <a:r>
              <a:rPr lang="en-US" sz="1600" b="1" dirty="0" err="1"/>
              <a:t>Ionregulatory</a:t>
            </a:r>
            <a:r>
              <a:rPr lang="en-US" sz="1600" dirty="0"/>
              <a:t> </a:t>
            </a:r>
            <a:r>
              <a:rPr lang="en-US" sz="1600" b="1" dirty="0"/>
              <a:t>Stress</a:t>
            </a:r>
            <a:br>
              <a:rPr lang="en-US" sz="1600" dirty="0"/>
            </a:br>
            <a:r>
              <a:rPr lang="en-US" sz="1600" dirty="0"/>
              <a:t>Physiological stress from salinity mismatch, must remain low to permit foraging.</a:t>
            </a:r>
          </a:p>
          <a:p>
            <a:r>
              <a:rPr lang="en-US" sz="1600" dirty="0"/>
              <a:t>🔥 </a:t>
            </a:r>
            <a:r>
              <a:rPr lang="en-US" sz="1600" b="1" dirty="0"/>
              <a:t>Thermal</a:t>
            </a:r>
            <a:r>
              <a:rPr lang="en-US" sz="1600" dirty="0"/>
              <a:t> </a:t>
            </a:r>
            <a:r>
              <a:rPr lang="en-US" sz="1600" b="1" dirty="0"/>
              <a:t>Stress</a:t>
            </a:r>
            <a:br>
              <a:rPr lang="en-US" sz="1600" dirty="0"/>
            </a:br>
            <a:r>
              <a:rPr lang="en-US" sz="1600" dirty="0"/>
              <a:t>The level of stress experienced by the fish due to salinity or temperature mismatch.</a:t>
            </a:r>
          </a:p>
          <a:p>
            <a:r>
              <a:rPr lang="en-US" sz="1600" dirty="0"/>
              <a:t>🍴 </a:t>
            </a:r>
            <a:r>
              <a:rPr lang="en-US" sz="1600" b="1" dirty="0"/>
              <a:t>Foraging?</a:t>
            </a:r>
            <a:br>
              <a:rPr lang="en-US" sz="1600" dirty="0"/>
            </a:br>
            <a:r>
              <a:rPr lang="en-US" sz="1600" dirty="0"/>
              <a:t>Boolean flag indicating whether the fish is currently engaged in foraging behavior.</a:t>
            </a:r>
          </a:p>
          <a:p>
            <a:r>
              <a:rPr lang="en-US" sz="1600" dirty="0"/>
              <a:t>📏 </a:t>
            </a:r>
            <a:r>
              <a:rPr lang="en-US" sz="1600" b="1" dirty="0"/>
              <a:t>Size</a:t>
            </a:r>
            <a:br>
              <a:rPr lang="en-US" sz="1600" dirty="0"/>
            </a:br>
            <a:r>
              <a:rPr lang="en-US" sz="1600" dirty="0"/>
              <a:t>The size of the individual fish, used to evaluate patch access under size-based competition.</a:t>
            </a:r>
          </a:p>
          <a:p>
            <a:r>
              <a:rPr lang="en-US" sz="1600" dirty="0"/>
              <a:t>🧬 </a:t>
            </a:r>
            <a:r>
              <a:rPr lang="en-US" sz="1600" b="1" dirty="0"/>
              <a:t>Breed</a:t>
            </a:r>
            <a:br>
              <a:rPr lang="en-US" sz="1600" dirty="0"/>
            </a:br>
            <a:r>
              <a:rPr lang="en-US" sz="1600" dirty="0"/>
              <a:t>The species classification of the agent, used to enforce species-based competition logic.</a:t>
            </a:r>
          </a:p>
          <a:p>
            <a:r>
              <a:rPr lang="en-US" sz="1600" dirty="0"/>
              <a:t>🧭 </a:t>
            </a:r>
            <a:r>
              <a:rPr lang="en-US" sz="1600" b="1" dirty="0"/>
              <a:t>Optimal Foraging Preferences</a:t>
            </a:r>
            <a:br>
              <a:rPr lang="en-US" sz="1600" dirty="0"/>
            </a:br>
            <a:r>
              <a:rPr lang="en-US" sz="1600" dirty="0"/>
              <a:t>The preferred conditions for salinity, temperature, depth, and velocity used to score patch quality.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262DAC-2722-455D-BB2B-1F05A3E624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44055" y="637537"/>
            <a:ext cx="5703887" cy="82391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600" b="1" dirty="0"/>
              <a:t>🐟 Individual (Fish) Variables</a:t>
            </a:r>
          </a:p>
        </p:txBody>
      </p:sp>
    </p:spTree>
    <p:extLst>
      <p:ext uri="{BB962C8B-B14F-4D97-AF65-F5344CB8AC3E}">
        <p14:creationId xmlns:p14="http://schemas.microsoft.com/office/powerpoint/2010/main" val="3525221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6591</TotalTime>
  <Words>2061</Words>
  <Application>Microsoft Office PowerPoint</Application>
  <PresentationFormat>Widescreen</PresentationFormat>
  <Paragraphs>443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Helvetica Neue</vt:lpstr>
      <vt:lpstr>MJXc-TeX-main-R</vt:lpstr>
      <vt:lpstr>MJXc-TeX-math-I</vt:lpstr>
      <vt:lpstr>Office Theme</vt:lpstr>
      <vt:lpstr>Foraging Behavior</vt:lpstr>
      <vt:lpstr>Relevant Background Information</vt:lpstr>
      <vt:lpstr>Model Objectives</vt:lpstr>
      <vt:lpstr>Conditions that Trigger Foraging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Individual-Specific Traits</vt:lpstr>
      <vt:lpstr>Outputs of Interest</vt:lpstr>
      <vt:lpstr>Discussion Prompts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Bioaccumulation Dynamics</dc:title>
  <dc:creator>Quintana, Vanessa M ERDC-RDE-EL-MS Contractor</dc:creator>
  <cp:lastModifiedBy>Quintana, Vanessa M ERDC-RDE-EL-MS Contractor</cp:lastModifiedBy>
  <cp:revision>196</cp:revision>
  <dcterms:created xsi:type="dcterms:W3CDTF">2025-06-04T12:52:07Z</dcterms:created>
  <dcterms:modified xsi:type="dcterms:W3CDTF">2025-06-30T02:18:42Z</dcterms:modified>
</cp:coreProperties>
</file>