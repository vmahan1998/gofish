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59" r:id="rId4"/>
    <p:sldId id="286" r:id="rId5"/>
    <p:sldId id="297" r:id="rId6"/>
    <p:sldId id="298" r:id="rId7"/>
    <p:sldId id="267" r:id="rId8"/>
    <p:sldId id="300" r:id="rId9"/>
    <p:sldId id="301" r:id="rId10"/>
    <p:sldId id="299" r:id="rId11"/>
    <p:sldId id="303" r:id="rId12"/>
    <p:sldId id="304" r:id="rId13"/>
    <p:sldId id="305" r:id="rId14"/>
    <p:sldId id="309" r:id="rId15"/>
    <p:sldId id="310" r:id="rId16"/>
    <p:sldId id="311" r:id="rId17"/>
    <p:sldId id="278" r:id="rId18"/>
    <p:sldId id="315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3C3C"/>
    <a:srgbClr val="571F1F"/>
    <a:srgbClr val="C0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1" autoAdjust="0"/>
    <p:restoredTop sz="83206" autoAdjust="0"/>
  </p:normalViewPr>
  <p:slideViewPr>
    <p:cSldViewPr snapToGrid="0">
      <p:cViewPr varScale="1">
        <p:scale>
          <a:sx n="70" d="100"/>
          <a:sy n="70" d="100"/>
        </p:scale>
        <p:origin x="103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Reduce energy cost during high-flow events</a:t>
            </a:r>
            <a:br>
              <a:rPr lang="en-US" dirty="0"/>
            </a:br>
            <a:r>
              <a:rPr lang="en-US" dirty="0"/>
              <a:t>Calculate effective swimming speed based on fish energy and water velocity, capturing how fish respond to hydrodynamic resistance.</a:t>
            </a:r>
          </a:p>
          <a:p>
            <a:r>
              <a:rPr lang="en-US" b="1" dirty="0"/>
              <a:t>Allow recovery during periods of physiological stress</a:t>
            </a:r>
            <a:br>
              <a:rPr lang="en-US" dirty="0"/>
            </a:br>
            <a:r>
              <a:rPr lang="en-US" dirty="0"/>
              <a:t>Use a normalized velocity-based difficulty factor to scale the energetic cost of upstream swimming based on local flow and fish traits.</a:t>
            </a:r>
          </a:p>
          <a:p>
            <a:r>
              <a:rPr lang="en-US" b="1" dirty="0"/>
              <a:t>Track when and where resting occurs</a:t>
            </a:r>
            <a:br>
              <a:rPr lang="en-US" dirty="0"/>
            </a:br>
            <a:r>
              <a:rPr lang="en-US" dirty="0"/>
              <a:t>Determine fish position updates and energy loss at each time step, revealing where and when movement becomes inefficient or unsustainable.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90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78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52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27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71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04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68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18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23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84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Migration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428902"/>
              </p:ext>
            </p:extLst>
          </p:nvPr>
        </p:nvGraphicFramePr>
        <p:xfrm>
          <a:off x="628253" y="1854753"/>
          <a:ext cx="10935494" cy="291075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461461">
                <a:tc>
                  <a:txBody>
                    <a:bodyPr/>
                    <a:lstStyle/>
                    <a:p>
                      <a:r>
                        <a:rPr lang="en-US" sz="2000" b="1" dirty="0"/>
                        <a:t>Term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Definition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Landward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Movement of fish from marine or estuarine zones upstream into freshwater, typically during spawning migrations.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144510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Seaward Migration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Movement of fish from freshwater or estuarine habitats toward the ocean, often seen in juvenile or post-spawning individuals.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Homing	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ability of fish to return to their natal habitat, guided by environmental cues like salinity, temperature, or chemical signals.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4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410" y="1353490"/>
            <a:ext cx="10643906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 how fish migrate under flow resistance by calculating swimming effort, difficulty, and energy cost.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Simulate migration movement under varying flow conditions</a:t>
            </a:r>
            <a:br>
              <a:rPr lang="en-US" sz="2000" dirty="0"/>
            </a:br>
            <a:r>
              <a:rPr lang="en-US" sz="2000" dirty="0"/>
              <a:t>Calculate swimming speed based on fish energy and water velocity, capturing how fish respond to hydrodynamic resistance.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Quantify energetic difficulty of movement</a:t>
            </a:r>
            <a:br>
              <a:rPr lang="en-US" sz="2000" dirty="0"/>
            </a:br>
            <a:r>
              <a:rPr lang="en-US" sz="2000" dirty="0"/>
              <a:t>Use a velocity-based difficulty factor to scale the energetic cost of upstream swimming based on local flow and fish traits.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Track movement and energy depletion</a:t>
            </a:r>
            <a:br>
              <a:rPr lang="en-US" sz="2000" dirty="0"/>
            </a:br>
            <a:r>
              <a:rPr lang="en-US" sz="2000" dirty="0"/>
              <a:t>Determine fish position and energy loss at each time step, revealing where and when movement becomes inefficient or unsustainable.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975916" y="611050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86E184-65EF-4E7B-BF05-5F6676CDF53C}"/>
              </a:ext>
            </a:extLst>
          </p:cNvPr>
          <p:cNvGrpSpPr/>
          <p:nvPr/>
        </p:nvGrpSpPr>
        <p:grpSpPr>
          <a:xfrm>
            <a:off x="1542373" y="620864"/>
            <a:ext cx="8918945" cy="4529601"/>
            <a:chOff x="1631199" y="1952123"/>
            <a:chExt cx="8918945" cy="45296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DCC76E-82E4-489B-B111-88676FC99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9369" y="1952123"/>
              <a:ext cx="8235639" cy="4529601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perspectiveRelaxed"/>
              <a:lightRig rig="threePt" dir="t"/>
            </a:scene3d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1631199" y="4145198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199" y="4145198"/>
                  <a:ext cx="2419815" cy="429220"/>
                </a:xfrm>
                <a:prstGeom prst="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6F67821-0371-4DFE-A091-17B83DA69D25}"/>
                </a:ext>
              </a:extLst>
            </p:cNvPr>
            <p:cNvGrpSpPr/>
            <p:nvPr/>
          </p:nvGrpSpPr>
          <p:grpSpPr>
            <a:xfrm>
              <a:off x="1891845" y="3231495"/>
              <a:ext cx="8658299" cy="2225347"/>
              <a:chOff x="1891845" y="3231495"/>
              <a:chExt cx="8658299" cy="2225347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276A888-2ECE-4AB8-B3F1-7FAA0C246190}"/>
                  </a:ext>
                </a:extLst>
              </p:cNvPr>
              <p:cNvGrpSpPr/>
              <p:nvPr/>
            </p:nvGrpSpPr>
            <p:grpSpPr>
              <a:xfrm>
                <a:off x="6130892" y="3260052"/>
                <a:ext cx="4419252" cy="2196790"/>
                <a:chOff x="6130892" y="3260052"/>
                <a:chExt cx="4419252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236376D9-59D6-43C3-A016-4189B80E1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2775" y="3260052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AA6A18C-73F4-401D-82EE-666BB3B07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ACBF7041-5B86-4EE7-B4DD-8FCDC3337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1E9D3B5-52CB-4EF8-90FC-755ABBC51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188FB62C-34AF-4D50-A582-835C2B68A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172C09B0-38AE-4298-87F2-CEBDE777AC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86F7CDD-CE4B-4F06-B4D3-ED79669E61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42A4542D-33A8-48CB-96B9-A3CB23BA9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55B17BF-6755-4D69-B4A3-66188C691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4EF482C0-DD48-49B4-B9AC-0DF016227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D0C8BAC-6E08-490F-A4E1-2171D3E41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F6AEC572-70B1-4668-82BD-C5CEE72BB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FB921A53-B0CB-45B0-8E81-8C3204D12F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89CFF4B-C07B-49FF-833D-BEE781EC0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0892" y="3876078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1F5CF2D4-DE71-4EBD-B571-001BA2714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8278" y="4626276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D2362C5E-F9F0-4F7E-B59D-F1674DE0A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4512" y="5417361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A28C2BD-3438-4DD0-9510-71B97A3AA584}"/>
                  </a:ext>
                </a:extLst>
              </p:cNvPr>
              <p:cNvGrpSpPr/>
              <p:nvPr/>
            </p:nvGrpSpPr>
            <p:grpSpPr>
              <a:xfrm flipH="1">
                <a:off x="1891845" y="3231495"/>
                <a:ext cx="3371386" cy="2196790"/>
                <a:chOff x="7178758" y="3260052"/>
                <a:chExt cx="3371386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6A4429FD-2F8B-4756-BC73-88AC77BB5A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5BDA1ABD-5F75-4F9D-A705-8225B8ECA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84612499-76E3-4012-B764-2EABB6490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563BBC51-E788-421A-9D78-C0AF97458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1C8B67D9-5F75-4548-AF92-72DA0E5D9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6FBFC15B-92B7-4397-AC9C-D5A1E4A59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8C2C415F-32F1-4E09-A2F8-D62A5EC58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C9D4B07B-BE0D-4D53-8815-B8A7F05FD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1FF8A1B-4116-45F8-8D80-0626EE9CD0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49D47ED2-974A-4EA7-A8F6-33ABA327FC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B14A5F04-FF65-4F4A-8FE6-2BDC7479A1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8CDCDBFF-DDED-4721-8523-4FFB745BA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93D1E53-69A2-4A21-954D-B8C9542A3B97}"/>
                </a:ext>
              </a:extLst>
            </p:cNvPr>
            <p:cNvGrpSpPr/>
            <p:nvPr/>
          </p:nvGrpSpPr>
          <p:grpSpPr>
            <a:xfrm>
              <a:off x="2109369" y="3538280"/>
              <a:ext cx="1438648" cy="830997"/>
              <a:chOff x="2142823" y="3694397"/>
              <a:chExt cx="1438648" cy="83099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2142823" y="3694397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D2C57-24A4-49D5-9CD4-89FB2A8FDE51}"/>
                  </a:ext>
                </a:extLst>
              </p:cNvPr>
              <p:cNvCxnSpPr/>
              <p:nvPr/>
            </p:nvCxnSpPr>
            <p:spPr>
              <a:xfrm>
                <a:off x="2360342" y="4342069"/>
                <a:ext cx="10972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1066800" y="64174"/>
            <a:ext cx="103318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/>
              <a:t>Swimming Becomes More or Less Difficult as Fish Move Through Changing Flow Conditions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124609" y="4553971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3C9ADDD-6F2E-43C5-8890-9D49AEA5ABCB}"/>
              </a:ext>
            </a:extLst>
          </p:cNvPr>
          <p:cNvSpPr txBox="1"/>
          <p:nvPr/>
        </p:nvSpPr>
        <p:spPr>
          <a:xfrm>
            <a:off x="1900094" y="2022355"/>
            <a:ext cx="1822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Swimming Speed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315F8E1-59E2-4ADE-A007-97C3BD358907}"/>
              </a:ext>
            </a:extLst>
          </p:cNvPr>
          <p:cNvSpPr txBox="1"/>
          <p:nvPr/>
        </p:nvSpPr>
        <p:spPr>
          <a:xfrm>
            <a:off x="873786" y="4923303"/>
            <a:ext cx="104444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Velocity Direction × Magnitude = Difficulty Factor (</a:t>
            </a:r>
            <a:r>
              <a:rPr lang="en-US" sz="2000" b="1" i="1" dirty="0"/>
              <a:t>Df</a:t>
            </a:r>
            <a:r>
              <a:rPr lang="en-US" sz="2000" dirty="0"/>
              <a:t>)</a:t>
            </a:r>
          </a:p>
          <a:p>
            <a:r>
              <a:rPr lang="en-US" b="1" dirty="0"/>
              <a:t>Highest difficulty: </a:t>
            </a:r>
          </a:p>
          <a:p>
            <a:r>
              <a:rPr lang="en-US" b="1" dirty="0"/>
              <a:t>→</a:t>
            </a:r>
            <a:r>
              <a:rPr lang="en-US" dirty="0"/>
              <a:t> Strongest velocity in the opposite direction of fish movement</a:t>
            </a:r>
          </a:p>
          <a:p>
            <a:endParaRPr lang="en-US" dirty="0"/>
          </a:p>
          <a:p>
            <a:r>
              <a:rPr lang="en-US" b="1" dirty="0"/>
              <a:t>Lowest difficulty:</a:t>
            </a:r>
          </a:p>
          <a:p>
            <a:r>
              <a:rPr lang="en-US" b="1" dirty="0"/>
              <a:t>→</a:t>
            </a:r>
            <a:r>
              <a:rPr lang="en-US" dirty="0"/>
              <a:t> Weak or assisting flow in the same direction as fish movement</a:t>
            </a:r>
          </a:p>
          <a:p>
            <a:r>
              <a:rPr lang="en-US" sz="1600" b="1" dirty="0"/>
              <a:t> 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8968541" y="5231384"/>
            <a:ext cx="3223459" cy="1469722"/>
            <a:chOff x="9267697" y="5411156"/>
            <a:chExt cx="2686410" cy="146972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0010F9-677F-4723-8A7B-CDD386509001}"/>
                </a:ext>
              </a:extLst>
            </p:cNvPr>
            <p:cNvSpPr/>
            <p:nvPr/>
          </p:nvSpPr>
          <p:spPr>
            <a:xfrm>
              <a:off x="9267697" y="5787731"/>
              <a:ext cx="2474537" cy="8953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C585B2-0C18-4BB8-BA51-58F6C0F59181}"/>
                </a:ext>
              </a:extLst>
            </p:cNvPr>
            <p:cNvSpPr txBox="1"/>
            <p:nvPr/>
          </p:nvSpPr>
          <p:spPr>
            <a:xfrm>
              <a:off x="9743224" y="5411156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123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>
            <a:extLst>
              <a:ext uri="{FF2B5EF4-FFF2-40B4-BE49-F238E27FC236}">
                <a16:creationId xmlns:a16="http://schemas.microsoft.com/office/drawing/2014/main" id="{AA58D546-A50A-4BF4-82AC-662FC71A1ECE}"/>
              </a:ext>
            </a:extLst>
          </p:cNvPr>
          <p:cNvSpPr txBox="1">
            <a:spLocks/>
          </p:cNvSpPr>
          <p:nvPr/>
        </p:nvSpPr>
        <p:spPr>
          <a:xfrm>
            <a:off x="439139" y="-1382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Swimming Against the Flow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078" y="5696173"/>
            <a:ext cx="12432156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adjust their speed to overcome opposing currents, constrained by maximum velocity and rate of change.</a:t>
            </a: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5D1842CE-9AA4-44CC-BA69-A7DC7D47846F}"/>
              </a:ext>
            </a:extLst>
          </p:cNvPr>
          <p:cNvSpPr/>
          <p:nvPr/>
        </p:nvSpPr>
        <p:spPr>
          <a:xfrm>
            <a:off x="3428331" y="1675847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E1E9C8-9DDD-44EB-8992-51CA12E6012F}"/>
              </a:ext>
            </a:extLst>
          </p:cNvPr>
          <p:cNvGrpSpPr/>
          <p:nvPr/>
        </p:nvGrpSpPr>
        <p:grpSpPr>
          <a:xfrm>
            <a:off x="-308278" y="1010826"/>
            <a:ext cx="3962269" cy="2397301"/>
            <a:chOff x="-308278" y="1010826"/>
            <a:chExt cx="3962269" cy="239730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-308278" y="2761796"/>
              <a:ext cx="3962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Current Velocity</a:t>
              </a:r>
            </a:p>
            <a:p>
              <a:pPr algn="ctr"/>
              <a:r>
                <a:rPr lang="en-US" b="1" dirty="0"/>
                <a:t>Increases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123785" y="1010826"/>
              <a:ext cx="2909155" cy="2046465"/>
              <a:chOff x="1017956" y="2071167"/>
              <a:chExt cx="1387788" cy="151965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121740" cy="251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/>
                  <a:t>t</a:t>
                </a:r>
                <a:endParaRPr lang="en-US" sz="1400" b="1" i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D099EB3-CE16-4E30-97DA-6BAD260FF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188" y="1114763"/>
              <a:ext cx="2307488" cy="1603973"/>
            </a:xfrm>
            <a:prstGeom prst="straightConnector1">
              <a:avLst/>
            </a:prstGeom>
            <a:ln w="5715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F72D08-9E7C-4D3E-8BDF-DFA8410FE95A}"/>
              </a:ext>
            </a:extLst>
          </p:cNvPr>
          <p:cNvCxnSpPr/>
          <p:nvPr/>
        </p:nvCxnSpPr>
        <p:spPr>
          <a:xfrm flipV="1">
            <a:off x="4335443" y="1931948"/>
            <a:ext cx="272299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AB6D483B-E84D-48A8-9F6D-AAFB24518BA1}"/>
              </a:ext>
            </a:extLst>
          </p:cNvPr>
          <p:cNvGrpSpPr/>
          <p:nvPr/>
        </p:nvGrpSpPr>
        <p:grpSpPr>
          <a:xfrm>
            <a:off x="3985253" y="1010825"/>
            <a:ext cx="5054317" cy="2150503"/>
            <a:chOff x="3985253" y="1010825"/>
            <a:chExt cx="5054317" cy="21505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A779920-CF11-4D59-B80A-B03713837036}"/>
                </a:ext>
              </a:extLst>
            </p:cNvPr>
            <p:cNvGrpSpPr/>
            <p:nvPr/>
          </p:nvGrpSpPr>
          <p:grpSpPr>
            <a:xfrm>
              <a:off x="3985253" y="1010825"/>
              <a:ext cx="2909155" cy="2015689"/>
              <a:chOff x="1017956" y="2071167"/>
              <a:chExt cx="1387788" cy="149679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D18AF52-BFAF-48B5-B2B1-0B187484509B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B22E02D0-5ED2-4C5C-88B0-AB1271CC0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363175B3-F9FC-4613-8420-FC6E53E2BA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46EC70-472A-4BAA-B0DF-DF746FA5BEEE}"/>
                  </a:ext>
                </a:extLst>
              </p:cNvPr>
              <p:cNvSpPr txBox="1"/>
              <p:nvPr/>
            </p:nvSpPr>
            <p:spPr>
              <a:xfrm>
                <a:off x="2263718" y="3339419"/>
                <a:ext cx="117917" cy="2285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i="1" dirty="0"/>
                  <a:t>t</a:t>
                </a:r>
                <a:endParaRPr lang="en-US" sz="1600" b="1" i="1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21425E-BE7C-4775-9678-FA1870CFE432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E1A0054-BC40-4DDB-A3E8-4EDF67E99336}"/>
                    </a:ext>
                  </a:extLst>
                </p:cNvPr>
                <p:cNvSpPr txBox="1"/>
                <p:nvPr/>
              </p:nvSpPr>
              <p:spPr>
                <a:xfrm>
                  <a:off x="4276255" y="2765707"/>
                  <a:ext cx="2555752" cy="395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𝒔𝒑𝒆𝒆𝒅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𝒇𝒊𝒔𝒉</m:t>
                          </m:r>
                        </m:sub>
                      </m:sSub>
                    </m:oMath>
                  </a14:m>
                  <a:r>
                    <a:rPr lang="en-US" b="1" dirty="0"/>
                    <a:t> Increases</a:t>
                  </a: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E1A0054-BC40-4DDB-A3E8-4EDF67E99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255" y="2765707"/>
                  <a:ext cx="2555752" cy="395621"/>
                </a:xfrm>
                <a:prstGeom prst="rect">
                  <a:avLst/>
                </a:prstGeom>
                <a:blipFill>
                  <a:blip r:embed="rId2"/>
                  <a:stretch>
                    <a:fillRect t="-7692"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FBF09B5-F54D-4BD1-8B12-46495F55A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6049" y="1172736"/>
              <a:ext cx="1209201" cy="1516541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69ECA19-E0A6-4848-8560-DD1F33D15F26}"/>
                    </a:ext>
                  </a:extLst>
                </p:cNvPr>
                <p:cNvSpPr txBox="1"/>
                <p:nvPr/>
              </p:nvSpPr>
              <p:spPr>
                <a:xfrm>
                  <a:off x="5077301" y="1527593"/>
                  <a:ext cx="3962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𝑺𝒘𝒊𝒎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en-US" sz="1800" b="1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69ECA19-E0A6-4848-8560-DD1F33D15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7301" y="1527593"/>
                  <a:ext cx="396226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7F6CF6A-88EB-43D0-AA13-C102F146DA68}"/>
                </a:ext>
              </a:extLst>
            </p:cNvPr>
            <p:cNvSpPr/>
            <p:nvPr/>
          </p:nvSpPr>
          <p:spPr>
            <a:xfrm>
              <a:off x="4387294" y="1991088"/>
              <a:ext cx="2620537" cy="688846"/>
            </a:xfrm>
            <a:custGeom>
              <a:avLst/>
              <a:gdLst>
                <a:gd name="connsiteX0" fmla="*/ 0 w 2620537"/>
                <a:gd name="connsiteY0" fmla="*/ 688846 h 688846"/>
                <a:gd name="connsiteX1" fmla="*/ 1282390 w 2620537"/>
                <a:gd name="connsiteY1" fmla="*/ 19773 h 688846"/>
                <a:gd name="connsiteX2" fmla="*/ 2620537 w 2620537"/>
                <a:gd name="connsiteY2" fmla="*/ 242797 h 68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0537" h="688846">
                  <a:moveTo>
                    <a:pt x="0" y="688846"/>
                  </a:moveTo>
                  <a:cubicBezTo>
                    <a:pt x="422817" y="391480"/>
                    <a:pt x="845634" y="94114"/>
                    <a:pt x="1282390" y="19773"/>
                  </a:cubicBezTo>
                  <a:cubicBezTo>
                    <a:pt x="1719146" y="-54568"/>
                    <a:pt x="2169841" y="94114"/>
                    <a:pt x="2620537" y="242797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w="lg" len="lg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ABA0699-2940-43C3-BD06-9AFE33A1F834}"/>
              </a:ext>
            </a:extLst>
          </p:cNvPr>
          <p:cNvGrpSpPr/>
          <p:nvPr/>
        </p:nvGrpSpPr>
        <p:grpSpPr>
          <a:xfrm>
            <a:off x="-395754" y="3442158"/>
            <a:ext cx="3962269" cy="2397301"/>
            <a:chOff x="-395754" y="3442158"/>
            <a:chExt cx="3962269" cy="239730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53E4E84-8AE9-41CC-A405-FF5D041B5382}"/>
                </a:ext>
              </a:extLst>
            </p:cNvPr>
            <p:cNvSpPr txBox="1"/>
            <p:nvPr/>
          </p:nvSpPr>
          <p:spPr>
            <a:xfrm>
              <a:off x="-395754" y="5193128"/>
              <a:ext cx="3962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Current Velocity</a:t>
              </a:r>
            </a:p>
            <a:p>
              <a:pPr algn="ctr"/>
              <a:r>
                <a:rPr lang="en-US" b="1" dirty="0"/>
                <a:t>Decreases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B9A2694-0028-476C-AEF3-50555EC1E107}"/>
                </a:ext>
              </a:extLst>
            </p:cNvPr>
            <p:cNvGrpSpPr/>
            <p:nvPr/>
          </p:nvGrpSpPr>
          <p:grpSpPr>
            <a:xfrm>
              <a:off x="36309" y="3442158"/>
              <a:ext cx="2909155" cy="2046465"/>
              <a:chOff x="1017956" y="2071167"/>
              <a:chExt cx="1387788" cy="1519652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3ACFE901-2838-4655-B9CA-BDD84DC4553D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D95889C5-70FA-4E66-9C72-2874A58BA7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3DDBEBE9-4B21-40F2-8B8F-0A21767C51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0F7BE1-8249-4C03-9FC9-F64F9E1BCE1F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121740" cy="251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/>
                  <a:t>t</a:t>
                </a:r>
                <a:endParaRPr lang="en-US" sz="1400" b="1" i="1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8065359-58B4-4483-A290-57977E2C4E91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CEFFA8A-EA74-4EDD-B801-80EE8AB98A27}"/>
                </a:ext>
              </a:extLst>
            </p:cNvPr>
            <p:cNvCxnSpPr>
              <a:cxnSpLocks/>
            </p:cNvCxnSpPr>
            <p:nvPr/>
          </p:nvCxnSpPr>
          <p:spPr>
            <a:xfrm>
              <a:off x="389712" y="3546095"/>
              <a:ext cx="2307488" cy="1603973"/>
            </a:xfrm>
            <a:prstGeom prst="straightConnector1">
              <a:avLst/>
            </a:prstGeom>
            <a:ln w="5715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210DDD7-0D78-45C7-9F96-D7F8510B4555}"/>
              </a:ext>
            </a:extLst>
          </p:cNvPr>
          <p:cNvCxnSpPr/>
          <p:nvPr/>
        </p:nvCxnSpPr>
        <p:spPr>
          <a:xfrm flipV="1">
            <a:off x="4335443" y="4377395"/>
            <a:ext cx="272299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4E0D2AE9-4799-4562-84C4-628CD26ED7A2}"/>
              </a:ext>
            </a:extLst>
          </p:cNvPr>
          <p:cNvGrpSpPr/>
          <p:nvPr/>
        </p:nvGrpSpPr>
        <p:grpSpPr>
          <a:xfrm>
            <a:off x="3985253" y="3456273"/>
            <a:ext cx="5188012" cy="2150502"/>
            <a:chOff x="3985253" y="3456273"/>
            <a:chExt cx="5188012" cy="215050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8944F7A-ED3A-4FB7-932C-640C74A01252}"/>
                </a:ext>
              </a:extLst>
            </p:cNvPr>
            <p:cNvGrpSpPr/>
            <p:nvPr/>
          </p:nvGrpSpPr>
          <p:grpSpPr>
            <a:xfrm>
              <a:off x="3985253" y="3456273"/>
              <a:ext cx="2909155" cy="2046465"/>
              <a:chOff x="1017956" y="2071167"/>
              <a:chExt cx="1387788" cy="1519652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F090AB9-3DAF-4118-9C05-A14211F6C7F7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4844668A-C9A4-45FF-8C75-E713ACBD18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F649BAFA-6460-4F4B-B001-D3122D877F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4229ECE-729E-4F29-ADFC-DD4D567C803C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121740" cy="251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/>
                  <a:t>t</a:t>
                </a:r>
                <a:endParaRPr lang="en-US" sz="1400" b="1" i="1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50C608E-79BB-4E11-91F4-FD04AC8A69DF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6228E56-3BEE-4F10-AC9B-39678FAC8713}"/>
                    </a:ext>
                  </a:extLst>
                </p:cNvPr>
                <p:cNvSpPr txBox="1"/>
                <p:nvPr/>
              </p:nvSpPr>
              <p:spPr>
                <a:xfrm>
                  <a:off x="4276255" y="5211154"/>
                  <a:ext cx="2320431" cy="395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𝒔𝒑𝒆𝒆𝒅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𝒇𝒊𝒔𝒉</m:t>
                          </m:r>
                        </m:sub>
                      </m:sSub>
                    </m:oMath>
                  </a14:m>
                  <a:r>
                    <a:rPr lang="en-US" b="1" dirty="0"/>
                    <a:t> Increases</a:t>
                  </a: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6228E56-3BEE-4F10-AC9B-39678FAC8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255" y="5211154"/>
                  <a:ext cx="2320431" cy="395621"/>
                </a:xfrm>
                <a:prstGeom prst="rect">
                  <a:avLst/>
                </a:prstGeom>
                <a:blipFill>
                  <a:blip r:embed="rId4"/>
                  <a:stretch>
                    <a:fillRect t="-7692"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B1FA57-1FDD-4272-9E1C-6AEDE78D2919}"/>
                    </a:ext>
                  </a:extLst>
                </p:cNvPr>
                <p:cNvSpPr txBox="1"/>
                <p:nvPr/>
              </p:nvSpPr>
              <p:spPr>
                <a:xfrm>
                  <a:off x="5210996" y="3983032"/>
                  <a:ext cx="3962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𝑺𝒘𝒊𝒎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en-US" sz="1800" b="1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B1FA57-1FDD-4272-9E1C-6AEDE78D2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996" y="3983032"/>
                  <a:ext cx="396226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268386A-99E4-402D-A0A7-D57C6A958FDE}"/>
                </a:ext>
              </a:extLst>
            </p:cNvPr>
            <p:cNvSpPr/>
            <p:nvPr/>
          </p:nvSpPr>
          <p:spPr>
            <a:xfrm>
              <a:off x="4359040" y="4442573"/>
              <a:ext cx="2553629" cy="674642"/>
            </a:xfrm>
            <a:custGeom>
              <a:avLst/>
              <a:gdLst>
                <a:gd name="connsiteX0" fmla="*/ 0 w 2553629"/>
                <a:gd name="connsiteY0" fmla="*/ 612285 h 674642"/>
                <a:gd name="connsiteX1" fmla="*/ 947853 w 2553629"/>
                <a:gd name="connsiteY1" fmla="*/ 623436 h 674642"/>
                <a:gd name="connsiteX2" fmla="*/ 1393902 w 2553629"/>
                <a:gd name="connsiteY2" fmla="*/ 54724 h 674642"/>
                <a:gd name="connsiteX3" fmla="*/ 2553629 w 2553629"/>
                <a:gd name="connsiteY3" fmla="*/ 54724 h 67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3629" h="674642">
                  <a:moveTo>
                    <a:pt x="0" y="612285"/>
                  </a:moveTo>
                  <a:cubicBezTo>
                    <a:pt x="357768" y="664324"/>
                    <a:pt x="715536" y="716363"/>
                    <a:pt x="947853" y="623436"/>
                  </a:cubicBezTo>
                  <a:cubicBezTo>
                    <a:pt x="1180170" y="530509"/>
                    <a:pt x="1126273" y="149509"/>
                    <a:pt x="1393902" y="54724"/>
                  </a:cubicBezTo>
                  <a:cubicBezTo>
                    <a:pt x="1661531" y="-40061"/>
                    <a:pt x="2107580" y="7331"/>
                    <a:pt x="2553629" y="54724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E777135-B680-4A3A-B9DD-F29F85A00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9040" y="3865584"/>
              <a:ext cx="2472967" cy="1284485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488FC84-CF1C-404F-A7FF-A650F20E4C62}"/>
              </a:ext>
            </a:extLst>
          </p:cNvPr>
          <p:cNvSpPr txBox="1"/>
          <p:nvPr/>
        </p:nvSpPr>
        <p:spPr>
          <a:xfrm>
            <a:off x="8653870" y="935777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C67A67-3EAA-4897-919A-F928338BEF45}"/>
              </a:ext>
            </a:extLst>
          </p:cNvPr>
          <p:cNvSpPr txBox="1"/>
          <p:nvPr/>
        </p:nvSpPr>
        <p:spPr>
          <a:xfrm>
            <a:off x="8653870" y="1445748"/>
            <a:ext cx="3079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 flow strengthens, fish increase speed to counter resistance, constrained by their max swimming rate and how fast they can accelerate.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1B9E386-F33F-40A0-A0E7-CDA196023D14}"/>
              </a:ext>
            </a:extLst>
          </p:cNvPr>
          <p:cNvCxnSpPr/>
          <p:nvPr/>
        </p:nvCxnSpPr>
        <p:spPr>
          <a:xfrm>
            <a:off x="8726664" y="1375670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B1CB1FFA-E6FC-48F3-B83A-63E692A22D58}"/>
              </a:ext>
            </a:extLst>
          </p:cNvPr>
          <p:cNvSpPr/>
          <p:nvPr/>
        </p:nvSpPr>
        <p:spPr>
          <a:xfrm>
            <a:off x="7927476" y="1666960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EF9B06B7-7730-47D2-96EE-74D7B0EE76C9}"/>
              </a:ext>
            </a:extLst>
          </p:cNvPr>
          <p:cNvSpPr/>
          <p:nvPr/>
        </p:nvSpPr>
        <p:spPr>
          <a:xfrm>
            <a:off x="7927476" y="4112586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AA568F-B5BB-47C2-B3E8-021CC41D6CFA}"/>
              </a:ext>
            </a:extLst>
          </p:cNvPr>
          <p:cNvSpPr txBox="1"/>
          <p:nvPr/>
        </p:nvSpPr>
        <p:spPr>
          <a:xfrm>
            <a:off x="8658924" y="3612212"/>
            <a:ext cx="3079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 flow weakens, fish reduce speed to conserve energy unless overcoming velocity is needed for continued migration.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8AB6FA0-EBEA-4DE6-BEA2-B12AA70AF222}"/>
                  </a:ext>
                </a:extLst>
              </p:cNvPr>
              <p:cNvSpPr txBox="1"/>
              <p:nvPr/>
            </p:nvSpPr>
            <p:spPr>
              <a:xfrm>
                <a:off x="7192578" y="5057628"/>
                <a:ext cx="1636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Desired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𝐒𝐩𝐞𝐞𝐝</m:t>
                    </m:r>
                  </m:oMath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8AB6FA0-EBEA-4DE6-BEA2-B12AA70AF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578" y="5057628"/>
                <a:ext cx="1636987" cy="369332"/>
              </a:xfrm>
              <a:prstGeom prst="rect">
                <a:avLst/>
              </a:prstGeom>
              <a:blipFill>
                <a:blip r:embed="rId6"/>
                <a:stretch>
                  <a:fillRect l="-3358" t="-10000" r="-37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1DCEA53-4812-40FF-900C-FBDA854B5F90}"/>
                  </a:ext>
                </a:extLst>
              </p:cNvPr>
              <p:cNvSpPr txBox="1"/>
              <p:nvPr/>
            </p:nvSpPr>
            <p:spPr>
              <a:xfrm>
                <a:off x="7192337" y="5330407"/>
                <a:ext cx="20890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𝐒𝐰𝐢𝐦𝐦𝐢𝐧𝐠</m:t>
                      </m:r>
                      <m:r>
                        <a:rPr lang="en-US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𝐒𝐩𝐞𝐞𝐝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1DCEA53-4812-40FF-900C-FBDA854B5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37" y="5330407"/>
                <a:ext cx="2089033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Arrow: Right 59">
            <a:extLst>
              <a:ext uri="{FF2B5EF4-FFF2-40B4-BE49-F238E27FC236}">
                <a16:creationId xmlns:a16="http://schemas.microsoft.com/office/drawing/2014/main" id="{DC02A13E-0A98-4CE7-8FCB-E3C70909AFA8}"/>
              </a:ext>
            </a:extLst>
          </p:cNvPr>
          <p:cNvSpPr/>
          <p:nvPr/>
        </p:nvSpPr>
        <p:spPr>
          <a:xfrm>
            <a:off x="3428331" y="4112586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7" grpId="0"/>
      <p:bldP spid="68" grpId="0"/>
      <p:bldP spid="70" grpId="0" animBg="1"/>
      <p:bldP spid="72" grpId="0" animBg="1"/>
      <p:bldP spid="73" grpId="0"/>
      <p:bldP spid="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>
            <a:extLst>
              <a:ext uri="{FF2B5EF4-FFF2-40B4-BE49-F238E27FC236}">
                <a16:creationId xmlns:a16="http://schemas.microsoft.com/office/drawing/2014/main" id="{AA58D546-A50A-4BF4-82AC-662FC71A1ECE}"/>
              </a:ext>
            </a:extLst>
          </p:cNvPr>
          <p:cNvSpPr txBox="1">
            <a:spLocks/>
          </p:cNvSpPr>
          <p:nvPr/>
        </p:nvSpPr>
        <p:spPr>
          <a:xfrm>
            <a:off x="439139" y="-1382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Swimming with the Flow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1" y="5596564"/>
            <a:ext cx="11550078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use favorable currents to move faster with less effort, without being limited by their maximum swimming speed.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D56449-6508-4E54-AC9F-F2BC81E41A60}"/>
              </a:ext>
            </a:extLst>
          </p:cNvPr>
          <p:cNvGrpSpPr/>
          <p:nvPr/>
        </p:nvGrpSpPr>
        <p:grpSpPr>
          <a:xfrm>
            <a:off x="-308278" y="945510"/>
            <a:ext cx="3962269" cy="2397301"/>
            <a:chOff x="-308278" y="945510"/>
            <a:chExt cx="3962269" cy="239730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-308278" y="2696480"/>
              <a:ext cx="3962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Current Velocity</a:t>
              </a:r>
            </a:p>
            <a:p>
              <a:pPr algn="ctr"/>
              <a:r>
                <a:rPr lang="en-US" b="1" dirty="0"/>
                <a:t>Increases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123785" y="945510"/>
              <a:ext cx="2909155" cy="2046465"/>
              <a:chOff x="1017956" y="2071167"/>
              <a:chExt cx="1387788" cy="151965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121740" cy="251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/>
                  <a:t>t</a:t>
                </a:r>
                <a:endParaRPr lang="en-US" b="1" i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D099EB3-CE16-4E30-97DA-6BAD260FF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188" y="1049447"/>
              <a:ext cx="2307488" cy="1603973"/>
            </a:xfrm>
            <a:prstGeom prst="straightConnector1">
              <a:avLst/>
            </a:prstGeom>
            <a:ln w="5715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F72D08-9E7C-4D3E-8BDF-DFA8410FE95A}"/>
              </a:ext>
            </a:extLst>
          </p:cNvPr>
          <p:cNvCxnSpPr/>
          <p:nvPr/>
        </p:nvCxnSpPr>
        <p:spPr>
          <a:xfrm flipV="1">
            <a:off x="4335443" y="1866632"/>
            <a:ext cx="272299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D901A36-4993-4AE6-B320-1915D7334815}"/>
              </a:ext>
            </a:extLst>
          </p:cNvPr>
          <p:cNvSpPr txBox="1"/>
          <p:nvPr/>
        </p:nvSpPr>
        <p:spPr>
          <a:xfrm>
            <a:off x="8653870" y="5059432"/>
            <a:ext cx="203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Swimming Velocity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EA47E0-F6DB-47E6-9C09-8463C5EFB689}"/>
              </a:ext>
            </a:extLst>
          </p:cNvPr>
          <p:cNvSpPr txBox="1"/>
          <p:nvPr/>
        </p:nvSpPr>
        <p:spPr>
          <a:xfrm>
            <a:off x="8653870" y="4846426"/>
            <a:ext cx="27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Desired Swimming Velocity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C6D21E-E836-4C75-9D00-1CF89AB9BAAF}"/>
              </a:ext>
            </a:extLst>
          </p:cNvPr>
          <p:cNvSpPr txBox="1"/>
          <p:nvPr/>
        </p:nvSpPr>
        <p:spPr>
          <a:xfrm>
            <a:off x="8653870" y="5289699"/>
            <a:ext cx="17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Current Velocity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FE13A7-A8F9-48DD-B0FD-EB8D3ED45F06}"/>
              </a:ext>
            </a:extLst>
          </p:cNvPr>
          <p:cNvGrpSpPr/>
          <p:nvPr/>
        </p:nvGrpSpPr>
        <p:grpSpPr>
          <a:xfrm>
            <a:off x="-362646" y="3316218"/>
            <a:ext cx="3962269" cy="2397301"/>
            <a:chOff x="-362646" y="3316218"/>
            <a:chExt cx="3962269" cy="239730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53E4E84-8AE9-41CC-A405-FF5D041B5382}"/>
                </a:ext>
              </a:extLst>
            </p:cNvPr>
            <p:cNvSpPr txBox="1"/>
            <p:nvPr/>
          </p:nvSpPr>
          <p:spPr>
            <a:xfrm>
              <a:off x="-362646" y="5067188"/>
              <a:ext cx="3962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Current Velocity</a:t>
              </a:r>
            </a:p>
            <a:p>
              <a:pPr algn="ctr"/>
              <a:r>
                <a:rPr lang="en-US" b="1" dirty="0"/>
                <a:t>Decreases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B9A2694-0028-476C-AEF3-50555EC1E107}"/>
                </a:ext>
              </a:extLst>
            </p:cNvPr>
            <p:cNvGrpSpPr/>
            <p:nvPr/>
          </p:nvGrpSpPr>
          <p:grpSpPr>
            <a:xfrm>
              <a:off x="69417" y="3316218"/>
              <a:ext cx="2909155" cy="2046465"/>
              <a:chOff x="1017956" y="2071167"/>
              <a:chExt cx="1387788" cy="1519652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3ACFE901-2838-4655-B9CA-BDD84DC4553D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D95889C5-70FA-4E66-9C72-2874A58BA7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3DDBEBE9-4B21-40F2-8B8F-0A21767C51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0F7BE1-8249-4C03-9FC9-F64F9E1BCE1F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121740" cy="251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/>
                  <a:t>t</a:t>
                </a:r>
                <a:endParaRPr lang="en-US" sz="1400" b="1" i="1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8065359-58B4-4483-A290-57977E2C4E91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CEFFA8A-EA74-4EDD-B801-80EE8AB98A27}"/>
                </a:ext>
              </a:extLst>
            </p:cNvPr>
            <p:cNvCxnSpPr>
              <a:cxnSpLocks/>
            </p:cNvCxnSpPr>
            <p:nvPr/>
          </p:nvCxnSpPr>
          <p:spPr>
            <a:xfrm>
              <a:off x="422820" y="3420155"/>
              <a:ext cx="2307488" cy="1603973"/>
            </a:xfrm>
            <a:prstGeom prst="straightConnector1">
              <a:avLst/>
            </a:prstGeom>
            <a:ln w="5715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210DDD7-0D78-45C7-9F96-D7F8510B4555}"/>
              </a:ext>
            </a:extLst>
          </p:cNvPr>
          <p:cNvCxnSpPr/>
          <p:nvPr/>
        </p:nvCxnSpPr>
        <p:spPr>
          <a:xfrm flipV="1">
            <a:off x="4368551" y="4251455"/>
            <a:ext cx="272299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AA6B7FB-45A2-45E9-9454-C05B816C8474}"/>
              </a:ext>
            </a:extLst>
          </p:cNvPr>
          <p:cNvGrpSpPr/>
          <p:nvPr/>
        </p:nvGrpSpPr>
        <p:grpSpPr>
          <a:xfrm>
            <a:off x="3428331" y="851208"/>
            <a:ext cx="5611239" cy="2244804"/>
            <a:chOff x="3428331" y="851208"/>
            <a:chExt cx="5611239" cy="224480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A779920-CF11-4D59-B80A-B03713837036}"/>
                </a:ext>
              </a:extLst>
            </p:cNvPr>
            <p:cNvGrpSpPr/>
            <p:nvPr/>
          </p:nvGrpSpPr>
          <p:grpSpPr>
            <a:xfrm>
              <a:off x="3985253" y="945510"/>
              <a:ext cx="2909155" cy="2046465"/>
              <a:chOff x="1017956" y="2071167"/>
              <a:chExt cx="1387788" cy="151965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D18AF52-BFAF-48B5-B2B1-0B187484509B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B22E02D0-5ED2-4C5C-88B0-AB1271CC0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363175B3-F9FC-4613-8420-FC6E53E2BA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46EC70-472A-4BAA-B0DF-DF746FA5BEEE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121740" cy="251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/>
                  <a:t>t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21425E-BE7C-4775-9678-FA1870CFE432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3428331" y="1610531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E1A0054-BC40-4DDB-A3E8-4EDF67E99336}"/>
                    </a:ext>
                  </a:extLst>
                </p:cNvPr>
                <p:cNvSpPr txBox="1"/>
                <p:nvPr/>
              </p:nvSpPr>
              <p:spPr>
                <a:xfrm>
                  <a:off x="4361907" y="2700391"/>
                  <a:ext cx="2269891" cy="395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𝒔𝒑𝒆𝒆𝒅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𝒇𝒊𝒔𝒉</m:t>
                          </m:r>
                        </m:sub>
                      </m:sSub>
                    </m:oMath>
                  </a14:m>
                  <a:r>
                    <a:rPr lang="en-US" b="1" dirty="0"/>
                    <a:t>Increases</a:t>
                  </a: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E1A0054-BC40-4DDB-A3E8-4EDF67E99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1907" y="2700391"/>
                  <a:ext cx="2269891" cy="395621"/>
                </a:xfrm>
                <a:prstGeom prst="rect">
                  <a:avLst/>
                </a:prstGeom>
                <a:blipFill>
                  <a:blip r:embed="rId2"/>
                  <a:stretch>
                    <a:fillRect t="-7692"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FBF09B5-F54D-4BD1-8B12-46495F55A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6049" y="1107420"/>
              <a:ext cx="1209201" cy="1516541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69ECA19-E0A6-4848-8560-DD1F33D15F26}"/>
                    </a:ext>
                  </a:extLst>
                </p:cNvPr>
                <p:cNvSpPr txBox="1"/>
                <p:nvPr/>
              </p:nvSpPr>
              <p:spPr>
                <a:xfrm>
                  <a:off x="5077301" y="1462277"/>
                  <a:ext cx="3962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𝑺𝒘𝒊𝒎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en-US" sz="1800" b="1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69ECA19-E0A6-4848-8560-DD1F33D15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7301" y="1462277"/>
                  <a:ext cx="396226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18024C3-0917-41E3-9DA6-5237E1A863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9491" y="851208"/>
              <a:ext cx="878363" cy="1795004"/>
            </a:xfrm>
            <a:prstGeom prst="straightConnector1">
              <a:avLst/>
            </a:prstGeom>
            <a:ln w="571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CDCDA8-13BF-4CC1-8666-167942DC1A7A}"/>
              </a:ext>
            </a:extLst>
          </p:cNvPr>
          <p:cNvGrpSpPr/>
          <p:nvPr/>
        </p:nvGrpSpPr>
        <p:grpSpPr>
          <a:xfrm>
            <a:off x="7927476" y="870461"/>
            <a:ext cx="3805682" cy="1710300"/>
            <a:chOff x="7927476" y="870461"/>
            <a:chExt cx="3805682" cy="1710300"/>
          </a:xfrm>
        </p:grpSpPr>
        <p:sp>
          <p:nvSpPr>
            <p:cNvPr id="70" name="Arrow: Right 69">
              <a:extLst>
                <a:ext uri="{FF2B5EF4-FFF2-40B4-BE49-F238E27FC236}">
                  <a16:creationId xmlns:a16="http://schemas.microsoft.com/office/drawing/2014/main" id="{B1CB1FFA-E6FC-48F3-B83A-63E692A22D58}"/>
                </a:ext>
              </a:extLst>
            </p:cNvPr>
            <p:cNvSpPr/>
            <p:nvPr/>
          </p:nvSpPr>
          <p:spPr>
            <a:xfrm>
              <a:off x="7927476" y="1457224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34D50A9-0981-44C0-88EA-2FC0212C2847}"/>
                </a:ext>
              </a:extLst>
            </p:cNvPr>
            <p:cNvSpPr txBox="1"/>
            <p:nvPr/>
          </p:nvSpPr>
          <p:spPr>
            <a:xfrm>
              <a:off x="8653870" y="870461"/>
              <a:ext cx="29445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Ecological Implication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7CB7577-DD2B-4BC5-888F-5CEF86E2AD62}"/>
                </a:ext>
              </a:extLst>
            </p:cNvPr>
            <p:cNvSpPr txBox="1"/>
            <p:nvPr/>
          </p:nvSpPr>
          <p:spPr>
            <a:xfrm>
              <a:off x="8653870" y="1380432"/>
              <a:ext cx="307928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When flow aids migration, fish swim more efficiently but still face constraints from max speed and acceleration.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105517E-7FE5-46BF-981B-7D43734C7115}"/>
                </a:ext>
              </a:extLst>
            </p:cNvPr>
            <p:cNvCxnSpPr/>
            <p:nvPr/>
          </p:nvCxnSpPr>
          <p:spPr>
            <a:xfrm>
              <a:off x="8726664" y="1310354"/>
              <a:ext cx="2798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233470-C355-4CDC-9570-06BE165629CD}"/>
              </a:ext>
            </a:extLst>
          </p:cNvPr>
          <p:cNvGrpSpPr/>
          <p:nvPr/>
        </p:nvGrpSpPr>
        <p:grpSpPr>
          <a:xfrm>
            <a:off x="7923471" y="3592597"/>
            <a:ext cx="3809687" cy="1200329"/>
            <a:chOff x="7923471" y="3592597"/>
            <a:chExt cx="3809687" cy="1200329"/>
          </a:xfrm>
        </p:grpSpPr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EF9B06B7-7730-47D2-96EE-74D7B0EE76C9}"/>
                </a:ext>
              </a:extLst>
            </p:cNvPr>
            <p:cNvSpPr/>
            <p:nvPr/>
          </p:nvSpPr>
          <p:spPr>
            <a:xfrm>
              <a:off x="7923471" y="3910485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6EE3CE5-7710-4ACD-85A0-0DC10B58E1E7}"/>
                </a:ext>
              </a:extLst>
            </p:cNvPr>
            <p:cNvSpPr txBox="1"/>
            <p:nvPr/>
          </p:nvSpPr>
          <p:spPr>
            <a:xfrm>
              <a:off x="8653870" y="3592597"/>
              <a:ext cx="307928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As favorable flow lessens, fish boost effort to maintain progress, using more energy if currents slow too much.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47768F-36EE-4E7F-99C3-BD02B9D4A2A9}"/>
              </a:ext>
            </a:extLst>
          </p:cNvPr>
          <p:cNvGrpSpPr/>
          <p:nvPr/>
        </p:nvGrpSpPr>
        <p:grpSpPr>
          <a:xfrm>
            <a:off x="3428331" y="3330332"/>
            <a:ext cx="5744934" cy="2150503"/>
            <a:chOff x="3428331" y="3330332"/>
            <a:chExt cx="5744934" cy="215050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8944F7A-ED3A-4FB7-932C-640C74A01252}"/>
                </a:ext>
              </a:extLst>
            </p:cNvPr>
            <p:cNvGrpSpPr/>
            <p:nvPr/>
          </p:nvGrpSpPr>
          <p:grpSpPr>
            <a:xfrm>
              <a:off x="4018361" y="3330332"/>
              <a:ext cx="2909155" cy="2046465"/>
              <a:chOff x="1017956" y="2071167"/>
              <a:chExt cx="1387788" cy="1519652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F090AB9-3DAF-4118-9C05-A14211F6C7F7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4844668A-C9A4-45FF-8C75-E713ACBD18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F649BAFA-6460-4F4B-B001-D3122D877F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4229ECE-729E-4F29-ADFC-DD4D567C803C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121740" cy="251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/>
                  <a:t>t</a:t>
                </a:r>
                <a:endParaRPr lang="en-US" sz="1400" b="1" i="1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50C608E-79BB-4E11-91F4-FD04AC8A69DF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B1FA57-1FDD-4272-9E1C-6AEDE78D2919}"/>
                    </a:ext>
                  </a:extLst>
                </p:cNvPr>
                <p:cNvSpPr txBox="1"/>
                <p:nvPr/>
              </p:nvSpPr>
              <p:spPr>
                <a:xfrm>
                  <a:off x="5210996" y="3868402"/>
                  <a:ext cx="3962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𝑺𝒘𝒊𝒎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</m:oMath>
                    </m:oMathPara>
                  </a14:m>
                  <a:endParaRPr lang="en-US" sz="1800" b="1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B1FA57-1FDD-4272-9E1C-6AEDE78D2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0996" y="3868402"/>
                  <a:ext cx="396226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268386A-99E4-402D-A0A7-D57C6A958FDE}"/>
                </a:ext>
              </a:extLst>
            </p:cNvPr>
            <p:cNvSpPr/>
            <p:nvPr/>
          </p:nvSpPr>
          <p:spPr>
            <a:xfrm flipV="1">
              <a:off x="4395794" y="3651529"/>
              <a:ext cx="2575874" cy="741612"/>
            </a:xfrm>
            <a:custGeom>
              <a:avLst/>
              <a:gdLst>
                <a:gd name="connsiteX0" fmla="*/ 0 w 2553629"/>
                <a:gd name="connsiteY0" fmla="*/ 612285 h 674642"/>
                <a:gd name="connsiteX1" fmla="*/ 947853 w 2553629"/>
                <a:gd name="connsiteY1" fmla="*/ 623436 h 674642"/>
                <a:gd name="connsiteX2" fmla="*/ 1393902 w 2553629"/>
                <a:gd name="connsiteY2" fmla="*/ 54724 h 674642"/>
                <a:gd name="connsiteX3" fmla="*/ 2553629 w 2553629"/>
                <a:gd name="connsiteY3" fmla="*/ 54724 h 674642"/>
                <a:gd name="connsiteX0" fmla="*/ 0 w 2553629"/>
                <a:gd name="connsiteY0" fmla="*/ 612285 h 619293"/>
                <a:gd name="connsiteX1" fmla="*/ 756163 w 2553629"/>
                <a:gd name="connsiteY1" fmla="*/ 319599 h 619293"/>
                <a:gd name="connsiteX2" fmla="*/ 1393902 w 2553629"/>
                <a:gd name="connsiteY2" fmla="*/ 54724 h 619293"/>
                <a:gd name="connsiteX3" fmla="*/ 2553629 w 2553629"/>
                <a:gd name="connsiteY3" fmla="*/ 54724 h 619293"/>
                <a:gd name="connsiteX0" fmla="*/ 0 w 2591967"/>
                <a:gd name="connsiteY0" fmla="*/ 682401 h 688237"/>
                <a:gd name="connsiteX1" fmla="*/ 794501 w 2591967"/>
                <a:gd name="connsiteY1" fmla="*/ 319599 h 688237"/>
                <a:gd name="connsiteX2" fmla="*/ 1432240 w 2591967"/>
                <a:gd name="connsiteY2" fmla="*/ 54724 h 688237"/>
                <a:gd name="connsiteX3" fmla="*/ 2591967 w 2591967"/>
                <a:gd name="connsiteY3" fmla="*/ 54724 h 688237"/>
                <a:gd name="connsiteX0" fmla="*/ 0 w 2591967"/>
                <a:gd name="connsiteY0" fmla="*/ 682401 h 682401"/>
                <a:gd name="connsiteX1" fmla="*/ 303751 w 2591967"/>
                <a:gd name="connsiteY1" fmla="*/ 640624 h 682401"/>
                <a:gd name="connsiteX2" fmla="*/ 794501 w 2591967"/>
                <a:gd name="connsiteY2" fmla="*/ 319599 h 682401"/>
                <a:gd name="connsiteX3" fmla="*/ 1432240 w 2591967"/>
                <a:gd name="connsiteY3" fmla="*/ 54724 h 682401"/>
                <a:gd name="connsiteX4" fmla="*/ 2591967 w 2591967"/>
                <a:gd name="connsiteY4" fmla="*/ 54724 h 682401"/>
                <a:gd name="connsiteX0" fmla="*/ 0 w 2591967"/>
                <a:gd name="connsiteY0" fmla="*/ 682401 h 682401"/>
                <a:gd name="connsiteX1" fmla="*/ 266499 w 2591967"/>
                <a:gd name="connsiteY1" fmla="*/ 558870 h 682401"/>
                <a:gd name="connsiteX2" fmla="*/ 794501 w 2591967"/>
                <a:gd name="connsiteY2" fmla="*/ 319599 h 682401"/>
                <a:gd name="connsiteX3" fmla="*/ 1432240 w 2591967"/>
                <a:gd name="connsiteY3" fmla="*/ 54724 h 682401"/>
                <a:gd name="connsiteX4" fmla="*/ 2591967 w 2591967"/>
                <a:gd name="connsiteY4" fmla="*/ 54724 h 68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1967" h="682401">
                  <a:moveTo>
                    <a:pt x="0" y="682401"/>
                  </a:moveTo>
                  <a:cubicBezTo>
                    <a:pt x="50625" y="675438"/>
                    <a:pt x="134082" y="619337"/>
                    <a:pt x="266499" y="558870"/>
                  </a:cubicBezTo>
                  <a:cubicBezTo>
                    <a:pt x="398916" y="498403"/>
                    <a:pt x="600211" y="403623"/>
                    <a:pt x="794501" y="319599"/>
                  </a:cubicBezTo>
                  <a:cubicBezTo>
                    <a:pt x="988791" y="235575"/>
                    <a:pt x="1164611" y="149509"/>
                    <a:pt x="1432240" y="54724"/>
                  </a:cubicBezTo>
                  <a:cubicBezTo>
                    <a:pt x="1699869" y="-40061"/>
                    <a:pt x="2145918" y="7331"/>
                    <a:pt x="2591967" y="54724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E777135-B680-4A3A-B9DD-F29F85A00271}"/>
                </a:ext>
              </a:extLst>
            </p:cNvPr>
            <p:cNvCxnSpPr>
              <a:cxnSpLocks/>
            </p:cNvCxnSpPr>
            <p:nvPr/>
          </p:nvCxnSpPr>
          <p:spPr>
            <a:xfrm>
              <a:off x="4399157" y="3663176"/>
              <a:ext cx="2472967" cy="1284485"/>
            </a:xfrm>
            <a:prstGeom prst="straightConnector1">
              <a:avLst/>
            </a:prstGeom>
            <a:ln w="57150"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452939D-CAC0-4CA4-8221-6EE386BE438C}"/>
                    </a:ext>
                  </a:extLst>
                </p:cNvPr>
                <p:cNvSpPr txBox="1"/>
                <p:nvPr/>
              </p:nvSpPr>
              <p:spPr>
                <a:xfrm>
                  <a:off x="4309363" y="5085214"/>
                  <a:ext cx="2320431" cy="395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𝒔𝒑𝒆𝒆𝒅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𝒇𝒊𝒔𝒉</m:t>
                          </m:r>
                        </m:sub>
                      </m:sSub>
                    </m:oMath>
                  </a14:m>
                  <a:r>
                    <a:rPr lang="en-US" b="1" dirty="0"/>
                    <a:t>Decreases</a:t>
                  </a: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452939D-CAC0-4CA4-8221-6EE386BE4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9363" y="5085214"/>
                  <a:ext cx="2320431" cy="395621"/>
                </a:xfrm>
                <a:prstGeom prst="rect">
                  <a:avLst/>
                </a:prstGeom>
                <a:blipFill>
                  <a:blip r:embed="rId5"/>
                  <a:stretch>
                    <a:fillRect t="-6154"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282F67F1-198A-4A47-97FB-4914AF4E4028}"/>
                </a:ext>
              </a:extLst>
            </p:cNvPr>
            <p:cNvSpPr/>
            <p:nvPr/>
          </p:nvSpPr>
          <p:spPr>
            <a:xfrm>
              <a:off x="3428331" y="3917065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0615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139" y="5541892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More difficult conditions require more energy to swim, making resistance a key driver of energy use.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E36AA9-C71D-442E-9D73-C8EE15ED09BA}"/>
              </a:ext>
            </a:extLst>
          </p:cNvPr>
          <p:cNvGrpSpPr/>
          <p:nvPr/>
        </p:nvGrpSpPr>
        <p:grpSpPr>
          <a:xfrm>
            <a:off x="7695710" y="1265648"/>
            <a:ext cx="3773672" cy="1433301"/>
            <a:chOff x="7695710" y="1265648"/>
            <a:chExt cx="3773672" cy="1433301"/>
          </a:xfrm>
        </p:grpSpPr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416ACCBD-8061-4D1A-855F-42CA7E05F768}"/>
                </a:ext>
              </a:extLst>
            </p:cNvPr>
            <p:cNvSpPr/>
            <p:nvPr/>
          </p:nvSpPr>
          <p:spPr>
            <a:xfrm>
              <a:off x="7695710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DC62E77-6161-445A-AC62-0125968843FC}"/>
                </a:ext>
              </a:extLst>
            </p:cNvPr>
            <p:cNvSpPr txBox="1"/>
            <p:nvPr/>
          </p:nvSpPr>
          <p:spPr>
            <a:xfrm>
              <a:off x="8390094" y="1265648"/>
              <a:ext cx="29445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Ecological Implication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C5F02C1-4C8E-4B4E-B889-FFA9B51D14D8}"/>
                </a:ext>
              </a:extLst>
            </p:cNvPr>
            <p:cNvSpPr txBox="1"/>
            <p:nvPr/>
          </p:nvSpPr>
          <p:spPr>
            <a:xfrm>
              <a:off x="8390094" y="1775619"/>
              <a:ext cx="30792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Greater difficulty forces fish to use more energy to maintain movement or balance.</a:t>
              </a: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AC799B3-DC0F-4821-B8DC-B474FA186E30}"/>
                </a:ext>
              </a:extLst>
            </p:cNvPr>
            <p:cNvCxnSpPr/>
            <p:nvPr/>
          </p:nvCxnSpPr>
          <p:spPr>
            <a:xfrm>
              <a:off x="8462888" y="1705541"/>
              <a:ext cx="27989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itle 1">
            <a:extLst>
              <a:ext uri="{FF2B5EF4-FFF2-40B4-BE49-F238E27FC236}">
                <a16:creationId xmlns:a16="http://schemas.microsoft.com/office/drawing/2014/main" id="{0B454281-DF0B-48B9-A541-1A08DA23E7F5}"/>
              </a:ext>
            </a:extLst>
          </p:cNvPr>
          <p:cNvSpPr txBox="1">
            <a:spLocks/>
          </p:cNvSpPr>
          <p:nvPr/>
        </p:nvSpPr>
        <p:spPr>
          <a:xfrm>
            <a:off x="439139" y="-51491"/>
            <a:ext cx="11301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Calculating Energy Use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D57A6C-0A97-4F28-B269-E75E0082CEA5}"/>
              </a:ext>
            </a:extLst>
          </p:cNvPr>
          <p:cNvGrpSpPr/>
          <p:nvPr/>
        </p:nvGrpSpPr>
        <p:grpSpPr>
          <a:xfrm>
            <a:off x="220567" y="991738"/>
            <a:ext cx="3962269" cy="2132000"/>
            <a:chOff x="220567" y="991738"/>
            <a:chExt cx="3962269" cy="21320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C6C5D0F-AD40-4942-BA1B-A2E7B44F8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856" y="1194869"/>
              <a:ext cx="2104647" cy="1473296"/>
            </a:xfrm>
            <a:prstGeom prst="line">
              <a:avLst/>
            </a:prstGeom>
            <a:ln w="57150">
              <a:solidFill>
                <a:schemeClr val="tx1"/>
              </a:solidFill>
              <a:prstDash val="dashDot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20567" y="2754406"/>
              <a:ext cx="3962269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Difficulty Increases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646813" y="991738"/>
              <a:ext cx="2909155" cy="2077243"/>
              <a:chOff x="1017956" y="2071167"/>
              <a:chExt cx="1387788" cy="1542507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124799" cy="2742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B365968-764A-4A29-A57A-A9E89535D63C}"/>
              </a:ext>
            </a:extLst>
          </p:cNvPr>
          <p:cNvGrpSpPr/>
          <p:nvPr/>
        </p:nvGrpSpPr>
        <p:grpSpPr>
          <a:xfrm>
            <a:off x="3951359" y="991737"/>
            <a:ext cx="3466077" cy="2124888"/>
            <a:chOff x="3951359" y="991737"/>
            <a:chExt cx="3466077" cy="21248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4508281" y="991737"/>
              <a:ext cx="2909155" cy="2046465"/>
              <a:chOff x="838200" y="3022686"/>
              <a:chExt cx="2909155" cy="2046465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3951359" y="165675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4712824" y="2747293"/>
              <a:ext cx="2555751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Use Increases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4A53FF-56E5-4E5D-A0D1-95E53EBED567}"/>
              </a:ext>
            </a:extLst>
          </p:cNvPr>
          <p:cNvGrpSpPr/>
          <p:nvPr/>
        </p:nvGrpSpPr>
        <p:grpSpPr>
          <a:xfrm>
            <a:off x="3951359" y="3392283"/>
            <a:ext cx="3466077" cy="2153008"/>
            <a:chOff x="3951359" y="3392283"/>
            <a:chExt cx="3466077" cy="215300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4508281" y="3392283"/>
              <a:ext cx="2909155" cy="2046465"/>
              <a:chOff x="838200" y="3022686"/>
              <a:chExt cx="2909155" cy="204646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2909155" cy="2046465"/>
                <a:chOff x="1017956" y="2071167"/>
                <a:chExt cx="1387788" cy="1519652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121740" cy="2514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i="1" dirty="0"/>
                    <a:t>t</a:t>
                  </a:r>
                  <a:endParaRPr lang="en-US" sz="1400" b="1" i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3951359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4866295" y="5175959"/>
              <a:ext cx="2381018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Use Decreases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324AB53-3213-4651-A055-C08DDCDCBA24}"/>
              </a:ext>
            </a:extLst>
          </p:cNvPr>
          <p:cNvGrpSpPr/>
          <p:nvPr/>
        </p:nvGrpSpPr>
        <p:grpSpPr>
          <a:xfrm>
            <a:off x="646813" y="3392283"/>
            <a:ext cx="2909155" cy="2104471"/>
            <a:chOff x="646813" y="3392283"/>
            <a:chExt cx="2909155" cy="210447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646813" y="3392283"/>
              <a:ext cx="2909155" cy="2046465"/>
              <a:chOff x="1017956" y="2071167"/>
              <a:chExt cx="1387788" cy="1519652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121740" cy="251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/>
                  <a:t>t</a:t>
                </a:r>
                <a:endParaRPr lang="en-US" sz="1400" b="1" i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1186859" y="5127422"/>
              <a:ext cx="2029684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Decreases</a:t>
              </a: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EBA4FA3-8519-4F04-97FD-478963B9B72D}"/>
                </a:ext>
              </a:extLst>
            </p:cNvPr>
            <p:cNvCxnSpPr>
              <a:cxnSpLocks/>
            </p:cNvCxnSpPr>
            <p:nvPr/>
          </p:nvCxnSpPr>
          <p:spPr>
            <a:xfrm>
              <a:off x="1042509" y="3581237"/>
              <a:ext cx="2104647" cy="1473296"/>
            </a:xfrm>
            <a:prstGeom prst="line">
              <a:avLst/>
            </a:prstGeom>
            <a:ln w="57150">
              <a:solidFill>
                <a:schemeClr val="tx1"/>
              </a:solidFill>
              <a:prstDash val="dashDot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FA55D0-1398-4F41-B1CD-AD224B928054}"/>
              </a:ext>
            </a:extLst>
          </p:cNvPr>
          <p:cNvGrpSpPr/>
          <p:nvPr/>
        </p:nvGrpSpPr>
        <p:grpSpPr>
          <a:xfrm>
            <a:off x="7695710" y="3717917"/>
            <a:ext cx="3781166" cy="1200329"/>
            <a:chOff x="7695710" y="3717917"/>
            <a:chExt cx="3781166" cy="1200329"/>
          </a:xfrm>
        </p:grpSpPr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2AE67B58-9666-4E02-87F9-23A14C76794A}"/>
                </a:ext>
              </a:extLst>
            </p:cNvPr>
            <p:cNvSpPr/>
            <p:nvPr/>
          </p:nvSpPr>
          <p:spPr>
            <a:xfrm>
              <a:off x="7695710" y="4032289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AC4A389-5F91-439F-83EB-BFA817DC39A2}"/>
                </a:ext>
              </a:extLst>
            </p:cNvPr>
            <p:cNvSpPr txBox="1"/>
            <p:nvPr/>
          </p:nvSpPr>
          <p:spPr>
            <a:xfrm>
              <a:off x="8397588" y="3717917"/>
              <a:ext cx="307928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As stress or resistance declines, fish reduce energy use, allowing recovery and longer endurance.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699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300853" y="155862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8" y="155863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320793B9-1292-4744-9937-303F6DF39658}"/>
              </a:ext>
            </a:extLst>
          </p:cNvPr>
          <p:cNvGrpSpPr/>
          <p:nvPr/>
        </p:nvGrpSpPr>
        <p:grpSpPr>
          <a:xfrm>
            <a:off x="1136975" y="2835182"/>
            <a:ext cx="8658299" cy="2225347"/>
            <a:chOff x="1891845" y="3231495"/>
            <a:chExt cx="8658299" cy="222534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DDC6227-2005-4D6C-9CA3-7BA0530D18BA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06EAA57B-5328-4382-AD8D-34B5C35D4A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85F0045B-7C27-47E8-B29D-BA2AF244D5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F444DD86-7C15-4DD9-82F2-1F5325C8E3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27DFCBA0-650F-4124-80B3-E78D5AB86F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8D35176C-A12D-4A80-BFFA-699EFA6F3C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DA6DB01-0B35-4824-8B0A-BC4499BABF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F9FC1466-2BF7-4D68-98C9-79760983FF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FABEF5EE-2D66-42D6-B3BB-E707DEEA9E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AC20429F-1785-431D-9884-8A50346151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5BE691BA-62E5-4249-9589-0B536F03E2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18398D1-F6BB-42AB-A89C-80EABFC8B7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B2EC30B8-52FD-4A98-B7B2-41C804A228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8AC3A11D-6FAB-4DF5-89BD-CB9E9769E6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07684C05-7138-4BFB-8D96-89160B562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F72E3C00-CF94-47B5-80A4-F9EBC6BB53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8A2958F3-B414-40B6-8783-E7B474A80E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70ACC4A-0841-402B-85D9-6A2150FEF9E5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0640E329-F943-4F61-BBA3-BA6E1CEDAE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E41209B8-EA34-49BC-BB17-E766397593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A4071EC-BA16-4F0A-984D-3C0F30868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07B6A718-A41C-452B-82CD-A4EDE4A9DF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D8E6AFBF-92C4-41A8-B6E2-6E2B841B02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5E2B9DD-3720-489B-A390-5AAF3D874C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9D26140A-D52E-412C-A027-366661F472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A99B3B97-48E1-4C37-9832-5F6D0DF624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9AF16943-5F49-4190-A61E-F87DCE19E6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0C972571-56B8-4590-ADF8-D1410469D6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52777040-AC01-4996-B4B1-DF13FF50E8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8734D34F-8C28-4EAD-8159-CE3F806375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91209" y="545095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610488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Fish use favorable currents to boost forward movement, increasing their swimming speed with the flow.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08BB17-8588-4980-8D35-BBB49F2407F4}"/>
              </a:ext>
            </a:extLst>
          </p:cNvPr>
          <p:cNvGrpSpPr/>
          <p:nvPr/>
        </p:nvGrpSpPr>
        <p:grpSpPr>
          <a:xfrm>
            <a:off x="547351" y="53547"/>
            <a:ext cx="3066225" cy="1682665"/>
            <a:chOff x="973581" y="71913"/>
            <a:chExt cx="3066225" cy="1682665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4D0F1D5-0677-4D50-A43E-FF71B6218A7D}"/>
                </a:ext>
              </a:extLst>
            </p:cNvPr>
            <p:cNvSpPr/>
            <p:nvPr/>
          </p:nvSpPr>
          <p:spPr>
            <a:xfrm>
              <a:off x="1158466" y="132336"/>
              <a:ext cx="2771277" cy="16222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9991289-4104-4F29-B442-BCD9EC47FED0}"/>
                </a:ext>
              </a:extLst>
            </p:cNvPr>
            <p:cNvSpPr txBox="1"/>
            <p:nvPr/>
          </p:nvSpPr>
          <p:spPr>
            <a:xfrm>
              <a:off x="2688929" y="1149526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Swimming Speed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1634560-C4E2-414F-819D-34E947CD6C39}"/>
                </a:ext>
              </a:extLst>
            </p:cNvPr>
            <p:cNvSpPr txBox="1"/>
            <p:nvPr/>
          </p:nvSpPr>
          <p:spPr>
            <a:xfrm>
              <a:off x="973581" y="1130846"/>
              <a:ext cx="14842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Current Velocity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C3A7FC9-F621-4BDE-9486-75BFFD15E6F3}"/>
                </a:ext>
              </a:extLst>
            </p:cNvPr>
            <p:cNvSpPr txBox="1"/>
            <p:nvPr/>
          </p:nvSpPr>
          <p:spPr>
            <a:xfrm>
              <a:off x="2286654" y="503553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BACD70D-F224-4B75-8C08-69C4ED2C0302}"/>
                </a:ext>
              </a:extLst>
            </p:cNvPr>
            <p:cNvGrpSpPr/>
            <p:nvPr/>
          </p:nvGrpSpPr>
          <p:grpSpPr>
            <a:xfrm>
              <a:off x="2924709" y="236730"/>
              <a:ext cx="887336" cy="900162"/>
              <a:chOff x="2883533" y="503553"/>
              <a:chExt cx="731520" cy="73152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FFB300E-CE91-46A4-9DE0-A1C47252A24F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ECF79487-942D-40F9-9821-2A5C4B3BFFB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FC02F02-2F09-4241-9403-6AD4ABACBCFC}"/>
                </a:ext>
              </a:extLst>
            </p:cNvPr>
            <p:cNvGrpSpPr/>
            <p:nvPr/>
          </p:nvGrpSpPr>
          <p:grpSpPr>
            <a:xfrm>
              <a:off x="1302559" y="247769"/>
              <a:ext cx="887336" cy="900162"/>
              <a:chOff x="2883533" y="503553"/>
              <a:chExt cx="731520" cy="731520"/>
            </a:xfrm>
          </p:grpSpPr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CCB1E163-85F3-410C-A249-E9E24008736C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B06B9AC0-C04B-406F-9BAC-935842757B7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8A79247-2499-4BD7-9D52-2C39807D3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8126" y="71913"/>
              <a:ext cx="799776" cy="1121764"/>
            </a:xfrm>
            <a:prstGeom prst="rect">
              <a:avLst/>
            </a:prstGeom>
          </p:spPr>
        </p:pic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99D490B-6E8B-4BA8-BD6B-FE7054A83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5405" y="372207"/>
              <a:ext cx="842824" cy="700735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D11C94C-1F45-4471-8605-ACF4C791BB97}"/>
              </a:ext>
            </a:extLst>
          </p:cNvPr>
          <p:cNvGrpSpPr/>
          <p:nvPr/>
        </p:nvGrpSpPr>
        <p:grpSpPr>
          <a:xfrm>
            <a:off x="9459950" y="2348949"/>
            <a:ext cx="3080159" cy="988962"/>
            <a:chOff x="9387122" y="5891916"/>
            <a:chExt cx="2566985" cy="988962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6393BB3-5930-45D5-AF83-F935EDA9C2CD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AD69054-CD21-4ADF-BE0A-27330031F705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BB2BD2D-E270-4279-A223-1114AF00C500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784F121-D191-4170-977B-92283FC12128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2CF86732-9677-49E2-9744-C02EE66EB1EA}"/>
              </a:ext>
            </a:extLst>
          </p:cNvPr>
          <p:cNvSpPr/>
          <p:nvPr/>
        </p:nvSpPr>
        <p:spPr>
          <a:xfrm>
            <a:off x="1636548" y="312462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802DA28E-CD5D-44C4-964A-AF0B980D1B9F}"/>
              </a:ext>
            </a:extLst>
          </p:cNvPr>
          <p:cNvSpPr/>
          <p:nvPr/>
        </p:nvSpPr>
        <p:spPr>
          <a:xfrm>
            <a:off x="1620547" y="335239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B0A5718-ECEB-438D-B810-2B6DCEBC10F4}"/>
              </a:ext>
            </a:extLst>
          </p:cNvPr>
          <p:cNvGrpSpPr/>
          <p:nvPr/>
        </p:nvGrpSpPr>
        <p:grpSpPr>
          <a:xfrm>
            <a:off x="878199" y="1658482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14C5CC2-D92C-48A2-A223-CC7B2FE6DB18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14C5CC2-D92C-48A2-A223-CC7B2FE6D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C4EC188D-7062-46F2-96E4-A214C577EBF0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2C43020F-DDC0-48BF-BDE4-82194293935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66" name="Arrow: Down 165">
                <a:extLst>
                  <a:ext uri="{FF2B5EF4-FFF2-40B4-BE49-F238E27FC236}">
                    <a16:creationId xmlns:a16="http://schemas.microsoft.com/office/drawing/2014/main" id="{61824FC9-3D4A-4704-A444-C73CF49DAEAF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DDC31BC-AFBB-4AD4-881D-FFCFD9CB6388}"/>
              </a:ext>
            </a:extLst>
          </p:cNvPr>
          <p:cNvSpPr txBox="1"/>
          <p:nvPr/>
        </p:nvSpPr>
        <p:spPr>
          <a:xfrm>
            <a:off x="267865" y="3648897"/>
            <a:ext cx="432435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patch tracks how many fish visit and how long they stay.</a:t>
            </a:r>
          </a:p>
        </p:txBody>
      </p:sp>
    </p:spTree>
    <p:extLst>
      <p:ext uri="{BB962C8B-B14F-4D97-AF65-F5344CB8AC3E}">
        <p14:creationId xmlns:p14="http://schemas.microsoft.com/office/powerpoint/2010/main" val="229221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300853" y="148242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8" y="148243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E685A80-9535-4666-BAEE-4C71B45451C9}"/>
              </a:ext>
            </a:extLst>
          </p:cNvPr>
          <p:cNvGrpSpPr/>
          <p:nvPr/>
        </p:nvGrpSpPr>
        <p:grpSpPr>
          <a:xfrm>
            <a:off x="1136975" y="2748094"/>
            <a:ext cx="8658299" cy="2225347"/>
            <a:chOff x="1891845" y="3231495"/>
            <a:chExt cx="8658299" cy="222534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E23876B-5ECD-45FA-B105-91CBD133E146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4DC6332-6C2C-4F3B-A5DA-6753479E9C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7B08CCC6-F0EA-4A5A-B843-094EBD4E14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F2B8BF1-94B1-40B3-8E59-712FCD8D4F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8CE6DFF7-6E25-4723-B078-C7D7768277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5996721B-C45E-4768-9DFA-801ED24FD7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DFD00D66-6AB5-4DB5-94E9-16C06621F7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DD034E03-B6B0-4660-B1FF-ED6FF61297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B612CFC-EBD4-4B41-8C01-D7A02FEB1D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104FED3E-390F-4B1E-ABD1-6D3C45A1D9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7057C9C-4AEA-4F9F-B640-9212A84D77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ABFE937F-7057-484C-91D0-89E13401DE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5CAC298B-EE34-4D6F-A0D3-FD6421F5B8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7E4608E4-EA69-4D76-8EA4-C1CFAB1ABF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CE11AC45-86E6-455D-B697-11FC371156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6D7390B3-45E6-487F-A340-BDB8462CC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0F59A7AF-D200-43E6-9CE1-BEA4267F29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805B9B-7F2F-4BAF-AC2D-02C85A1C2DEE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BFBD14A-A9B1-4567-BBCD-61CE77FE3E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93FC58C-E066-420F-9E87-1DC07D2752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6928BF45-ED8F-41EC-AFA3-79C8B908A1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8429FBAA-8F90-4125-84DF-0DA504994A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92B7B54F-7121-4993-AB20-E2E1977F03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BF3C526-0B84-4C45-BB6B-5A542192F6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B718809-426A-4040-BEA2-E13F2930C3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7CF4E77-0460-45E5-AF11-55221C0BF6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2544C1C4-876C-4761-90F7-ECEAA05B84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C057E4AA-0724-4469-8442-225AA0CC23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FB1BA596-AA0C-4673-B8ED-E999B999C0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7B79A2B3-237B-43FB-9B5C-DDEB882B77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91209" y="537475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618478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Reduced resistance during favorable flow conditions leads to lower swimming difficulty and improved migration efficiency.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56F737D-51A2-410E-994C-644D2B7E25B6}"/>
              </a:ext>
            </a:extLst>
          </p:cNvPr>
          <p:cNvGrpSpPr/>
          <p:nvPr/>
        </p:nvGrpSpPr>
        <p:grpSpPr>
          <a:xfrm>
            <a:off x="542359" y="208378"/>
            <a:ext cx="3340698" cy="1367942"/>
            <a:chOff x="595095" y="118791"/>
            <a:chExt cx="3340698" cy="1367942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FE9067F-92BB-4396-8459-BA9343F88AE3}"/>
                </a:ext>
              </a:extLst>
            </p:cNvPr>
            <p:cNvGrpSpPr/>
            <p:nvPr/>
          </p:nvGrpSpPr>
          <p:grpSpPr>
            <a:xfrm>
              <a:off x="595095" y="118791"/>
              <a:ext cx="3340698" cy="1367942"/>
              <a:chOff x="5205192" y="5168157"/>
              <a:chExt cx="3340698" cy="1367942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E4D0F1D5-0677-4D50-A43E-FF71B6218A7D}"/>
                  </a:ext>
                </a:extLst>
              </p:cNvPr>
              <p:cNvSpPr/>
              <p:nvPr/>
            </p:nvSpPr>
            <p:spPr>
              <a:xfrm>
                <a:off x="5339439" y="5168157"/>
                <a:ext cx="3115685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D9991289-4104-4F29-B442-BCD9EC47FED0}"/>
                  </a:ext>
                </a:extLst>
              </p:cNvPr>
              <p:cNvSpPr txBox="1"/>
              <p:nvPr/>
            </p:nvSpPr>
            <p:spPr>
              <a:xfrm>
                <a:off x="7195013" y="5951324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Swimming Difficulty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1634560-C4E2-414F-819D-34E947CD6C39}"/>
                  </a:ext>
                </a:extLst>
              </p:cNvPr>
              <p:cNvSpPr txBox="1"/>
              <p:nvPr/>
            </p:nvSpPr>
            <p:spPr>
              <a:xfrm>
                <a:off x="5205192" y="6085380"/>
                <a:ext cx="1983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Current Velocity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C3A7FC9-F621-4BDE-9486-75BFFD15E6F3}"/>
                  </a:ext>
                </a:extLst>
              </p:cNvPr>
              <p:cNvSpPr txBox="1"/>
              <p:nvPr/>
            </p:nvSpPr>
            <p:spPr>
              <a:xfrm>
                <a:off x="7032555" y="5250946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855540E4-F774-4B0C-A48D-1799C18C39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6883" t="9252" r="55401" b="73628"/>
              <a:stretch/>
            </p:blipFill>
            <p:spPr>
              <a:xfrm>
                <a:off x="7547058" y="5187454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8AA3D0D-122D-4177-8C46-991DE0C635D9}"/>
                  </a:ext>
                </a:extLst>
              </p:cNvPr>
              <p:cNvSpPr/>
              <p:nvPr/>
            </p:nvSpPr>
            <p:spPr>
              <a:xfrm>
                <a:off x="7732610" y="5871146"/>
                <a:ext cx="254405" cy="3657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1767CE1-2B8E-4D20-8DFD-FDFD4AD7C91A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64585A5C-2F86-40D2-BCB4-87ED81280A85}"/>
                </a:ext>
              </a:extLst>
            </p:cNvPr>
            <p:cNvCxnSpPr>
              <a:cxnSpLocks/>
            </p:cNvCxnSpPr>
            <p:nvPr/>
          </p:nvCxnSpPr>
          <p:spPr>
            <a:xfrm>
              <a:off x="924543" y="921854"/>
              <a:ext cx="91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4996A5D8-A22B-4CF5-9AA0-260AB26A06F5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A10A379-9888-4387-9EAD-5E799C15576D}"/>
              </a:ext>
            </a:extLst>
          </p:cNvPr>
          <p:cNvGrpSpPr/>
          <p:nvPr/>
        </p:nvGrpSpPr>
        <p:grpSpPr>
          <a:xfrm>
            <a:off x="9459950" y="2272749"/>
            <a:ext cx="3080159" cy="988962"/>
            <a:chOff x="9387122" y="5891916"/>
            <a:chExt cx="2566985" cy="988962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3827DD9-F4C2-46B2-85F4-1FED77193679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2C0F3BF-B1C8-4ABD-B685-6E79EFF86A76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41A9311-B970-4E7E-9FC8-7A93F4C5F82B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7611A7C-7E7C-414C-9A43-5739B88380D9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134E3945-949A-4ACD-A495-76AB99028BAE}"/>
              </a:ext>
            </a:extLst>
          </p:cNvPr>
          <p:cNvSpPr/>
          <p:nvPr/>
        </p:nvSpPr>
        <p:spPr>
          <a:xfrm>
            <a:off x="1636548" y="307699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B26FC76-9933-4684-A99D-CBD373158B92}"/>
              </a:ext>
            </a:extLst>
          </p:cNvPr>
          <p:cNvSpPr/>
          <p:nvPr/>
        </p:nvSpPr>
        <p:spPr>
          <a:xfrm>
            <a:off x="1620547" y="330477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BEBA2FD-8403-41A1-A0DE-48FDFB7F1034}"/>
              </a:ext>
            </a:extLst>
          </p:cNvPr>
          <p:cNvSpPr/>
          <p:nvPr/>
        </p:nvSpPr>
        <p:spPr>
          <a:xfrm>
            <a:off x="1629769" y="353405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8B54E6-4A02-4435-B37E-E1ED6C4F29AB}"/>
              </a:ext>
            </a:extLst>
          </p:cNvPr>
          <p:cNvGrpSpPr/>
          <p:nvPr/>
        </p:nvGrpSpPr>
        <p:grpSpPr>
          <a:xfrm>
            <a:off x="878199" y="1610857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A7B71D7-83D5-43A3-9689-54229F24A6E5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75" name="Arrow: Down 74">
                <a:extLst>
                  <a:ext uri="{FF2B5EF4-FFF2-40B4-BE49-F238E27FC236}">
                    <a16:creationId xmlns:a16="http://schemas.microsoft.com/office/drawing/2014/main" id="{4F2E78A9-7CF8-4D05-9163-86ED0826B870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EAA362A-9755-4CAF-A4BD-3EF020347DB0}"/>
              </a:ext>
            </a:extLst>
          </p:cNvPr>
          <p:cNvSpPr txBox="1"/>
          <p:nvPr/>
        </p:nvSpPr>
        <p:spPr>
          <a:xfrm>
            <a:off x="297976" y="3831924"/>
            <a:ext cx="432435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patch also tracks the highest difficulty experienced in one location.</a:t>
            </a:r>
          </a:p>
        </p:txBody>
      </p:sp>
    </p:spTree>
    <p:extLst>
      <p:ext uri="{BB962C8B-B14F-4D97-AF65-F5344CB8AC3E}">
        <p14:creationId xmlns:p14="http://schemas.microsoft.com/office/powerpoint/2010/main" val="3865063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300853" y="151290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8" y="151291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4AAD16D3-77C0-44CA-8201-9597A48E6798}"/>
              </a:ext>
            </a:extLst>
          </p:cNvPr>
          <p:cNvGrpSpPr/>
          <p:nvPr/>
        </p:nvGrpSpPr>
        <p:grpSpPr>
          <a:xfrm>
            <a:off x="1136975" y="283518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08CD886-36F2-4AE6-8B5B-478145E052BA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DF295ABA-0BD4-41EC-B3AF-369D139CDA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E957838C-F196-4E25-A7C4-2724C58BA9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9FFCED1D-C1A4-4249-85A2-1D643D8908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A0BC64E2-462C-4A40-98D9-A13D862E00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C37E506B-A98D-4E1D-BA1E-FA6CD9862B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7E82D29E-B521-4E66-9E61-2AD094F308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2D89AD44-C6CC-4E69-92E7-817F26CC16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269690B4-56E7-49B2-9DB0-E7075A7DD5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AF6A5EA0-CB43-4583-8348-B5AC01AC45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F95A5008-7F49-4D4B-B14E-BE1F8F14F9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5D58E1A7-79F1-437B-9028-A9BCAABE30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12A9A0A7-DCBD-4B47-8B88-76AA9C1E5B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32104520-5F9F-47C4-9875-F0C937580C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93336B0-A491-4F76-A0F3-48E26536E0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F53093F3-DED1-4E0E-9790-8A405465C1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75A15B9C-B3C2-4D41-AF98-35C1E6718E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9D0CAB3-F4D8-4D66-81A9-B2331165348A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70A5C2B2-69EF-420D-B352-FA7597E976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AFD4008-0609-436F-A37A-02B0B6B1D6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7A06C53B-8900-4B3F-85FE-D8A0B0B375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ACA9C37-CCA9-4181-A9DE-A4D4402BD6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1FD1242B-C6FD-423C-AC12-16CC52FC8E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8307A492-ED9B-4E26-8583-DD82B861E8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7797734-4551-4F06-BFEA-E2F3687B17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A556F197-D2C8-4EDE-B079-C47F6B1E94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ADEDFA4-8DED-4447-9E2D-E3A49F117A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9AF1B5A-1E20-4A0F-905C-5C41F134C0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DD5E0153-74D3-4EC3-B7DF-F777E49BCC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4241E35-204B-4C42-8910-50ADB981D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91209" y="540523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603738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Lower swimming difficulty reduces energy expenditure, making movement energetically beneficial.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BEA128-FD0D-4E04-93D4-DF8D1D50DC35}"/>
              </a:ext>
            </a:extLst>
          </p:cNvPr>
          <p:cNvGrpSpPr/>
          <p:nvPr/>
        </p:nvGrpSpPr>
        <p:grpSpPr>
          <a:xfrm>
            <a:off x="151355" y="114778"/>
            <a:ext cx="5478134" cy="1473405"/>
            <a:chOff x="595095" y="37519"/>
            <a:chExt cx="5478134" cy="14734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794AB59-EA4B-404E-9E3E-914A0F5063F7}"/>
                </a:ext>
              </a:extLst>
            </p:cNvPr>
            <p:cNvGrpSpPr/>
            <p:nvPr/>
          </p:nvGrpSpPr>
          <p:grpSpPr>
            <a:xfrm>
              <a:off x="595095" y="37519"/>
              <a:ext cx="5478134" cy="1473405"/>
              <a:chOff x="622438" y="47782"/>
              <a:chExt cx="5478134" cy="147340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FEF1859F-9E5E-4414-A432-E94E498150A7}"/>
                  </a:ext>
                </a:extLst>
              </p:cNvPr>
              <p:cNvGrpSpPr/>
              <p:nvPr/>
            </p:nvGrpSpPr>
            <p:grpSpPr>
              <a:xfrm>
                <a:off x="622438" y="129054"/>
                <a:ext cx="5391606" cy="1379016"/>
                <a:chOff x="5205192" y="5168157"/>
                <a:chExt cx="5391606" cy="1379016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F5B6AE40-9DF8-40F9-880D-ABB2234145F5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5257359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" name="Arrow: Right 86">
                  <a:extLst>
                    <a:ext uri="{FF2B5EF4-FFF2-40B4-BE49-F238E27FC236}">
                      <a16:creationId xmlns:a16="http://schemas.microsoft.com/office/drawing/2014/main" id="{A516FD00-5F6C-4AB5-B54F-80B5449E0C00}"/>
                    </a:ext>
                  </a:extLst>
                </p:cNvPr>
                <p:cNvSpPr/>
                <p:nvPr/>
              </p:nvSpPr>
              <p:spPr>
                <a:xfrm>
                  <a:off x="8207803" y="5639754"/>
                  <a:ext cx="432639" cy="18288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56BCBF6-7DFB-49D7-9C9B-0B56035D2B69}"/>
                    </a:ext>
                  </a:extLst>
                </p:cNvPr>
                <p:cNvSpPr txBox="1"/>
                <p:nvPr/>
              </p:nvSpPr>
              <p:spPr>
                <a:xfrm>
                  <a:off x="8487435" y="5962398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Use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9B42182-04DD-4E62-B3F2-54B6A3947C91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6B0DBB3-C5A2-4E6A-B0C3-ACF028AC134E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C500F76-DDDD-4B6C-8E5D-079767409B80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  <p:pic>
              <p:nvPicPr>
                <p:cNvPr id="94" name="Picture 93">
                  <a:extLst>
                    <a:ext uri="{FF2B5EF4-FFF2-40B4-BE49-F238E27FC236}">
                      <a16:creationId xmlns:a16="http://schemas.microsoft.com/office/drawing/2014/main" id="{D7B0B4C2-468D-49AB-B169-66DD9E8B2C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6883" t="9252" r="55401" b="73628"/>
                <a:stretch/>
              </p:blipFill>
              <p:spPr>
                <a:xfrm>
                  <a:off x="7547058" y="5187454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69D9250F-904F-47D6-B1A5-C6056838121D}"/>
                    </a:ext>
                  </a:extLst>
                </p:cNvPr>
                <p:cNvSpPr/>
                <p:nvPr/>
              </p:nvSpPr>
              <p:spPr>
                <a:xfrm>
                  <a:off x="7732610" y="5871146"/>
                  <a:ext cx="254405" cy="3657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98" name="Picture 97">
                  <a:extLst>
                    <a:ext uri="{FF2B5EF4-FFF2-40B4-BE49-F238E27FC236}">
                      <a16:creationId xmlns:a16="http://schemas.microsoft.com/office/drawing/2014/main" id="{447FE9E7-60E5-4169-8B52-0248F4ADE4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6883" t="9252" r="55401" b="73628"/>
                <a:stretch/>
              </p:blipFill>
              <p:spPr>
                <a:xfrm>
                  <a:off x="8683558" y="5187454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9454EB7E-67AF-4185-B9A2-C7DAC91C56EA}"/>
                    </a:ext>
                  </a:extLst>
                </p:cNvPr>
                <p:cNvSpPr/>
                <p:nvPr/>
              </p:nvSpPr>
              <p:spPr>
                <a:xfrm>
                  <a:off x="8865797" y="5871146"/>
                  <a:ext cx="254405" cy="36576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1" name="Arrow: Right 80">
                <a:extLst>
                  <a:ext uri="{FF2B5EF4-FFF2-40B4-BE49-F238E27FC236}">
                    <a16:creationId xmlns:a16="http://schemas.microsoft.com/office/drawing/2014/main" id="{4F701087-A372-468C-B9FF-1B6758A391D1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A9EE9787-5F0B-4B62-BD39-1E54F1220181}"/>
                  </a:ext>
                </a:extLst>
              </p:cNvPr>
              <p:cNvGrpSpPr/>
              <p:nvPr/>
            </p:nvGrpSpPr>
            <p:grpSpPr>
              <a:xfrm>
                <a:off x="5093945" y="47782"/>
                <a:ext cx="1006627" cy="1473405"/>
                <a:chOff x="5190610" y="104819"/>
                <a:chExt cx="1006627" cy="1473405"/>
              </a:xfrm>
            </p:grpSpPr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504F8009-4431-4496-A83C-5131AAC6839C}"/>
                    </a:ext>
                  </a:extLst>
                </p:cNvPr>
                <p:cNvSpPr txBox="1"/>
                <p:nvPr/>
              </p:nvSpPr>
              <p:spPr>
                <a:xfrm>
                  <a:off x="5190610" y="993449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Levels</a:t>
                  </a:r>
                </a:p>
              </p:txBody>
            </p:sp>
            <p:pic>
              <p:nvPicPr>
                <p:cNvPr id="84" name="Picture 83">
                  <a:extLst>
                    <a:ext uri="{FF2B5EF4-FFF2-40B4-BE49-F238E27FC236}">
                      <a16:creationId xmlns:a16="http://schemas.microsoft.com/office/drawing/2014/main" id="{670665C2-663B-46D8-8328-B3636628E5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7196" t="6647" r="73027" b="74624"/>
                <a:stretch/>
              </p:blipFill>
              <p:spPr>
                <a:xfrm>
                  <a:off x="5371977" y="104819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30EB2CBD-A079-4436-BFEA-EA9391904044}"/>
                    </a:ext>
                  </a:extLst>
                </p:cNvPr>
                <p:cNvSpPr/>
                <p:nvPr/>
              </p:nvSpPr>
              <p:spPr>
                <a:xfrm>
                  <a:off x="5564360" y="609403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3C9ADDD-6F2E-43C5-8890-9D49AEA5ABCB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8FF3AD92-CF9B-47D3-B6F3-2A02C1304F02}"/>
                </a:ext>
              </a:extLst>
            </p:cNvPr>
            <p:cNvCxnSpPr>
              <a:cxnSpLocks/>
            </p:cNvCxnSpPr>
            <p:nvPr/>
          </p:nvCxnSpPr>
          <p:spPr>
            <a:xfrm>
              <a:off x="924543" y="921854"/>
              <a:ext cx="91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EBE3DC33-E6AF-462A-A406-5A5827EB391D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6F0E09E-5F8F-4737-81F7-71EC9A71E7C3}"/>
              </a:ext>
            </a:extLst>
          </p:cNvPr>
          <p:cNvGrpSpPr/>
          <p:nvPr/>
        </p:nvGrpSpPr>
        <p:grpSpPr>
          <a:xfrm>
            <a:off x="9459950" y="2303229"/>
            <a:ext cx="3080159" cy="988962"/>
            <a:chOff x="9387122" y="5891916"/>
            <a:chExt cx="2566985" cy="988962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FE2C692-F13C-487A-80BA-727C194A25F7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D7DC1BC-26AA-4546-811E-5FECAA32C488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DC52DC5-075D-4579-BCB5-A9237F845077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7855E85-D12F-43D3-909F-AFCFEC60D41E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80311A39-3D46-4A8A-AF64-7AEF7C8E47BF}"/>
              </a:ext>
            </a:extLst>
          </p:cNvPr>
          <p:cNvSpPr/>
          <p:nvPr/>
        </p:nvSpPr>
        <p:spPr>
          <a:xfrm>
            <a:off x="1636548" y="307699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275D41A4-715F-4E61-9811-303A954C22EE}"/>
              </a:ext>
            </a:extLst>
          </p:cNvPr>
          <p:cNvSpPr/>
          <p:nvPr/>
        </p:nvSpPr>
        <p:spPr>
          <a:xfrm>
            <a:off x="1620547" y="330477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D6F6149-1D7B-4C9C-B3A1-738C5765F53F}"/>
              </a:ext>
            </a:extLst>
          </p:cNvPr>
          <p:cNvSpPr/>
          <p:nvPr/>
        </p:nvSpPr>
        <p:spPr>
          <a:xfrm>
            <a:off x="1629769" y="353405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5584812-94FC-43EE-8B08-59FC319F6BB5}"/>
              </a:ext>
            </a:extLst>
          </p:cNvPr>
          <p:cNvGrpSpPr/>
          <p:nvPr/>
        </p:nvGrpSpPr>
        <p:grpSpPr>
          <a:xfrm>
            <a:off x="878199" y="1610857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FC61E3-6196-4B35-B9C1-2B32FDFBD5A1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FC61E3-6196-4B35-B9C1-2B32FDFBD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3AE10AA7-C81D-4880-9A7D-AF3BFD1A66C9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CEDD20DB-7C4A-4468-842D-B2E568B013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9" name="Arrow: Down 118">
                <a:extLst>
                  <a:ext uri="{FF2B5EF4-FFF2-40B4-BE49-F238E27FC236}">
                    <a16:creationId xmlns:a16="http://schemas.microsoft.com/office/drawing/2014/main" id="{28B60C98-F6B1-4BB6-8EC3-78DDE475B2B0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374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300853" y="161958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8" y="161959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91209" y="55119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607561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Fish decrease their swimming speed when supportive currents weaken, compensating to maintain migration progress.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847165" y="2062779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E4C41B4-9B6E-4091-8EF7-E4207166D4F8}"/>
              </a:ext>
            </a:extLst>
          </p:cNvPr>
          <p:cNvGrpSpPr/>
          <p:nvPr/>
        </p:nvGrpSpPr>
        <p:grpSpPr>
          <a:xfrm>
            <a:off x="2839854" y="171286"/>
            <a:ext cx="3066225" cy="1622242"/>
            <a:chOff x="973581" y="132336"/>
            <a:chExt cx="3066225" cy="162224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2560FFC-4EAD-4A16-BED6-7E2ADF02BF47}"/>
                </a:ext>
              </a:extLst>
            </p:cNvPr>
            <p:cNvSpPr/>
            <p:nvPr/>
          </p:nvSpPr>
          <p:spPr>
            <a:xfrm>
              <a:off x="1158466" y="132336"/>
              <a:ext cx="2771277" cy="16222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31D937B-4EAA-4741-AE01-BFA314FE0E74}"/>
                </a:ext>
              </a:extLst>
            </p:cNvPr>
            <p:cNvSpPr txBox="1"/>
            <p:nvPr/>
          </p:nvSpPr>
          <p:spPr>
            <a:xfrm>
              <a:off x="2688929" y="1149526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Swimming Speed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CCB645-85C7-4762-BFA1-2470D5EB6239}"/>
                </a:ext>
              </a:extLst>
            </p:cNvPr>
            <p:cNvSpPr txBox="1"/>
            <p:nvPr/>
          </p:nvSpPr>
          <p:spPr>
            <a:xfrm>
              <a:off x="973581" y="1130846"/>
              <a:ext cx="14842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Current Velocity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177B894-E2A9-4843-BF74-D65D09A755B5}"/>
                </a:ext>
              </a:extLst>
            </p:cNvPr>
            <p:cNvSpPr txBox="1"/>
            <p:nvPr/>
          </p:nvSpPr>
          <p:spPr>
            <a:xfrm>
              <a:off x="2286654" y="503553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692A41A-65C4-4733-849F-5FE4A75BF540}"/>
                </a:ext>
              </a:extLst>
            </p:cNvPr>
            <p:cNvGrpSpPr/>
            <p:nvPr/>
          </p:nvGrpSpPr>
          <p:grpSpPr>
            <a:xfrm>
              <a:off x="2924709" y="236730"/>
              <a:ext cx="887336" cy="900162"/>
              <a:chOff x="2883533" y="503553"/>
              <a:chExt cx="731520" cy="731520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0812AEB-599D-438E-AE62-FB936B95BAED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7C31FE4-3A35-4D58-8C5C-506AC25E7E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FFA0346-AD41-4879-8FF7-EA77CF795C00}"/>
                </a:ext>
              </a:extLst>
            </p:cNvPr>
            <p:cNvGrpSpPr/>
            <p:nvPr/>
          </p:nvGrpSpPr>
          <p:grpSpPr>
            <a:xfrm>
              <a:off x="1302559" y="247769"/>
              <a:ext cx="887336" cy="900162"/>
              <a:chOff x="2883533" y="503553"/>
              <a:chExt cx="731520" cy="731520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752D811-524A-47F9-B353-76004D574987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D956D2A-4246-41BF-9A6B-A482C65A93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0CF7B9FC-BD9D-4C10-92AC-82B81201C6B6}"/>
                </a:ext>
              </a:extLst>
            </p:cNvPr>
            <p:cNvCxnSpPr>
              <a:cxnSpLocks/>
            </p:cNvCxnSpPr>
            <p:nvPr/>
          </p:nvCxnSpPr>
          <p:spPr>
            <a:xfrm>
              <a:off x="1325405" y="372207"/>
              <a:ext cx="842824" cy="700735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8CEBF-45B2-4E6B-B45F-91748525BD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715"/>
          <a:stretch/>
        </p:blipFill>
        <p:spPr>
          <a:xfrm>
            <a:off x="4799338" y="272142"/>
            <a:ext cx="1001263" cy="772165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01DAF853-7545-43E9-A634-53A004882501}"/>
              </a:ext>
            </a:extLst>
          </p:cNvPr>
          <p:cNvGrpSpPr/>
          <p:nvPr/>
        </p:nvGrpSpPr>
        <p:grpSpPr>
          <a:xfrm>
            <a:off x="9459950" y="2409909"/>
            <a:ext cx="3080159" cy="988962"/>
            <a:chOff x="9387122" y="5891916"/>
            <a:chExt cx="2566985" cy="988962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FAB088B-E437-4C61-A3DC-348A28739834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8B6EA38-460D-41C6-91E0-96A8EFF5EDA6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6F01FC1-8DC2-4837-80E8-A78983AF6413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A9386AC-9BB4-42AD-B27F-7D8AADDBC7A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F4AABAF5-44D0-4BFF-A417-6FD375BF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93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0DF02E9-D277-48C0-AAC2-D8172FFB5113}"/>
              </a:ext>
            </a:extLst>
          </p:cNvPr>
          <p:cNvGrpSpPr/>
          <p:nvPr/>
        </p:nvGrpSpPr>
        <p:grpSpPr>
          <a:xfrm>
            <a:off x="3091065" y="1719937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75585AF-8EAB-452D-BF06-BC8DFB07B0F0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75585AF-8EAB-452D-BF06-BC8DFB07B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3C739CE-8A04-498E-85B8-0B41E241F98E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88A172CE-1D82-42D8-8796-E150667BD1E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94" name="Arrow: Down 93">
                <a:extLst>
                  <a:ext uri="{FF2B5EF4-FFF2-40B4-BE49-F238E27FC236}">
                    <a16:creationId xmlns:a16="http://schemas.microsoft.com/office/drawing/2014/main" id="{4737797D-45CF-4A81-9FA1-511E7AC87C7C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8944080-09E4-4616-A87D-18EE9499437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5013" y="1706569"/>
            <a:ext cx="2420322" cy="1554615"/>
          </a:xfrm>
          <a:prstGeom prst="rect">
            <a:avLst/>
          </a:prstGeom>
        </p:spPr>
      </p:pic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5B3B7F1-091C-4822-ABA2-84383D272F34}"/>
              </a:ext>
            </a:extLst>
          </p:cNvPr>
          <p:cNvSpPr/>
          <p:nvPr/>
        </p:nvSpPr>
        <p:spPr>
          <a:xfrm>
            <a:off x="1636548" y="3202164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B2AE1F4-A047-4C8E-B2F3-AA373EC7F5A0}"/>
              </a:ext>
            </a:extLst>
          </p:cNvPr>
          <p:cNvSpPr/>
          <p:nvPr/>
        </p:nvSpPr>
        <p:spPr>
          <a:xfrm>
            <a:off x="1620547" y="342994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3719BF42-0960-4F64-AD2E-99CC206EFFB8}"/>
              </a:ext>
            </a:extLst>
          </p:cNvPr>
          <p:cNvSpPr/>
          <p:nvPr/>
        </p:nvSpPr>
        <p:spPr>
          <a:xfrm>
            <a:off x="1629769" y="3659227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07E955C-4898-43F1-9E73-D9EC3F25DB8E}"/>
              </a:ext>
            </a:extLst>
          </p:cNvPr>
          <p:cNvSpPr/>
          <p:nvPr/>
        </p:nvSpPr>
        <p:spPr>
          <a:xfrm>
            <a:off x="3927323" y="3202164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1FDC0FFE-5124-4341-98A2-AFE826152E4E}"/>
              </a:ext>
            </a:extLst>
          </p:cNvPr>
          <p:cNvSpPr/>
          <p:nvPr/>
        </p:nvSpPr>
        <p:spPr>
          <a:xfrm>
            <a:off x="3911322" y="342994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81526A3-C7AD-4224-9F1F-0166B1724EF0}"/>
              </a:ext>
            </a:extLst>
          </p:cNvPr>
          <p:cNvSpPr txBox="1"/>
          <p:nvPr/>
        </p:nvSpPr>
        <p:spPr>
          <a:xfrm>
            <a:off x="1407937" y="1495965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C0F7DC3-6435-4245-8B67-5D3E49328848}"/>
              </a:ext>
            </a:extLst>
          </p:cNvPr>
          <p:cNvGrpSpPr/>
          <p:nvPr/>
        </p:nvGrpSpPr>
        <p:grpSpPr>
          <a:xfrm>
            <a:off x="1136975" y="2835182"/>
            <a:ext cx="8658299" cy="2225347"/>
            <a:chOff x="1891845" y="3231495"/>
            <a:chExt cx="8658299" cy="222534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E28029C-0098-4FCD-BEEF-ED894B67137B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CFC69C9D-345D-4C06-BA46-0F4AFC9CD2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DA967C0B-3C81-443D-98CA-C88B805787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A026EE85-23F9-4F84-A46A-1B87AFF4BB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C839FCC5-1AC6-442D-9298-94DBF339D8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AC102DB5-E52F-4331-97C3-698E24CB33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09B61F24-A3BA-4597-9E3C-0C497B457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F74E14C6-2729-4014-87CC-A0F81D87DD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EF9FF530-F350-401C-88F2-B25CC8CADA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FA1CBD74-B007-417D-BA31-0CA4488034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21927097-320F-402F-BA2A-2BB076D692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03FA7862-2FA9-4D63-9762-DA13350046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C9050F5-E97B-41A5-AAB3-4654A0F907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A1E6353C-3BD7-4929-A296-091EC5DFCD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A1135A3-B8C7-4C4E-AA0B-386D6C05E7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F745539-6EF2-4C3C-8BF3-903D84A370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343D472F-85E9-4B07-BCD6-E752ADF7B2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B6BA6C2-966A-4B65-9182-BB11DFC04C2A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C8F2680C-0329-476F-B2F1-E2225ADBD1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9CB19B6E-7221-42BE-BD9E-3E079EC993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80C93DED-315D-40C6-B339-F7348081D0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07E7DEB2-00FC-46DD-A070-F969533067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6DD3205-B82C-420A-9CF4-02698BFD13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46CDC80B-DEEC-4E18-B04A-389CF55827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9AC8191C-D34F-40B5-BEAB-E858964973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96F4D5E-DA27-41DC-AAC9-4623800F40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8ED2B38-B5E6-4AC7-B864-620C113BA6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50C452E3-ADA8-410E-B9CE-20D86A8786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200962B4-F7F7-4BE2-84FE-9010B74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72E40FBC-1B55-46FB-8CC7-9219DE7542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89626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85613" y="1317605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8" y="1317606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E6F341E9-ACEF-4CE8-A24E-4DAF688EE4D5}"/>
              </a:ext>
            </a:extLst>
          </p:cNvPr>
          <p:cNvGrpSpPr/>
          <p:nvPr/>
        </p:nvGrpSpPr>
        <p:grpSpPr>
          <a:xfrm>
            <a:off x="1136975" y="2606576"/>
            <a:ext cx="8658299" cy="2225347"/>
            <a:chOff x="1891845" y="3231495"/>
            <a:chExt cx="8658299" cy="222534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74AFC49-C3F4-447F-9E4A-50E1C3265730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78F86BFA-5B3B-4388-9B48-1755BCD7B0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719FF1F3-8FC1-46AC-96DB-3962985789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6F83342A-21F1-4399-B35D-ABE34D916C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D51770F8-4379-44E0-B4D0-DCEB3D754E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3EE18AB6-CAC1-408A-85B2-180DDE1892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3B3953CA-137D-496B-A90E-44D105AA07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01D8EAAB-3040-4E39-A43D-5F1AED44D7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1E5D4BDA-2BA1-4F1D-BA4E-6D7303ABAE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CD110F12-A076-4D92-9246-FFF598AE70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32A3C275-7E9E-445F-83CF-253E79617B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E87A7B45-E0F5-4A0C-B925-621ACF971B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4C625E87-DA8F-4781-BF1B-216C495AE8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53E9F101-9E0E-4772-B612-CB3F2F74BE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8BF6E65-D8E3-4D88-8859-672CED5EC1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DFBFD408-4F60-469F-BE94-59CAB60507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A3B3F565-DCD2-4763-9730-AC20627090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030360E-1725-469D-A70A-0661C3C5939F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B59B401-14B8-4664-9084-A71F4ECE7F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2C03B86-0E8D-47ED-B5F6-C19B8856BE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6849156C-5350-4AB5-A6B1-548C33CA4E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388FFF22-AE39-472E-87AE-7F333D2428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EA0B25D-3B5A-49EF-A1E0-9512B58FA1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33F0F98F-AC64-4BF8-AB23-8D519C0D0B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C49ED993-910B-4DBC-8207-ECAF64FBBD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86347F7-71F4-4428-829D-1B8537ADCA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68BEAF49-96EA-4581-96F1-32B2E5DE09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58221C20-5EAF-4500-B5A2-7A6F9D1740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D9405D7B-F249-4F51-B860-70F3B87985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B2B496EE-9F31-438D-8AC1-AE6F518956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75969" y="5209932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48" y="5464485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Reduced flow raises swimming difficulty because a fish must rely more on their own effort to continue forward.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822400" y="1760795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388F756-BB38-4E2F-BA8C-CFD9B332D4EA}"/>
              </a:ext>
            </a:extLst>
          </p:cNvPr>
          <p:cNvGrpSpPr/>
          <p:nvPr/>
        </p:nvGrpSpPr>
        <p:grpSpPr>
          <a:xfrm>
            <a:off x="2607999" y="129202"/>
            <a:ext cx="3340698" cy="1367942"/>
            <a:chOff x="595095" y="118791"/>
            <a:chExt cx="3340698" cy="1367942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538E818-1AE8-4B96-B2C4-DB84E16B8D61}"/>
                </a:ext>
              </a:extLst>
            </p:cNvPr>
            <p:cNvGrpSpPr/>
            <p:nvPr/>
          </p:nvGrpSpPr>
          <p:grpSpPr>
            <a:xfrm>
              <a:off x="595095" y="118791"/>
              <a:ext cx="3340698" cy="1367942"/>
              <a:chOff x="5205192" y="5168157"/>
              <a:chExt cx="3340698" cy="1367942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ADD016F-2753-4DBD-AB78-15B98982FF39}"/>
                  </a:ext>
                </a:extLst>
              </p:cNvPr>
              <p:cNvSpPr/>
              <p:nvPr/>
            </p:nvSpPr>
            <p:spPr>
              <a:xfrm>
                <a:off x="5339439" y="5168157"/>
                <a:ext cx="3115685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B228683-9FA0-48BE-B95C-94C22E11347D}"/>
                  </a:ext>
                </a:extLst>
              </p:cNvPr>
              <p:cNvSpPr txBox="1"/>
              <p:nvPr/>
            </p:nvSpPr>
            <p:spPr>
              <a:xfrm>
                <a:off x="7195013" y="5951324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Swimming Difficulty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09564B21-53F0-4538-8157-68EFA4AFE8F7}"/>
                  </a:ext>
                </a:extLst>
              </p:cNvPr>
              <p:cNvSpPr txBox="1"/>
              <p:nvPr/>
            </p:nvSpPr>
            <p:spPr>
              <a:xfrm>
                <a:off x="5205192" y="6085380"/>
                <a:ext cx="1983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Current Velocity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B105392-ED21-484B-8863-7FB0B3B57D8E}"/>
                  </a:ext>
                </a:extLst>
              </p:cNvPr>
              <p:cNvSpPr txBox="1"/>
              <p:nvPr/>
            </p:nvSpPr>
            <p:spPr>
              <a:xfrm>
                <a:off x="7032555" y="5250946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3CF91DD-7734-45F9-9522-264022D43F83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CD99F6F-820F-42BF-8D85-98812E928F3D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044E375-DAE2-4835-A08B-07728B960E50}"/>
              </a:ext>
            </a:extLst>
          </p:cNvPr>
          <p:cNvCxnSpPr>
            <a:cxnSpLocks/>
          </p:cNvCxnSpPr>
          <p:nvPr/>
        </p:nvCxnSpPr>
        <p:spPr>
          <a:xfrm>
            <a:off x="2937447" y="965982"/>
            <a:ext cx="2743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8FA2592B-5082-460A-8C17-91157C4F9E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96" t="6647" r="73027" b="74624"/>
          <a:stretch/>
        </p:blipFill>
        <p:spPr>
          <a:xfrm>
            <a:off x="4980373" y="45527"/>
            <a:ext cx="738732" cy="986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29941FB0-D299-4B51-8825-9612D1BA530E}"/>
              </a:ext>
            </a:extLst>
          </p:cNvPr>
          <p:cNvSpPr/>
          <p:nvPr/>
        </p:nvSpPr>
        <p:spPr>
          <a:xfrm>
            <a:off x="5168439" y="548859"/>
            <a:ext cx="254405" cy="33498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08E4EA6-8EE0-4BB3-8373-F8A7242AB183}"/>
              </a:ext>
            </a:extLst>
          </p:cNvPr>
          <p:cNvGrpSpPr/>
          <p:nvPr/>
        </p:nvGrpSpPr>
        <p:grpSpPr>
          <a:xfrm>
            <a:off x="9444710" y="2107925"/>
            <a:ext cx="3080159" cy="988962"/>
            <a:chOff x="9387122" y="5891916"/>
            <a:chExt cx="2566985" cy="988962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A819FED-6FCF-43F9-B9BB-7CA89239A003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DE5E902-75B8-4A55-BE44-43A1AE498F3B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A0F932E-9FC3-4F98-943F-08B73CD1493A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7FD48ED-83C9-4B83-9526-10DD1F0B5D47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ACEF423C-0280-4C98-B983-3FFB3AE67839}"/>
              </a:ext>
            </a:extLst>
          </p:cNvPr>
          <p:cNvSpPr/>
          <p:nvPr/>
        </p:nvSpPr>
        <p:spPr>
          <a:xfrm>
            <a:off x="3929743" y="289794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26DE3712-6008-4E59-B433-A0370B2464D4}"/>
              </a:ext>
            </a:extLst>
          </p:cNvPr>
          <p:cNvSpPr/>
          <p:nvPr/>
        </p:nvSpPr>
        <p:spPr>
          <a:xfrm>
            <a:off x="3913742" y="312571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B43DE628-E877-4AE4-8F4F-B1DC49E3D57F}"/>
              </a:ext>
            </a:extLst>
          </p:cNvPr>
          <p:cNvSpPr/>
          <p:nvPr/>
        </p:nvSpPr>
        <p:spPr>
          <a:xfrm>
            <a:off x="3922964" y="335500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886EAFA-4A8A-48FF-BE76-AAE39647A929}"/>
              </a:ext>
            </a:extLst>
          </p:cNvPr>
          <p:cNvGrpSpPr/>
          <p:nvPr/>
        </p:nvGrpSpPr>
        <p:grpSpPr>
          <a:xfrm>
            <a:off x="3074607" y="1393550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4EA3B33-D7DC-4428-9E70-7E031C78DBB7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4EA3B33-D7DC-4428-9E70-7E031C78D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84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E0F19E1-13AF-4A1F-8C76-A704B6F7B8F3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AC1321A8-5CCE-4126-A30E-9FF5CDACD0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9" name="Arrow: Down 108">
                <a:extLst>
                  <a:ext uri="{FF2B5EF4-FFF2-40B4-BE49-F238E27FC236}">
                    <a16:creationId xmlns:a16="http://schemas.microsoft.com/office/drawing/2014/main" id="{A4D3FE52-0E91-46B2-874C-5A42B57E86BB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10" name="Picture 109">
            <a:extLst>
              <a:ext uri="{FF2B5EF4-FFF2-40B4-BE49-F238E27FC236}">
                <a16:creationId xmlns:a16="http://schemas.microsoft.com/office/drawing/2014/main" id="{6AC76B91-677A-4644-955B-2FAFD91529F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6850" y="1418692"/>
            <a:ext cx="2420322" cy="1554615"/>
          </a:xfrm>
          <a:prstGeom prst="rect">
            <a:avLst/>
          </a:prstGeom>
        </p:spPr>
      </p:pic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600A8ED0-285B-4BE6-8366-202528E9775E}"/>
              </a:ext>
            </a:extLst>
          </p:cNvPr>
          <p:cNvSpPr/>
          <p:nvPr/>
        </p:nvSpPr>
        <p:spPr>
          <a:xfrm>
            <a:off x="1558385" y="2914287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4EACA7EC-0FFB-4D52-A458-02D245E24A5F}"/>
              </a:ext>
            </a:extLst>
          </p:cNvPr>
          <p:cNvSpPr/>
          <p:nvPr/>
        </p:nvSpPr>
        <p:spPr>
          <a:xfrm>
            <a:off x="1542384" y="314206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C1ECB82-C4DD-45E2-80EC-87C6F4981445}"/>
              </a:ext>
            </a:extLst>
          </p:cNvPr>
          <p:cNvSpPr/>
          <p:nvPr/>
        </p:nvSpPr>
        <p:spPr>
          <a:xfrm>
            <a:off x="1551606" y="337135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AC9F404-4958-4AB5-9D37-CC19D8F27514}"/>
              </a:ext>
            </a:extLst>
          </p:cNvPr>
          <p:cNvSpPr txBox="1"/>
          <p:nvPr/>
        </p:nvSpPr>
        <p:spPr>
          <a:xfrm>
            <a:off x="1292935" y="1249415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511265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24463" y="1520935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308" y="1520936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FB5536B9-FF32-486D-B624-C63DD3B09EAD}"/>
              </a:ext>
            </a:extLst>
          </p:cNvPr>
          <p:cNvGrpSpPr/>
          <p:nvPr/>
        </p:nvGrpSpPr>
        <p:grpSpPr>
          <a:xfrm>
            <a:off x="1136975" y="2835182"/>
            <a:ext cx="8658299" cy="2225347"/>
            <a:chOff x="1891845" y="3231495"/>
            <a:chExt cx="8658299" cy="2225347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B2956B9-431A-4300-AF03-0AB9AC0DBD0E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2A857A9D-8F9E-4D84-806C-A4EEF32F0B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BEFD1E9-ECD0-4ADA-9A51-5A807D0C6D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A860FE38-527C-4E79-9AED-527493BC57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8656E697-95F0-4AFC-9325-833B61C86E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6A796A-917C-49F4-9767-A9EC3E693C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F2CEB8D4-71A5-46DE-AC98-DF4A41898C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145B52D7-FEC2-425E-9739-0A7385751B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15E83C98-F63B-45A9-8A9B-EAB427047F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DCC22DE8-1765-4CCA-BF70-AF83C8E4DC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869DF62E-3480-42F5-B921-DE6AE6D59E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5A7166DE-73AD-4147-BCFB-0706263DEB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0F5F69CF-CA84-4CCF-9CA9-7A6F907086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981B1B56-E21B-403B-81F1-1528055DAD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53115A0-8C29-4CDE-947A-DAB5E1986B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EB984EEB-CE1A-4F82-B7F9-22B689A12C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F5BE8B6-7EFC-4F52-B271-4920966202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48D7E14-480A-4658-8D43-C38D27311B36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3D991F9-CB50-4AFE-8821-82E1B2E818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F7645445-9357-49F8-ACD8-C84D5770DD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AE128521-F61C-452B-A5E4-452C6AF553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1EB5E17B-3501-48C0-B09A-C98C68B974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B4B71872-9AEF-4A25-B37B-6B70A4B50D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18A7FA2-56F9-4BD0-9BAD-4BC012D464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D9B2DD5C-AC8D-40E9-B5DD-8CE2A5CA19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C9E71991-DE04-4B75-8D1C-77B3979CA6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0A71205D-5360-4843-BF71-D159F494D8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17FFCF6A-5645-4662-ACC0-D8B7DC336A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1EF384BD-73E4-4C34-AB2B-88978D404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C65193FE-B75B-419F-BF11-2FCD18FAC1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08056045-FDC4-4229-A64A-177D77CA4F69}"/>
              </a:ext>
            </a:extLst>
          </p:cNvPr>
          <p:cNvSpPr txBox="1"/>
          <p:nvPr/>
        </p:nvSpPr>
        <p:spPr>
          <a:xfrm>
            <a:off x="1368175" y="1445289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14819" y="5413262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62" y="5622679"/>
            <a:ext cx="11666774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As difficulty rises, energy demand increases, reducing migration efficiency.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61250" y="1964125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19341E6-70FC-4038-A20E-F93EE2C1C683}"/>
              </a:ext>
            </a:extLst>
          </p:cNvPr>
          <p:cNvGrpSpPr/>
          <p:nvPr/>
        </p:nvGrpSpPr>
        <p:grpSpPr>
          <a:xfrm>
            <a:off x="1504232" y="130434"/>
            <a:ext cx="5478134" cy="1470810"/>
            <a:chOff x="595095" y="40114"/>
            <a:chExt cx="5478134" cy="1470810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FFD8764-34F2-4655-AC21-B7F67659B561}"/>
                </a:ext>
              </a:extLst>
            </p:cNvPr>
            <p:cNvGrpSpPr/>
            <p:nvPr/>
          </p:nvGrpSpPr>
          <p:grpSpPr>
            <a:xfrm>
              <a:off x="595095" y="40114"/>
              <a:ext cx="5478134" cy="1470810"/>
              <a:chOff x="622438" y="50377"/>
              <a:chExt cx="5478134" cy="147081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CC6E986A-7EAC-4395-89CA-183678ACF601}"/>
                  </a:ext>
                </a:extLst>
              </p:cNvPr>
              <p:cNvGrpSpPr/>
              <p:nvPr/>
            </p:nvGrpSpPr>
            <p:grpSpPr>
              <a:xfrm>
                <a:off x="622438" y="129054"/>
                <a:ext cx="5391606" cy="1379016"/>
                <a:chOff x="5205192" y="5168157"/>
                <a:chExt cx="5391606" cy="1379016"/>
              </a:xfrm>
            </p:grpSpPr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6743F077-4282-4851-8242-7A258CF8E3CD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5257359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Arrow: Right 85">
                  <a:extLst>
                    <a:ext uri="{FF2B5EF4-FFF2-40B4-BE49-F238E27FC236}">
                      <a16:creationId xmlns:a16="http://schemas.microsoft.com/office/drawing/2014/main" id="{823A65BE-D500-4BAE-B9D1-BC56B3B6623E}"/>
                    </a:ext>
                  </a:extLst>
                </p:cNvPr>
                <p:cNvSpPr/>
                <p:nvPr/>
              </p:nvSpPr>
              <p:spPr>
                <a:xfrm>
                  <a:off x="8207803" y="5639754"/>
                  <a:ext cx="432639" cy="18288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4915E52-144B-4E68-A2F4-4B65475D8B7B}"/>
                    </a:ext>
                  </a:extLst>
                </p:cNvPr>
                <p:cNvSpPr txBox="1"/>
                <p:nvPr/>
              </p:nvSpPr>
              <p:spPr>
                <a:xfrm>
                  <a:off x="8487435" y="5962398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Use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901E6C4-E867-488D-BC71-55BF90463B41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0A5E4A3-DA0C-4FE3-9F61-6211F8DE4CA9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13172CFA-091B-40D6-8E1D-A7BCC1C61A39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970F7258-511E-4304-BC18-7F6A0573B1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6883" t="9252" r="55401" b="73628"/>
                <a:stretch/>
              </p:blipFill>
              <p:spPr>
                <a:xfrm>
                  <a:off x="9848209" y="521009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D8692557-9EE3-4C83-B274-854AE2FD69BB}"/>
                    </a:ext>
                  </a:extLst>
                </p:cNvPr>
                <p:cNvSpPr/>
                <p:nvPr/>
              </p:nvSpPr>
              <p:spPr>
                <a:xfrm>
                  <a:off x="10030448" y="5893788"/>
                  <a:ext cx="254405" cy="36576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Arrow: Right 77">
                <a:extLst>
                  <a:ext uri="{FF2B5EF4-FFF2-40B4-BE49-F238E27FC236}">
                    <a16:creationId xmlns:a16="http://schemas.microsoft.com/office/drawing/2014/main" id="{60F149D1-7BEC-40A5-9E35-60F1524F59F0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8AD51F43-31ED-4404-A71D-BDD0A65A1932}"/>
                  </a:ext>
                </a:extLst>
              </p:cNvPr>
              <p:cNvGrpSpPr/>
              <p:nvPr/>
            </p:nvGrpSpPr>
            <p:grpSpPr>
              <a:xfrm>
                <a:off x="4089449" y="50377"/>
                <a:ext cx="2011123" cy="1470810"/>
                <a:chOff x="4186114" y="107414"/>
                <a:chExt cx="2011123" cy="1470810"/>
              </a:xfrm>
            </p:grpSpPr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8B970166-B66B-4A55-A6BD-15FD43845B3E}"/>
                    </a:ext>
                  </a:extLst>
                </p:cNvPr>
                <p:cNvSpPr txBox="1"/>
                <p:nvPr/>
              </p:nvSpPr>
              <p:spPr>
                <a:xfrm>
                  <a:off x="5190610" y="993449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Levels</a:t>
                  </a:r>
                </a:p>
              </p:txBody>
            </p:sp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97E60A11-2C0E-4A58-98A3-4BACCD7272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7196" t="6647" r="73027" b="74624"/>
                <a:stretch/>
              </p:blipFill>
              <p:spPr>
                <a:xfrm>
                  <a:off x="4186114" y="107414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D61A1D5D-F72D-4333-BE7A-0B313E27D179}"/>
                    </a:ext>
                  </a:extLst>
                </p:cNvPr>
                <p:cNvSpPr/>
                <p:nvPr/>
              </p:nvSpPr>
              <p:spPr>
                <a:xfrm>
                  <a:off x="4378497" y="611998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5B2C3EA-B8D5-431D-8DFF-73C138D80E7D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B0D8E88-7B4D-4D2B-A990-7506A050FFD6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2E9E70E-839C-49F7-A60E-25807298A1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96" t="6647" r="73027" b="74624"/>
          <a:stretch/>
        </p:blipFill>
        <p:spPr>
          <a:xfrm>
            <a:off x="3841800" y="121020"/>
            <a:ext cx="738732" cy="986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CA1832C8-0F09-42EE-8B73-D7882FD129A0}"/>
              </a:ext>
            </a:extLst>
          </p:cNvPr>
          <p:cNvSpPr/>
          <p:nvPr/>
        </p:nvSpPr>
        <p:spPr>
          <a:xfrm>
            <a:off x="4029866" y="624352"/>
            <a:ext cx="254405" cy="33498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BCD515D-8B89-4EB8-859E-694CC434B1C6}"/>
              </a:ext>
            </a:extLst>
          </p:cNvPr>
          <p:cNvCxnSpPr>
            <a:cxnSpLocks/>
          </p:cNvCxnSpPr>
          <p:nvPr/>
        </p:nvCxnSpPr>
        <p:spPr>
          <a:xfrm>
            <a:off x="1833680" y="1049648"/>
            <a:ext cx="2743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D3F7BCF-AF4A-4183-B78A-619FF89B088C}"/>
              </a:ext>
            </a:extLst>
          </p:cNvPr>
          <p:cNvGrpSpPr/>
          <p:nvPr/>
        </p:nvGrpSpPr>
        <p:grpSpPr>
          <a:xfrm>
            <a:off x="9383560" y="2311255"/>
            <a:ext cx="3080159" cy="988962"/>
            <a:chOff x="9387122" y="5891916"/>
            <a:chExt cx="2566985" cy="988962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5FD53AC2-81AA-469B-9321-3999D848E2F6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F470180-993B-4947-9805-5B87818D964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AAB4286-96B2-41AA-A368-D56C7B343C88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9A7330A-1C49-4CA4-A4DD-FACEADD47F0A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pic>
        <p:nvPicPr>
          <p:cNvPr id="111" name="Picture 110">
            <a:extLst>
              <a:ext uri="{FF2B5EF4-FFF2-40B4-BE49-F238E27FC236}">
                <a16:creationId xmlns:a16="http://schemas.microsoft.com/office/drawing/2014/main" id="{8468A8C2-A879-45C7-A355-13EB45A4A94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479" y="1606403"/>
            <a:ext cx="2420322" cy="1554615"/>
          </a:xfrm>
          <a:prstGeom prst="rect">
            <a:avLst/>
          </a:prstGeom>
        </p:spPr>
      </p:pic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1329346-39D4-472D-BB8A-D31944959885}"/>
              </a:ext>
            </a:extLst>
          </p:cNvPr>
          <p:cNvSpPr/>
          <p:nvPr/>
        </p:nvSpPr>
        <p:spPr>
          <a:xfrm>
            <a:off x="1545014" y="3101998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E7D28FD6-0E98-4299-841E-0B233EAF4C98}"/>
              </a:ext>
            </a:extLst>
          </p:cNvPr>
          <p:cNvSpPr/>
          <p:nvPr/>
        </p:nvSpPr>
        <p:spPr>
          <a:xfrm>
            <a:off x="1529013" y="3329776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B8186D3-480E-48AB-B707-05AA95ED970F}"/>
              </a:ext>
            </a:extLst>
          </p:cNvPr>
          <p:cNvSpPr/>
          <p:nvPr/>
        </p:nvSpPr>
        <p:spPr>
          <a:xfrm>
            <a:off x="1538235" y="355906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B264E1A-6544-4C14-A5E7-060B637114AE}"/>
              </a:ext>
            </a:extLst>
          </p:cNvPr>
          <p:cNvSpPr/>
          <p:nvPr/>
        </p:nvSpPr>
        <p:spPr>
          <a:xfrm>
            <a:off x="3811248" y="310795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5E562818-5F13-466F-98D3-50B6215BEADA}"/>
              </a:ext>
            </a:extLst>
          </p:cNvPr>
          <p:cNvSpPr/>
          <p:nvPr/>
        </p:nvSpPr>
        <p:spPr>
          <a:xfrm>
            <a:off x="3795247" y="333572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F91BB428-2ABD-4867-985D-893CFBA862A6}"/>
              </a:ext>
            </a:extLst>
          </p:cNvPr>
          <p:cNvSpPr/>
          <p:nvPr/>
        </p:nvSpPr>
        <p:spPr>
          <a:xfrm>
            <a:off x="3804469" y="356501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554D8F1-F7A5-4222-A31A-02F3EA1F2B80}"/>
              </a:ext>
            </a:extLst>
          </p:cNvPr>
          <p:cNvGrpSpPr/>
          <p:nvPr/>
        </p:nvGrpSpPr>
        <p:grpSpPr>
          <a:xfrm>
            <a:off x="2956112" y="1603560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82CD01F-D97A-4417-8768-AE7F54CE3F91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82CD01F-D97A-4417-8768-AE7F54CE3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FA8AFD11-8655-4C93-B5E3-19D8C9584223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4BE7B150-8308-40EA-BFA9-957FD69513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2" name="Arrow: Down 121">
                <a:extLst>
                  <a:ext uri="{FF2B5EF4-FFF2-40B4-BE49-F238E27FC236}">
                    <a16:creationId xmlns:a16="http://schemas.microsoft.com/office/drawing/2014/main" id="{42963697-A274-4FD9-B2FF-72C078BE94FA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874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178933" y="1523932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8" y="1523933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A03A6E0A-C433-4FC0-BC38-54F9E7710EEB}"/>
              </a:ext>
            </a:extLst>
          </p:cNvPr>
          <p:cNvGrpSpPr/>
          <p:nvPr/>
        </p:nvGrpSpPr>
        <p:grpSpPr>
          <a:xfrm>
            <a:off x="1006343" y="2835182"/>
            <a:ext cx="8658299" cy="2225347"/>
            <a:chOff x="1891845" y="3231495"/>
            <a:chExt cx="8658299" cy="2225347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FC148A9-FAF6-4F7C-BD71-1479AFA0EB53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5F0CE5F-9BC8-4EDD-A5C0-41BED2DD1B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24929A65-A042-4C87-9F38-94316200B5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B882F13A-1C97-4FA0-8E35-7DA5406427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7A18B2A1-0C22-4072-BB49-E79D90FA44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A2631AF-7191-4D05-941C-E9ADA74DC3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4A4BB161-E9DF-4891-9F1F-BA6A04DE0B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F20736CE-450D-4723-ACFD-91E9EBDCD0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ABED2623-B678-49EB-BA5B-E5DF7B8CCD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AFE482AE-5382-448C-B1FD-BECEF6B274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28484FE8-626D-4E9A-8D28-0301CAC54D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C94BA7FF-4251-4F6E-9C4C-D1C0509B7E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AD35E474-D08D-49BC-BB75-FE99B1C7D0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992C0719-7639-4946-8C07-B987D86774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7DCB6442-002C-4E08-B283-7918E1808A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E494DC83-A050-4EE3-AE8A-DD3CA1EC37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01780EE0-47CC-4CDC-AAFD-87CFFF2CAE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B75A34C-EC2C-44D8-98CA-B142D4CF6695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C6602F0D-D29A-4713-AFAC-DA2E14EEB1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E5DD9EBD-F699-4138-B199-078B1C1AA1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32FF4D5-E41B-4E3D-B5A4-EF55A61D9D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27A1E423-45C4-466A-8E41-8950D45D25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E647A934-8A96-43CB-8710-51E5A07CB9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7DAE5F3-0C04-429C-A4F7-01FBBF1D9C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E1C9C091-C670-45E3-93A2-38B18F99D6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400C2B9E-A236-4A7F-A948-03EA23607E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A8DBAE27-64E1-4F25-B2F6-241AC0F490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438F2342-BE79-4257-A416-80DC2FDB84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F1D5E60-12F3-4AAA-B681-C14BE98E62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9A0A9706-B63E-4DCC-A8F9-414A67FA27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469289" y="5416259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338030" y="2314252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16" y="5600925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Opposing currents force fish to swim faster to overcome resistance.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57307" y="1988894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CBFB4F-8CD5-475D-B9AA-DFC7A2C7B4ED}"/>
              </a:ext>
            </a:extLst>
          </p:cNvPr>
          <p:cNvGrpSpPr/>
          <p:nvPr/>
        </p:nvGrpSpPr>
        <p:grpSpPr>
          <a:xfrm>
            <a:off x="6941091" y="77485"/>
            <a:ext cx="3066225" cy="1622242"/>
            <a:chOff x="2839854" y="247486"/>
            <a:chExt cx="3066225" cy="162224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E4C41B4-9B6E-4091-8EF7-E4207166D4F8}"/>
                </a:ext>
              </a:extLst>
            </p:cNvPr>
            <p:cNvGrpSpPr/>
            <p:nvPr/>
          </p:nvGrpSpPr>
          <p:grpSpPr>
            <a:xfrm>
              <a:off x="2839854" y="247486"/>
              <a:ext cx="3066225" cy="1622242"/>
              <a:chOff x="973581" y="132336"/>
              <a:chExt cx="3066225" cy="1622242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2560FFC-4EAD-4A16-BED6-7E2ADF02BF47}"/>
                  </a:ext>
                </a:extLst>
              </p:cNvPr>
              <p:cNvSpPr/>
              <p:nvPr/>
            </p:nvSpPr>
            <p:spPr>
              <a:xfrm>
                <a:off x="1158466" y="132336"/>
                <a:ext cx="2771277" cy="162224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1D937B-4EAA-4741-AE01-BFA314FE0E74}"/>
                  </a:ext>
                </a:extLst>
              </p:cNvPr>
              <p:cNvSpPr txBox="1"/>
              <p:nvPr/>
            </p:nvSpPr>
            <p:spPr>
              <a:xfrm>
                <a:off x="2688929" y="1149526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Swimming Speed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0CCB645-85C7-4762-BFA1-2470D5EB6239}"/>
                  </a:ext>
                </a:extLst>
              </p:cNvPr>
              <p:cNvSpPr txBox="1"/>
              <p:nvPr/>
            </p:nvSpPr>
            <p:spPr>
              <a:xfrm>
                <a:off x="973581" y="1130846"/>
                <a:ext cx="148421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Current Velocity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177B894-E2A9-4843-BF74-D65D09A755B5}"/>
                  </a:ext>
                </a:extLst>
              </p:cNvPr>
              <p:cNvSpPr txBox="1"/>
              <p:nvPr/>
            </p:nvSpPr>
            <p:spPr>
              <a:xfrm>
                <a:off x="2286654" y="503553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9692A41A-65C4-4733-849F-5FE4A75BF540}"/>
                  </a:ext>
                </a:extLst>
              </p:cNvPr>
              <p:cNvGrpSpPr/>
              <p:nvPr/>
            </p:nvGrpSpPr>
            <p:grpSpPr>
              <a:xfrm>
                <a:off x="2924709" y="236730"/>
                <a:ext cx="887336" cy="900162"/>
                <a:chOff x="2883533" y="503553"/>
                <a:chExt cx="731520" cy="731520"/>
              </a:xfrm>
            </p:grpSpPr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E0812AEB-599D-438E-AE62-FB936B95BAED}"/>
                    </a:ext>
                  </a:extLst>
                </p:cNvPr>
                <p:cNvCxnSpPr/>
                <p:nvPr/>
              </p:nvCxnSpPr>
              <p:spPr>
                <a:xfrm>
                  <a:off x="2890422" y="503553"/>
                  <a:ext cx="0" cy="73152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E7C31FE4-3A35-4D58-8C5C-506AC25E7E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249293" y="848215"/>
                  <a:ext cx="0" cy="73152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6FFA0346-AD41-4879-8FF7-EA77CF795C00}"/>
                  </a:ext>
                </a:extLst>
              </p:cNvPr>
              <p:cNvGrpSpPr/>
              <p:nvPr/>
            </p:nvGrpSpPr>
            <p:grpSpPr>
              <a:xfrm>
                <a:off x="1302559" y="247769"/>
                <a:ext cx="887336" cy="900162"/>
                <a:chOff x="2883533" y="503553"/>
                <a:chExt cx="731520" cy="731520"/>
              </a:xfrm>
            </p:grpSpPr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0752D811-524A-47F9-B353-76004D574987}"/>
                    </a:ext>
                  </a:extLst>
                </p:cNvPr>
                <p:cNvCxnSpPr/>
                <p:nvPr/>
              </p:nvCxnSpPr>
              <p:spPr>
                <a:xfrm>
                  <a:off x="2890422" y="503553"/>
                  <a:ext cx="0" cy="73152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8D956D2A-4246-41BF-9A6B-A482C65A9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249293" y="848215"/>
                  <a:ext cx="0" cy="73152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0CF7B9FC-BD9D-4C10-92AC-82B81201C6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25405" y="372207"/>
                <a:ext cx="842824" cy="700735"/>
              </a:xfrm>
              <a:prstGeom prst="straightConnector1">
                <a:avLst/>
              </a:prstGeom>
              <a:ln w="38100"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16118D4-09C4-4BB5-9C08-531890BF03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494" y="487357"/>
              <a:ext cx="842824" cy="700735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E56DF5A-324E-4354-A972-0C80DA156B73}"/>
                </a:ext>
              </a:extLst>
            </p:cNvPr>
            <p:cNvSpPr/>
            <p:nvPr/>
          </p:nvSpPr>
          <p:spPr>
            <a:xfrm>
              <a:off x="4865914" y="860546"/>
              <a:ext cx="816429" cy="325997"/>
            </a:xfrm>
            <a:custGeom>
              <a:avLst/>
              <a:gdLst>
                <a:gd name="connsiteX0" fmla="*/ 0 w 816429"/>
                <a:gd name="connsiteY0" fmla="*/ 325997 h 325997"/>
                <a:gd name="connsiteX1" fmla="*/ 446315 w 816429"/>
                <a:gd name="connsiteY1" fmla="*/ 32083 h 325997"/>
                <a:gd name="connsiteX2" fmla="*/ 816429 w 816429"/>
                <a:gd name="connsiteY2" fmla="*/ 21197 h 325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6429" h="325997">
                  <a:moveTo>
                    <a:pt x="0" y="325997"/>
                  </a:moveTo>
                  <a:cubicBezTo>
                    <a:pt x="155122" y="204440"/>
                    <a:pt x="310244" y="82883"/>
                    <a:pt x="446315" y="32083"/>
                  </a:cubicBezTo>
                  <a:cubicBezTo>
                    <a:pt x="582387" y="-18717"/>
                    <a:pt x="699408" y="1240"/>
                    <a:pt x="816429" y="2119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29D69B0-D4F6-4096-AEB8-73034A9CB18C}"/>
              </a:ext>
            </a:extLst>
          </p:cNvPr>
          <p:cNvCxnSpPr>
            <a:cxnSpLocks/>
          </p:cNvCxnSpPr>
          <p:nvPr/>
        </p:nvCxnSpPr>
        <p:spPr>
          <a:xfrm>
            <a:off x="5017188" y="1987063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2326D1C-4B2D-41D6-A08F-EEAC31907FAB}"/>
              </a:ext>
            </a:extLst>
          </p:cNvPr>
          <p:cNvSpPr/>
          <p:nvPr/>
        </p:nvSpPr>
        <p:spPr>
          <a:xfrm>
            <a:off x="3845550" y="3127890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F50AFC8-5CDE-4153-84E2-AC5CCC2D7A84}"/>
              </a:ext>
            </a:extLst>
          </p:cNvPr>
          <p:cNvSpPr/>
          <p:nvPr/>
        </p:nvSpPr>
        <p:spPr>
          <a:xfrm>
            <a:off x="3829549" y="3355668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576D6A9-F8E4-4A5F-A5E8-D88D243EB281}"/>
              </a:ext>
            </a:extLst>
          </p:cNvPr>
          <p:cNvSpPr/>
          <p:nvPr/>
        </p:nvSpPr>
        <p:spPr>
          <a:xfrm>
            <a:off x="3838771" y="3584953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3105F63-D1CC-4768-8674-186A92FEEE51}"/>
              </a:ext>
            </a:extLst>
          </p:cNvPr>
          <p:cNvSpPr/>
          <p:nvPr/>
        </p:nvSpPr>
        <p:spPr>
          <a:xfrm>
            <a:off x="8271400" y="3135542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87CADA9-9F38-499A-9949-55E4DE7D58DA}"/>
              </a:ext>
            </a:extLst>
          </p:cNvPr>
          <p:cNvSpPr/>
          <p:nvPr/>
        </p:nvSpPr>
        <p:spPr>
          <a:xfrm>
            <a:off x="8255399" y="336332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2FD717F-7BC9-455B-8742-FA1EE1ACA3EA}"/>
              </a:ext>
            </a:extLst>
          </p:cNvPr>
          <p:cNvGrpSpPr/>
          <p:nvPr/>
        </p:nvGrpSpPr>
        <p:grpSpPr>
          <a:xfrm>
            <a:off x="7416264" y="1631151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4B86C0BF-F6C7-4A64-830C-E5693DB36F31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4B86C0BF-F6C7-4A64-830C-E5693DB36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4"/>
                  <a:stretch>
                    <a:fillRect b="-84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018EED1B-645B-47D0-AFDB-32C794EC0082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CC4C19B4-E9CB-4D0C-B44D-3349678239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3" name="Arrow: Down 102">
                <a:extLst>
                  <a:ext uri="{FF2B5EF4-FFF2-40B4-BE49-F238E27FC236}">
                    <a16:creationId xmlns:a16="http://schemas.microsoft.com/office/drawing/2014/main" id="{6906DF0D-A572-463A-AC72-FDE0E8A58E9B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FB51441B-8744-4996-885C-C5786770802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479" y="1606403"/>
            <a:ext cx="2420322" cy="1554615"/>
          </a:xfrm>
          <a:prstGeom prst="rect">
            <a:avLst/>
          </a:prstGeom>
        </p:spPr>
      </p:pic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AB4924A0-33F2-4B16-AA7D-D6DE96684992}"/>
              </a:ext>
            </a:extLst>
          </p:cNvPr>
          <p:cNvSpPr/>
          <p:nvPr/>
        </p:nvSpPr>
        <p:spPr>
          <a:xfrm>
            <a:off x="1545014" y="3101998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67BFC83-BD9D-47F1-A6EA-9112B0ED1CB1}"/>
              </a:ext>
            </a:extLst>
          </p:cNvPr>
          <p:cNvSpPr/>
          <p:nvPr/>
        </p:nvSpPr>
        <p:spPr>
          <a:xfrm>
            <a:off x="1529013" y="3329776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B88F543F-9F7D-46CE-A544-E1CA3EC1ABFF}"/>
              </a:ext>
            </a:extLst>
          </p:cNvPr>
          <p:cNvSpPr/>
          <p:nvPr/>
        </p:nvSpPr>
        <p:spPr>
          <a:xfrm>
            <a:off x="1538235" y="355906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EB03AF85-977D-4DB8-8476-395200B60FC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00027" y="1628206"/>
            <a:ext cx="2420322" cy="1554615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BEE42AC9-AAD1-4AB8-8C78-641EA6A83DF7}"/>
              </a:ext>
            </a:extLst>
          </p:cNvPr>
          <p:cNvSpPr txBox="1"/>
          <p:nvPr/>
        </p:nvSpPr>
        <p:spPr>
          <a:xfrm>
            <a:off x="1315219" y="1457861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E4EF0A2-2E6A-48C1-BB66-4F705C3BD3A6}"/>
              </a:ext>
            </a:extLst>
          </p:cNvPr>
          <p:cNvSpPr txBox="1"/>
          <p:nvPr/>
        </p:nvSpPr>
        <p:spPr>
          <a:xfrm>
            <a:off x="3426407" y="1458089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448405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70373" y="1334435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218" y="1334436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14AE2184-F242-4F39-B24C-E85D19F2C50E}"/>
              </a:ext>
            </a:extLst>
          </p:cNvPr>
          <p:cNvGrpSpPr/>
          <p:nvPr/>
        </p:nvGrpSpPr>
        <p:grpSpPr>
          <a:xfrm>
            <a:off x="1087887" y="2648686"/>
            <a:ext cx="8658299" cy="2225347"/>
            <a:chOff x="1891845" y="3231495"/>
            <a:chExt cx="8658299" cy="222534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6CA2247-BACD-4E83-B07E-621E6515DB10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6FDA81A-118A-443C-9BE6-21919A154F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5C36DE02-E583-4D5D-BC0B-D67535BBAF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BAE08541-76BC-4055-8669-01D4660276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CA5F57E2-EA04-4DE6-899A-975BACE7DE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6A730E2-E2ED-439A-B2BA-F5243972A6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5C3BC25-0DD6-478B-B3FA-8969866588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69D19C45-8DFA-4365-A60C-7AC8CC1203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852DE6B-6009-4161-911B-A0DA827632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620C9B78-713D-4CA2-B0D4-B72ED9E043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451AD74-27DD-457D-8DF8-90473EC9D4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507DA279-7AA8-47A7-B86A-7A77F6B5EC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40C26131-E6A9-4FD6-A541-7A26B4E31E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C6003CEF-4F39-48F6-8693-15C9F68ACB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EEFB9AB-0CE8-4A52-8E0F-6142032A89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C4A7671D-551A-4883-8BCC-C336DF9AB1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4567C3F5-6AB0-457B-8A08-DA6CEF1FF2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621F28E-9455-4383-90AB-E200B64F16D1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4F9385F-2812-4A2C-827F-64637F137B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76EC7667-752D-4BF5-92CB-BD5E017EDE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63AFF456-F7EF-46D7-BC4A-F49C573C03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1846D237-5788-438E-ABE2-89F3778BFE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C4F7F0CD-E66C-4AA7-B649-FCEF5E665E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33A250AE-9583-4D74-8054-731375AFC4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576B837F-B1B7-4471-AAED-D66F173B79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04C49623-310D-41B0-A62C-ABAA35D484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F933C577-B1F1-42B0-AF2D-EEC5F8FB20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0BA8E8D2-D2C4-4881-BC71-B8B97B7DC2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C4B7F6E-BF1A-4D44-8564-CFFA1AA944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01974E8E-4EE9-4C54-8838-A5BB4821ED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60729" y="5226762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429470" y="2124755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38" y="5419886"/>
            <a:ext cx="11841524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This raises difficulty, forcing fish to work harder to maintain forward movement.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848747" y="1799397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8CE5955-5B77-47B2-A8E1-585B0ADBB78D}"/>
              </a:ext>
            </a:extLst>
          </p:cNvPr>
          <p:cNvGrpSpPr/>
          <p:nvPr/>
        </p:nvGrpSpPr>
        <p:grpSpPr>
          <a:xfrm>
            <a:off x="6895295" y="0"/>
            <a:ext cx="3340698" cy="1462250"/>
            <a:chOff x="4808390" y="221309"/>
            <a:chExt cx="3340698" cy="146225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0CFF30FB-347C-41E1-8DAC-1A7EF2DB1FC3}"/>
                </a:ext>
              </a:extLst>
            </p:cNvPr>
            <p:cNvGrpSpPr/>
            <p:nvPr/>
          </p:nvGrpSpPr>
          <p:grpSpPr>
            <a:xfrm>
              <a:off x="4808390" y="315617"/>
              <a:ext cx="3340698" cy="1367942"/>
              <a:chOff x="595095" y="118791"/>
              <a:chExt cx="3340698" cy="1367942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071A2B24-69F1-4CFF-9FA4-E6397C790EFD}"/>
                  </a:ext>
                </a:extLst>
              </p:cNvPr>
              <p:cNvGrpSpPr/>
              <p:nvPr/>
            </p:nvGrpSpPr>
            <p:grpSpPr>
              <a:xfrm>
                <a:off x="595095" y="118791"/>
                <a:ext cx="3340698" cy="1367942"/>
                <a:chOff x="5205192" y="5168157"/>
                <a:chExt cx="3340698" cy="1367942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975F0AF2-31C7-4E58-8688-FF7DD6C2A3B7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3115685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86A03A63-38F4-46E8-9CEC-7DEB8E461417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43C5308-DBE9-4D7F-A321-F2352B5CFF69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3AE5A15-9069-4E43-BA70-F45D07706B7A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AF48B4F-7D64-4032-8446-FBF086BEA325}"/>
                  </a:ext>
                </a:extLst>
              </p:cNvPr>
              <p:cNvSpPr txBox="1"/>
              <p:nvPr/>
            </p:nvSpPr>
            <p:spPr>
              <a:xfrm>
                <a:off x="798663" y="487153"/>
                <a:ext cx="16446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Swimming Speed</a:t>
                </a:r>
              </a:p>
            </p:txBody>
          </p: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D12ABE83-5297-4F9E-8B68-54BDD0BF613C}"/>
                  </a:ext>
                </a:extLst>
              </p:cNvPr>
              <p:cNvCxnSpPr/>
              <p:nvPr/>
            </p:nvCxnSpPr>
            <p:spPr>
              <a:xfrm>
                <a:off x="924543" y="370610"/>
                <a:ext cx="10972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6CA88EB1-7216-4085-9B81-CAFA22638A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196" t="6647" r="73027" b="74624"/>
            <a:stretch/>
          </p:blipFill>
          <p:spPr>
            <a:xfrm>
              <a:off x="7168381" y="221309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4546824-9199-4FCF-B269-C6265845E56E}"/>
                </a:ext>
              </a:extLst>
            </p:cNvPr>
            <p:cNvSpPr/>
            <p:nvPr/>
          </p:nvSpPr>
          <p:spPr>
            <a:xfrm>
              <a:off x="7356447" y="724641"/>
              <a:ext cx="254405" cy="3349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16C651F-664B-4F0A-B641-39A731DDF2E9}"/>
              </a:ext>
            </a:extLst>
          </p:cNvPr>
          <p:cNvCxnSpPr>
            <a:cxnSpLocks/>
          </p:cNvCxnSpPr>
          <p:nvPr/>
        </p:nvCxnSpPr>
        <p:spPr>
          <a:xfrm>
            <a:off x="5127678" y="1799397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973A8C5-C74A-4290-9C08-D33E562D4BC4}"/>
              </a:ext>
            </a:extLst>
          </p:cNvPr>
          <p:cNvCxnSpPr>
            <a:cxnSpLocks/>
          </p:cNvCxnSpPr>
          <p:nvPr/>
        </p:nvCxnSpPr>
        <p:spPr>
          <a:xfrm flipH="1">
            <a:off x="7637616" y="888361"/>
            <a:ext cx="91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BBCF89AB-D01F-466B-B7C3-E4066F587C51}"/>
              </a:ext>
            </a:extLst>
          </p:cNvPr>
          <p:cNvSpPr/>
          <p:nvPr/>
        </p:nvSpPr>
        <p:spPr>
          <a:xfrm>
            <a:off x="8356515" y="2952903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838AA79-7B9C-4102-BA5B-149AFED3F239}"/>
              </a:ext>
            </a:extLst>
          </p:cNvPr>
          <p:cNvSpPr/>
          <p:nvPr/>
        </p:nvSpPr>
        <p:spPr>
          <a:xfrm>
            <a:off x="8340514" y="318068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031FB92-C6EC-4FD3-8DA4-7A4C4A7D14EE}"/>
              </a:ext>
            </a:extLst>
          </p:cNvPr>
          <p:cNvGrpSpPr/>
          <p:nvPr/>
        </p:nvGrpSpPr>
        <p:grpSpPr>
          <a:xfrm>
            <a:off x="7501379" y="1448512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33625BB0-DA42-42A1-8EB1-A7AAECEBDDFD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33625BB0-DA42-42A1-8EB1-A7AAECEBDD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84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E895807-652E-4DB8-A424-9A5E5829BD60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240E5881-1C58-4415-BA22-D7C3E9DAD4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8" name="Arrow: Down 107">
                <a:extLst>
                  <a:ext uri="{FF2B5EF4-FFF2-40B4-BE49-F238E27FC236}">
                    <a16:creationId xmlns:a16="http://schemas.microsoft.com/office/drawing/2014/main" id="{C582FEF3-8A8B-46A6-A422-A5D4EC2E5C10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945F6E4B-ADA0-4E95-9E49-A1F301530E1A}"/>
              </a:ext>
            </a:extLst>
          </p:cNvPr>
          <p:cNvSpPr/>
          <p:nvPr/>
        </p:nvSpPr>
        <p:spPr>
          <a:xfrm>
            <a:off x="8356515" y="340609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431A0FD1-CA80-423B-B594-19832035771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354" y="1424685"/>
            <a:ext cx="2420322" cy="1554615"/>
          </a:xfrm>
          <a:prstGeom prst="rect">
            <a:avLst/>
          </a:prstGeom>
        </p:spPr>
      </p:pic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C8041715-3D6A-411C-BE6B-73799265A26C}"/>
              </a:ext>
            </a:extLst>
          </p:cNvPr>
          <p:cNvSpPr/>
          <p:nvPr/>
        </p:nvSpPr>
        <p:spPr>
          <a:xfrm>
            <a:off x="1622889" y="2920280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23BDAB75-309D-42B3-8E39-2585D53D8171}"/>
              </a:ext>
            </a:extLst>
          </p:cNvPr>
          <p:cNvSpPr/>
          <p:nvPr/>
        </p:nvSpPr>
        <p:spPr>
          <a:xfrm>
            <a:off x="1606888" y="3148058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CD701CA-E147-4CB0-A936-E46C1952C9D7}"/>
              </a:ext>
            </a:extLst>
          </p:cNvPr>
          <p:cNvSpPr/>
          <p:nvPr/>
        </p:nvSpPr>
        <p:spPr>
          <a:xfrm>
            <a:off x="1616110" y="3377343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E0C0B317-E1E5-41D8-B241-AFAD6D7AF0FB}"/>
              </a:ext>
            </a:extLst>
          </p:cNvPr>
          <p:cNvSpPr/>
          <p:nvPr/>
        </p:nvSpPr>
        <p:spPr>
          <a:xfrm>
            <a:off x="3951388" y="2924369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E124577-2ACD-4AD8-982A-C917C089582F}"/>
              </a:ext>
            </a:extLst>
          </p:cNvPr>
          <p:cNvSpPr/>
          <p:nvPr/>
        </p:nvSpPr>
        <p:spPr>
          <a:xfrm>
            <a:off x="3935387" y="3152147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86339AA4-5FF5-45CB-AB73-CB12E1B3CFD0}"/>
              </a:ext>
            </a:extLst>
          </p:cNvPr>
          <p:cNvSpPr/>
          <p:nvPr/>
        </p:nvSpPr>
        <p:spPr>
          <a:xfrm>
            <a:off x="3944609" y="338143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D8398ECA-41C9-474C-98A3-F3B626207D7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5865" y="1424685"/>
            <a:ext cx="2420322" cy="1554615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4D35ADE0-0936-4113-BC71-44113A7DA46E}"/>
              </a:ext>
            </a:extLst>
          </p:cNvPr>
          <p:cNvSpPr txBox="1"/>
          <p:nvPr/>
        </p:nvSpPr>
        <p:spPr>
          <a:xfrm>
            <a:off x="1441992" y="1246099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81EF4BA-65B0-476F-8F30-977E5F47AEDA}"/>
              </a:ext>
            </a:extLst>
          </p:cNvPr>
          <p:cNvSpPr txBox="1"/>
          <p:nvPr/>
        </p:nvSpPr>
        <p:spPr>
          <a:xfrm>
            <a:off x="3553180" y="1246327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3197973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178933" y="1475890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8" y="1475891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180832BE-5D0C-41C2-915D-F9431902515A}"/>
              </a:ext>
            </a:extLst>
          </p:cNvPr>
          <p:cNvGrpSpPr/>
          <p:nvPr/>
        </p:nvGrpSpPr>
        <p:grpSpPr>
          <a:xfrm>
            <a:off x="1060773" y="2769866"/>
            <a:ext cx="8658299" cy="2225347"/>
            <a:chOff x="1891845" y="3231495"/>
            <a:chExt cx="8658299" cy="222534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FD2E966-0078-4C8E-832A-D92DBFD9371E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03EE71-E774-4266-91C0-56EF254C3A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DCA73A3B-1715-45B4-A5C2-7BD1ADFC43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652CF2C-C856-42B4-8F11-FE1677C279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9EE39B9-4A8C-486A-ADC0-8C8826A347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DF5E2B7-69E5-472A-A470-28DB276007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10E78BD6-A76D-4725-8116-74BB7FD36E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56DFA7F5-ABFB-4EDE-AC71-5B0B74044C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445468DF-0E5F-4EEF-B38F-F5534DDD8C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CC31E630-9A9B-4509-88B4-E1B3F89175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9D81E6D1-6C61-4D7A-BCC0-5F5DA96ADF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BD02E1D2-15E5-4250-8916-5B6151EC57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>
                <a:extLst>
                  <a:ext uri="{FF2B5EF4-FFF2-40B4-BE49-F238E27FC236}">
                    <a16:creationId xmlns:a16="http://schemas.microsoft.com/office/drawing/2014/main" id="{70991CED-C566-4008-9F83-A347964B17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F6A99622-BB3D-4DC8-92AC-A836B134FD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21598468-6DE7-48D4-A808-82745161E0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092EBB8F-203B-4B34-8D34-45F0C3AC2C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A776A77A-330A-413C-8FE8-B0D25627E3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ABFE558-AB71-4A39-BA0E-BC957C67E627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BD673170-3459-40B8-8B32-BCB20285D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A8BBC02-45C5-43D1-A53D-E6B62BF353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C388F0C6-EBF7-46E6-B050-DD168B33B7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B045E7BC-3E07-49BA-8938-BE886FA779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F96AF53D-5DA6-486B-9B79-03DF8144F5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C6732CC4-CE32-4591-9088-B7596DD5B1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AD81BFAC-EDBD-4F2D-9C2C-201BA81B3C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473B62ED-DCB7-4AEF-AEDC-178EEEF6C4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025CDF27-1E3C-4745-843D-4E1F2DDD26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7D1C6A4-8C23-4A37-AE62-26BD2D0F35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6BC906F1-FDBE-4884-B90E-C0EAF81A25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63E88CF2-F20E-4E9D-B83F-59099F1D25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469289" y="5368217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338030" y="2266210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69" y="5575049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Energy reserves deplete faster when fish experience high difficulty.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57307" y="1940852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BE63414-F9AD-47E3-976E-CC77652BC1B8}"/>
              </a:ext>
            </a:extLst>
          </p:cNvPr>
          <p:cNvCxnSpPr>
            <a:cxnSpLocks/>
          </p:cNvCxnSpPr>
          <p:nvPr/>
        </p:nvCxnSpPr>
        <p:spPr>
          <a:xfrm>
            <a:off x="5061757" y="1940852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C31E4AA-2449-4300-BDA4-FD9E538CF13B}"/>
              </a:ext>
            </a:extLst>
          </p:cNvPr>
          <p:cNvGrpSpPr/>
          <p:nvPr/>
        </p:nvGrpSpPr>
        <p:grpSpPr>
          <a:xfrm>
            <a:off x="5716570" y="123995"/>
            <a:ext cx="5478134" cy="1470810"/>
            <a:chOff x="595095" y="40114"/>
            <a:chExt cx="5478134" cy="1470810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DB88136-EA7C-4D3B-819A-EA0CEE7D6A7D}"/>
                </a:ext>
              </a:extLst>
            </p:cNvPr>
            <p:cNvGrpSpPr/>
            <p:nvPr/>
          </p:nvGrpSpPr>
          <p:grpSpPr>
            <a:xfrm>
              <a:off x="595095" y="40114"/>
              <a:ext cx="5478134" cy="1470810"/>
              <a:chOff x="622438" y="50377"/>
              <a:chExt cx="5478134" cy="147081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9457263-302E-460D-A719-E0F91E57107D}"/>
                  </a:ext>
                </a:extLst>
              </p:cNvPr>
              <p:cNvGrpSpPr/>
              <p:nvPr/>
            </p:nvGrpSpPr>
            <p:grpSpPr>
              <a:xfrm>
                <a:off x="622438" y="129054"/>
                <a:ext cx="5391606" cy="1379016"/>
                <a:chOff x="5205192" y="5168157"/>
                <a:chExt cx="5391606" cy="1379016"/>
              </a:xfrm>
            </p:grpSpPr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F01B884B-7F6B-4CD6-B65B-A39D0B774295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5257359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Arrow: Right 83">
                  <a:extLst>
                    <a:ext uri="{FF2B5EF4-FFF2-40B4-BE49-F238E27FC236}">
                      <a16:creationId xmlns:a16="http://schemas.microsoft.com/office/drawing/2014/main" id="{A07BE382-3394-4A81-BC6B-C5FA84ECB2B6}"/>
                    </a:ext>
                  </a:extLst>
                </p:cNvPr>
                <p:cNvSpPr/>
                <p:nvPr/>
              </p:nvSpPr>
              <p:spPr>
                <a:xfrm>
                  <a:off x="8207803" y="5639754"/>
                  <a:ext cx="432639" cy="18288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1284071-AFF1-4099-B77E-722CF179EC1E}"/>
                    </a:ext>
                  </a:extLst>
                </p:cNvPr>
                <p:cNvSpPr txBox="1"/>
                <p:nvPr/>
              </p:nvSpPr>
              <p:spPr>
                <a:xfrm>
                  <a:off x="8487435" y="5962398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Use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DBF8D84-AD5A-4777-81D4-D45C6E26DC7C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B9D0F4C-8D2F-49E6-AD09-66091405959B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A5D9122-88A2-44AD-B341-1A649D773E23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946C4ABD-980D-4931-8EC3-F189C76523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6883" t="9252" r="55401" b="73628"/>
                <a:stretch/>
              </p:blipFill>
              <p:spPr>
                <a:xfrm>
                  <a:off x="9848209" y="521009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0412E259-C1BE-4F0C-B5E3-09EF1FD60F3F}"/>
                    </a:ext>
                  </a:extLst>
                </p:cNvPr>
                <p:cNvSpPr/>
                <p:nvPr/>
              </p:nvSpPr>
              <p:spPr>
                <a:xfrm>
                  <a:off x="10030448" y="5893788"/>
                  <a:ext cx="254405" cy="36576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7" name="Arrow: Right 76">
                <a:extLst>
                  <a:ext uri="{FF2B5EF4-FFF2-40B4-BE49-F238E27FC236}">
                    <a16:creationId xmlns:a16="http://schemas.microsoft.com/office/drawing/2014/main" id="{D3451700-F484-42E7-A8EC-381D10DE6575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D37F946D-E8C6-47AE-BC8B-FD9C65CEA289}"/>
                  </a:ext>
                </a:extLst>
              </p:cNvPr>
              <p:cNvGrpSpPr/>
              <p:nvPr/>
            </p:nvGrpSpPr>
            <p:grpSpPr>
              <a:xfrm>
                <a:off x="4089449" y="50377"/>
                <a:ext cx="2011123" cy="1470810"/>
                <a:chOff x="4186114" y="107414"/>
                <a:chExt cx="2011123" cy="1470810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8AA573FB-1201-4186-A012-FD90B008279E}"/>
                    </a:ext>
                  </a:extLst>
                </p:cNvPr>
                <p:cNvSpPr txBox="1"/>
                <p:nvPr/>
              </p:nvSpPr>
              <p:spPr>
                <a:xfrm>
                  <a:off x="5190610" y="993449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Levels</a:t>
                  </a:r>
                </a:p>
              </p:txBody>
            </p:sp>
            <p:pic>
              <p:nvPicPr>
                <p:cNvPr id="81" name="Picture 80">
                  <a:extLst>
                    <a:ext uri="{FF2B5EF4-FFF2-40B4-BE49-F238E27FC236}">
                      <a16:creationId xmlns:a16="http://schemas.microsoft.com/office/drawing/2014/main" id="{9CF02B88-3726-42A2-A233-E87C1D3BDD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7196" t="6647" r="73027" b="74624"/>
                <a:stretch/>
              </p:blipFill>
              <p:spPr>
                <a:xfrm>
                  <a:off x="4186114" y="107414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5D9EF4D8-5793-4E46-A301-A38E45132DA0}"/>
                    </a:ext>
                  </a:extLst>
                </p:cNvPr>
                <p:cNvSpPr/>
                <p:nvPr/>
              </p:nvSpPr>
              <p:spPr>
                <a:xfrm>
                  <a:off x="4378497" y="611998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F10E355-A75C-4812-8479-E979F6AD9EFD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0B77A6E0-0F22-4FF2-A9EA-B2C26FCCD5A3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5" name="Picture 104">
            <a:extLst>
              <a:ext uri="{FF2B5EF4-FFF2-40B4-BE49-F238E27FC236}">
                <a16:creationId xmlns:a16="http://schemas.microsoft.com/office/drawing/2014/main" id="{03B9F96F-54AC-4E46-A035-1AE59E06EB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96" t="6647" r="73027" b="74624"/>
          <a:stretch/>
        </p:blipFill>
        <p:spPr>
          <a:xfrm>
            <a:off x="8069054" y="107570"/>
            <a:ext cx="738732" cy="986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E8D3BD49-B727-4FCF-944D-4C5382EB9884}"/>
              </a:ext>
            </a:extLst>
          </p:cNvPr>
          <p:cNvSpPr/>
          <p:nvPr/>
        </p:nvSpPr>
        <p:spPr>
          <a:xfrm>
            <a:off x="8257120" y="610902"/>
            <a:ext cx="254405" cy="33498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36A7FE9-9579-49F4-B170-840ECB29ABA1}"/>
              </a:ext>
            </a:extLst>
          </p:cNvPr>
          <p:cNvCxnSpPr>
            <a:cxnSpLocks/>
          </p:cNvCxnSpPr>
          <p:nvPr/>
        </p:nvCxnSpPr>
        <p:spPr>
          <a:xfrm flipH="1">
            <a:off x="6433357" y="1022797"/>
            <a:ext cx="91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2532E0A-7FF4-4BAF-9ACA-0D53C179C119}"/>
              </a:ext>
            </a:extLst>
          </p:cNvPr>
          <p:cNvSpPr/>
          <p:nvPr/>
        </p:nvSpPr>
        <p:spPr>
          <a:xfrm>
            <a:off x="8303461" y="309689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091C8BD-5CFE-4E61-965A-8245AB1F7C03}"/>
              </a:ext>
            </a:extLst>
          </p:cNvPr>
          <p:cNvSpPr/>
          <p:nvPr/>
        </p:nvSpPr>
        <p:spPr>
          <a:xfrm>
            <a:off x="8287460" y="332467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A8E4464-38CF-4FCB-B4AC-CE4F787EBBF5}"/>
              </a:ext>
            </a:extLst>
          </p:cNvPr>
          <p:cNvGrpSpPr/>
          <p:nvPr/>
        </p:nvGrpSpPr>
        <p:grpSpPr>
          <a:xfrm>
            <a:off x="7448325" y="1592505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B36B93BE-A3A0-453A-953A-B8F53908AE77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B36B93BE-A3A0-453A-953A-B8F53908AE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08E44397-9F9D-4DAB-8DE8-E70127D940B2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275B7CEF-A81F-41DE-A466-44E6F611BF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5" name="Arrow: Down 114">
                <a:extLst>
                  <a:ext uri="{FF2B5EF4-FFF2-40B4-BE49-F238E27FC236}">
                    <a16:creationId xmlns:a16="http://schemas.microsoft.com/office/drawing/2014/main" id="{B8083443-BDEB-444C-A0D5-08143466B80D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76D4FA6C-FD3C-4EC8-A0AE-F89367CBCBF0}"/>
              </a:ext>
            </a:extLst>
          </p:cNvPr>
          <p:cNvSpPr/>
          <p:nvPr/>
        </p:nvSpPr>
        <p:spPr>
          <a:xfrm>
            <a:off x="8303461" y="355008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10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3B005D72-9BC0-46D8-8E31-AEBDD33DBE3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479" y="1606403"/>
            <a:ext cx="2420322" cy="1554615"/>
          </a:xfrm>
          <a:prstGeom prst="rect">
            <a:avLst/>
          </a:prstGeom>
        </p:spPr>
      </p:pic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6E81CA49-F101-492A-8E2D-306FF22D32FE}"/>
              </a:ext>
            </a:extLst>
          </p:cNvPr>
          <p:cNvSpPr/>
          <p:nvPr/>
        </p:nvSpPr>
        <p:spPr>
          <a:xfrm>
            <a:off x="1545014" y="3101998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FF701086-DAA0-45D6-B541-93453C9D78D3}"/>
              </a:ext>
            </a:extLst>
          </p:cNvPr>
          <p:cNvSpPr/>
          <p:nvPr/>
        </p:nvSpPr>
        <p:spPr>
          <a:xfrm>
            <a:off x="1529013" y="3329776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037BC4A-648E-498F-8A31-5342CFFA4F58}"/>
              </a:ext>
            </a:extLst>
          </p:cNvPr>
          <p:cNvSpPr/>
          <p:nvPr/>
        </p:nvSpPr>
        <p:spPr>
          <a:xfrm>
            <a:off x="1538235" y="355906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ADB9E380-E35A-46A0-AB28-5B6114FC9989}"/>
              </a:ext>
            </a:extLst>
          </p:cNvPr>
          <p:cNvSpPr/>
          <p:nvPr/>
        </p:nvSpPr>
        <p:spPr>
          <a:xfrm>
            <a:off x="3894785" y="3092189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B7B1D98D-AB9C-47CE-8F00-EAC965EB596C}"/>
              </a:ext>
            </a:extLst>
          </p:cNvPr>
          <p:cNvSpPr/>
          <p:nvPr/>
        </p:nvSpPr>
        <p:spPr>
          <a:xfrm>
            <a:off x="3878784" y="3319967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6BF6B31E-4C0E-4FFD-A5B4-94A99C3084C6}"/>
              </a:ext>
            </a:extLst>
          </p:cNvPr>
          <p:cNvSpPr/>
          <p:nvPr/>
        </p:nvSpPr>
        <p:spPr>
          <a:xfrm>
            <a:off x="3888006" y="354925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7 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A1DD4A9A-0A3F-4A3E-A682-9E3575C20A8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9262" y="1592505"/>
            <a:ext cx="2420322" cy="1554615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B851B34A-0667-4DE4-A073-E06C4F9AAAA5}"/>
              </a:ext>
            </a:extLst>
          </p:cNvPr>
          <p:cNvSpPr txBox="1"/>
          <p:nvPr/>
        </p:nvSpPr>
        <p:spPr>
          <a:xfrm>
            <a:off x="1418304" y="1429835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F89FA26-3DCA-4C9C-8EFA-089DA958EAA1}"/>
              </a:ext>
            </a:extLst>
          </p:cNvPr>
          <p:cNvSpPr txBox="1"/>
          <p:nvPr/>
        </p:nvSpPr>
        <p:spPr>
          <a:xfrm>
            <a:off x="3529492" y="1430063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849E6AB-5D71-43A9-B45A-C5D0104F510A}"/>
              </a:ext>
            </a:extLst>
          </p:cNvPr>
          <p:cNvSpPr txBox="1"/>
          <p:nvPr/>
        </p:nvSpPr>
        <p:spPr>
          <a:xfrm>
            <a:off x="9739343" y="3108774"/>
            <a:ext cx="22786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patch tracks time spent, fish count, and swimming difficulty.</a:t>
            </a:r>
          </a:p>
        </p:txBody>
      </p:sp>
    </p:spTree>
    <p:extLst>
      <p:ext uri="{BB962C8B-B14F-4D97-AF65-F5344CB8AC3E}">
        <p14:creationId xmlns:p14="http://schemas.microsoft.com/office/powerpoint/2010/main" val="965862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34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562114"/>
              </p:ext>
            </p:extLst>
          </p:nvPr>
        </p:nvGraphicFramePr>
        <p:xfrm>
          <a:off x="1054958" y="1673906"/>
          <a:ext cx="10082082" cy="3200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41041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5041041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06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52347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Energy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Internal reserves used for movement and recovery.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5891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Swimming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How fast a fish can move and if they can overcome current velocity.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057301"/>
                  </a:ext>
                </a:extLst>
              </a:tr>
              <a:tr h="45891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Maximum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upper limit of a fish’s swimming ability, constrained by size, age, and species.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773319"/>
                  </a:ext>
                </a:extLst>
              </a:tr>
              <a:tr h="45891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Swimming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Energy cost of swimming, scaled by flow difficulty and swimming resistance.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1580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0804A7D-871E-466F-8580-C582F33F4AD2}"/>
              </a:ext>
            </a:extLst>
          </p:cNvPr>
          <p:cNvSpPr txBox="1"/>
          <p:nvPr/>
        </p:nvSpPr>
        <p:spPr>
          <a:xfrm>
            <a:off x="414336" y="5245762"/>
            <a:ext cx="11363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Individual traits like size, age, and species influence a fish’s swimming capacity, energy use, and ability to navigate changing flow conditions.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39042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303664"/>
              </p:ext>
            </p:extLst>
          </p:nvPr>
        </p:nvGraphicFramePr>
        <p:xfrm>
          <a:off x="701005" y="1645920"/>
          <a:ext cx="10789979" cy="3566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31534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2171895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686550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522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Measures total energy use over time, reflecting migration effort and recovery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Swimming Difficulty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difficulty from swimming against or with the current, influencing energy expenditure.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63053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Patch-Difficulty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Maps areas with highest swimming difficulty and periods where fish struggle to migrate.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where fish spend the most time, which may indicate resting zones or movement delays.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Fish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Visualizes fish distribution by location, helping assess habitat use and crowding.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9263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E83D88-3640-4EA1-9733-90F27CE7D2E9}"/>
              </a:ext>
            </a:extLst>
          </p:cNvPr>
          <p:cNvSpPr txBox="1"/>
          <p:nvPr/>
        </p:nvSpPr>
        <p:spPr>
          <a:xfrm>
            <a:off x="506038" y="5440015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Model outputs identify where and when swimming becomes most difficult, highlighting zones of high energy demand during fish migration.</a:t>
            </a:r>
          </a:p>
        </p:txBody>
      </p:sp>
    </p:spTree>
    <p:extLst>
      <p:ext uri="{BB962C8B-B14F-4D97-AF65-F5344CB8AC3E}">
        <p14:creationId xmlns:p14="http://schemas.microsoft.com/office/powerpoint/2010/main" val="206925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714375" y="1547813"/>
            <a:ext cx="10763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there environmental drivers (e.g., lunar phase, temperature, salinity) missing that could affect swimming difficulty or route selection?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Does it make sense that fish would adjust speed based on current direction and strength?</a:t>
            </a:r>
          </a:p>
          <a:p>
            <a:endParaRPr lang="en-US" sz="2000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Which outputs would help us understand where or when fish struggle most during migration?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time-based outputs (e.g., time spent in high-difficulty zones) or spatial outputs (e.g., maps of swimming effort or resistance) more useful for understanding migration efficiency?</a:t>
            </a:r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1551</Words>
  <Application>Microsoft Office PowerPoint</Application>
  <PresentationFormat>Widescreen</PresentationFormat>
  <Paragraphs>308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Helvetica Neue</vt:lpstr>
      <vt:lpstr>MJXc-TeX-main-R</vt:lpstr>
      <vt:lpstr>MJXc-TeX-math-I</vt:lpstr>
      <vt:lpstr>Office Theme</vt:lpstr>
      <vt:lpstr>Migration</vt:lpstr>
      <vt:lpstr>Relevant Background Information</vt:lpstr>
      <vt:lpstr>Model Objectives</vt:lpstr>
      <vt:lpstr>PowerPoint Presentation</vt:lpstr>
      <vt:lpstr>Fish adjust their speed to overcome opposing currents, constrained by maximum velocity and rate of change.</vt:lpstr>
      <vt:lpstr>Fish use favorable currents to move faster with less effort, without being limited by their maximum swimming speed.</vt:lpstr>
      <vt:lpstr>More difficult conditions require more energy to swim, making resistance a key driver of energy use.</vt:lpstr>
      <vt:lpstr>Fish use favorable currents to boost forward movement, increasing their swimming speed with the flow.</vt:lpstr>
      <vt:lpstr>Reduced resistance during favorable flow conditions leads to lower swimming difficulty and improved migration efficiency.</vt:lpstr>
      <vt:lpstr>Lower swimming difficulty reduces energy expenditure, making movement energetically beneficial.</vt:lpstr>
      <vt:lpstr>Fish decrease their swimming speed when supportive currents weaken, compensating to maintain migration progress.</vt:lpstr>
      <vt:lpstr>Reduced flow raises swimming difficulty because a fish must rely more on their own effort to continue forward.</vt:lpstr>
      <vt:lpstr>As difficulty rises, energy demand increases, reducing migration efficiency.</vt:lpstr>
      <vt:lpstr>Opposing currents force fish to swim faster to overcome resistance.</vt:lpstr>
      <vt:lpstr>This raises difficulty, forcing fish to work harder to maintain forward movement.</vt:lpstr>
      <vt:lpstr>Energy reserves deplete faster when fish experience high difficulty.</vt:lpstr>
      <vt:lpstr>Individual-Specific Traits</vt:lpstr>
      <vt:lpstr>Outputs of Interest</vt:lpstr>
      <vt:lpstr>Discussion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194</cp:revision>
  <dcterms:created xsi:type="dcterms:W3CDTF">2025-06-04T12:52:07Z</dcterms:created>
  <dcterms:modified xsi:type="dcterms:W3CDTF">2025-07-20T16:11:56Z</dcterms:modified>
</cp:coreProperties>
</file>